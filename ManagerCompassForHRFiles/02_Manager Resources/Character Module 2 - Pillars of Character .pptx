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60" r:id="rId4"/>
  </p:sldMasterIdLst>
  <p:notesMasterIdLst>
    <p:notesMasterId r:id="rId17"/>
  </p:notesMasterIdLst>
  <p:handoutMasterIdLst>
    <p:handoutMasterId r:id="rId18"/>
  </p:handoutMasterIdLst>
  <p:sldIdLst>
    <p:sldId id="4840" r:id="rId5"/>
    <p:sldId id="2146846854" r:id="rId6"/>
    <p:sldId id="2146846864" r:id="rId7"/>
    <p:sldId id="4888" r:id="rId8"/>
    <p:sldId id="2146846855" r:id="rId9"/>
    <p:sldId id="2146846857" r:id="rId10"/>
    <p:sldId id="2146846858" r:id="rId11"/>
    <p:sldId id="2146846859" r:id="rId12"/>
    <p:sldId id="2146846860" r:id="rId13"/>
    <p:sldId id="2146846861" r:id="rId14"/>
    <p:sldId id="2146846865" r:id="rId15"/>
    <p:sldId id="2146846856" r:id="rId1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54116BC-A11D-4485-BE55-143E64F0CEA4}">
          <p14:sldIdLst>
            <p14:sldId id="4840"/>
            <p14:sldId id="2146846854"/>
            <p14:sldId id="2146846864"/>
            <p14:sldId id="4888"/>
            <p14:sldId id="2146846855"/>
            <p14:sldId id="2146846857"/>
            <p14:sldId id="2146846858"/>
            <p14:sldId id="2146846859"/>
            <p14:sldId id="2146846860"/>
            <p14:sldId id="2146846861"/>
            <p14:sldId id="2146846865"/>
            <p14:sldId id="2146846856"/>
          </p14:sldIdLst>
        </p14:section>
      </p14:sectionLst>
    </p:ext>
    <p:ext uri="{EFAFB233-063F-42B5-8137-9DF3F51BA10A}">
      <p15:sldGuideLst xmlns:p15="http://schemas.microsoft.com/office/powerpoint/2012/main">
        <p15:guide id="1" pos="1044" userDrawn="1">
          <p15:clr>
            <a:srgbClr val="A4A3A4"/>
          </p15:clr>
        </p15:guide>
        <p15:guide id="2" pos="1824" userDrawn="1">
          <p15:clr>
            <a:srgbClr val="A4A3A4"/>
          </p15:clr>
        </p15:guide>
        <p15:guide id="3" orient="horz" pos="2940" userDrawn="1">
          <p15:clr>
            <a:srgbClr val="A4A3A4"/>
          </p15:clr>
        </p15:guide>
        <p15:guide id="5" pos="5544" userDrawn="1">
          <p15:clr>
            <a:srgbClr val="A4A3A4"/>
          </p15:clr>
        </p15:guide>
        <p15:guide id="6" userDrawn="1">
          <p15:clr>
            <a:srgbClr val="A4A3A4"/>
          </p15:clr>
        </p15:guide>
        <p15:guide id="7" pos="3072" userDrawn="1">
          <p15:clr>
            <a:srgbClr val="A4A3A4"/>
          </p15:clr>
        </p15:guide>
        <p15:guide id="8" pos="360" userDrawn="1">
          <p15:clr>
            <a:srgbClr val="A4A3A4"/>
          </p15:clr>
        </p15:guide>
        <p15:guide id="9" pos="2256" userDrawn="1">
          <p15:clr>
            <a:srgbClr val="A4A3A4"/>
          </p15:clr>
        </p15:guide>
        <p15:guide id="10" orient="horz" pos="996"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6" name="Author" initials="A"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5A6A1"/>
    <a:srgbClr val="247888"/>
    <a:srgbClr val="FFFFFF"/>
    <a:srgbClr val="4AB79C"/>
    <a:srgbClr val="13314E"/>
    <a:srgbClr val="4AB89D"/>
    <a:srgbClr val="35A6A2"/>
    <a:srgbClr val="2C9DA5"/>
    <a:srgbClr val="4BBA9F"/>
    <a:srgbClr val="2C9F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214FAD-61E1-44DE-8A42-E39A451DE492}" v="45" dt="2023-04-17T16:13:03.558"/>
    <p1510:client id="{1DCC00FF-0899-47EC-8284-5435B3388B4C}" v="1" dt="2023-04-14T13:33:49"/>
    <p1510:client id="{3848629D-FE01-44FA-B989-FF985BAB3E99}" v="1" dt="2023-04-14T10:24:50.790"/>
    <p1510:client id="{518AA7D7-4EE8-4C1A-A6FD-5583EFCF16AE}" v="1" dt="2023-04-14T09:54:59.853"/>
    <p1510:client id="{CD9E9B48-0E0E-4D87-A88E-05922B85A8F5}" v="24" dt="2023-04-17T16:15:19.411"/>
    <p1510:client id="{F707CE66-4E76-4101-8E8D-17561A8BDEB0}" v="14" dt="2023-04-13T17:19:36.1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3" autoAdjust="0"/>
    <p:restoredTop sz="86029" autoAdjust="0"/>
  </p:normalViewPr>
  <p:slideViewPr>
    <p:cSldViewPr snapToGrid="0">
      <p:cViewPr varScale="1">
        <p:scale>
          <a:sx n="74" d="100"/>
          <a:sy n="74" d="100"/>
        </p:scale>
        <p:origin x="1038" y="54"/>
      </p:cViewPr>
      <p:guideLst>
        <p:guide pos="1044"/>
        <p:guide pos="1824"/>
        <p:guide orient="horz" pos="2940"/>
        <p:guide pos="5544"/>
        <p:guide/>
        <p:guide pos="3072"/>
        <p:guide pos="360"/>
        <p:guide pos="2256"/>
        <p:guide orient="horz" pos="996"/>
      </p:guideLst>
    </p:cSldViewPr>
  </p:slideViewPr>
  <p:notesTextViewPr>
    <p:cViewPr>
      <p:scale>
        <a:sx n="1" d="1"/>
        <a:sy n="1" d="1"/>
      </p:scale>
      <p:origin x="0" y="0"/>
    </p:cViewPr>
  </p:notesTextViewPr>
  <p:notesViewPr>
    <p:cSldViewPr snapToGrid="0">
      <p:cViewPr>
        <p:scale>
          <a:sx n="1" d="2"/>
          <a:sy n="1" d="2"/>
        </p:scale>
        <p:origin x="5880" y="17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5BCB613-1B88-4273-BF0F-0BF889EC095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4" name="Footer Placeholder 3">
            <a:extLst>
              <a:ext uri="{FF2B5EF4-FFF2-40B4-BE49-F238E27FC236}">
                <a16:creationId xmlns:a16="http://schemas.microsoft.com/office/drawing/2014/main" id="{5574DBCF-C14A-4217-890B-3E6A60BAE41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D9C2DE1-F31D-4CA1-92AD-E3713F12C7A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CCAD36D-F99F-4B9F-A3B1-443AADA40415}" type="slidenum">
              <a:rPr lang="en-US" smtClean="0"/>
              <a:t>‹#›</a:t>
            </a:fld>
            <a:endParaRPr lang="en-US" dirty="0"/>
          </a:p>
        </p:txBody>
      </p:sp>
    </p:spTree>
    <p:extLst>
      <p:ext uri="{BB962C8B-B14F-4D97-AF65-F5344CB8AC3E}">
        <p14:creationId xmlns:p14="http://schemas.microsoft.com/office/powerpoint/2010/main" val="28906178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5B0451-EC03-4447-B2EF-43FC4D41DDC5}" type="datetimeFigureOut">
              <a:rPr lang="en-US" smtClean="0"/>
              <a:t>4/17/2023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4D1586-BDFF-9440-96F8-F0DE4E4562D4}" type="slidenum">
              <a:rPr lang="en-US" smtClean="0"/>
              <a:t>‹#›</a:t>
            </a:fld>
            <a:endParaRPr lang="en-US" dirty="0"/>
          </a:p>
        </p:txBody>
      </p:sp>
    </p:spTree>
    <p:extLst>
      <p:ext uri="{BB962C8B-B14F-4D97-AF65-F5344CB8AC3E}">
        <p14:creationId xmlns:p14="http://schemas.microsoft.com/office/powerpoint/2010/main" val="1721389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solidFill>
                <a:srgbClr val="252525"/>
              </a:solidFill>
              <a:effectLst/>
            </a:endParaRPr>
          </a:p>
          <a:p>
            <a:endParaRPr lang="en-US">
              <a:solidFill>
                <a:srgbClr val="252525"/>
              </a:solidFill>
              <a:effectLst/>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1</a:t>
            </a:fld>
            <a:endParaRPr lang="en-US"/>
          </a:p>
        </p:txBody>
      </p:sp>
    </p:spTree>
    <p:extLst>
      <p:ext uri="{BB962C8B-B14F-4D97-AF65-F5344CB8AC3E}">
        <p14:creationId xmlns:p14="http://schemas.microsoft.com/office/powerpoint/2010/main" val="262921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1800" b="1" i="0" u="none" strike="noStrike" dirty="0">
                <a:solidFill>
                  <a:srgbClr val="000000"/>
                </a:solidFill>
                <a:effectLst/>
                <a:latin typeface="Calibri" panose="020F0502020204030204" pitchFamily="34" charset="0"/>
              </a:rPr>
              <a:t>Do:</a:t>
            </a:r>
            <a:r>
              <a:rPr lang="en-US" sz="1800" b="0" i="0" u="none" strike="noStrike" dirty="0">
                <a:solidFill>
                  <a:srgbClr val="000000"/>
                </a:solidFill>
                <a:effectLst/>
                <a:latin typeface="Calibri" panose="020F0502020204030204" pitchFamily="34" charset="0"/>
              </a:rPr>
              <a:t> Conduct introductions as needed.</a:t>
            </a:r>
            <a:r>
              <a:rPr lang="en-US" sz="1800" b="0" i="0" dirty="0">
                <a:solidFill>
                  <a:srgbClr val="444444"/>
                </a:solidFill>
                <a:effectLst/>
                <a:latin typeface="Calibri" panose="020F0502020204030204" pitchFamily="34" charset="0"/>
              </a:rPr>
              <a:t>​</a:t>
            </a:r>
            <a:endParaRPr lang="en-US" b="0" i="0" dirty="0">
              <a:solidFill>
                <a:srgbClr val="444444"/>
              </a:solidFill>
              <a:effectLst/>
              <a:latin typeface="Calibri" panose="020F0502020204030204" pitchFamily="34" charset="0"/>
            </a:endParaRPr>
          </a:p>
          <a:p>
            <a:pPr algn="l" rtl="0" fontAlgn="base"/>
            <a:r>
              <a:rPr lang="en-US" sz="1800" b="0" i="0" dirty="0">
                <a:solidFill>
                  <a:srgbClr val="444444"/>
                </a:solidFill>
                <a:effectLst/>
                <a:latin typeface="Calibri" panose="020F0502020204030204" pitchFamily="34" charset="0"/>
              </a:rPr>
              <a:t>​</a:t>
            </a:r>
            <a:endParaRPr lang="en-US" b="0" i="0" dirty="0">
              <a:solidFill>
                <a:srgbClr val="444444"/>
              </a:solidFill>
              <a:effectLst/>
              <a:latin typeface="Calibri" panose="020F0502020204030204" pitchFamily="34" charset="0"/>
            </a:endParaRPr>
          </a:p>
          <a:p>
            <a:pPr algn="l" rtl="0" fontAlgn="base"/>
            <a:r>
              <a:rPr lang="en-US" sz="1800" b="1" i="0" u="none" strike="noStrike" dirty="0">
                <a:solidFill>
                  <a:srgbClr val="000000"/>
                </a:solidFill>
                <a:effectLst/>
                <a:latin typeface="Calibri" panose="020F0502020204030204" pitchFamily="34" charset="0"/>
              </a:rPr>
              <a:t>Say:</a:t>
            </a:r>
            <a:r>
              <a:rPr lang="en-US" sz="1800" b="0" i="0" u="none" strike="noStrike" dirty="0">
                <a:solidFill>
                  <a:srgbClr val="000000"/>
                </a:solidFill>
                <a:effectLst/>
                <a:latin typeface="Calibri" panose="020F0502020204030204" pitchFamily="34" charset="0"/>
              </a:rPr>
              <a:t> Welcome to the session for one of our core values, Character. The purpose of this meeting is to discuss the pillars of character and dive into the behaviors that we can adapt to develop our character.</a:t>
            </a:r>
            <a:endParaRPr lang="en-US" b="0" i="0" dirty="0">
              <a:solidFill>
                <a:srgbClr val="444444"/>
              </a:solidFill>
              <a:effectLst/>
              <a:latin typeface="Calibri" panose="020F0502020204030204" pitchFamily="34" charset="0"/>
            </a:endParaRPr>
          </a:p>
          <a:p>
            <a:pPr algn="l" rtl="0" fontAlgn="base"/>
            <a:r>
              <a:rPr lang="en-US" sz="1800" b="0" i="0" dirty="0">
                <a:solidFill>
                  <a:srgbClr val="444444"/>
                </a:solidFill>
                <a:effectLst/>
                <a:latin typeface="Calibri" panose="020F0502020204030204" pitchFamily="34" charset="0"/>
              </a:rPr>
              <a:t>​</a:t>
            </a:r>
            <a:endParaRPr lang="en-US" b="0" i="0" dirty="0">
              <a:solidFill>
                <a:srgbClr val="444444"/>
              </a:solidFill>
              <a:effectLst/>
              <a:latin typeface="Calibri" panose="020F0502020204030204" pitchFamily="34" charset="0"/>
            </a:endParaRPr>
          </a:p>
          <a:p>
            <a:pPr algn="l" rtl="0" fontAlgn="base"/>
            <a:r>
              <a:rPr lang="en-US" sz="1800" b="1" i="0" u="none" strike="noStrike" dirty="0">
                <a:solidFill>
                  <a:srgbClr val="000000"/>
                </a:solidFill>
                <a:effectLst/>
                <a:latin typeface="Calibri" panose="020F0502020204030204" pitchFamily="34" charset="0"/>
              </a:rPr>
              <a:t>Do:</a:t>
            </a:r>
            <a:r>
              <a:rPr lang="en-US" sz="1800" b="0" i="0" u="none" strike="noStrike" dirty="0">
                <a:solidFill>
                  <a:srgbClr val="000000"/>
                </a:solidFill>
                <a:effectLst/>
                <a:latin typeface="Calibri" panose="020F0502020204030204" pitchFamily="34" charset="0"/>
              </a:rPr>
              <a:t> Show next slide.</a:t>
            </a:r>
            <a:endParaRPr lang="en-US" b="0" i="0" dirty="0">
              <a:solidFill>
                <a:srgbClr val="444444"/>
              </a:solidFill>
              <a:effectLst/>
              <a:latin typeface="Calibri" panose="020F0502020204030204" pitchFamily="34" charset="0"/>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2</a:t>
            </a:fld>
            <a:endParaRPr lang="en-US" dirty="0"/>
          </a:p>
        </p:txBody>
      </p:sp>
    </p:spTree>
    <p:extLst>
      <p:ext uri="{BB962C8B-B14F-4D97-AF65-F5344CB8AC3E}">
        <p14:creationId xmlns:p14="http://schemas.microsoft.com/office/powerpoint/2010/main" val="740505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solidFill>
                <a:srgbClr val="252525"/>
              </a:solidFill>
              <a:effectLst/>
            </a:endParaRPr>
          </a:p>
          <a:p>
            <a:endParaRPr lang="en-US">
              <a:solidFill>
                <a:srgbClr val="252525"/>
              </a:solidFill>
              <a:effectLst/>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3</a:t>
            </a:fld>
            <a:endParaRPr lang="en-US"/>
          </a:p>
        </p:txBody>
      </p:sp>
    </p:spTree>
    <p:extLst>
      <p:ext uri="{BB962C8B-B14F-4D97-AF65-F5344CB8AC3E}">
        <p14:creationId xmlns:p14="http://schemas.microsoft.com/office/powerpoint/2010/main" val="4317616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200" b="1" kern="1200" dirty="0">
                <a:solidFill>
                  <a:schemeClr val="tx1"/>
                </a:solidFill>
                <a:effectLst/>
                <a:latin typeface="+mn-lt"/>
                <a:ea typeface="+mn-ea"/>
                <a:cs typeface="+mn-cs"/>
              </a:rPr>
              <a:t>Say: </a:t>
            </a:r>
            <a:r>
              <a:rPr lang="en-US" sz="1200" b="0" kern="1200" dirty="0">
                <a:solidFill>
                  <a:schemeClr val="tx1"/>
                </a:solidFill>
                <a:effectLst/>
                <a:latin typeface="+mn-lt"/>
                <a:ea typeface="+mn-ea"/>
                <a:cs typeface="+mn-cs"/>
              </a:rPr>
              <a:t>To start, let’s review the key actions of Character! I’ll give you a few seconds to read through the slide.​</a:t>
            </a:r>
          </a:p>
          <a:p>
            <a:pPr>
              <a:defRPr/>
            </a:pPr>
            <a:r>
              <a:rPr lang="en-US" sz="1200" b="1" kern="1200" dirty="0">
                <a:solidFill>
                  <a:schemeClr val="tx1"/>
                </a:solidFill>
                <a:effectLst/>
                <a:latin typeface="+mn-lt"/>
                <a:ea typeface="+mn-ea"/>
                <a:cs typeface="+mn-cs"/>
              </a:rPr>
              <a:t>​</a:t>
            </a:r>
          </a:p>
          <a:p>
            <a:pPr>
              <a:defRPr/>
            </a:pPr>
            <a:r>
              <a:rPr lang="en-US" sz="1200" b="1" kern="1200" dirty="0">
                <a:solidFill>
                  <a:schemeClr val="tx1"/>
                </a:solidFill>
                <a:effectLst/>
                <a:latin typeface="+mn-lt"/>
                <a:ea typeface="+mn-ea"/>
                <a:cs typeface="+mn-cs"/>
              </a:rPr>
              <a:t>Say:  </a:t>
            </a:r>
            <a:r>
              <a:rPr lang="en-US" sz="1200" b="0" kern="1200" dirty="0">
                <a:solidFill>
                  <a:schemeClr val="tx1"/>
                </a:solidFill>
                <a:effectLst/>
                <a:latin typeface="+mn-lt"/>
                <a:ea typeface="+mn-ea"/>
                <a:cs typeface="+mn-cs"/>
              </a:rPr>
              <a:t>Plainly said, character is showing respect for one another. It’s also being inclusive in the workplace, respecting what everyone brings to the table. Moreover, it’s about making decisions with utmost integrity, and leading with our hearts as we serve the communities where we live and work. That is how we LEAD WITH CHARACTER.​</a:t>
            </a:r>
          </a:p>
          <a:p>
            <a:pPr>
              <a:defRPr/>
            </a:pPr>
            <a:r>
              <a:rPr lang="en-US" sz="1200" b="0" kern="1200" dirty="0">
                <a:solidFill>
                  <a:schemeClr val="tx1"/>
                </a:solidFill>
                <a:effectLst/>
                <a:latin typeface="+mn-lt"/>
                <a:ea typeface="+mn-ea"/>
                <a:cs typeface="+mn-cs"/>
              </a:rPr>
              <a:t>​</a:t>
            </a:r>
          </a:p>
          <a:p>
            <a:pPr>
              <a:defRPr/>
            </a:pPr>
            <a:r>
              <a:rPr lang="en-US" sz="1200" b="1" kern="1200" dirty="0">
                <a:solidFill>
                  <a:schemeClr val="tx1"/>
                </a:solidFill>
                <a:effectLst/>
                <a:latin typeface="+mn-lt"/>
                <a:ea typeface="+mn-ea"/>
                <a:cs typeface="+mn-cs"/>
              </a:rPr>
              <a:t>Transition: </a:t>
            </a:r>
            <a:r>
              <a:rPr lang="en-US" sz="1200" b="0" kern="1200" dirty="0">
                <a:solidFill>
                  <a:schemeClr val="tx1"/>
                </a:solidFill>
                <a:effectLst/>
                <a:latin typeface="+mn-lt"/>
                <a:ea typeface="+mn-ea"/>
                <a:cs typeface="+mn-cs"/>
              </a:rPr>
              <a:t>Let's look at the objective of today’s session. </a:t>
            </a:r>
          </a:p>
          <a:p>
            <a:endParaRPr lang="en-US" dirty="0">
              <a:cs typeface="Calibri"/>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4</a:t>
            </a:fld>
            <a:endParaRPr lang="en-US"/>
          </a:p>
        </p:txBody>
      </p:sp>
    </p:spTree>
    <p:extLst>
      <p:ext uri="{BB962C8B-B14F-4D97-AF65-F5344CB8AC3E}">
        <p14:creationId xmlns:p14="http://schemas.microsoft.com/office/powerpoint/2010/main" val="38720114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685800"/>
            <a:r>
              <a:rPr lang="en-US" b="1" dirty="0">
                <a:ea typeface="Lato Medium"/>
                <a:cs typeface="Calibri"/>
              </a:rPr>
              <a:t>Say: </a:t>
            </a:r>
          </a:p>
          <a:p>
            <a:pPr defTabSz="685800"/>
            <a:r>
              <a:rPr lang="en-US" dirty="0">
                <a:ea typeface="Lato Medium"/>
                <a:cs typeface="Calibri"/>
              </a:rPr>
              <a:t>Share the objectives and transition to the next slide. </a:t>
            </a:r>
            <a:endParaRPr lang="en-US" dirty="0">
              <a:ea typeface="Lato Medium" panose="020F0502020204030203" pitchFamily="34" charset="0"/>
              <a:cs typeface="Calibri"/>
            </a:endParaRPr>
          </a:p>
          <a:p>
            <a:endParaRPr lang="en-US" dirty="0">
              <a:ea typeface="Calibri"/>
              <a:cs typeface="Calibri"/>
            </a:endParaRPr>
          </a:p>
          <a:p>
            <a:r>
              <a:rPr lang="en-US" b="1" dirty="0">
                <a:ea typeface="Calibri"/>
                <a:cs typeface="Calibri"/>
              </a:rPr>
              <a:t>Transition: </a:t>
            </a:r>
          </a:p>
          <a:p>
            <a:r>
              <a:rPr lang="en-US" dirty="0">
                <a:ea typeface="Calibri"/>
                <a:cs typeface="Calibri"/>
              </a:rPr>
              <a:t>Let’s look into the four pillars of character.</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5</a:t>
            </a:fld>
            <a:endParaRPr lang="en-US" dirty="0"/>
          </a:p>
        </p:txBody>
      </p:sp>
    </p:spTree>
    <p:extLst>
      <p:ext uri="{BB962C8B-B14F-4D97-AF65-F5344CB8AC3E}">
        <p14:creationId xmlns:p14="http://schemas.microsoft.com/office/powerpoint/2010/main" val="10242401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ea typeface="Lato Medium"/>
                <a:cs typeface="Calibri"/>
              </a:rPr>
              <a:t>Duration: 3 minutes</a:t>
            </a:r>
          </a:p>
          <a:p>
            <a:endParaRPr lang="en-US" b="1" dirty="0">
              <a:ea typeface="Lato Medium"/>
              <a:cs typeface="Calibri"/>
            </a:endParaRPr>
          </a:p>
          <a:p>
            <a:r>
              <a:rPr lang="en-US" b="1" dirty="0">
                <a:ea typeface="Lato Medium"/>
                <a:cs typeface="Calibri"/>
              </a:rPr>
              <a:t>Say: </a:t>
            </a:r>
            <a:r>
              <a:rPr lang="en-US" dirty="0"/>
              <a:t>When you research online, you’ll find that there are articles and researches that suggest several pillars of character. We summarized that into four – inclusion and diversity, trustworthiness, respect and integrity. </a:t>
            </a:r>
            <a:r>
              <a:rPr lang="en-US" dirty="0">
                <a:ea typeface="Lato Medium"/>
                <a:cs typeface="Calibri"/>
              </a:rPr>
              <a:t>Why do you think each one of these pillars is important?</a:t>
            </a:r>
          </a:p>
          <a:p>
            <a:endParaRPr lang="en-US" dirty="0">
              <a:ea typeface="Lato Medium"/>
              <a:cs typeface="Calibri"/>
            </a:endParaRPr>
          </a:p>
          <a:p>
            <a:r>
              <a:rPr lang="en-US" b="1" dirty="0">
                <a:ea typeface="Lato Medium"/>
                <a:cs typeface="Calibri"/>
              </a:rPr>
              <a:t>Do:</a:t>
            </a:r>
            <a:r>
              <a:rPr lang="en-US" dirty="0">
                <a:ea typeface="Lato Medium"/>
                <a:cs typeface="Calibri"/>
              </a:rPr>
              <a:t> Call one or two participants if no one volunteers. Acknowledge, ask follow up questions or summarize answers, as necessary.</a:t>
            </a:r>
            <a:endParaRPr lang="en-US" dirty="0"/>
          </a:p>
          <a:p>
            <a:endParaRPr lang="en-US" dirty="0">
              <a:ea typeface="Lato Medium"/>
              <a:cs typeface="Calibri"/>
            </a:endParaRPr>
          </a:p>
          <a:p>
            <a:r>
              <a:rPr lang="en-US" b="1" dirty="0">
                <a:ea typeface="Lato Medium"/>
                <a:cs typeface="Calibri"/>
              </a:rPr>
              <a:t>Possible answers/talking points you can use: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ea typeface="Lato Medium"/>
                <a:cs typeface="Calibri"/>
              </a:rPr>
              <a:t>Inclusion &amp; Diversity – this means tackling unconscious bias to build a more inclusive and diverse workplace. Doing this creates equal opportunities for teammates, results in better business decisions, increases innovation, and boosts employee engagement.</a:t>
            </a:r>
          </a:p>
          <a:p>
            <a:r>
              <a:rPr lang="en-US" dirty="0">
                <a:ea typeface="Lato Medium"/>
                <a:cs typeface="Calibri"/>
              </a:rPr>
              <a:t>2. Trustworthiness –  Being trustworthy plays a vital role in building relationships and impacts your daily work and credibility. When people know that you have integrity, and you stand by your values, they will want to work with you.</a:t>
            </a:r>
          </a:p>
          <a:p>
            <a:r>
              <a:rPr lang="en-US" dirty="0">
                <a:ea typeface="Lato Medium"/>
                <a:cs typeface="Calibri"/>
              </a:rPr>
              <a:t>3. Respect – is a must not only in the workplace but everywhere. Treating others with respect promotes a positive work culture. When there’s respect, people feel empowered, engaged and stay loyal.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a typeface="Lato Medium"/>
                <a:cs typeface="Calibri"/>
              </a:rPr>
              <a:t>4. Integrity -  This means </a:t>
            </a:r>
            <a:r>
              <a:rPr lang="en-US" sz="1200" dirty="0">
                <a:solidFill>
                  <a:schemeClr val="tx2"/>
                </a:solidFill>
                <a:latin typeface="Lato"/>
                <a:ea typeface="Lato Medium"/>
                <a:cs typeface="Calibri"/>
              </a:rPr>
              <a:t>d</a:t>
            </a:r>
            <a:r>
              <a:rPr lang="en-US" sz="1200" dirty="0">
                <a:solidFill>
                  <a:schemeClr val="tx2"/>
                </a:solidFill>
                <a:latin typeface="Lato"/>
                <a:ea typeface="Lato"/>
                <a:cs typeface="Lato"/>
              </a:rPr>
              <a:t>oing the right thing even when no one is watching. When you live with sound principles and embody ethical behavior, you develop a sense of confidence in who you are as a person. Integrity can also lead to success personally and professionally because you hold yourself accountable for your actions.</a:t>
            </a:r>
          </a:p>
          <a:p>
            <a:endParaRPr lang="en-US" dirty="0">
              <a:ea typeface="Lato Medium"/>
              <a:cs typeface="Calibri"/>
            </a:endParaRPr>
          </a:p>
          <a:p>
            <a:r>
              <a:rPr lang="en-US" b="1" dirty="0">
                <a:ea typeface="Lato Medium"/>
                <a:cs typeface="Calibri"/>
              </a:rPr>
              <a:t>Transition: </a:t>
            </a:r>
            <a:r>
              <a:rPr lang="en-US" dirty="0">
                <a:ea typeface="Lato Medium"/>
                <a:cs typeface="Calibri"/>
              </a:rPr>
              <a:t>Let's look at some behaviors for each pillar that you can embody. </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6</a:t>
            </a:fld>
            <a:endParaRPr lang="en-US" dirty="0"/>
          </a:p>
        </p:txBody>
      </p:sp>
    </p:spTree>
    <p:extLst>
      <p:ext uri="{BB962C8B-B14F-4D97-AF65-F5344CB8AC3E}">
        <p14:creationId xmlns:p14="http://schemas.microsoft.com/office/powerpoint/2010/main" val="8267225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1" dirty="0">
                <a:cs typeface="Calibri"/>
              </a:rPr>
              <a:t>Duration: 5 minutes</a:t>
            </a:r>
          </a:p>
          <a:p>
            <a:endParaRPr lang="en-US" sz="1200" b="1" i="0" dirty="0">
              <a:latin typeface="Lato" panose="020F0502020204030203" pitchFamily="34" charset="0"/>
              <a:cs typeface="Calibri"/>
            </a:endParaRPr>
          </a:p>
          <a:p>
            <a:r>
              <a:rPr lang="en-US" sz="1200" b="1" dirty="0">
                <a:latin typeface="Lato" panose="020F0502020204030203" pitchFamily="34" charset="0"/>
                <a:cs typeface="Calibri"/>
              </a:rPr>
              <a:t>Say:</a:t>
            </a:r>
            <a:r>
              <a:rPr lang="en-US" sz="1200" b="1" dirty="0">
                <a:latin typeface="Lato" panose="020F0502020204030203" pitchFamily="34" charset="0"/>
                <a:ea typeface="Calibri"/>
                <a:cs typeface="Calibri"/>
              </a:rPr>
              <a:t> </a:t>
            </a:r>
            <a:r>
              <a:rPr lang="en-US" sz="1200" b="0" dirty="0">
                <a:latin typeface="Lato" panose="020F0502020204030203" pitchFamily="34" charset="0"/>
                <a:ea typeface="Calibri"/>
                <a:cs typeface="Calibri"/>
              </a:rPr>
              <a:t>On the screen, you will see some behaviors under the pillars of character. I will give you 2-3 minutes to read through the behaviors and determine one or two for each pillar that you would like to improve this year. Let’s start.</a:t>
            </a:r>
          </a:p>
          <a:p>
            <a:endParaRPr lang="en-US" sz="1200" b="0" dirty="0">
              <a:latin typeface="Lato" panose="020F0502020204030203" pitchFamily="34" charset="0"/>
              <a:ea typeface="Calibri"/>
              <a:cs typeface="Calibri"/>
            </a:endParaRPr>
          </a:p>
          <a:p>
            <a:r>
              <a:rPr lang="en-US" sz="1200" b="0" dirty="0">
                <a:latin typeface="Lato" panose="020F0502020204030203" pitchFamily="34" charset="0"/>
                <a:ea typeface="Calibri"/>
                <a:cs typeface="Calibri"/>
              </a:rPr>
              <a:t>After 2-3 minutes:</a:t>
            </a:r>
            <a:endParaRPr lang="en-US" sz="1200" b="1" dirty="0">
              <a:latin typeface="Lato" panose="020F0502020204030203" pitchFamily="34" charset="0"/>
              <a:ea typeface="Calibri"/>
              <a:cs typeface="Calibri"/>
            </a:endParaRPr>
          </a:p>
          <a:p>
            <a:endParaRPr lang="en-US" sz="1200" dirty="0">
              <a:latin typeface="Lato" panose="020F0502020204030203" pitchFamily="34" charset="0"/>
              <a:ea typeface="Calibri"/>
              <a:cs typeface="Calibri"/>
            </a:endParaRPr>
          </a:p>
          <a:p>
            <a:r>
              <a:rPr lang="en-US" sz="1200" b="1" i="0" dirty="0">
                <a:latin typeface="Lato" panose="020F0502020204030203" pitchFamily="34" charset="0"/>
                <a:ea typeface="Calibri"/>
                <a:cs typeface="Calibri"/>
              </a:rPr>
              <a:t>Say: </a:t>
            </a:r>
            <a:r>
              <a:rPr lang="en-US" sz="1200" b="0" i="0" dirty="0">
                <a:latin typeface="Lato" panose="020F0502020204030203" pitchFamily="34" charset="0"/>
                <a:ea typeface="Calibri"/>
                <a:cs typeface="Calibri"/>
              </a:rPr>
              <a:t>Please share the behaviors that you want to improve.</a:t>
            </a:r>
          </a:p>
          <a:p>
            <a:endParaRPr lang="en-US" sz="1200" b="0" i="0" dirty="0">
              <a:latin typeface="Lato" panose="020F0502020204030203" pitchFamily="34" charset="0"/>
              <a:ea typeface="Calibri"/>
              <a:cs typeface="Calibri"/>
            </a:endParaRPr>
          </a:p>
          <a:p>
            <a:r>
              <a:rPr lang="en-US" sz="1200" b="1" i="0" dirty="0">
                <a:latin typeface="Lato" panose="020F0502020204030203" pitchFamily="34" charset="0"/>
                <a:ea typeface="Calibri"/>
                <a:cs typeface="Calibri"/>
              </a:rPr>
              <a:t>Do:</a:t>
            </a:r>
            <a:r>
              <a:rPr lang="en-US" sz="1200" b="0" i="0" dirty="0">
                <a:latin typeface="Lato" panose="020F0502020204030203" pitchFamily="34" charset="0"/>
                <a:ea typeface="Calibri"/>
                <a:cs typeface="Calibri"/>
              </a:rPr>
              <a:t> </a:t>
            </a:r>
          </a:p>
          <a:p>
            <a:pPr marL="171450" indent="-171450">
              <a:buFontTx/>
              <a:buChar char="-"/>
            </a:pPr>
            <a:r>
              <a:rPr lang="en-US" sz="1200" b="0" i="0" dirty="0">
                <a:latin typeface="Lato" panose="020F0502020204030203" pitchFamily="34" charset="0"/>
                <a:ea typeface="Calibri"/>
                <a:cs typeface="Calibri"/>
              </a:rPr>
              <a:t>Call two participants if no one volunteers. Acknowledge answers. Ask follow up questions or redirect, as necessary.</a:t>
            </a:r>
          </a:p>
          <a:p>
            <a:pPr marL="171450" indent="-171450">
              <a:buFontTx/>
              <a:buChar char="-"/>
            </a:pPr>
            <a:r>
              <a:rPr lang="en-US" sz="1200" b="0" i="0" dirty="0">
                <a:latin typeface="Lato" panose="020F0502020204030203" pitchFamily="34" charset="0"/>
                <a:ea typeface="Calibri"/>
                <a:cs typeface="Calibri"/>
              </a:rPr>
              <a:t>If you want to know what everyone else wants to improve, you can ask them to send their answers via chat.</a:t>
            </a:r>
            <a:endParaRPr lang="en-US" sz="1200" i="0" dirty="0">
              <a:latin typeface="Lato" panose="020F0502020204030203" pitchFamily="34" charset="0"/>
              <a:ea typeface="Calibri"/>
              <a:cs typeface="Calibri"/>
            </a:endParaRPr>
          </a:p>
          <a:p>
            <a:endParaRPr lang="en-US" sz="1200" i="0" dirty="0">
              <a:latin typeface="Lato" panose="020F0502020204030203" pitchFamily="34" charset="0"/>
              <a:ea typeface="Calibri"/>
              <a:cs typeface="Calibri"/>
            </a:endParaRPr>
          </a:p>
          <a:p>
            <a:r>
              <a:rPr lang="en-US" sz="1200" i="0" dirty="0">
                <a:latin typeface="Lato" panose="020F0502020204030203" pitchFamily="34" charset="0"/>
                <a:ea typeface="Calibri"/>
                <a:cs typeface="Calibri"/>
              </a:rPr>
              <a:t>Follow up questions you can use:</a:t>
            </a:r>
          </a:p>
          <a:p>
            <a:r>
              <a:rPr lang="en-US" sz="1200" i="0" dirty="0">
                <a:latin typeface="Lato" panose="020F0502020204030203" pitchFamily="34" charset="0"/>
                <a:ea typeface="Calibri"/>
                <a:cs typeface="Calibri"/>
              </a:rPr>
              <a:t>- Why do you want to improve this behavior?</a:t>
            </a:r>
          </a:p>
          <a:p>
            <a:r>
              <a:rPr lang="en-US" sz="1200" i="0" dirty="0">
                <a:latin typeface="Lato" panose="020F0502020204030203" pitchFamily="34" charset="0"/>
                <a:ea typeface="Calibri"/>
                <a:cs typeface="Calibri"/>
              </a:rPr>
              <a:t>- What actions will you take to improve this behavior?</a:t>
            </a:r>
          </a:p>
          <a:p>
            <a:endParaRPr lang="en-US" sz="1200" i="0" dirty="0">
              <a:latin typeface="Lato" panose="020F0502020204030203" pitchFamily="34" charset="0"/>
              <a:ea typeface="Calibri"/>
              <a:cs typeface="Calibri"/>
            </a:endParaRPr>
          </a:p>
          <a:p>
            <a:r>
              <a:rPr lang="en-US" sz="1200" dirty="0">
                <a:latin typeface="Lato" panose="020F0502020204030203" pitchFamily="34" charset="0"/>
                <a:ea typeface="Calibri"/>
                <a:cs typeface="Calibri"/>
              </a:rPr>
              <a:t>Possible answers:</a:t>
            </a:r>
          </a:p>
          <a:p>
            <a:r>
              <a:rPr lang="en-US" sz="1200" dirty="0">
                <a:latin typeface="Lato" panose="020F0502020204030203" pitchFamily="34" charset="0"/>
                <a:ea typeface="Calibri"/>
                <a:cs typeface="Calibri"/>
              </a:rPr>
              <a:t>- Be intentional and always be open to hearing what others have to say</a:t>
            </a:r>
          </a:p>
          <a:p>
            <a:r>
              <a:rPr lang="en-US" sz="1200" dirty="0">
                <a:latin typeface="Lato" panose="020F0502020204030203" pitchFamily="34" charset="0"/>
                <a:ea typeface="Calibri"/>
                <a:cs typeface="Calibri"/>
              </a:rPr>
              <a:t>- Contribute your time for community service when possible</a:t>
            </a:r>
          </a:p>
          <a:p>
            <a:r>
              <a:rPr lang="en-US" sz="1200" dirty="0">
                <a:latin typeface="Lato" panose="020F0502020204030203" pitchFamily="34" charset="0"/>
                <a:ea typeface="Calibri"/>
                <a:cs typeface="Calibri"/>
              </a:rPr>
              <a:t>- Honor your commitment to tasks, projects and your role</a:t>
            </a:r>
          </a:p>
          <a:p>
            <a:r>
              <a:rPr lang="en-US" sz="1200" dirty="0">
                <a:latin typeface="Lato" panose="020F0502020204030203" pitchFamily="34" charset="0"/>
                <a:ea typeface="Calibri"/>
                <a:cs typeface="Calibri"/>
              </a:rPr>
              <a:t>- Do simple things like saying 'thank you’ or taking time to having teammates added to recognition programs for everything they have done</a:t>
            </a:r>
          </a:p>
          <a:p>
            <a:r>
              <a:rPr lang="en-US" sz="1200" dirty="0">
                <a:latin typeface="Lato" panose="020F0502020204030203" pitchFamily="34" charset="0"/>
                <a:ea typeface="Calibri"/>
                <a:cs typeface="Calibri"/>
              </a:rPr>
              <a:t>- Block time keeping into consideration of others’ time zone</a:t>
            </a:r>
          </a:p>
          <a:p>
            <a:r>
              <a:rPr lang="en-US" sz="1200" dirty="0">
                <a:latin typeface="Lato" panose="020F0502020204030203" pitchFamily="34" charset="0"/>
                <a:ea typeface="Calibri"/>
                <a:cs typeface="Calibri"/>
              </a:rPr>
              <a:t>- Wish others </a:t>
            </a:r>
            <a:r>
              <a:rPr lang="en-US" sz="1200" dirty="0">
                <a:latin typeface="Lato" panose="020F0502020204030203" pitchFamily="34" charset="0"/>
              </a:rPr>
              <a:t>well during their cultural or religious holidays</a:t>
            </a:r>
            <a:endParaRPr lang="en-US" sz="1200" dirty="0">
              <a:latin typeface="Lato" panose="020F0502020204030203" pitchFamily="34" charset="0"/>
              <a:ea typeface="Calibri"/>
              <a:cs typeface="Calibri"/>
            </a:endParaRPr>
          </a:p>
          <a:p>
            <a:endParaRPr lang="en-US" sz="1200" dirty="0">
              <a:latin typeface="Lato" panose="020F0502020204030203" pitchFamily="34" charset="0"/>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cs typeface="Calibri"/>
              </a:rPr>
              <a:t>Summarize: </a:t>
            </a:r>
            <a:r>
              <a:rPr lang="en-US" b="0" i="0" dirty="0">
                <a:cs typeface="Calibri"/>
              </a:rPr>
              <a:t>Your attitude causes ripple effects. Like a small stone thrown into a pond creating ripples that spread out, our positive actions can affect other people in ways we don’t imagine. The ripple effect is that they do the same for others. This is how we create a positive impact to the world. And this can start with the actions that you mentioned you will take to improve.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cs typeface="Calibri"/>
              </a:rPr>
              <a:t>Do:</a:t>
            </a:r>
            <a:r>
              <a:rPr lang="en-US" b="0" i="0" dirty="0">
                <a:cs typeface="Calibri"/>
              </a:rPr>
              <a:t> Ask what questions the participants may have and answer the questions.</a:t>
            </a:r>
            <a:endParaRPr lang="en-US" b="1" i="0" dirty="0">
              <a:cs typeface="Calibri"/>
            </a:endParaRPr>
          </a:p>
          <a:p>
            <a:endParaRPr lang="en-US" sz="1200" dirty="0">
              <a:latin typeface="Lato" panose="020F0502020204030203" pitchFamily="34" charset="0"/>
              <a:ea typeface="Calibri"/>
              <a:cs typeface="Calibri"/>
            </a:endParaRPr>
          </a:p>
          <a:p>
            <a:r>
              <a:rPr lang="en-US" sz="1200" b="1" dirty="0">
                <a:latin typeface="Lato" panose="020F0502020204030203" pitchFamily="34" charset="0"/>
                <a:ea typeface="Calibri"/>
                <a:cs typeface="Calibri"/>
              </a:rPr>
              <a:t>Transition</a:t>
            </a:r>
            <a:r>
              <a:rPr lang="en-US" sz="1200" dirty="0">
                <a:latin typeface="Lato" panose="020F0502020204030203" pitchFamily="34" charset="0"/>
                <a:ea typeface="Calibri"/>
                <a:cs typeface="Calibri"/>
              </a:rPr>
              <a:t>: Now that we covered the pillars of character and determined some behaviors that we can improve, let’s look at some scenarios at work and determine the best courses of action.</a:t>
            </a:r>
          </a:p>
          <a:p>
            <a:endParaRPr lang="en-US" sz="1200" dirty="0">
              <a:latin typeface="Lato" panose="020F0502020204030203" pitchFamily="34" charset="0"/>
              <a:ea typeface="Calibri"/>
              <a:cs typeface="Calibri"/>
            </a:endParaRPr>
          </a:p>
          <a:p>
            <a:r>
              <a:rPr lang="en-US" sz="1200" b="1" dirty="0">
                <a:latin typeface="Lato" panose="020F0502020204030203" pitchFamily="34" charset="0"/>
                <a:ea typeface="Calibri"/>
                <a:cs typeface="Calibri"/>
              </a:rPr>
              <a:t>Do:</a:t>
            </a:r>
            <a:r>
              <a:rPr lang="en-US" sz="1200" dirty="0">
                <a:latin typeface="Lato" panose="020F0502020204030203" pitchFamily="34" charset="0"/>
                <a:ea typeface="Calibri"/>
                <a:cs typeface="Calibri"/>
              </a:rPr>
              <a:t> Show next slide.</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7</a:t>
            </a:fld>
            <a:endParaRPr lang="en-US" dirty="0"/>
          </a:p>
        </p:txBody>
      </p:sp>
    </p:spTree>
    <p:extLst>
      <p:ext uri="{BB962C8B-B14F-4D97-AF65-F5344CB8AC3E}">
        <p14:creationId xmlns:p14="http://schemas.microsoft.com/office/powerpoint/2010/main" val="12317293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1" dirty="0"/>
              <a:t>Duration: 10 minutes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t>Say: </a:t>
            </a:r>
            <a:r>
              <a:rPr lang="en-US" sz="1200" b="0" i="0" dirty="0"/>
              <a:t>For the next part of this session, we’re looking at two work scenarios. We will identify behaviors that the characters have shown and discuss what they could have done better.</a:t>
            </a:r>
            <a:r>
              <a:rPr lang="en-US" sz="1200" b="1" i="0" dirty="0"/>
              <a:t> </a:t>
            </a:r>
            <a:r>
              <a:rPr lang="en-US" sz="1200" b="0" i="0" dirty="0"/>
              <a:t>Let’s start with scenario 1. Please read the case on the screen and using a notepad or pen and paper, please write your answers to the questions at the bottom of the screen. I’ll give you 5 minutes to complete this.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t>After 5 minutes…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t>Do: </a:t>
            </a:r>
            <a:r>
              <a:rPr lang="en-US" sz="1200" b="0" i="0" dirty="0"/>
              <a:t>Call someone to answer each question. Redirect, ask follow up questions or summarize answers, as necessary.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t>Case study notes you can use:</a:t>
            </a:r>
          </a:p>
          <a:p>
            <a:endParaRPr lang="en-US" sz="1200" i="1" dirty="0">
              <a:cs typeface="Calibri"/>
            </a:endParaRPr>
          </a:p>
          <a:p>
            <a:pPr defTabSz="685800">
              <a:lnSpc>
                <a:spcPct val="150000"/>
              </a:lnSpc>
            </a:pPr>
            <a:r>
              <a:rPr lang="en-US" sz="1200" b="1" dirty="0">
                <a:latin typeface="Lato" panose="020F0502020204030203" pitchFamily="34" charset="77"/>
                <a:ea typeface="Lato"/>
                <a:cs typeface="Lato"/>
              </a:rPr>
              <a:t>Question</a:t>
            </a:r>
            <a:r>
              <a:rPr lang="en-US" sz="1200" dirty="0">
                <a:latin typeface="Lato" panose="020F0502020204030203" pitchFamily="34" charset="77"/>
                <a:ea typeface="Lato"/>
                <a:cs typeface="Lato"/>
              </a:rPr>
              <a:t>: List behaviors of the senior coworker that you noticed. </a:t>
            </a:r>
          </a:p>
          <a:p>
            <a:pPr defTabSz="685800">
              <a:lnSpc>
                <a:spcPct val="150000"/>
              </a:lnSpc>
            </a:pPr>
            <a:r>
              <a:rPr lang="en-US" sz="1200" b="1" dirty="0">
                <a:latin typeface="Lato" panose="020F0502020204030203" pitchFamily="34" charset="77"/>
                <a:ea typeface="Lato"/>
                <a:cs typeface="Lato"/>
              </a:rPr>
              <a:t>Answer</a:t>
            </a:r>
            <a:r>
              <a:rPr lang="en-US" sz="1200" dirty="0">
                <a:latin typeface="Lato" panose="020F0502020204030203" pitchFamily="34" charset="77"/>
                <a:ea typeface="Lato"/>
                <a:cs typeface="Lato"/>
              </a:rPr>
              <a:t>: Disrespectful, demanding, rude, arrogant, ungrateful, selfish</a:t>
            </a:r>
          </a:p>
          <a:p>
            <a:pPr defTabSz="685800">
              <a:lnSpc>
                <a:spcPct val="150000"/>
              </a:lnSpc>
            </a:pPr>
            <a:endParaRPr lang="en-US" sz="1200" dirty="0">
              <a:latin typeface="Lato" panose="020F0502020204030203" pitchFamily="34" charset="77"/>
              <a:ea typeface="Lato"/>
              <a:cs typeface="Lato"/>
            </a:endParaRPr>
          </a:p>
          <a:p>
            <a:pPr defTabSz="685800">
              <a:lnSpc>
                <a:spcPct val="150000"/>
              </a:lnSpc>
            </a:pPr>
            <a:r>
              <a:rPr lang="en-US" sz="1200" b="1" dirty="0">
                <a:latin typeface="Lato"/>
                <a:ea typeface="Lato"/>
                <a:cs typeface="Lato"/>
              </a:rPr>
              <a:t>Question: </a:t>
            </a:r>
            <a:r>
              <a:rPr lang="en-US" sz="1200" dirty="0">
                <a:latin typeface="Lato"/>
                <a:ea typeface="Lato"/>
                <a:cs typeface="Lato"/>
              </a:rPr>
              <a:t>What can you say about the supervisor’s reaction?</a:t>
            </a:r>
          </a:p>
          <a:p>
            <a:pPr marL="0" marR="0" lvl="0" indent="0" algn="l" defTabSz="685800" rtl="0" eaLnBrk="1" fontAlgn="auto" latinLnBrk="0" hangingPunct="1">
              <a:lnSpc>
                <a:spcPct val="150000"/>
              </a:lnSpc>
              <a:spcBef>
                <a:spcPts val="0"/>
              </a:spcBef>
              <a:spcAft>
                <a:spcPts val="0"/>
              </a:spcAft>
              <a:buClrTx/>
              <a:buSzTx/>
              <a:buFontTx/>
              <a:buNone/>
              <a:tabLst/>
              <a:defRPr/>
            </a:pPr>
            <a:r>
              <a:rPr lang="en-US" sz="1200" b="1" dirty="0">
                <a:latin typeface="Lato" panose="020F0502020204030203" pitchFamily="34" charset="77"/>
                <a:ea typeface="Lato"/>
                <a:cs typeface="Lato"/>
              </a:rPr>
              <a:t>Answer:  </a:t>
            </a:r>
            <a:r>
              <a:rPr lang="en-US" sz="1200" b="0" dirty="0">
                <a:latin typeface="Lato" panose="020F0502020204030203" pitchFamily="34" charset="77"/>
                <a:ea typeface="Lato"/>
                <a:cs typeface="Lato"/>
              </a:rPr>
              <a:t>The s</a:t>
            </a:r>
            <a:r>
              <a:rPr lang="en-US" sz="1200" dirty="0">
                <a:latin typeface="Lato" panose="020F0502020204030203" pitchFamily="34" charset="77"/>
                <a:ea typeface="Lato"/>
                <a:cs typeface="Lato"/>
              </a:rPr>
              <a:t>upervisor was not considerate that the employee felt uncomfortable working with the senior coworker. He also did not focus and give importance to the character of the senior coworker. Lastly, he ignored and tried to stop the new employee to talk about the issue. </a:t>
            </a:r>
          </a:p>
          <a:p>
            <a:pPr defTabSz="685800">
              <a:lnSpc>
                <a:spcPct val="150000"/>
              </a:lnSpc>
            </a:pPr>
            <a:endParaRPr lang="en-US" sz="1200" dirty="0">
              <a:latin typeface="Lato"/>
              <a:ea typeface="Lato"/>
              <a:cs typeface="Lato"/>
            </a:endParaRPr>
          </a:p>
          <a:p>
            <a:pPr defTabSz="685800">
              <a:lnSpc>
                <a:spcPct val="150000"/>
              </a:lnSpc>
            </a:pPr>
            <a:r>
              <a:rPr lang="en-US" sz="1200" b="1" dirty="0">
                <a:latin typeface="Lato" panose="020F0502020204030203" pitchFamily="34" charset="77"/>
                <a:ea typeface="Lato"/>
                <a:cs typeface="Lato"/>
              </a:rPr>
              <a:t>Question: </a:t>
            </a:r>
            <a:r>
              <a:rPr lang="en-US" sz="1200" dirty="0">
                <a:latin typeface="Lato" panose="020F0502020204030203" pitchFamily="34" charset="77"/>
                <a:ea typeface="Lato"/>
                <a:cs typeface="Lato"/>
              </a:rPr>
              <a:t>As a leader, how would you handle the situation differently? </a:t>
            </a:r>
          </a:p>
          <a:p>
            <a:pPr defTabSz="685800">
              <a:lnSpc>
                <a:spcPct val="150000"/>
              </a:lnSpc>
            </a:pPr>
            <a:r>
              <a:rPr lang="en-US" sz="1200" b="1" dirty="0">
                <a:latin typeface="Lato" panose="020F0502020204030203" pitchFamily="34" charset="77"/>
                <a:ea typeface="Lato"/>
                <a:cs typeface="Lato"/>
              </a:rPr>
              <a:t>Answers: </a:t>
            </a:r>
          </a:p>
          <a:p>
            <a:pPr marL="285750" marR="0" lvl="0" indent="-285750" algn="l" defTabSz="6858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200" dirty="0">
                <a:latin typeface="Lato" panose="020F0502020204030203" pitchFamily="34" charset="77"/>
                <a:ea typeface="Lato"/>
                <a:cs typeface="Lato"/>
              </a:rPr>
              <a:t>Empathize with the employee. </a:t>
            </a:r>
          </a:p>
          <a:p>
            <a:pPr marL="285750" marR="0" lvl="0" indent="-285750" algn="l" defTabSz="6858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200" dirty="0">
                <a:latin typeface="Lato" panose="020F0502020204030203" pitchFamily="34" charset="77"/>
                <a:ea typeface="Lato"/>
                <a:cs typeface="Lato"/>
              </a:rPr>
              <a:t>Clarify the situation by asking follow up questions. </a:t>
            </a:r>
          </a:p>
          <a:p>
            <a:pPr marL="285750" marR="0" lvl="0" indent="-285750" algn="l" defTabSz="6858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200" dirty="0">
                <a:latin typeface="Lato" panose="020F0502020204030203" pitchFamily="34" charset="77"/>
                <a:ea typeface="Lato"/>
                <a:cs typeface="Lato"/>
              </a:rPr>
              <a:t>Shown genuine concern and assure to speak with the senior coworker to understand if it’s work or something else affecting his demeanor. </a:t>
            </a:r>
          </a:p>
          <a:p>
            <a:endParaRPr lang="en-US" dirty="0">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latin typeface="Lato" panose="020F0502020204030203" pitchFamily="34" charset="0"/>
                <a:ea typeface="Calibri"/>
                <a:cs typeface="Calibri"/>
              </a:rPr>
              <a:t>Say: </a:t>
            </a:r>
            <a:r>
              <a:rPr lang="en-US" sz="1200" b="0" i="0" dirty="0">
                <a:latin typeface="Lato" panose="020F0502020204030203" pitchFamily="34" charset="0"/>
                <a:ea typeface="Calibri"/>
                <a:cs typeface="Calibri"/>
              </a:rPr>
              <a:t>Author and motivational speaker, Jeff Keller said, </a:t>
            </a:r>
            <a:r>
              <a:rPr lang="en-US" sz="1200" b="0" i="1" dirty="0">
                <a:latin typeface="Lato" panose="020F0502020204030203" pitchFamily="34" charset="0"/>
                <a:ea typeface="Calibri"/>
                <a:cs typeface="Calibri"/>
              </a:rPr>
              <a:t>“ Treat every person you encounter with dignity and respect.” </a:t>
            </a:r>
            <a:r>
              <a:rPr lang="en-US" sz="1200" b="0" i="0" dirty="0">
                <a:solidFill>
                  <a:srgbClr val="202124"/>
                </a:solidFill>
                <a:effectLst/>
                <a:latin typeface="Lato" panose="020F0502020204030203" pitchFamily="34" charset="0"/>
              </a:rPr>
              <a:t>Behaving with dignity and respect towards individuals involves approaching them as your equal, respecting their views, their choices and decisions, not making assumptions about how they want to be treated and practicing care and compassion.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202124"/>
              </a:solidFill>
              <a:effectLst/>
              <a:latin typeface="Lato" panose="020F0502020204030203" pitchFamily="34" charset="0"/>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202124"/>
                </a:solidFill>
                <a:effectLst/>
                <a:latin typeface="Lato" panose="020F0502020204030203" pitchFamily="34" charset="0"/>
                <a:ea typeface="Calibri"/>
                <a:cs typeface="Calibri"/>
              </a:rPr>
              <a:t>Transition: </a:t>
            </a:r>
            <a:r>
              <a:rPr lang="en-US" sz="1200" b="0" i="0" dirty="0">
                <a:solidFill>
                  <a:srgbClr val="202124"/>
                </a:solidFill>
                <a:effectLst/>
                <a:latin typeface="Lato" panose="020F0502020204030203" pitchFamily="34" charset="0"/>
                <a:ea typeface="Calibri"/>
                <a:cs typeface="Calibri"/>
              </a:rPr>
              <a:t>Let’s look at another case.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solidFill>
                <a:srgbClr val="202124"/>
              </a:solidFill>
              <a:effectLst/>
              <a:latin typeface="Lato" panose="020F0502020204030203" pitchFamily="34" charset="0"/>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202124"/>
                </a:solidFill>
                <a:effectLst/>
                <a:latin typeface="Lato" panose="020F0502020204030203" pitchFamily="34" charset="0"/>
                <a:ea typeface="Calibri"/>
                <a:cs typeface="Calibri"/>
              </a:rPr>
              <a:t>Do:</a:t>
            </a:r>
            <a:r>
              <a:rPr lang="en-US" sz="1200" b="0" i="0" dirty="0">
                <a:solidFill>
                  <a:srgbClr val="202124"/>
                </a:solidFill>
                <a:effectLst/>
                <a:latin typeface="Lato" panose="020F0502020204030203" pitchFamily="34" charset="0"/>
                <a:ea typeface="Calibri"/>
                <a:cs typeface="Calibri"/>
              </a:rPr>
              <a:t> Show next slide.</a:t>
            </a:r>
            <a:endParaRPr lang="en-US" sz="1200" b="0" i="1" dirty="0">
              <a:latin typeface="Lato" panose="020F0502020204030203" pitchFamily="34" charset="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8</a:t>
            </a:fld>
            <a:endParaRPr lang="en-US" dirty="0"/>
          </a:p>
        </p:txBody>
      </p:sp>
    </p:spTree>
    <p:extLst>
      <p:ext uri="{BB962C8B-B14F-4D97-AF65-F5344CB8AC3E}">
        <p14:creationId xmlns:p14="http://schemas.microsoft.com/office/powerpoint/2010/main" val="20118650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1" dirty="0"/>
              <a:t>Duration: 10min</a:t>
            </a:r>
          </a:p>
          <a:p>
            <a:endParaRPr lang="en-US" i="1" dirty="0">
              <a:cs typeface="Calibri"/>
            </a:endParaRPr>
          </a:p>
          <a:p>
            <a:r>
              <a:rPr lang="en-US" sz="1200" b="1" dirty="0">
                <a:cs typeface="Calibri"/>
              </a:rPr>
              <a:t>Say:</a:t>
            </a:r>
            <a:r>
              <a:rPr lang="en-US" sz="1200" dirty="0">
                <a:cs typeface="Calibri"/>
              </a:rPr>
              <a:t> You’ll have another five minutes to read the case and answer the questions. Once you’re done, we’ll debrief. </a:t>
            </a:r>
          </a:p>
          <a:p>
            <a:endParaRPr lang="en-US" sz="1200" dirty="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t>After 5 minutes…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t>Do: </a:t>
            </a:r>
            <a:r>
              <a:rPr lang="en-US" sz="1200" b="0" i="0" dirty="0"/>
              <a:t>Call someone to answer each question. Redirect, ask follow up questions or summarize answers, as necessary.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t>Case study notes you can use:</a:t>
            </a:r>
            <a:endParaRPr lang="en-US" sz="1200" dirty="0">
              <a:cs typeface="Calibri"/>
            </a:endParaRPr>
          </a:p>
          <a:p>
            <a:pPr defTabSz="685800">
              <a:lnSpc>
                <a:spcPct val="150000"/>
              </a:lnSpc>
            </a:pPr>
            <a:endParaRPr lang="en-US" sz="1200" dirty="0">
              <a:latin typeface="Lato"/>
              <a:ea typeface="Lato"/>
              <a:cs typeface="Lato"/>
            </a:endParaRPr>
          </a:p>
          <a:p>
            <a:pPr defTabSz="685800">
              <a:lnSpc>
                <a:spcPct val="150000"/>
              </a:lnSpc>
            </a:pPr>
            <a:r>
              <a:rPr lang="en-US" sz="1200" b="1" dirty="0">
                <a:latin typeface="Lato"/>
                <a:ea typeface="Lato"/>
                <a:cs typeface="Lato"/>
              </a:rPr>
              <a:t>Question</a:t>
            </a:r>
            <a:r>
              <a:rPr lang="en-US" sz="1200" dirty="0">
                <a:latin typeface="Lato"/>
                <a:ea typeface="Lato"/>
                <a:cs typeface="Lato"/>
              </a:rPr>
              <a:t>: What character did Susan demonstrate here?</a:t>
            </a:r>
          </a:p>
          <a:p>
            <a:pPr defTabSz="685800">
              <a:lnSpc>
                <a:spcPct val="150000"/>
              </a:lnSpc>
              <a:defRPr/>
            </a:pPr>
            <a:r>
              <a:rPr lang="en-US" sz="1200" b="1" dirty="0">
                <a:latin typeface="Lato"/>
                <a:ea typeface="Lato"/>
                <a:cs typeface="Lato"/>
              </a:rPr>
              <a:t>Answer</a:t>
            </a:r>
            <a:r>
              <a:rPr lang="en-US" sz="1200" dirty="0">
                <a:latin typeface="Lato"/>
                <a:ea typeface="Lato"/>
                <a:cs typeface="Lato"/>
              </a:rPr>
              <a:t>: Dishonesty, lack of integrity, irresponsibility, insincerity </a:t>
            </a:r>
            <a:r>
              <a:rPr lang="en-US" dirty="0">
                <a:latin typeface="Lato"/>
                <a:ea typeface="Lato"/>
                <a:cs typeface="Lato"/>
              </a:rPr>
              <a:t> </a:t>
            </a:r>
            <a:endParaRPr lang="en-US" sz="1200" dirty="0">
              <a:latin typeface="Lato" panose="020F0502020204030203" pitchFamily="34" charset="77"/>
              <a:ea typeface="Lato"/>
              <a:cs typeface="Lato"/>
            </a:endParaRPr>
          </a:p>
          <a:p>
            <a:pPr defTabSz="685800">
              <a:lnSpc>
                <a:spcPct val="150000"/>
              </a:lnSpc>
            </a:pPr>
            <a:endParaRPr lang="en-US" sz="1200" dirty="0">
              <a:latin typeface="Lato"/>
              <a:ea typeface="Lato"/>
              <a:cs typeface="Lato"/>
            </a:endParaRPr>
          </a:p>
          <a:p>
            <a:pPr defTabSz="685800">
              <a:lnSpc>
                <a:spcPct val="150000"/>
              </a:lnSpc>
            </a:pPr>
            <a:r>
              <a:rPr lang="en-US" sz="1200" b="1" dirty="0">
                <a:latin typeface="Lato"/>
                <a:ea typeface="Lato"/>
                <a:cs typeface="Lato"/>
              </a:rPr>
              <a:t>Question</a:t>
            </a:r>
            <a:r>
              <a:rPr lang="en-US" sz="1200" dirty="0">
                <a:latin typeface="Lato"/>
                <a:ea typeface="Lato"/>
                <a:cs typeface="Lato"/>
              </a:rPr>
              <a:t>: How differently could have Susan approached the issue?</a:t>
            </a:r>
          </a:p>
          <a:p>
            <a:pPr marL="0" marR="0" lvl="0" indent="0" algn="l" defTabSz="685800" rtl="0" eaLnBrk="1" fontAlgn="auto" latinLnBrk="0" hangingPunct="1">
              <a:lnSpc>
                <a:spcPct val="150000"/>
              </a:lnSpc>
              <a:spcBef>
                <a:spcPts val="0"/>
              </a:spcBef>
              <a:spcAft>
                <a:spcPts val="0"/>
              </a:spcAft>
              <a:buClrTx/>
              <a:buSzTx/>
              <a:buFontTx/>
              <a:buNone/>
              <a:tabLst/>
              <a:defRPr/>
            </a:pPr>
            <a:r>
              <a:rPr lang="en-US" sz="1200" b="1" dirty="0">
                <a:latin typeface="Lato" panose="020F0502020204030203" pitchFamily="34" charset="77"/>
                <a:ea typeface="Lato"/>
                <a:cs typeface="Lato"/>
              </a:rPr>
              <a:t>Answer</a:t>
            </a:r>
            <a:r>
              <a:rPr lang="en-US" sz="1200" dirty="0">
                <a:latin typeface="Lato" panose="020F0502020204030203" pitchFamily="34" charset="77"/>
                <a:ea typeface="Lato"/>
                <a:cs typeface="Lato"/>
              </a:rPr>
              <a:t>: Susan should have managed her time to prepare for the calibration. It’s also important to take </a:t>
            </a:r>
            <a:r>
              <a:rPr lang="en-US" b="0" i="0" dirty="0">
                <a:solidFill>
                  <a:srgbClr val="222222"/>
                </a:solidFill>
                <a:effectLst/>
                <a:latin typeface="Roboto" panose="02000000000000000000" pitchFamily="2" charset="0"/>
              </a:rPr>
              <a:t>responsibility for her actions</a:t>
            </a:r>
            <a:r>
              <a:rPr lang="en-US" sz="1200" dirty="0">
                <a:latin typeface="Lato" panose="020F0502020204030203" pitchFamily="34" charset="77"/>
                <a:ea typeface="Lato"/>
                <a:cs typeface="Lato"/>
              </a:rPr>
              <a:t> and gain the clients’ trust by owning the issue, apologizing and ensuring it won’t happen again. </a:t>
            </a:r>
            <a:endParaRPr lang="en-US" sz="1200" dirty="0">
              <a:latin typeface="Lato"/>
              <a:ea typeface="Lato"/>
              <a:cs typeface="Lato"/>
            </a:endParaRPr>
          </a:p>
          <a:p>
            <a:pPr defTabSz="685800">
              <a:lnSpc>
                <a:spcPct val="150000"/>
              </a:lnSpc>
            </a:pPr>
            <a:endParaRPr lang="en-US" sz="1200" dirty="0">
              <a:latin typeface="Lato"/>
              <a:ea typeface="Lato"/>
              <a:cs typeface="Lato"/>
            </a:endParaRPr>
          </a:p>
          <a:p>
            <a:pPr defTabSz="685800">
              <a:lnSpc>
                <a:spcPct val="150000"/>
              </a:lnSpc>
            </a:pPr>
            <a:r>
              <a:rPr lang="en-US" sz="1200" b="1" dirty="0">
                <a:latin typeface="Lato"/>
                <a:ea typeface="Lato"/>
                <a:cs typeface="Lato"/>
              </a:rPr>
              <a:t>Question</a:t>
            </a:r>
            <a:r>
              <a:rPr lang="en-US" sz="1200" dirty="0">
                <a:latin typeface="Lato"/>
                <a:ea typeface="Lato"/>
                <a:cs typeface="Lato"/>
              </a:rPr>
              <a:t>: How do you think Susan’s behavior impacted the clients’ impression of the organization?</a:t>
            </a:r>
          </a:p>
          <a:p>
            <a:pPr marL="0" marR="0" lvl="0" indent="0" algn="l" defTabSz="685800" rtl="0" eaLnBrk="1" fontAlgn="auto" latinLnBrk="0" hangingPunct="1">
              <a:lnSpc>
                <a:spcPct val="150000"/>
              </a:lnSpc>
              <a:spcBef>
                <a:spcPts val="0"/>
              </a:spcBef>
              <a:spcAft>
                <a:spcPts val="0"/>
              </a:spcAft>
              <a:buClrTx/>
              <a:buSzTx/>
              <a:buFontTx/>
              <a:buNone/>
              <a:tabLst/>
              <a:defRPr/>
            </a:pPr>
            <a:r>
              <a:rPr lang="en-US" sz="1200" b="1" dirty="0">
                <a:latin typeface="Lato" panose="020F0502020204030203" pitchFamily="34" charset="77"/>
                <a:ea typeface="Lato"/>
                <a:cs typeface="Lato"/>
              </a:rPr>
              <a:t>Answer</a:t>
            </a:r>
            <a:r>
              <a:rPr lang="en-US" sz="1200" dirty="0">
                <a:latin typeface="Lato" panose="020F0502020204030203" pitchFamily="34" charset="77"/>
                <a:ea typeface="Lato"/>
                <a:cs typeface="Lato"/>
              </a:rPr>
              <a:t>: </a:t>
            </a:r>
            <a:r>
              <a:rPr lang="en-US" sz="1200">
                <a:latin typeface="Lato" panose="020F0502020204030203" pitchFamily="34" charset="77"/>
                <a:ea typeface="Lato"/>
                <a:cs typeface="Lato"/>
              </a:rPr>
              <a:t>The clients </a:t>
            </a:r>
            <a:r>
              <a:rPr lang="en-US" sz="1200" dirty="0">
                <a:latin typeface="Lato" panose="020F0502020204030203" pitchFamily="34" charset="77"/>
                <a:ea typeface="Lato"/>
                <a:cs typeface="Lato"/>
              </a:rPr>
              <a:t>might have felt that the organization did not </a:t>
            </a:r>
            <a:r>
              <a:rPr lang="en-US" sz="1200">
                <a:latin typeface="Lato" panose="020F0502020204030203" pitchFamily="34" charset="77"/>
                <a:ea typeface="Lato"/>
                <a:cs typeface="Lato"/>
              </a:rPr>
              <a:t>respect their </a:t>
            </a:r>
            <a:r>
              <a:rPr lang="en-US" sz="1200" dirty="0">
                <a:latin typeface="Lato" panose="020F0502020204030203" pitchFamily="34" charset="77"/>
                <a:ea typeface="Lato"/>
                <a:cs typeface="Lato"/>
              </a:rPr>
              <a:t>time. This poses a negative impact on the company.</a:t>
            </a:r>
          </a:p>
          <a:p>
            <a:endParaRPr lang="en-US" sz="1200" dirty="0">
              <a:latin typeface="Lato" panose="020F0502020204030203" pitchFamily="34" charset="77"/>
              <a:cs typeface="Calibri"/>
            </a:endParaRPr>
          </a:p>
          <a:p>
            <a:r>
              <a:rPr lang="en-US" sz="1600" b="1" dirty="0">
                <a:cs typeface="Calibri"/>
              </a:rPr>
              <a:t>Do: </a:t>
            </a:r>
            <a:r>
              <a:rPr lang="en-US" sz="1600" b="0" dirty="0">
                <a:cs typeface="Calibri"/>
              </a:rPr>
              <a:t>Summarize the important points that the participants said as they answered the case study questions. Show next slide.</a:t>
            </a:r>
            <a:r>
              <a:rPr lang="en-US" sz="1600" dirty="0">
                <a:cs typeface="Calibri"/>
              </a:rPr>
              <a:t> </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9</a:t>
            </a:fld>
            <a:endParaRPr lang="en-US" dirty="0"/>
          </a:p>
        </p:txBody>
      </p:sp>
    </p:spTree>
    <p:extLst>
      <p:ext uri="{BB962C8B-B14F-4D97-AF65-F5344CB8AC3E}">
        <p14:creationId xmlns:p14="http://schemas.microsoft.com/office/powerpoint/2010/main" val="29503829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a:t>
            </a:r>
            <a:r>
              <a:rPr lang="en-US" dirty="0"/>
              <a:t>  Here’s a quote from Abraham Lincoln about character. How do you interpret this?</a:t>
            </a:r>
          </a:p>
          <a:p>
            <a:endParaRPr lang="en-US" dirty="0"/>
          </a:p>
          <a:p>
            <a:r>
              <a:rPr lang="en-US" b="1" dirty="0"/>
              <a:t>Do:</a:t>
            </a:r>
            <a:r>
              <a:rPr lang="en-US" dirty="0"/>
              <a:t> Allow some time for the participants to reflect. Call one or two of them if no one volunteers. Acknowledge, ask follow questions or redirect answers, as necessary. </a:t>
            </a:r>
          </a:p>
          <a:p>
            <a:endParaRPr lang="en-US" dirty="0"/>
          </a:p>
          <a:p>
            <a:r>
              <a:rPr lang="en-US" b="1" dirty="0"/>
              <a:t>Say: </a:t>
            </a:r>
            <a:r>
              <a:rPr lang="en-US" b="0" dirty="0"/>
              <a:t>Character is who we are. Just like the tree, it is the real thing. Reputation is like the shadow; it varies based on who’s looking. It is the label that people give you and it fluctuates over time. Be more concerned in building your character because it is the foundation of your actions and determines where you go in life. </a:t>
            </a:r>
          </a:p>
          <a:p>
            <a:endParaRPr lang="en-US" b="0" dirty="0"/>
          </a:p>
          <a:p>
            <a:r>
              <a:rPr lang="en-US" b="1" dirty="0"/>
              <a:t>Do:</a:t>
            </a:r>
            <a:r>
              <a:rPr lang="en-US" b="0" dirty="0"/>
              <a:t> Summarize key points in the </a:t>
            </a:r>
            <a:r>
              <a:rPr lang="en-US" b="0"/>
              <a:t>discussion and thank </a:t>
            </a:r>
            <a:r>
              <a:rPr lang="en-US" b="0" dirty="0"/>
              <a:t>everyone for joining the session.</a:t>
            </a:r>
          </a:p>
          <a:p>
            <a:endParaRPr lang="en-US" b="0" i="0" dirty="0">
              <a:solidFill>
                <a:schemeClr val="tx1"/>
              </a:solidFill>
              <a:effectLst/>
              <a:latin typeface="+mn-lt"/>
            </a:endParaRPr>
          </a:p>
          <a:p>
            <a:r>
              <a:rPr lang="en-US" b="0" i="0" dirty="0">
                <a:solidFill>
                  <a:schemeClr val="tx1"/>
                </a:solidFill>
                <a:effectLst/>
                <a:latin typeface="+mn-lt"/>
              </a:rPr>
              <a:t> </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10</a:t>
            </a:fld>
            <a:endParaRPr lang="en-US" dirty="0"/>
          </a:p>
        </p:txBody>
      </p:sp>
    </p:spTree>
    <p:extLst>
      <p:ext uri="{BB962C8B-B14F-4D97-AF65-F5344CB8AC3E}">
        <p14:creationId xmlns:p14="http://schemas.microsoft.com/office/powerpoint/2010/main" val="27682301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4D1586-BDFF-9440-96F8-F0DE4E4562D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37643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12</a:t>
            </a:fld>
            <a:endParaRPr lang="en-US" dirty="0"/>
          </a:p>
        </p:txBody>
      </p:sp>
    </p:spTree>
    <p:extLst>
      <p:ext uri="{BB962C8B-B14F-4D97-AF65-F5344CB8AC3E}">
        <p14:creationId xmlns:p14="http://schemas.microsoft.com/office/powerpoint/2010/main" val="10242401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07033397-15D1-3546-A61B-B7A7E0DEB28F}"/>
              </a:ext>
            </a:extLst>
          </p:cNvPr>
          <p:cNvSpPr>
            <a:spLocks noGrp="1"/>
          </p:cNvSpPr>
          <p:nvPr>
            <p:ph type="sldNum" sz="quarter" idx="12"/>
          </p:nvPr>
        </p:nvSpPr>
        <p:spPr>
          <a:xfrm>
            <a:off x="0" y="4813602"/>
            <a:ext cx="280781" cy="273844"/>
          </a:xfrm>
          <a:prstGeom prst="rect">
            <a:avLst/>
          </a:prstGeom>
        </p:spPr>
        <p:txBody>
          <a:bodyPr/>
          <a:lstStyle>
            <a:lvl1pPr>
              <a:defRPr sz="600" b="0" i="0">
                <a:solidFill>
                  <a:schemeClr val="accent6">
                    <a:lumMod val="40000"/>
                    <a:lumOff val="60000"/>
                  </a:schemeClr>
                </a:solidFill>
                <a:latin typeface="Lato Light" panose="020F0502020204030203" pitchFamily="34" charset="0"/>
                <a:ea typeface="Lato Light" panose="020F0502020204030203" pitchFamily="34" charset="0"/>
                <a:cs typeface="Lato Light" panose="020F0502020204030203" pitchFamily="34" charset="0"/>
              </a:defRPr>
            </a:lvl1pPr>
          </a:lstStyle>
          <a:p>
            <a:fld id="{3DE1F0DE-FBD3-414B-9485-E78F73017EBF}" type="slidenum">
              <a:rPr lang="en-US" smtClean="0"/>
              <a:pPr/>
              <a:t>‹#›</a:t>
            </a:fld>
            <a:endParaRPr lang="en-US" dirty="0"/>
          </a:p>
        </p:txBody>
      </p:sp>
      <p:sp>
        <p:nvSpPr>
          <p:cNvPr id="4" name="Title Placeholder 1">
            <a:extLst>
              <a:ext uri="{FF2B5EF4-FFF2-40B4-BE49-F238E27FC236}">
                <a16:creationId xmlns:a16="http://schemas.microsoft.com/office/drawing/2014/main" id="{3824BCA6-6E63-3D48-A63F-8A94F3EFC9D3}"/>
              </a:ext>
            </a:extLst>
          </p:cNvPr>
          <p:cNvSpPr>
            <a:spLocks noGrp="1"/>
          </p:cNvSpPr>
          <p:nvPr>
            <p:ph type="title" hasCustomPrompt="1"/>
          </p:nvPr>
        </p:nvSpPr>
        <p:spPr>
          <a:xfrm>
            <a:off x="481392" y="260592"/>
            <a:ext cx="8181216"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Tree>
    <p:extLst>
      <p:ext uri="{BB962C8B-B14F-4D97-AF65-F5344CB8AC3E}">
        <p14:creationId xmlns:p14="http://schemas.microsoft.com/office/powerpoint/2010/main" val="2782011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50D3E59F-C36D-E242-B8ED-247E6D3F32A0}"/>
              </a:ext>
            </a:extLst>
          </p:cNvPr>
          <p:cNvSpPr>
            <a:spLocks noGrp="1"/>
          </p:cNvSpPr>
          <p:nvPr>
            <p:ph type="sldNum" sz="quarter" idx="12"/>
          </p:nvPr>
        </p:nvSpPr>
        <p:spPr>
          <a:xfrm>
            <a:off x="0" y="4813602"/>
            <a:ext cx="280781" cy="273844"/>
          </a:xfrm>
          <a:prstGeom prst="rect">
            <a:avLst/>
          </a:prstGeom>
        </p:spPr>
        <p:txBody>
          <a:bodyPr/>
          <a:lstStyle>
            <a:lvl1pPr>
              <a:defRPr sz="600" b="0" i="0">
                <a:solidFill>
                  <a:schemeClr val="accent6">
                    <a:lumMod val="40000"/>
                    <a:lumOff val="60000"/>
                  </a:schemeClr>
                </a:solidFill>
                <a:latin typeface="Lato Light" panose="020F0502020204030203" pitchFamily="34" charset="0"/>
                <a:ea typeface="Lato Light" panose="020F0502020204030203" pitchFamily="34" charset="0"/>
                <a:cs typeface="Lato Light" panose="020F0502020204030203" pitchFamily="34" charset="0"/>
              </a:defRPr>
            </a:lvl1pPr>
          </a:lstStyle>
          <a:p>
            <a:fld id="{3DE1F0DE-FBD3-414B-9485-E78F73017EBF}" type="slidenum">
              <a:rPr lang="en-US" smtClean="0"/>
              <a:pPr/>
              <a:t>‹#›</a:t>
            </a:fld>
            <a:endParaRPr lang="en-US" dirty="0"/>
          </a:p>
        </p:txBody>
      </p:sp>
      <p:sp>
        <p:nvSpPr>
          <p:cNvPr id="4" name="Title Placeholder 1">
            <a:extLst>
              <a:ext uri="{FF2B5EF4-FFF2-40B4-BE49-F238E27FC236}">
                <a16:creationId xmlns:a16="http://schemas.microsoft.com/office/drawing/2014/main" id="{CF9C64AC-9ECC-1547-91E0-BCFAD28424B3}"/>
              </a:ext>
            </a:extLst>
          </p:cNvPr>
          <p:cNvSpPr>
            <a:spLocks noGrp="1"/>
          </p:cNvSpPr>
          <p:nvPr>
            <p:ph type="title" hasCustomPrompt="1"/>
          </p:nvPr>
        </p:nvSpPr>
        <p:spPr>
          <a:xfrm>
            <a:off x="481392" y="260592"/>
            <a:ext cx="8181216"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Tree>
    <p:extLst>
      <p:ext uri="{BB962C8B-B14F-4D97-AF65-F5344CB8AC3E}">
        <p14:creationId xmlns:p14="http://schemas.microsoft.com/office/powerpoint/2010/main" val="3337069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8_Title Slide">
    <p:bg>
      <p:bgPr>
        <a:blipFill dpi="0" rotWithShape="1">
          <a:blip r:embed="rId2" cstate="hq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51801" y="817058"/>
            <a:ext cx="4664665" cy="1790700"/>
          </a:xfrm>
        </p:spPr>
        <p:txBody>
          <a:bodyPr anchor="b">
            <a:normAutofit/>
          </a:bodyPr>
          <a:lstStyle>
            <a:lvl1pPr algn="l">
              <a:defRPr sz="2800">
                <a:solidFill>
                  <a:srgbClr val="232526"/>
                </a:solidFill>
              </a:defRPr>
            </a:lvl1pPr>
          </a:lstStyle>
          <a:p>
            <a:r>
              <a:rPr lang="en-US" sz="2800" dirty="0" err="1">
                <a:latin typeface="Lato" panose="020F0502020204030203" pitchFamily="34" charset="77"/>
              </a:rPr>
              <a:t>Voluptatem</a:t>
            </a:r>
            <a:r>
              <a:rPr lang="en-US" sz="2800" dirty="0">
                <a:latin typeface="Lato" panose="020F0502020204030203" pitchFamily="34" charset="77"/>
              </a:rPr>
              <a:t> </a:t>
            </a:r>
            <a:r>
              <a:rPr lang="en-US" sz="2800" dirty="0" err="1">
                <a:latin typeface="Lato" panose="020F0502020204030203" pitchFamily="34" charset="77"/>
              </a:rPr>
              <a:t>accusantium</a:t>
            </a:r>
            <a:r>
              <a:rPr lang="en-US" sz="2800" dirty="0">
                <a:latin typeface="Lato" panose="020F0502020204030203" pitchFamily="34" charset="77"/>
              </a:rPr>
              <a:t> </a:t>
            </a:r>
            <a:r>
              <a:rPr lang="en-US" sz="2800" dirty="0" err="1">
                <a:latin typeface="Lato" panose="020F0502020204030203" pitchFamily="34" charset="77"/>
              </a:rPr>
              <a:t>doloremque</a:t>
            </a:r>
            <a:r>
              <a:rPr lang="en-US" sz="2800" dirty="0">
                <a:latin typeface="Lato" panose="020F0502020204030203" pitchFamily="34" charset="77"/>
              </a:rPr>
              <a:t> </a:t>
            </a:r>
            <a:r>
              <a:rPr lang="en-US" sz="2800" dirty="0" err="1">
                <a:latin typeface="Lato" panose="020F0502020204030203" pitchFamily="34" charset="77"/>
              </a:rPr>
              <a:t>laudantium</a:t>
            </a:r>
            <a:endParaRPr lang="en-US" dirty="0"/>
          </a:p>
        </p:txBody>
      </p:sp>
      <p:sp>
        <p:nvSpPr>
          <p:cNvPr id="3" name="Subtitle 2"/>
          <p:cNvSpPr>
            <a:spLocks noGrp="1"/>
          </p:cNvSpPr>
          <p:nvPr>
            <p:ph type="subTitle" idx="1" hasCustomPrompt="1"/>
          </p:nvPr>
        </p:nvSpPr>
        <p:spPr>
          <a:xfrm>
            <a:off x="651802" y="2803905"/>
            <a:ext cx="4452582" cy="1241822"/>
          </a:xfrm>
        </p:spPr>
        <p:txBody>
          <a:bodyPr>
            <a:normAutofit/>
          </a:bodyPr>
          <a:lstStyle>
            <a:lvl1pPr marL="0" indent="0" algn="l">
              <a:buNone/>
              <a:defRPr sz="1400">
                <a:solidFill>
                  <a:srgbClr val="232526"/>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z="1400" dirty="0" err="1">
                <a:latin typeface="Lato" panose="020F0502020204030203" pitchFamily="34" charset="77"/>
              </a:rPr>
              <a:t>Quis</a:t>
            </a:r>
            <a:r>
              <a:rPr lang="en-US" sz="1400" dirty="0">
                <a:latin typeface="Lato" panose="020F0502020204030203" pitchFamily="34" charset="77"/>
              </a:rPr>
              <a:t> </a:t>
            </a:r>
            <a:r>
              <a:rPr lang="en-US" sz="1400" dirty="0" err="1">
                <a:latin typeface="Lato" panose="020F0502020204030203" pitchFamily="34" charset="77"/>
              </a:rPr>
              <a:t>autem</a:t>
            </a:r>
            <a:r>
              <a:rPr lang="en-US" sz="1400" dirty="0">
                <a:latin typeface="Lato" panose="020F0502020204030203" pitchFamily="34" charset="77"/>
              </a:rPr>
              <a:t> vel </a:t>
            </a:r>
            <a:r>
              <a:rPr lang="en-US" sz="1400" dirty="0" err="1">
                <a:latin typeface="Lato" panose="020F0502020204030203" pitchFamily="34" charset="77"/>
              </a:rPr>
              <a:t>eum</a:t>
            </a:r>
            <a:r>
              <a:rPr lang="en-US" sz="1400" dirty="0">
                <a:latin typeface="Lato" panose="020F0502020204030203" pitchFamily="34" charset="77"/>
              </a:rPr>
              <a:t> </a:t>
            </a:r>
            <a:r>
              <a:rPr lang="en-US" sz="1400" dirty="0" err="1">
                <a:latin typeface="Lato" panose="020F0502020204030203" pitchFamily="34" charset="77"/>
              </a:rPr>
              <a:t>iure</a:t>
            </a:r>
            <a:r>
              <a:rPr lang="en-US" sz="1400" dirty="0">
                <a:latin typeface="Lato" panose="020F0502020204030203" pitchFamily="34" charset="77"/>
              </a:rPr>
              <a:t> </a:t>
            </a:r>
            <a:r>
              <a:rPr lang="en-US" sz="1400" dirty="0" err="1">
                <a:latin typeface="Lato" panose="020F0502020204030203" pitchFamily="34" charset="77"/>
              </a:rPr>
              <a:t>reprehenderit</a:t>
            </a:r>
            <a:r>
              <a:rPr lang="en-US" sz="1400" dirty="0">
                <a:latin typeface="Lato" panose="020F0502020204030203" pitchFamily="34" charset="77"/>
              </a:rPr>
              <a:t> qui in </a:t>
            </a:r>
            <a:r>
              <a:rPr lang="en-US" sz="1400" dirty="0" err="1">
                <a:latin typeface="Lato" panose="020F0502020204030203" pitchFamily="34" charset="77"/>
              </a:rPr>
              <a:t>ea</a:t>
            </a:r>
            <a:r>
              <a:rPr lang="en-US" sz="1400" dirty="0">
                <a:latin typeface="Lato" panose="020F0502020204030203" pitchFamily="34" charset="77"/>
              </a:rPr>
              <a:t> </a:t>
            </a:r>
            <a:r>
              <a:rPr lang="en-US" sz="1400" dirty="0" err="1">
                <a:latin typeface="Lato" panose="020F0502020204030203" pitchFamily="34" charset="77"/>
              </a:rPr>
              <a:t>voluptate</a:t>
            </a:r>
            <a:r>
              <a:rPr lang="en-US" sz="1400" dirty="0">
                <a:latin typeface="Lato" panose="020F0502020204030203" pitchFamily="34" charset="77"/>
              </a:rPr>
              <a:t> </a:t>
            </a:r>
            <a:r>
              <a:rPr lang="en-US" sz="1400" dirty="0" err="1">
                <a:latin typeface="Lato" panose="020F0502020204030203" pitchFamily="34" charset="77"/>
              </a:rPr>
              <a:t>velit</a:t>
            </a:r>
            <a:r>
              <a:rPr lang="en-US" sz="1400" dirty="0">
                <a:latin typeface="Lato" panose="020F0502020204030203" pitchFamily="34" charset="77"/>
              </a:rPr>
              <a:t> </a:t>
            </a:r>
            <a:r>
              <a:rPr lang="en-US" sz="1400" dirty="0" err="1">
                <a:latin typeface="Lato" panose="020F0502020204030203" pitchFamily="34" charset="77"/>
              </a:rPr>
              <a:t>esse</a:t>
            </a:r>
            <a:r>
              <a:rPr lang="en-US" sz="1400" dirty="0">
                <a:latin typeface="Lato" panose="020F0502020204030203" pitchFamily="34" charset="77"/>
              </a:rPr>
              <a:t> </a:t>
            </a:r>
            <a:r>
              <a:rPr lang="en-US" sz="1400" dirty="0" err="1">
                <a:latin typeface="Lato" panose="020F0502020204030203" pitchFamily="34" charset="77"/>
              </a:rPr>
              <a:t>quam</a:t>
            </a:r>
            <a:endParaRPr lang="en-US" dirty="0"/>
          </a:p>
        </p:txBody>
      </p:sp>
      <p:pic>
        <p:nvPicPr>
          <p:cNvPr id="10" name="Picture 9">
            <a:extLst>
              <a:ext uri="{FF2B5EF4-FFF2-40B4-BE49-F238E27FC236}">
                <a16:creationId xmlns:a16="http://schemas.microsoft.com/office/drawing/2014/main" id="{FA7EB968-0F16-F642-B469-F37CE4FFB527}"/>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651801" y="255328"/>
            <a:ext cx="1060622" cy="129631"/>
          </a:xfrm>
          <a:prstGeom prst="rect">
            <a:avLst/>
          </a:prstGeom>
        </p:spPr>
      </p:pic>
      <p:sp>
        <p:nvSpPr>
          <p:cNvPr id="7" name="Rectangle 6">
            <a:extLst>
              <a:ext uri="{FF2B5EF4-FFF2-40B4-BE49-F238E27FC236}">
                <a16:creationId xmlns:a16="http://schemas.microsoft.com/office/drawing/2014/main" id="{E67EDC92-B1D3-C843-AE97-9BFF8CA480F3}"/>
              </a:ext>
            </a:extLst>
          </p:cNvPr>
          <p:cNvSpPr/>
          <p:nvPr userDrawn="1"/>
        </p:nvSpPr>
        <p:spPr>
          <a:xfrm rot="5400000">
            <a:off x="-2474664" y="2472659"/>
            <a:ext cx="5141532" cy="196214"/>
          </a:xfrm>
          <a:prstGeom prst="rect">
            <a:avLst/>
          </a:prstGeom>
          <a:gradFill>
            <a:gsLst>
              <a:gs pos="0">
                <a:schemeClr val="bg2"/>
              </a:gs>
              <a:gs pos="51000">
                <a:srgbClr val="2C9FA7"/>
              </a:gs>
              <a:gs pos="100000">
                <a:srgbClr val="13314E"/>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6958975"/>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29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9_Title Slide">
    <p:bg>
      <p:bgPr>
        <a:blipFill dpi="0" rotWithShape="1">
          <a:blip r:embed="rId2" cstate="hq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51801" y="817058"/>
            <a:ext cx="4664665" cy="1790700"/>
          </a:xfrm>
        </p:spPr>
        <p:txBody>
          <a:bodyPr anchor="b">
            <a:normAutofit/>
          </a:bodyPr>
          <a:lstStyle>
            <a:lvl1pPr algn="l">
              <a:defRPr sz="2800">
                <a:solidFill>
                  <a:srgbClr val="232526"/>
                </a:solidFill>
              </a:defRPr>
            </a:lvl1pPr>
          </a:lstStyle>
          <a:p>
            <a:r>
              <a:rPr lang="en-US" sz="2800" dirty="0" err="1">
                <a:latin typeface="Lato" panose="020F0502020204030203" pitchFamily="34" charset="77"/>
              </a:rPr>
              <a:t>Voluptatem</a:t>
            </a:r>
            <a:r>
              <a:rPr lang="en-US" sz="2800" dirty="0">
                <a:latin typeface="Lato" panose="020F0502020204030203" pitchFamily="34" charset="77"/>
              </a:rPr>
              <a:t> </a:t>
            </a:r>
            <a:r>
              <a:rPr lang="en-US" sz="2800" dirty="0" err="1">
                <a:latin typeface="Lato" panose="020F0502020204030203" pitchFamily="34" charset="77"/>
              </a:rPr>
              <a:t>accusantium</a:t>
            </a:r>
            <a:r>
              <a:rPr lang="en-US" sz="2800" dirty="0">
                <a:latin typeface="Lato" panose="020F0502020204030203" pitchFamily="34" charset="77"/>
              </a:rPr>
              <a:t> </a:t>
            </a:r>
            <a:r>
              <a:rPr lang="en-US" sz="2800" dirty="0" err="1">
                <a:latin typeface="Lato" panose="020F0502020204030203" pitchFamily="34" charset="77"/>
              </a:rPr>
              <a:t>doloremque</a:t>
            </a:r>
            <a:r>
              <a:rPr lang="en-US" sz="2800" dirty="0">
                <a:latin typeface="Lato" panose="020F0502020204030203" pitchFamily="34" charset="77"/>
              </a:rPr>
              <a:t> </a:t>
            </a:r>
            <a:r>
              <a:rPr lang="en-US" sz="2800" dirty="0" err="1">
                <a:latin typeface="Lato" panose="020F0502020204030203" pitchFamily="34" charset="77"/>
              </a:rPr>
              <a:t>laudantium</a:t>
            </a:r>
            <a:endParaRPr lang="en-US" dirty="0"/>
          </a:p>
        </p:txBody>
      </p:sp>
      <p:sp>
        <p:nvSpPr>
          <p:cNvPr id="3" name="Subtitle 2"/>
          <p:cNvSpPr>
            <a:spLocks noGrp="1"/>
          </p:cNvSpPr>
          <p:nvPr>
            <p:ph type="subTitle" idx="1" hasCustomPrompt="1"/>
          </p:nvPr>
        </p:nvSpPr>
        <p:spPr>
          <a:xfrm>
            <a:off x="651802" y="2803905"/>
            <a:ext cx="4452582" cy="1241822"/>
          </a:xfrm>
        </p:spPr>
        <p:txBody>
          <a:bodyPr>
            <a:normAutofit/>
          </a:bodyPr>
          <a:lstStyle>
            <a:lvl1pPr marL="0" indent="0" algn="l">
              <a:buNone/>
              <a:defRPr sz="1400">
                <a:solidFill>
                  <a:srgbClr val="232526"/>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z="1400" dirty="0" err="1">
                <a:latin typeface="Lato" panose="020F0502020204030203" pitchFamily="34" charset="77"/>
              </a:rPr>
              <a:t>Quis</a:t>
            </a:r>
            <a:r>
              <a:rPr lang="en-US" sz="1400" dirty="0">
                <a:latin typeface="Lato" panose="020F0502020204030203" pitchFamily="34" charset="77"/>
              </a:rPr>
              <a:t> </a:t>
            </a:r>
            <a:r>
              <a:rPr lang="en-US" sz="1400" dirty="0" err="1">
                <a:latin typeface="Lato" panose="020F0502020204030203" pitchFamily="34" charset="77"/>
              </a:rPr>
              <a:t>autem</a:t>
            </a:r>
            <a:r>
              <a:rPr lang="en-US" sz="1400" dirty="0">
                <a:latin typeface="Lato" panose="020F0502020204030203" pitchFamily="34" charset="77"/>
              </a:rPr>
              <a:t> vel </a:t>
            </a:r>
            <a:r>
              <a:rPr lang="en-US" sz="1400" dirty="0" err="1">
                <a:latin typeface="Lato" panose="020F0502020204030203" pitchFamily="34" charset="77"/>
              </a:rPr>
              <a:t>eum</a:t>
            </a:r>
            <a:r>
              <a:rPr lang="en-US" sz="1400" dirty="0">
                <a:latin typeface="Lato" panose="020F0502020204030203" pitchFamily="34" charset="77"/>
              </a:rPr>
              <a:t> </a:t>
            </a:r>
            <a:r>
              <a:rPr lang="en-US" sz="1400" dirty="0" err="1">
                <a:latin typeface="Lato" panose="020F0502020204030203" pitchFamily="34" charset="77"/>
              </a:rPr>
              <a:t>iure</a:t>
            </a:r>
            <a:r>
              <a:rPr lang="en-US" sz="1400" dirty="0">
                <a:latin typeface="Lato" panose="020F0502020204030203" pitchFamily="34" charset="77"/>
              </a:rPr>
              <a:t> </a:t>
            </a:r>
            <a:r>
              <a:rPr lang="en-US" sz="1400" dirty="0" err="1">
                <a:latin typeface="Lato" panose="020F0502020204030203" pitchFamily="34" charset="77"/>
              </a:rPr>
              <a:t>reprehenderit</a:t>
            </a:r>
            <a:r>
              <a:rPr lang="en-US" sz="1400" dirty="0">
                <a:latin typeface="Lato" panose="020F0502020204030203" pitchFamily="34" charset="77"/>
              </a:rPr>
              <a:t> qui in </a:t>
            </a:r>
            <a:r>
              <a:rPr lang="en-US" sz="1400" dirty="0" err="1">
                <a:latin typeface="Lato" panose="020F0502020204030203" pitchFamily="34" charset="77"/>
              </a:rPr>
              <a:t>ea</a:t>
            </a:r>
            <a:r>
              <a:rPr lang="en-US" sz="1400" dirty="0">
                <a:latin typeface="Lato" panose="020F0502020204030203" pitchFamily="34" charset="77"/>
              </a:rPr>
              <a:t> </a:t>
            </a:r>
            <a:r>
              <a:rPr lang="en-US" sz="1400" dirty="0" err="1">
                <a:latin typeface="Lato" panose="020F0502020204030203" pitchFamily="34" charset="77"/>
              </a:rPr>
              <a:t>voluptate</a:t>
            </a:r>
            <a:r>
              <a:rPr lang="en-US" sz="1400" dirty="0">
                <a:latin typeface="Lato" panose="020F0502020204030203" pitchFamily="34" charset="77"/>
              </a:rPr>
              <a:t> </a:t>
            </a:r>
            <a:r>
              <a:rPr lang="en-US" sz="1400" dirty="0" err="1">
                <a:latin typeface="Lato" panose="020F0502020204030203" pitchFamily="34" charset="77"/>
              </a:rPr>
              <a:t>velit</a:t>
            </a:r>
            <a:r>
              <a:rPr lang="en-US" sz="1400" dirty="0">
                <a:latin typeface="Lato" panose="020F0502020204030203" pitchFamily="34" charset="77"/>
              </a:rPr>
              <a:t> </a:t>
            </a:r>
            <a:r>
              <a:rPr lang="en-US" sz="1400" dirty="0" err="1">
                <a:latin typeface="Lato" panose="020F0502020204030203" pitchFamily="34" charset="77"/>
              </a:rPr>
              <a:t>esse</a:t>
            </a:r>
            <a:r>
              <a:rPr lang="en-US" sz="1400" dirty="0">
                <a:latin typeface="Lato" panose="020F0502020204030203" pitchFamily="34" charset="77"/>
              </a:rPr>
              <a:t> </a:t>
            </a:r>
            <a:r>
              <a:rPr lang="en-US" sz="1400" dirty="0" err="1">
                <a:latin typeface="Lato" panose="020F0502020204030203" pitchFamily="34" charset="77"/>
              </a:rPr>
              <a:t>quam</a:t>
            </a:r>
            <a:endParaRPr lang="en-US" dirty="0"/>
          </a:p>
        </p:txBody>
      </p:sp>
      <p:pic>
        <p:nvPicPr>
          <p:cNvPr id="10" name="Picture 9">
            <a:extLst>
              <a:ext uri="{FF2B5EF4-FFF2-40B4-BE49-F238E27FC236}">
                <a16:creationId xmlns:a16="http://schemas.microsoft.com/office/drawing/2014/main" id="{FA7EB968-0F16-F642-B469-F37CE4FFB527}"/>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651801" y="255328"/>
            <a:ext cx="1060622" cy="129631"/>
          </a:xfrm>
          <a:prstGeom prst="rect">
            <a:avLst/>
          </a:prstGeom>
        </p:spPr>
      </p:pic>
      <p:sp>
        <p:nvSpPr>
          <p:cNvPr id="7" name="Rectangle 6">
            <a:extLst>
              <a:ext uri="{FF2B5EF4-FFF2-40B4-BE49-F238E27FC236}">
                <a16:creationId xmlns:a16="http://schemas.microsoft.com/office/drawing/2014/main" id="{E67EDC92-B1D3-C843-AE97-9BFF8CA480F3}"/>
              </a:ext>
            </a:extLst>
          </p:cNvPr>
          <p:cNvSpPr/>
          <p:nvPr userDrawn="1"/>
        </p:nvSpPr>
        <p:spPr>
          <a:xfrm rot="5400000">
            <a:off x="-2474664" y="2472659"/>
            <a:ext cx="5141532" cy="196214"/>
          </a:xfrm>
          <a:prstGeom prst="rect">
            <a:avLst/>
          </a:prstGeom>
          <a:gradFill>
            <a:gsLst>
              <a:gs pos="0">
                <a:schemeClr val="bg2"/>
              </a:gs>
              <a:gs pos="51000">
                <a:srgbClr val="2C9FA7"/>
              </a:gs>
              <a:gs pos="100000">
                <a:srgbClr val="13314E"/>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6906721"/>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29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11_Title Slide">
    <p:bg>
      <p:bgPr>
        <a:blipFill dpi="0" rotWithShape="1">
          <a:blip r:embed="rId2" cstate="hq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51801" y="817058"/>
            <a:ext cx="4664665" cy="1790700"/>
          </a:xfrm>
        </p:spPr>
        <p:txBody>
          <a:bodyPr anchor="b">
            <a:normAutofit/>
          </a:bodyPr>
          <a:lstStyle>
            <a:lvl1pPr algn="l">
              <a:defRPr sz="2800">
                <a:solidFill>
                  <a:srgbClr val="232526"/>
                </a:solidFill>
              </a:defRPr>
            </a:lvl1pPr>
          </a:lstStyle>
          <a:p>
            <a:r>
              <a:rPr lang="en-US" sz="2800" dirty="0" err="1">
                <a:latin typeface="Lato" panose="020F0502020204030203" pitchFamily="34" charset="77"/>
              </a:rPr>
              <a:t>Voluptatem</a:t>
            </a:r>
            <a:r>
              <a:rPr lang="en-US" sz="2800" dirty="0">
                <a:latin typeface="Lato" panose="020F0502020204030203" pitchFamily="34" charset="77"/>
              </a:rPr>
              <a:t> </a:t>
            </a:r>
            <a:r>
              <a:rPr lang="en-US" sz="2800" dirty="0" err="1">
                <a:latin typeface="Lato" panose="020F0502020204030203" pitchFamily="34" charset="77"/>
              </a:rPr>
              <a:t>accusantium</a:t>
            </a:r>
            <a:r>
              <a:rPr lang="en-US" sz="2800" dirty="0">
                <a:latin typeface="Lato" panose="020F0502020204030203" pitchFamily="34" charset="77"/>
              </a:rPr>
              <a:t> </a:t>
            </a:r>
            <a:r>
              <a:rPr lang="en-US" sz="2800" dirty="0" err="1">
                <a:latin typeface="Lato" panose="020F0502020204030203" pitchFamily="34" charset="77"/>
              </a:rPr>
              <a:t>doloremque</a:t>
            </a:r>
            <a:r>
              <a:rPr lang="en-US" sz="2800" dirty="0">
                <a:latin typeface="Lato" panose="020F0502020204030203" pitchFamily="34" charset="77"/>
              </a:rPr>
              <a:t> </a:t>
            </a:r>
            <a:r>
              <a:rPr lang="en-US" sz="2800" dirty="0" err="1">
                <a:latin typeface="Lato" panose="020F0502020204030203" pitchFamily="34" charset="77"/>
              </a:rPr>
              <a:t>laudantium</a:t>
            </a:r>
            <a:endParaRPr lang="en-US" dirty="0"/>
          </a:p>
        </p:txBody>
      </p:sp>
      <p:sp>
        <p:nvSpPr>
          <p:cNvPr id="3" name="Subtitle 2"/>
          <p:cNvSpPr>
            <a:spLocks noGrp="1"/>
          </p:cNvSpPr>
          <p:nvPr>
            <p:ph type="subTitle" idx="1" hasCustomPrompt="1"/>
          </p:nvPr>
        </p:nvSpPr>
        <p:spPr>
          <a:xfrm>
            <a:off x="651802" y="2803905"/>
            <a:ext cx="4452582" cy="1241822"/>
          </a:xfrm>
        </p:spPr>
        <p:txBody>
          <a:bodyPr>
            <a:normAutofit/>
          </a:bodyPr>
          <a:lstStyle>
            <a:lvl1pPr marL="0" indent="0" algn="l">
              <a:buNone/>
              <a:defRPr sz="1400">
                <a:solidFill>
                  <a:srgbClr val="232526"/>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z="1400" dirty="0" err="1">
                <a:latin typeface="Lato" panose="020F0502020204030203" pitchFamily="34" charset="77"/>
              </a:rPr>
              <a:t>Quis</a:t>
            </a:r>
            <a:r>
              <a:rPr lang="en-US" sz="1400" dirty="0">
                <a:latin typeface="Lato" panose="020F0502020204030203" pitchFamily="34" charset="77"/>
              </a:rPr>
              <a:t> </a:t>
            </a:r>
            <a:r>
              <a:rPr lang="en-US" sz="1400" dirty="0" err="1">
                <a:latin typeface="Lato" panose="020F0502020204030203" pitchFamily="34" charset="77"/>
              </a:rPr>
              <a:t>autem</a:t>
            </a:r>
            <a:r>
              <a:rPr lang="en-US" sz="1400" dirty="0">
                <a:latin typeface="Lato" panose="020F0502020204030203" pitchFamily="34" charset="77"/>
              </a:rPr>
              <a:t> vel </a:t>
            </a:r>
            <a:r>
              <a:rPr lang="en-US" sz="1400" dirty="0" err="1">
                <a:latin typeface="Lato" panose="020F0502020204030203" pitchFamily="34" charset="77"/>
              </a:rPr>
              <a:t>eum</a:t>
            </a:r>
            <a:r>
              <a:rPr lang="en-US" sz="1400" dirty="0">
                <a:latin typeface="Lato" panose="020F0502020204030203" pitchFamily="34" charset="77"/>
              </a:rPr>
              <a:t> </a:t>
            </a:r>
            <a:r>
              <a:rPr lang="en-US" sz="1400" dirty="0" err="1">
                <a:latin typeface="Lato" panose="020F0502020204030203" pitchFamily="34" charset="77"/>
              </a:rPr>
              <a:t>iure</a:t>
            </a:r>
            <a:r>
              <a:rPr lang="en-US" sz="1400" dirty="0">
                <a:latin typeface="Lato" panose="020F0502020204030203" pitchFamily="34" charset="77"/>
              </a:rPr>
              <a:t> </a:t>
            </a:r>
            <a:r>
              <a:rPr lang="en-US" sz="1400" dirty="0" err="1">
                <a:latin typeface="Lato" panose="020F0502020204030203" pitchFamily="34" charset="77"/>
              </a:rPr>
              <a:t>reprehenderit</a:t>
            </a:r>
            <a:r>
              <a:rPr lang="en-US" sz="1400" dirty="0">
                <a:latin typeface="Lato" panose="020F0502020204030203" pitchFamily="34" charset="77"/>
              </a:rPr>
              <a:t> qui in </a:t>
            </a:r>
            <a:r>
              <a:rPr lang="en-US" sz="1400" dirty="0" err="1">
                <a:latin typeface="Lato" panose="020F0502020204030203" pitchFamily="34" charset="77"/>
              </a:rPr>
              <a:t>ea</a:t>
            </a:r>
            <a:r>
              <a:rPr lang="en-US" sz="1400" dirty="0">
                <a:latin typeface="Lato" panose="020F0502020204030203" pitchFamily="34" charset="77"/>
              </a:rPr>
              <a:t> </a:t>
            </a:r>
            <a:r>
              <a:rPr lang="en-US" sz="1400" dirty="0" err="1">
                <a:latin typeface="Lato" panose="020F0502020204030203" pitchFamily="34" charset="77"/>
              </a:rPr>
              <a:t>voluptate</a:t>
            </a:r>
            <a:r>
              <a:rPr lang="en-US" sz="1400" dirty="0">
                <a:latin typeface="Lato" panose="020F0502020204030203" pitchFamily="34" charset="77"/>
              </a:rPr>
              <a:t> </a:t>
            </a:r>
            <a:r>
              <a:rPr lang="en-US" sz="1400" dirty="0" err="1">
                <a:latin typeface="Lato" panose="020F0502020204030203" pitchFamily="34" charset="77"/>
              </a:rPr>
              <a:t>velit</a:t>
            </a:r>
            <a:r>
              <a:rPr lang="en-US" sz="1400" dirty="0">
                <a:latin typeface="Lato" panose="020F0502020204030203" pitchFamily="34" charset="77"/>
              </a:rPr>
              <a:t> </a:t>
            </a:r>
            <a:r>
              <a:rPr lang="en-US" sz="1400" dirty="0" err="1">
                <a:latin typeface="Lato" panose="020F0502020204030203" pitchFamily="34" charset="77"/>
              </a:rPr>
              <a:t>esse</a:t>
            </a:r>
            <a:r>
              <a:rPr lang="en-US" sz="1400" dirty="0">
                <a:latin typeface="Lato" panose="020F0502020204030203" pitchFamily="34" charset="77"/>
              </a:rPr>
              <a:t> </a:t>
            </a:r>
            <a:r>
              <a:rPr lang="en-US" sz="1400" dirty="0" err="1">
                <a:latin typeface="Lato" panose="020F0502020204030203" pitchFamily="34" charset="77"/>
              </a:rPr>
              <a:t>quam</a:t>
            </a:r>
            <a:endParaRPr lang="en-US" dirty="0"/>
          </a:p>
        </p:txBody>
      </p:sp>
      <p:pic>
        <p:nvPicPr>
          <p:cNvPr id="10" name="Picture 9">
            <a:extLst>
              <a:ext uri="{FF2B5EF4-FFF2-40B4-BE49-F238E27FC236}">
                <a16:creationId xmlns:a16="http://schemas.microsoft.com/office/drawing/2014/main" id="{FA7EB968-0F16-F642-B469-F37CE4FFB527}"/>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651801" y="255328"/>
            <a:ext cx="1060622" cy="129631"/>
          </a:xfrm>
          <a:prstGeom prst="rect">
            <a:avLst/>
          </a:prstGeom>
        </p:spPr>
      </p:pic>
      <p:sp>
        <p:nvSpPr>
          <p:cNvPr id="7" name="Rectangle 6">
            <a:extLst>
              <a:ext uri="{FF2B5EF4-FFF2-40B4-BE49-F238E27FC236}">
                <a16:creationId xmlns:a16="http://schemas.microsoft.com/office/drawing/2014/main" id="{E67EDC92-B1D3-C843-AE97-9BFF8CA480F3}"/>
              </a:ext>
            </a:extLst>
          </p:cNvPr>
          <p:cNvSpPr/>
          <p:nvPr userDrawn="1"/>
        </p:nvSpPr>
        <p:spPr>
          <a:xfrm rot="5400000">
            <a:off x="-2474664" y="2472659"/>
            <a:ext cx="5141532" cy="196214"/>
          </a:xfrm>
          <a:prstGeom prst="rect">
            <a:avLst/>
          </a:prstGeom>
          <a:gradFill>
            <a:gsLst>
              <a:gs pos="0">
                <a:schemeClr val="bg2"/>
              </a:gs>
              <a:gs pos="51000">
                <a:srgbClr val="2C9FA7"/>
              </a:gs>
              <a:gs pos="100000">
                <a:srgbClr val="13314E"/>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78406498"/>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29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10_Title Slide">
    <p:bg>
      <p:bgPr>
        <a:blipFill dpi="0" rotWithShape="1">
          <a:blip r:embed="rId2" cstate="hq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51801" y="817058"/>
            <a:ext cx="4664665" cy="1790700"/>
          </a:xfrm>
        </p:spPr>
        <p:txBody>
          <a:bodyPr anchor="b">
            <a:normAutofit/>
          </a:bodyPr>
          <a:lstStyle>
            <a:lvl1pPr algn="l">
              <a:defRPr sz="2800">
                <a:solidFill>
                  <a:srgbClr val="232526"/>
                </a:solidFill>
              </a:defRPr>
            </a:lvl1pPr>
          </a:lstStyle>
          <a:p>
            <a:r>
              <a:rPr lang="en-US" sz="2800" dirty="0" err="1">
                <a:latin typeface="Lato" panose="020F0502020204030203" pitchFamily="34" charset="77"/>
              </a:rPr>
              <a:t>Voluptatem</a:t>
            </a:r>
            <a:r>
              <a:rPr lang="en-US" sz="2800" dirty="0">
                <a:latin typeface="Lato" panose="020F0502020204030203" pitchFamily="34" charset="77"/>
              </a:rPr>
              <a:t> </a:t>
            </a:r>
            <a:r>
              <a:rPr lang="en-US" sz="2800" dirty="0" err="1">
                <a:latin typeface="Lato" panose="020F0502020204030203" pitchFamily="34" charset="77"/>
              </a:rPr>
              <a:t>accusantium</a:t>
            </a:r>
            <a:r>
              <a:rPr lang="en-US" sz="2800" dirty="0">
                <a:latin typeface="Lato" panose="020F0502020204030203" pitchFamily="34" charset="77"/>
              </a:rPr>
              <a:t> </a:t>
            </a:r>
            <a:r>
              <a:rPr lang="en-US" sz="2800" dirty="0" err="1">
                <a:latin typeface="Lato" panose="020F0502020204030203" pitchFamily="34" charset="77"/>
              </a:rPr>
              <a:t>doloremque</a:t>
            </a:r>
            <a:r>
              <a:rPr lang="en-US" sz="2800" dirty="0">
                <a:latin typeface="Lato" panose="020F0502020204030203" pitchFamily="34" charset="77"/>
              </a:rPr>
              <a:t> </a:t>
            </a:r>
            <a:r>
              <a:rPr lang="en-US" sz="2800" dirty="0" err="1">
                <a:latin typeface="Lato" panose="020F0502020204030203" pitchFamily="34" charset="77"/>
              </a:rPr>
              <a:t>laudantium</a:t>
            </a:r>
            <a:endParaRPr lang="en-US" dirty="0"/>
          </a:p>
        </p:txBody>
      </p:sp>
      <p:sp>
        <p:nvSpPr>
          <p:cNvPr id="3" name="Subtitle 2"/>
          <p:cNvSpPr>
            <a:spLocks noGrp="1"/>
          </p:cNvSpPr>
          <p:nvPr>
            <p:ph type="subTitle" idx="1" hasCustomPrompt="1"/>
          </p:nvPr>
        </p:nvSpPr>
        <p:spPr>
          <a:xfrm>
            <a:off x="651802" y="2803905"/>
            <a:ext cx="4452582" cy="1241822"/>
          </a:xfrm>
        </p:spPr>
        <p:txBody>
          <a:bodyPr>
            <a:normAutofit/>
          </a:bodyPr>
          <a:lstStyle>
            <a:lvl1pPr marL="0" indent="0" algn="l">
              <a:buNone/>
              <a:defRPr sz="1400">
                <a:solidFill>
                  <a:srgbClr val="232526"/>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z="1400" dirty="0" err="1">
                <a:latin typeface="Lato" panose="020F0502020204030203" pitchFamily="34" charset="77"/>
              </a:rPr>
              <a:t>Quis</a:t>
            </a:r>
            <a:r>
              <a:rPr lang="en-US" sz="1400" dirty="0">
                <a:latin typeface="Lato" panose="020F0502020204030203" pitchFamily="34" charset="77"/>
              </a:rPr>
              <a:t> </a:t>
            </a:r>
            <a:r>
              <a:rPr lang="en-US" sz="1400" dirty="0" err="1">
                <a:latin typeface="Lato" panose="020F0502020204030203" pitchFamily="34" charset="77"/>
              </a:rPr>
              <a:t>autem</a:t>
            </a:r>
            <a:r>
              <a:rPr lang="en-US" sz="1400" dirty="0">
                <a:latin typeface="Lato" panose="020F0502020204030203" pitchFamily="34" charset="77"/>
              </a:rPr>
              <a:t> vel </a:t>
            </a:r>
            <a:r>
              <a:rPr lang="en-US" sz="1400" dirty="0" err="1">
                <a:latin typeface="Lato" panose="020F0502020204030203" pitchFamily="34" charset="77"/>
              </a:rPr>
              <a:t>eum</a:t>
            </a:r>
            <a:r>
              <a:rPr lang="en-US" sz="1400" dirty="0">
                <a:latin typeface="Lato" panose="020F0502020204030203" pitchFamily="34" charset="77"/>
              </a:rPr>
              <a:t> </a:t>
            </a:r>
            <a:r>
              <a:rPr lang="en-US" sz="1400" dirty="0" err="1">
                <a:latin typeface="Lato" panose="020F0502020204030203" pitchFamily="34" charset="77"/>
              </a:rPr>
              <a:t>iure</a:t>
            </a:r>
            <a:r>
              <a:rPr lang="en-US" sz="1400" dirty="0">
                <a:latin typeface="Lato" panose="020F0502020204030203" pitchFamily="34" charset="77"/>
              </a:rPr>
              <a:t> </a:t>
            </a:r>
            <a:r>
              <a:rPr lang="en-US" sz="1400" dirty="0" err="1">
                <a:latin typeface="Lato" panose="020F0502020204030203" pitchFamily="34" charset="77"/>
              </a:rPr>
              <a:t>reprehenderit</a:t>
            </a:r>
            <a:r>
              <a:rPr lang="en-US" sz="1400" dirty="0">
                <a:latin typeface="Lato" panose="020F0502020204030203" pitchFamily="34" charset="77"/>
              </a:rPr>
              <a:t> qui in </a:t>
            </a:r>
            <a:r>
              <a:rPr lang="en-US" sz="1400" dirty="0" err="1">
                <a:latin typeface="Lato" panose="020F0502020204030203" pitchFamily="34" charset="77"/>
              </a:rPr>
              <a:t>ea</a:t>
            </a:r>
            <a:r>
              <a:rPr lang="en-US" sz="1400" dirty="0">
                <a:latin typeface="Lato" panose="020F0502020204030203" pitchFamily="34" charset="77"/>
              </a:rPr>
              <a:t> </a:t>
            </a:r>
            <a:r>
              <a:rPr lang="en-US" sz="1400" dirty="0" err="1">
                <a:latin typeface="Lato" panose="020F0502020204030203" pitchFamily="34" charset="77"/>
              </a:rPr>
              <a:t>voluptate</a:t>
            </a:r>
            <a:r>
              <a:rPr lang="en-US" sz="1400" dirty="0">
                <a:latin typeface="Lato" panose="020F0502020204030203" pitchFamily="34" charset="77"/>
              </a:rPr>
              <a:t> </a:t>
            </a:r>
            <a:r>
              <a:rPr lang="en-US" sz="1400" dirty="0" err="1">
                <a:latin typeface="Lato" panose="020F0502020204030203" pitchFamily="34" charset="77"/>
              </a:rPr>
              <a:t>velit</a:t>
            </a:r>
            <a:r>
              <a:rPr lang="en-US" sz="1400" dirty="0">
                <a:latin typeface="Lato" panose="020F0502020204030203" pitchFamily="34" charset="77"/>
              </a:rPr>
              <a:t> </a:t>
            </a:r>
            <a:r>
              <a:rPr lang="en-US" sz="1400" dirty="0" err="1">
                <a:latin typeface="Lato" panose="020F0502020204030203" pitchFamily="34" charset="77"/>
              </a:rPr>
              <a:t>esse</a:t>
            </a:r>
            <a:r>
              <a:rPr lang="en-US" sz="1400" dirty="0">
                <a:latin typeface="Lato" panose="020F0502020204030203" pitchFamily="34" charset="77"/>
              </a:rPr>
              <a:t> </a:t>
            </a:r>
            <a:r>
              <a:rPr lang="en-US" sz="1400" dirty="0" err="1">
                <a:latin typeface="Lato" panose="020F0502020204030203" pitchFamily="34" charset="77"/>
              </a:rPr>
              <a:t>quam</a:t>
            </a:r>
            <a:endParaRPr lang="en-US" dirty="0"/>
          </a:p>
        </p:txBody>
      </p:sp>
      <p:pic>
        <p:nvPicPr>
          <p:cNvPr id="10" name="Picture 9">
            <a:extLst>
              <a:ext uri="{FF2B5EF4-FFF2-40B4-BE49-F238E27FC236}">
                <a16:creationId xmlns:a16="http://schemas.microsoft.com/office/drawing/2014/main" id="{FA7EB968-0F16-F642-B469-F37CE4FFB527}"/>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651801" y="255328"/>
            <a:ext cx="1060622" cy="129631"/>
          </a:xfrm>
          <a:prstGeom prst="rect">
            <a:avLst/>
          </a:prstGeom>
        </p:spPr>
      </p:pic>
      <p:sp>
        <p:nvSpPr>
          <p:cNvPr id="7" name="Rectangle 6">
            <a:extLst>
              <a:ext uri="{FF2B5EF4-FFF2-40B4-BE49-F238E27FC236}">
                <a16:creationId xmlns:a16="http://schemas.microsoft.com/office/drawing/2014/main" id="{E67EDC92-B1D3-C843-AE97-9BFF8CA480F3}"/>
              </a:ext>
            </a:extLst>
          </p:cNvPr>
          <p:cNvSpPr/>
          <p:nvPr userDrawn="1"/>
        </p:nvSpPr>
        <p:spPr>
          <a:xfrm rot="5400000">
            <a:off x="-2474664" y="2472659"/>
            <a:ext cx="5141532" cy="196214"/>
          </a:xfrm>
          <a:prstGeom prst="rect">
            <a:avLst/>
          </a:prstGeom>
          <a:gradFill>
            <a:gsLst>
              <a:gs pos="0">
                <a:schemeClr val="bg2"/>
              </a:gs>
              <a:gs pos="51000">
                <a:srgbClr val="2C9FA7"/>
              </a:gs>
              <a:gs pos="100000">
                <a:srgbClr val="13314E"/>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2851605"/>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29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12_Title Slide">
    <p:bg>
      <p:bgPr>
        <a:blipFill dpi="0" rotWithShape="1">
          <a:blip r:embed="rId2" cstate="hq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51801" y="817058"/>
            <a:ext cx="4664665" cy="1790700"/>
          </a:xfrm>
        </p:spPr>
        <p:txBody>
          <a:bodyPr anchor="b">
            <a:normAutofit/>
          </a:bodyPr>
          <a:lstStyle>
            <a:lvl1pPr algn="l">
              <a:defRPr sz="2800">
                <a:solidFill>
                  <a:srgbClr val="232526"/>
                </a:solidFill>
              </a:defRPr>
            </a:lvl1pPr>
          </a:lstStyle>
          <a:p>
            <a:r>
              <a:rPr lang="en-US" sz="2800" dirty="0" err="1">
                <a:latin typeface="Lato" panose="020F0502020204030203" pitchFamily="34" charset="77"/>
              </a:rPr>
              <a:t>Voluptatem</a:t>
            </a:r>
            <a:r>
              <a:rPr lang="en-US" sz="2800" dirty="0">
                <a:latin typeface="Lato" panose="020F0502020204030203" pitchFamily="34" charset="77"/>
              </a:rPr>
              <a:t> </a:t>
            </a:r>
            <a:r>
              <a:rPr lang="en-US" sz="2800" dirty="0" err="1">
                <a:latin typeface="Lato" panose="020F0502020204030203" pitchFamily="34" charset="77"/>
              </a:rPr>
              <a:t>accusantium</a:t>
            </a:r>
            <a:r>
              <a:rPr lang="en-US" sz="2800" dirty="0">
                <a:latin typeface="Lato" panose="020F0502020204030203" pitchFamily="34" charset="77"/>
              </a:rPr>
              <a:t> </a:t>
            </a:r>
            <a:r>
              <a:rPr lang="en-US" sz="2800" dirty="0" err="1">
                <a:latin typeface="Lato" panose="020F0502020204030203" pitchFamily="34" charset="77"/>
              </a:rPr>
              <a:t>doloremque</a:t>
            </a:r>
            <a:r>
              <a:rPr lang="en-US" sz="2800" dirty="0">
                <a:latin typeface="Lato" panose="020F0502020204030203" pitchFamily="34" charset="77"/>
              </a:rPr>
              <a:t> </a:t>
            </a:r>
            <a:r>
              <a:rPr lang="en-US" sz="2800" dirty="0" err="1">
                <a:latin typeface="Lato" panose="020F0502020204030203" pitchFamily="34" charset="77"/>
              </a:rPr>
              <a:t>laudantium</a:t>
            </a:r>
            <a:endParaRPr lang="en-US" dirty="0"/>
          </a:p>
        </p:txBody>
      </p:sp>
      <p:sp>
        <p:nvSpPr>
          <p:cNvPr id="3" name="Subtitle 2"/>
          <p:cNvSpPr>
            <a:spLocks noGrp="1"/>
          </p:cNvSpPr>
          <p:nvPr>
            <p:ph type="subTitle" idx="1" hasCustomPrompt="1"/>
          </p:nvPr>
        </p:nvSpPr>
        <p:spPr>
          <a:xfrm>
            <a:off x="651802" y="2803905"/>
            <a:ext cx="4452582" cy="1241822"/>
          </a:xfrm>
        </p:spPr>
        <p:txBody>
          <a:bodyPr>
            <a:normAutofit/>
          </a:bodyPr>
          <a:lstStyle>
            <a:lvl1pPr marL="0" indent="0" algn="l">
              <a:buNone/>
              <a:defRPr sz="1400">
                <a:solidFill>
                  <a:srgbClr val="232526"/>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z="1400" dirty="0" err="1">
                <a:latin typeface="Lato" panose="020F0502020204030203" pitchFamily="34" charset="77"/>
              </a:rPr>
              <a:t>Quis</a:t>
            </a:r>
            <a:r>
              <a:rPr lang="en-US" sz="1400" dirty="0">
                <a:latin typeface="Lato" panose="020F0502020204030203" pitchFamily="34" charset="77"/>
              </a:rPr>
              <a:t> </a:t>
            </a:r>
            <a:r>
              <a:rPr lang="en-US" sz="1400" dirty="0" err="1">
                <a:latin typeface="Lato" panose="020F0502020204030203" pitchFamily="34" charset="77"/>
              </a:rPr>
              <a:t>autem</a:t>
            </a:r>
            <a:r>
              <a:rPr lang="en-US" sz="1400" dirty="0">
                <a:latin typeface="Lato" panose="020F0502020204030203" pitchFamily="34" charset="77"/>
              </a:rPr>
              <a:t> vel </a:t>
            </a:r>
            <a:r>
              <a:rPr lang="en-US" sz="1400" dirty="0" err="1">
                <a:latin typeface="Lato" panose="020F0502020204030203" pitchFamily="34" charset="77"/>
              </a:rPr>
              <a:t>eum</a:t>
            </a:r>
            <a:r>
              <a:rPr lang="en-US" sz="1400" dirty="0">
                <a:latin typeface="Lato" panose="020F0502020204030203" pitchFamily="34" charset="77"/>
              </a:rPr>
              <a:t> </a:t>
            </a:r>
            <a:r>
              <a:rPr lang="en-US" sz="1400" dirty="0" err="1">
                <a:latin typeface="Lato" panose="020F0502020204030203" pitchFamily="34" charset="77"/>
              </a:rPr>
              <a:t>iure</a:t>
            </a:r>
            <a:r>
              <a:rPr lang="en-US" sz="1400" dirty="0">
                <a:latin typeface="Lato" panose="020F0502020204030203" pitchFamily="34" charset="77"/>
              </a:rPr>
              <a:t> </a:t>
            </a:r>
            <a:r>
              <a:rPr lang="en-US" sz="1400" dirty="0" err="1">
                <a:latin typeface="Lato" panose="020F0502020204030203" pitchFamily="34" charset="77"/>
              </a:rPr>
              <a:t>reprehenderit</a:t>
            </a:r>
            <a:r>
              <a:rPr lang="en-US" sz="1400" dirty="0">
                <a:latin typeface="Lato" panose="020F0502020204030203" pitchFamily="34" charset="77"/>
              </a:rPr>
              <a:t> qui in </a:t>
            </a:r>
            <a:r>
              <a:rPr lang="en-US" sz="1400" dirty="0" err="1">
                <a:latin typeface="Lato" panose="020F0502020204030203" pitchFamily="34" charset="77"/>
              </a:rPr>
              <a:t>ea</a:t>
            </a:r>
            <a:r>
              <a:rPr lang="en-US" sz="1400" dirty="0">
                <a:latin typeface="Lato" panose="020F0502020204030203" pitchFamily="34" charset="77"/>
              </a:rPr>
              <a:t> </a:t>
            </a:r>
            <a:r>
              <a:rPr lang="en-US" sz="1400" dirty="0" err="1">
                <a:latin typeface="Lato" panose="020F0502020204030203" pitchFamily="34" charset="77"/>
              </a:rPr>
              <a:t>voluptate</a:t>
            </a:r>
            <a:r>
              <a:rPr lang="en-US" sz="1400" dirty="0">
                <a:latin typeface="Lato" panose="020F0502020204030203" pitchFamily="34" charset="77"/>
              </a:rPr>
              <a:t> </a:t>
            </a:r>
            <a:r>
              <a:rPr lang="en-US" sz="1400" dirty="0" err="1">
                <a:latin typeface="Lato" panose="020F0502020204030203" pitchFamily="34" charset="77"/>
              </a:rPr>
              <a:t>velit</a:t>
            </a:r>
            <a:r>
              <a:rPr lang="en-US" sz="1400" dirty="0">
                <a:latin typeface="Lato" panose="020F0502020204030203" pitchFamily="34" charset="77"/>
              </a:rPr>
              <a:t> </a:t>
            </a:r>
            <a:r>
              <a:rPr lang="en-US" sz="1400" dirty="0" err="1">
                <a:latin typeface="Lato" panose="020F0502020204030203" pitchFamily="34" charset="77"/>
              </a:rPr>
              <a:t>esse</a:t>
            </a:r>
            <a:r>
              <a:rPr lang="en-US" sz="1400" dirty="0">
                <a:latin typeface="Lato" panose="020F0502020204030203" pitchFamily="34" charset="77"/>
              </a:rPr>
              <a:t> </a:t>
            </a:r>
            <a:r>
              <a:rPr lang="en-US" sz="1400" dirty="0" err="1">
                <a:latin typeface="Lato" panose="020F0502020204030203" pitchFamily="34" charset="77"/>
              </a:rPr>
              <a:t>quam</a:t>
            </a:r>
            <a:endParaRPr lang="en-US" dirty="0"/>
          </a:p>
        </p:txBody>
      </p:sp>
      <p:pic>
        <p:nvPicPr>
          <p:cNvPr id="10" name="Picture 9">
            <a:extLst>
              <a:ext uri="{FF2B5EF4-FFF2-40B4-BE49-F238E27FC236}">
                <a16:creationId xmlns:a16="http://schemas.microsoft.com/office/drawing/2014/main" id="{FA7EB968-0F16-F642-B469-F37CE4FFB527}"/>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651801" y="255328"/>
            <a:ext cx="1060622" cy="129631"/>
          </a:xfrm>
          <a:prstGeom prst="rect">
            <a:avLst/>
          </a:prstGeom>
        </p:spPr>
      </p:pic>
      <p:sp>
        <p:nvSpPr>
          <p:cNvPr id="7" name="Rectangle 6">
            <a:extLst>
              <a:ext uri="{FF2B5EF4-FFF2-40B4-BE49-F238E27FC236}">
                <a16:creationId xmlns:a16="http://schemas.microsoft.com/office/drawing/2014/main" id="{E67EDC92-B1D3-C843-AE97-9BFF8CA480F3}"/>
              </a:ext>
            </a:extLst>
          </p:cNvPr>
          <p:cNvSpPr/>
          <p:nvPr userDrawn="1"/>
        </p:nvSpPr>
        <p:spPr>
          <a:xfrm rot="5400000">
            <a:off x="-2474664" y="2472659"/>
            <a:ext cx="5141532" cy="196214"/>
          </a:xfrm>
          <a:prstGeom prst="rect">
            <a:avLst/>
          </a:prstGeom>
          <a:gradFill>
            <a:gsLst>
              <a:gs pos="0">
                <a:schemeClr val="bg2"/>
              </a:gs>
              <a:gs pos="51000">
                <a:srgbClr val="2C9FA7"/>
              </a:gs>
              <a:gs pos="100000">
                <a:srgbClr val="13314E"/>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2617385"/>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29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F05B05E7-0F6D-FB40-BB9F-CB79996B1239}"/>
              </a:ext>
            </a:extLst>
          </p:cNvPr>
          <p:cNvSpPr>
            <a:spLocks noGrp="1"/>
          </p:cNvSpPr>
          <p:nvPr>
            <p:ph type="title"/>
          </p:nvPr>
        </p:nvSpPr>
        <p:spPr>
          <a:xfrm>
            <a:off x="628650" y="260592"/>
            <a:ext cx="7886700" cy="653808"/>
          </a:xfrm>
          <a:prstGeom prst="rect">
            <a:avLst/>
          </a:prstGeom>
        </p:spPr>
        <p:txBody>
          <a:bodyPr vert="horz" lIns="0" tIns="0" rIns="0" bIns="0" rtlCol="0" anchor="b" anchorCtr="0">
            <a:normAutofit/>
          </a:bodyPr>
          <a:lstStyle/>
          <a:p>
            <a:r>
              <a:rPr lang="en-US" dirty="0"/>
              <a:t>Click to edit Master title style</a:t>
            </a:r>
          </a:p>
        </p:txBody>
      </p:sp>
      <p:sp>
        <p:nvSpPr>
          <p:cNvPr id="8" name="Text Placeholder 2">
            <a:extLst>
              <a:ext uri="{FF2B5EF4-FFF2-40B4-BE49-F238E27FC236}">
                <a16:creationId xmlns:a16="http://schemas.microsoft.com/office/drawing/2014/main" id="{C0008436-80D9-7E43-B513-C504214E05A0}"/>
              </a:ext>
            </a:extLst>
          </p:cNvPr>
          <p:cNvSpPr>
            <a:spLocks noGrp="1"/>
          </p:cNvSpPr>
          <p:nvPr>
            <p:ph idx="1"/>
          </p:nvPr>
        </p:nvSpPr>
        <p:spPr>
          <a:xfrm>
            <a:off x="628650" y="1254543"/>
            <a:ext cx="7886700" cy="3263504"/>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33832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E184FC86-3DB7-F04B-BCD8-29B80CC1AEAE}"/>
              </a:ext>
            </a:extLst>
          </p:cNvPr>
          <p:cNvSpPr>
            <a:spLocks noGrp="1"/>
          </p:cNvSpPr>
          <p:nvPr>
            <p:ph type="title" hasCustomPrompt="1"/>
          </p:nvPr>
        </p:nvSpPr>
        <p:spPr>
          <a:xfrm>
            <a:off x="1182032" y="260591"/>
            <a:ext cx="6779936" cy="2566653"/>
          </a:xfrm>
          <a:prstGeom prst="rect">
            <a:avLst/>
          </a:prstGeom>
        </p:spPr>
        <p:txBody>
          <a:bodyPr vert="horz" lIns="0" tIns="0" rIns="0" bIns="0" rtlCol="0" anchor="b" anchorCtr="0">
            <a:normAutofit/>
          </a:bodyPr>
          <a:lstStyle>
            <a:lvl1pPr algn="ctr">
              <a:defRPr sz="5400" b="0" i="0">
                <a:latin typeface="Lato Light" panose="020F0302020204030203" pitchFamily="34" charset="77"/>
              </a:defRPr>
            </a:lvl1pPr>
          </a:lstStyle>
          <a:p>
            <a:r>
              <a:rPr lang="en-US" dirty="0"/>
              <a:t>Click to edit master title style</a:t>
            </a:r>
          </a:p>
        </p:txBody>
      </p:sp>
      <p:pic>
        <p:nvPicPr>
          <p:cNvPr id="8" name="Picture 7">
            <a:extLst>
              <a:ext uri="{FF2B5EF4-FFF2-40B4-BE49-F238E27FC236}">
                <a16:creationId xmlns:a16="http://schemas.microsoft.com/office/drawing/2014/main" id="{8E07CD1B-0A8C-AC4C-AC52-4BF21D7248FC}"/>
              </a:ext>
            </a:extLst>
          </p:cNvPr>
          <p:cNvPicPr>
            <a:picLocks noChangeAspect="1"/>
          </p:cNvPicPr>
          <p:nvPr userDrawn="1"/>
        </p:nvPicPr>
        <p:blipFill>
          <a:blip r:embed="rId2"/>
          <a:stretch>
            <a:fillRect/>
          </a:stretch>
        </p:blipFill>
        <p:spPr>
          <a:xfrm>
            <a:off x="4141539" y="3008403"/>
            <a:ext cx="860921" cy="218152"/>
          </a:xfrm>
          <a:prstGeom prst="rect">
            <a:avLst/>
          </a:prstGeom>
        </p:spPr>
      </p:pic>
      <p:sp>
        <p:nvSpPr>
          <p:cNvPr id="9" name="Rectangle 8">
            <a:extLst>
              <a:ext uri="{FF2B5EF4-FFF2-40B4-BE49-F238E27FC236}">
                <a16:creationId xmlns:a16="http://schemas.microsoft.com/office/drawing/2014/main" id="{83BE81A0-262A-E24E-824C-C6B27104AA1F}"/>
              </a:ext>
            </a:extLst>
          </p:cNvPr>
          <p:cNvSpPr/>
          <p:nvPr userDrawn="1"/>
        </p:nvSpPr>
        <p:spPr>
          <a:xfrm rot="5400000">
            <a:off x="-2474664" y="2472659"/>
            <a:ext cx="5141532" cy="196214"/>
          </a:xfrm>
          <a:prstGeom prst="rect">
            <a:avLst/>
          </a:prstGeom>
          <a:gradFill>
            <a:gsLst>
              <a:gs pos="0">
                <a:schemeClr val="bg2"/>
              </a:gs>
              <a:gs pos="51000">
                <a:srgbClr val="2C9FA7"/>
              </a:gs>
              <a:gs pos="100000">
                <a:srgbClr val="13314E"/>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82967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3F54A2F-276D-5640-BD52-E25941AE719A}"/>
              </a:ext>
            </a:extLst>
          </p:cNvPr>
          <p:cNvSpPr>
            <a:spLocks noGrp="1"/>
          </p:cNvSpPr>
          <p:nvPr>
            <p:ph type="pic" sz="quarter" idx="10"/>
          </p:nvPr>
        </p:nvSpPr>
        <p:spPr>
          <a:xfrm>
            <a:off x="7876816" y="1"/>
            <a:ext cx="1267184" cy="5143499"/>
          </a:xfrm>
          <a:solidFill>
            <a:schemeClr val="bg2">
              <a:alpha val="40000"/>
            </a:schemeClr>
          </a:solidFill>
        </p:spPr>
        <p:txBody>
          <a:bodyPr/>
          <a:lstStyle/>
          <a:p>
            <a:endParaRPr lang="en-US"/>
          </a:p>
        </p:txBody>
      </p:sp>
      <p:pic>
        <p:nvPicPr>
          <p:cNvPr id="9" name="Picture 8">
            <a:extLst>
              <a:ext uri="{FF2B5EF4-FFF2-40B4-BE49-F238E27FC236}">
                <a16:creationId xmlns:a16="http://schemas.microsoft.com/office/drawing/2014/main" id="{BC6DCAFA-70C1-574B-879E-1E7A02306CEF}"/>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6605997" y="4871465"/>
            <a:ext cx="1060622" cy="129631"/>
          </a:xfrm>
          <a:prstGeom prst="rect">
            <a:avLst/>
          </a:prstGeom>
        </p:spPr>
      </p:pic>
      <p:sp>
        <p:nvSpPr>
          <p:cNvPr id="32" name="Title Placeholder 1">
            <a:extLst>
              <a:ext uri="{FF2B5EF4-FFF2-40B4-BE49-F238E27FC236}">
                <a16:creationId xmlns:a16="http://schemas.microsoft.com/office/drawing/2014/main" id="{0AE1B403-79AC-5646-9A8B-9E969BF06899}"/>
              </a:ext>
            </a:extLst>
          </p:cNvPr>
          <p:cNvSpPr>
            <a:spLocks noGrp="1"/>
          </p:cNvSpPr>
          <p:nvPr>
            <p:ph type="title" hasCustomPrompt="1"/>
          </p:nvPr>
        </p:nvSpPr>
        <p:spPr>
          <a:xfrm>
            <a:off x="271749" y="260592"/>
            <a:ext cx="7333317"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Tree>
    <p:extLst>
      <p:ext uri="{BB962C8B-B14F-4D97-AF65-F5344CB8AC3E}">
        <p14:creationId xmlns:p14="http://schemas.microsoft.com/office/powerpoint/2010/main" val="2743812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2EDEA5C-AB16-F848-A72C-84CE46BC004D}"/>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6605997" y="4871465"/>
            <a:ext cx="1060622" cy="130743"/>
          </a:xfrm>
          <a:prstGeom prst="rect">
            <a:avLst/>
          </a:prstGeom>
        </p:spPr>
      </p:pic>
      <p:sp>
        <p:nvSpPr>
          <p:cNvPr id="3" name="Picture Placeholder 2">
            <a:extLst>
              <a:ext uri="{FF2B5EF4-FFF2-40B4-BE49-F238E27FC236}">
                <a16:creationId xmlns:a16="http://schemas.microsoft.com/office/drawing/2014/main" id="{53F54A2F-276D-5640-BD52-E25941AE719A}"/>
              </a:ext>
            </a:extLst>
          </p:cNvPr>
          <p:cNvSpPr>
            <a:spLocks noGrp="1"/>
          </p:cNvSpPr>
          <p:nvPr>
            <p:ph type="pic" sz="quarter" idx="10"/>
          </p:nvPr>
        </p:nvSpPr>
        <p:spPr>
          <a:xfrm>
            <a:off x="7876816" y="1"/>
            <a:ext cx="1267184" cy="5143499"/>
          </a:xfrm>
          <a:solidFill>
            <a:schemeClr val="bg2">
              <a:alpha val="40000"/>
            </a:schemeClr>
          </a:solidFill>
        </p:spPr>
        <p:txBody>
          <a:bodyPr/>
          <a:lstStyle/>
          <a:p>
            <a:endParaRPr lang="en-US"/>
          </a:p>
        </p:txBody>
      </p:sp>
      <p:sp>
        <p:nvSpPr>
          <p:cNvPr id="32" name="Title Placeholder 1">
            <a:extLst>
              <a:ext uri="{FF2B5EF4-FFF2-40B4-BE49-F238E27FC236}">
                <a16:creationId xmlns:a16="http://schemas.microsoft.com/office/drawing/2014/main" id="{0AE1B403-79AC-5646-9A8B-9E969BF06899}"/>
              </a:ext>
            </a:extLst>
          </p:cNvPr>
          <p:cNvSpPr>
            <a:spLocks noGrp="1"/>
          </p:cNvSpPr>
          <p:nvPr>
            <p:ph type="title" hasCustomPrompt="1"/>
          </p:nvPr>
        </p:nvSpPr>
        <p:spPr>
          <a:xfrm>
            <a:off x="996176" y="260592"/>
            <a:ext cx="5884464"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
        <p:nvSpPr>
          <p:cNvPr id="5" name="Text Placeholder 2">
            <a:extLst>
              <a:ext uri="{FF2B5EF4-FFF2-40B4-BE49-F238E27FC236}">
                <a16:creationId xmlns:a16="http://schemas.microsoft.com/office/drawing/2014/main" id="{B1D6D7D7-74C9-A14D-AE90-9DBF82C49B18}"/>
              </a:ext>
            </a:extLst>
          </p:cNvPr>
          <p:cNvSpPr>
            <a:spLocks noGrp="1"/>
          </p:cNvSpPr>
          <p:nvPr>
            <p:ph type="body" sz="quarter" idx="11"/>
          </p:nvPr>
        </p:nvSpPr>
        <p:spPr>
          <a:xfrm>
            <a:off x="996176" y="1210479"/>
            <a:ext cx="2573442" cy="3169446"/>
          </a:xfrm>
        </p:spPr>
        <p:txBody>
          <a:bodyPr>
            <a:normAutofit/>
          </a:bodyPr>
          <a:lstStyle>
            <a:lvl1pPr>
              <a:defRPr sz="1000"/>
            </a:lvl1pPr>
            <a:lvl2pPr>
              <a:defRPr sz="1000"/>
            </a:lvl2pPr>
            <a:lvl3pPr>
              <a:defRPr sz="900"/>
            </a:lvl3pPr>
            <a:lvl4pPr>
              <a:defRPr sz="800"/>
            </a:lvl4pPr>
            <a:lvl5pPr>
              <a:defRPr sz="800"/>
            </a:lvl5pPr>
          </a:lstStyle>
          <a:p>
            <a:pPr lvl="0"/>
            <a:r>
              <a:rPr lang="en-US" dirty="0"/>
              <a:t>Click to edit Master text styles</a:t>
            </a:r>
          </a:p>
        </p:txBody>
      </p:sp>
      <p:sp>
        <p:nvSpPr>
          <p:cNvPr id="6" name="Text Placeholder 2">
            <a:extLst>
              <a:ext uri="{FF2B5EF4-FFF2-40B4-BE49-F238E27FC236}">
                <a16:creationId xmlns:a16="http://schemas.microsoft.com/office/drawing/2014/main" id="{70BA7FDA-2C89-684B-9DE0-043C8B0020BB}"/>
              </a:ext>
            </a:extLst>
          </p:cNvPr>
          <p:cNvSpPr>
            <a:spLocks noGrp="1"/>
          </p:cNvSpPr>
          <p:nvPr>
            <p:ph type="body" sz="quarter" idx="12"/>
          </p:nvPr>
        </p:nvSpPr>
        <p:spPr>
          <a:xfrm>
            <a:off x="4307198" y="1210479"/>
            <a:ext cx="2573442" cy="3169446"/>
          </a:xfrm>
        </p:spPr>
        <p:txBody>
          <a:bodyPr>
            <a:normAutofit/>
          </a:bodyPr>
          <a:lstStyle>
            <a:lvl1pPr>
              <a:defRPr sz="1000"/>
            </a:lvl1pPr>
            <a:lvl2pPr>
              <a:defRPr sz="1000"/>
            </a:lvl2pPr>
            <a:lvl3pPr>
              <a:defRPr sz="900"/>
            </a:lvl3pPr>
            <a:lvl4pPr>
              <a:defRPr sz="800"/>
            </a:lvl4pPr>
            <a:lvl5pPr>
              <a:defRPr sz="800"/>
            </a:lvl5pPr>
          </a:lstStyle>
          <a:p>
            <a:pPr lvl="0"/>
            <a:r>
              <a:rPr lang="en-US" dirty="0"/>
              <a:t>Click to edit Master text styles</a:t>
            </a:r>
          </a:p>
        </p:txBody>
      </p:sp>
    </p:spTree>
    <p:extLst>
      <p:ext uri="{BB962C8B-B14F-4D97-AF65-F5344CB8AC3E}">
        <p14:creationId xmlns:p14="http://schemas.microsoft.com/office/powerpoint/2010/main" val="36755177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3F54A2F-276D-5640-BD52-E25941AE719A}"/>
              </a:ext>
            </a:extLst>
          </p:cNvPr>
          <p:cNvSpPr>
            <a:spLocks noGrp="1"/>
          </p:cNvSpPr>
          <p:nvPr>
            <p:ph type="pic" sz="quarter" idx="10"/>
          </p:nvPr>
        </p:nvSpPr>
        <p:spPr>
          <a:xfrm>
            <a:off x="7876814" y="0"/>
            <a:ext cx="1267186" cy="5143499"/>
          </a:xfrm>
          <a:solidFill>
            <a:schemeClr val="bg2">
              <a:alpha val="40000"/>
            </a:schemeClr>
          </a:solidFill>
        </p:spPr>
        <p:txBody>
          <a:bodyPr/>
          <a:lstStyle/>
          <a:p>
            <a:endParaRPr lang="en-US"/>
          </a:p>
        </p:txBody>
      </p:sp>
      <p:sp>
        <p:nvSpPr>
          <p:cNvPr id="32" name="Title Placeholder 1">
            <a:extLst>
              <a:ext uri="{FF2B5EF4-FFF2-40B4-BE49-F238E27FC236}">
                <a16:creationId xmlns:a16="http://schemas.microsoft.com/office/drawing/2014/main" id="{0AE1B403-79AC-5646-9A8B-9E969BF06899}"/>
              </a:ext>
            </a:extLst>
          </p:cNvPr>
          <p:cNvSpPr>
            <a:spLocks noGrp="1"/>
          </p:cNvSpPr>
          <p:nvPr>
            <p:ph type="title" hasCustomPrompt="1"/>
          </p:nvPr>
        </p:nvSpPr>
        <p:spPr>
          <a:xfrm>
            <a:off x="424207" y="260592"/>
            <a:ext cx="7028402"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
        <p:nvSpPr>
          <p:cNvPr id="10" name="Text Placeholder 2">
            <a:extLst>
              <a:ext uri="{FF2B5EF4-FFF2-40B4-BE49-F238E27FC236}">
                <a16:creationId xmlns:a16="http://schemas.microsoft.com/office/drawing/2014/main" id="{6163D182-5886-004D-A24D-8E72ED1E9F57}"/>
              </a:ext>
            </a:extLst>
          </p:cNvPr>
          <p:cNvSpPr>
            <a:spLocks noGrp="1"/>
          </p:cNvSpPr>
          <p:nvPr>
            <p:ph type="body" sz="quarter" idx="11"/>
          </p:nvPr>
        </p:nvSpPr>
        <p:spPr>
          <a:xfrm>
            <a:off x="420930" y="1210479"/>
            <a:ext cx="2166570" cy="3169446"/>
          </a:xfrm>
        </p:spPr>
        <p:txBody>
          <a:bodyPr>
            <a:normAutofit/>
          </a:bodyPr>
          <a:lstStyle>
            <a:lvl1pPr>
              <a:defRPr sz="1000"/>
            </a:lvl1pPr>
            <a:lvl2pPr>
              <a:defRPr sz="1000"/>
            </a:lvl2pPr>
            <a:lvl3pPr>
              <a:defRPr sz="900"/>
            </a:lvl3pPr>
            <a:lvl4pPr>
              <a:defRPr sz="800"/>
            </a:lvl4pPr>
            <a:lvl5pPr>
              <a:defRPr sz="800"/>
            </a:lvl5pPr>
          </a:lstStyle>
          <a:p>
            <a:pPr lvl="0"/>
            <a:r>
              <a:rPr lang="en-US" dirty="0"/>
              <a:t>Click to edit Master text styles</a:t>
            </a:r>
          </a:p>
        </p:txBody>
      </p:sp>
      <p:sp>
        <p:nvSpPr>
          <p:cNvPr id="11" name="Text Placeholder 2">
            <a:extLst>
              <a:ext uri="{FF2B5EF4-FFF2-40B4-BE49-F238E27FC236}">
                <a16:creationId xmlns:a16="http://schemas.microsoft.com/office/drawing/2014/main" id="{23F82091-5211-1D49-991E-155FC6BDCD20}"/>
              </a:ext>
            </a:extLst>
          </p:cNvPr>
          <p:cNvSpPr>
            <a:spLocks noGrp="1"/>
          </p:cNvSpPr>
          <p:nvPr>
            <p:ph type="body" sz="quarter" idx="12"/>
          </p:nvPr>
        </p:nvSpPr>
        <p:spPr>
          <a:xfrm>
            <a:off x="2853485" y="1210479"/>
            <a:ext cx="2166570" cy="3169446"/>
          </a:xfrm>
        </p:spPr>
        <p:txBody>
          <a:bodyPr>
            <a:normAutofit/>
          </a:bodyPr>
          <a:lstStyle>
            <a:lvl1pPr>
              <a:defRPr sz="1000"/>
            </a:lvl1pPr>
            <a:lvl2pPr>
              <a:defRPr sz="1000"/>
            </a:lvl2pPr>
            <a:lvl3pPr>
              <a:defRPr sz="900"/>
            </a:lvl3pPr>
            <a:lvl4pPr>
              <a:defRPr sz="800"/>
            </a:lvl4pPr>
            <a:lvl5pPr>
              <a:defRPr sz="800"/>
            </a:lvl5pPr>
          </a:lstStyle>
          <a:p>
            <a:pPr lvl="0"/>
            <a:r>
              <a:rPr lang="en-US" dirty="0"/>
              <a:t>Click to edit Master text styles</a:t>
            </a:r>
          </a:p>
        </p:txBody>
      </p:sp>
      <p:sp>
        <p:nvSpPr>
          <p:cNvPr id="12" name="Text Placeholder 2">
            <a:extLst>
              <a:ext uri="{FF2B5EF4-FFF2-40B4-BE49-F238E27FC236}">
                <a16:creationId xmlns:a16="http://schemas.microsoft.com/office/drawing/2014/main" id="{83A5EDCF-AA8C-144B-8416-815DB8250D1F}"/>
              </a:ext>
            </a:extLst>
          </p:cNvPr>
          <p:cNvSpPr>
            <a:spLocks noGrp="1"/>
          </p:cNvSpPr>
          <p:nvPr>
            <p:ph type="body" sz="quarter" idx="13"/>
          </p:nvPr>
        </p:nvSpPr>
        <p:spPr>
          <a:xfrm>
            <a:off x="5286039" y="1210479"/>
            <a:ext cx="2166570" cy="3169446"/>
          </a:xfrm>
        </p:spPr>
        <p:txBody>
          <a:bodyPr>
            <a:normAutofit/>
          </a:bodyPr>
          <a:lstStyle>
            <a:lvl1pPr>
              <a:defRPr sz="1000"/>
            </a:lvl1pPr>
            <a:lvl2pPr>
              <a:defRPr sz="1000"/>
            </a:lvl2pPr>
            <a:lvl3pPr>
              <a:defRPr sz="900"/>
            </a:lvl3pPr>
            <a:lvl4pPr>
              <a:defRPr sz="800"/>
            </a:lvl4pPr>
            <a:lvl5pPr>
              <a:defRPr sz="800"/>
            </a:lvl5pPr>
          </a:lstStyle>
          <a:p>
            <a:pPr lvl="0"/>
            <a:r>
              <a:rPr lang="en-US" dirty="0"/>
              <a:t>Click to edit Master text styles</a:t>
            </a:r>
          </a:p>
        </p:txBody>
      </p:sp>
      <p:pic>
        <p:nvPicPr>
          <p:cNvPr id="8" name="Picture 7">
            <a:extLst>
              <a:ext uri="{FF2B5EF4-FFF2-40B4-BE49-F238E27FC236}">
                <a16:creationId xmlns:a16="http://schemas.microsoft.com/office/drawing/2014/main" id="{D02AA945-A7FB-D744-9483-98C5B7217199}"/>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6605997" y="4871465"/>
            <a:ext cx="1060622" cy="130743"/>
          </a:xfrm>
          <a:prstGeom prst="rect">
            <a:avLst/>
          </a:prstGeom>
        </p:spPr>
      </p:pic>
    </p:spTree>
    <p:extLst>
      <p:ext uri="{BB962C8B-B14F-4D97-AF65-F5344CB8AC3E}">
        <p14:creationId xmlns:p14="http://schemas.microsoft.com/office/powerpoint/2010/main" val="36126658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3F54A2F-276D-5640-BD52-E25941AE719A}"/>
              </a:ext>
            </a:extLst>
          </p:cNvPr>
          <p:cNvSpPr>
            <a:spLocks noGrp="1"/>
          </p:cNvSpPr>
          <p:nvPr>
            <p:ph type="pic" sz="quarter" idx="10"/>
          </p:nvPr>
        </p:nvSpPr>
        <p:spPr>
          <a:xfrm>
            <a:off x="7876814" y="0"/>
            <a:ext cx="1267186" cy="5143499"/>
          </a:xfrm>
          <a:solidFill>
            <a:schemeClr val="bg2">
              <a:alpha val="40000"/>
            </a:schemeClr>
          </a:solidFill>
        </p:spPr>
        <p:txBody>
          <a:bodyPr/>
          <a:lstStyle/>
          <a:p>
            <a:endParaRPr lang="en-US"/>
          </a:p>
        </p:txBody>
      </p:sp>
      <p:sp>
        <p:nvSpPr>
          <p:cNvPr id="32" name="Title Placeholder 1">
            <a:extLst>
              <a:ext uri="{FF2B5EF4-FFF2-40B4-BE49-F238E27FC236}">
                <a16:creationId xmlns:a16="http://schemas.microsoft.com/office/drawing/2014/main" id="{0AE1B403-79AC-5646-9A8B-9E969BF06899}"/>
              </a:ext>
            </a:extLst>
          </p:cNvPr>
          <p:cNvSpPr>
            <a:spLocks noGrp="1"/>
          </p:cNvSpPr>
          <p:nvPr>
            <p:ph type="title" hasCustomPrompt="1"/>
          </p:nvPr>
        </p:nvSpPr>
        <p:spPr>
          <a:xfrm>
            <a:off x="271749" y="260592"/>
            <a:ext cx="7333317"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
        <p:nvSpPr>
          <p:cNvPr id="10" name="Text Placeholder 2">
            <a:extLst>
              <a:ext uri="{FF2B5EF4-FFF2-40B4-BE49-F238E27FC236}">
                <a16:creationId xmlns:a16="http://schemas.microsoft.com/office/drawing/2014/main" id="{6163D182-5886-004D-A24D-8E72ED1E9F57}"/>
              </a:ext>
            </a:extLst>
          </p:cNvPr>
          <p:cNvSpPr>
            <a:spLocks noGrp="1"/>
          </p:cNvSpPr>
          <p:nvPr>
            <p:ph type="body" sz="quarter" idx="11"/>
          </p:nvPr>
        </p:nvSpPr>
        <p:spPr>
          <a:xfrm>
            <a:off x="271463" y="1188239"/>
            <a:ext cx="2277327" cy="1622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2">
            <a:extLst>
              <a:ext uri="{FF2B5EF4-FFF2-40B4-BE49-F238E27FC236}">
                <a16:creationId xmlns:a16="http://schemas.microsoft.com/office/drawing/2014/main" id="{23F82091-5211-1D49-991E-155FC6BDCD20}"/>
              </a:ext>
            </a:extLst>
          </p:cNvPr>
          <p:cNvSpPr>
            <a:spLocks noGrp="1"/>
          </p:cNvSpPr>
          <p:nvPr>
            <p:ph type="body" sz="quarter" idx="12"/>
          </p:nvPr>
        </p:nvSpPr>
        <p:spPr>
          <a:xfrm>
            <a:off x="2799601" y="1188239"/>
            <a:ext cx="2277327" cy="1622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2">
            <a:extLst>
              <a:ext uri="{FF2B5EF4-FFF2-40B4-BE49-F238E27FC236}">
                <a16:creationId xmlns:a16="http://schemas.microsoft.com/office/drawing/2014/main" id="{83A5EDCF-AA8C-144B-8416-815DB8250D1F}"/>
              </a:ext>
            </a:extLst>
          </p:cNvPr>
          <p:cNvSpPr>
            <a:spLocks noGrp="1"/>
          </p:cNvSpPr>
          <p:nvPr>
            <p:ph type="body" sz="quarter" idx="13"/>
          </p:nvPr>
        </p:nvSpPr>
        <p:spPr>
          <a:xfrm>
            <a:off x="5327739" y="1188239"/>
            <a:ext cx="2277327" cy="1622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2">
            <a:extLst>
              <a:ext uri="{FF2B5EF4-FFF2-40B4-BE49-F238E27FC236}">
                <a16:creationId xmlns:a16="http://schemas.microsoft.com/office/drawing/2014/main" id="{6E99B2E3-78F0-5441-9901-F3B36091FAED}"/>
              </a:ext>
            </a:extLst>
          </p:cNvPr>
          <p:cNvSpPr>
            <a:spLocks noGrp="1"/>
          </p:cNvSpPr>
          <p:nvPr>
            <p:ph type="body" sz="quarter" idx="14"/>
          </p:nvPr>
        </p:nvSpPr>
        <p:spPr>
          <a:xfrm>
            <a:off x="271463" y="3029852"/>
            <a:ext cx="2277327" cy="1622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2">
            <a:extLst>
              <a:ext uri="{FF2B5EF4-FFF2-40B4-BE49-F238E27FC236}">
                <a16:creationId xmlns:a16="http://schemas.microsoft.com/office/drawing/2014/main" id="{E81DA71F-9B6E-8941-B179-A1EBF95008FB}"/>
              </a:ext>
            </a:extLst>
          </p:cNvPr>
          <p:cNvSpPr>
            <a:spLocks noGrp="1"/>
          </p:cNvSpPr>
          <p:nvPr>
            <p:ph type="body" sz="quarter" idx="15"/>
          </p:nvPr>
        </p:nvSpPr>
        <p:spPr>
          <a:xfrm>
            <a:off x="2799601" y="3029852"/>
            <a:ext cx="2277327" cy="1622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2">
            <a:extLst>
              <a:ext uri="{FF2B5EF4-FFF2-40B4-BE49-F238E27FC236}">
                <a16:creationId xmlns:a16="http://schemas.microsoft.com/office/drawing/2014/main" id="{DE9775C0-DA53-4843-A194-1FB768811EFF}"/>
              </a:ext>
            </a:extLst>
          </p:cNvPr>
          <p:cNvSpPr>
            <a:spLocks noGrp="1"/>
          </p:cNvSpPr>
          <p:nvPr>
            <p:ph type="body" sz="quarter" idx="16"/>
          </p:nvPr>
        </p:nvSpPr>
        <p:spPr>
          <a:xfrm>
            <a:off x="5327739" y="3029852"/>
            <a:ext cx="2277327" cy="1622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6" name="Picture 15">
            <a:extLst>
              <a:ext uri="{FF2B5EF4-FFF2-40B4-BE49-F238E27FC236}">
                <a16:creationId xmlns:a16="http://schemas.microsoft.com/office/drawing/2014/main" id="{BA0D1FB2-4723-114D-A8EC-4B0545569F39}"/>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6605997" y="4871465"/>
            <a:ext cx="1060622" cy="130743"/>
          </a:xfrm>
          <a:prstGeom prst="rect">
            <a:avLst/>
          </a:prstGeom>
        </p:spPr>
      </p:pic>
    </p:spTree>
    <p:extLst>
      <p:ext uri="{BB962C8B-B14F-4D97-AF65-F5344CB8AC3E}">
        <p14:creationId xmlns:p14="http://schemas.microsoft.com/office/powerpoint/2010/main" val="25483952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C7567FFE-AEA4-C640-8220-768C1A9361CB}"/>
              </a:ext>
            </a:extLst>
          </p:cNvPr>
          <p:cNvSpPr>
            <a:spLocks noGrp="1"/>
          </p:cNvSpPr>
          <p:nvPr>
            <p:ph type="pic" sz="quarter" idx="10"/>
          </p:nvPr>
        </p:nvSpPr>
        <p:spPr>
          <a:xfrm>
            <a:off x="6836638" y="1"/>
            <a:ext cx="2307362" cy="5143499"/>
          </a:xfrm>
          <a:solidFill>
            <a:schemeClr val="bg2">
              <a:alpha val="40000"/>
            </a:schemeClr>
          </a:solidFill>
        </p:spPr>
        <p:txBody>
          <a:bodyPr/>
          <a:lstStyle/>
          <a:p>
            <a:endParaRPr lang="en-US"/>
          </a:p>
        </p:txBody>
      </p:sp>
      <p:sp>
        <p:nvSpPr>
          <p:cNvPr id="32" name="Title Placeholder 1">
            <a:extLst>
              <a:ext uri="{FF2B5EF4-FFF2-40B4-BE49-F238E27FC236}">
                <a16:creationId xmlns:a16="http://schemas.microsoft.com/office/drawing/2014/main" id="{0AE1B403-79AC-5646-9A8B-9E969BF06899}"/>
              </a:ext>
            </a:extLst>
          </p:cNvPr>
          <p:cNvSpPr>
            <a:spLocks noGrp="1"/>
          </p:cNvSpPr>
          <p:nvPr>
            <p:ph type="title" hasCustomPrompt="1"/>
          </p:nvPr>
        </p:nvSpPr>
        <p:spPr>
          <a:xfrm>
            <a:off x="271750" y="260592"/>
            <a:ext cx="6334248"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Tree>
    <p:extLst>
      <p:ext uri="{BB962C8B-B14F-4D97-AF65-F5344CB8AC3E}">
        <p14:creationId xmlns:p14="http://schemas.microsoft.com/office/powerpoint/2010/main" val="30132411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32" name="Title Placeholder 1">
            <a:extLst>
              <a:ext uri="{FF2B5EF4-FFF2-40B4-BE49-F238E27FC236}">
                <a16:creationId xmlns:a16="http://schemas.microsoft.com/office/drawing/2014/main" id="{0AE1B403-79AC-5646-9A8B-9E969BF06899}"/>
              </a:ext>
            </a:extLst>
          </p:cNvPr>
          <p:cNvSpPr>
            <a:spLocks noGrp="1"/>
          </p:cNvSpPr>
          <p:nvPr>
            <p:ph type="title" hasCustomPrompt="1"/>
          </p:nvPr>
        </p:nvSpPr>
        <p:spPr>
          <a:xfrm>
            <a:off x="271750" y="260592"/>
            <a:ext cx="6334248"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Tree>
    <p:extLst>
      <p:ext uri="{BB962C8B-B14F-4D97-AF65-F5344CB8AC3E}">
        <p14:creationId xmlns:p14="http://schemas.microsoft.com/office/powerpoint/2010/main" val="40078700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C7567FFE-AEA4-C640-8220-768C1A9361CB}"/>
              </a:ext>
            </a:extLst>
          </p:cNvPr>
          <p:cNvSpPr>
            <a:spLocks noGrp="1"/>
          </p:cNvSpPr>
          <p:nvPr>
            <p:ph type="pic" sz="quarter" idx="10"/>
          </p:nvPr>
        </p:nvSpPr>
        <p:spPr>
          <a:xfrm>
            <a:off x="6836638" y="1"/>
            <a:ext cx="2307362" cy="5143499"/>
          </a:xfrm>
          <a:solidFill>
            <a:schemeClr val="bg2">
              <a:alpha val="40000"/>
            </a:schemeClr>
          </a:solidFill>
        </p:spPr>
        <p:txBody>
          <a:bodyPr/>
          <a:lstStyle/>
          <a:p>
            <a:endParaRPr lang="en-US"/>
          </a:p>
        </p:txBody>
      </p:sp>
      <p:sp>
        <p:nvSpPr>
          <p:cNvPr id="3" name="Text Placeholder 2">
            <a:extLst>
              <a:ext uri="{FF2B5EF4-FFF2-40B4-BE49-F238E27FC236}">
                <a16:creationId xmlns:a16="http://schemas.microsoft.com/office/drawing/2014/main" id="{18836FFE-76D6-1E43-9F4A-BE9DDF963D03}"/>
              </a:ext>
            </a:extLst>
          </p:cNvPr>
          <p:cNvSpPr>
            <a:spLocks noGrp="1"/>
          </p:cNvSpPr>
          <p:nvPr>
            <p:ph type="body" sz="quarter" idx="11"/>
          </p:nvPr>
        </p:nvSpPr>
        <p:spPr>
          <a:xfrm>
            <a:off x="367644" y="1229333"/>
            <a:ext cx="2866595" cy="316944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2" name="Title Placeholder 1">
            <a:extLst>
              <a:ext uri="{FF2B5EF4-FFF2-40B4-BE49-F238E27FC236}">
                <a16:creationId xmlns:a16="http://schemas.microsoft.com/office/drawing/2014/main" id="{0AE1B403-79AC-5646-9A8B-9E969BF06899}"/>
              </a:ext>
            </a:extLst>
          </p:cNvPr>
          <p:cNvSpPr>
            <a:spLocks noGrp="1"/>
          </p:cNvSpPr>
          <p:nvPr>
            <p:ph type="title" hasCustomPrompt="1"/>
          </p:nvPr>
        </p:nvSpPr>
        <p:spPr>
          <a:xfrm>
            <a:off x="367644" y="260592"/>
            <a:ext cx="6142460"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
        <p:nvSpPr>
          <p:cNvPr id="12" name="Text Placeholder 2">
            <a:extLst>
              <a:ext uri="{FF2B5EF4-FFF2-40B4-BE49-F238E27FC236}">
                <a16:creationId xmlns:a16="http://schemas.microsoft.com/office/drawing/2014/main" id="{7FFC6D62-8CD2-4448-AC7E-CC5463251332}"/>
              </a:ext>
            </a:extLst>
          </p:cNvPr>
          <p:cNvSpPr>
            <a:spLocks noGrp="1"/>
          </p:cNvSpPr>
          <p:nvPr>
            <p:ph type="body" sz="quarter" idx="12"/>
          </p:nvPr>
        </p:nvSpPr>
        <p:spPr>
          <a:xfrm>
            <a:off x="3643509" y="1229333"/>
            <a:ext cx="2866595" cy="316944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290758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C7567FFE-AEA4-C640-8220-768C1A9361CB}"/>
              </a:ext>
            </a:extLst>
          </p:cNvPr>
          <p:cNvSpPr>
            <a:spLocks noGrp="1"/>
          </p:cNvSpPr>
          <p:nvPr>
            <p:ph type="pic" sz="quarter" idx="10"/>
          </p:nvPr>
        </p:nvSpPr>
        <p:spPr>
          <a:xfrm>
            <a:off x="6836638" y="1"/>
            <a:ext cx="2307362" cy="5143499"/>
          </a:xfrm>
          <a:solidFill>
            <a:schemeClr val="bg2">
              <a:alpha val="40000"/>
            </a:schemeClr>
          </a:solidFill>
        </p:spPr>
        <p:txBody>
          <a:bodyPr/>
          <a:lstStyle/>
          <a:p>
            <a:endParaRPr lang="en-US"/>
          </a:p>
        </p:txBody>
      </p:sp>
      <p:sp>
        <p:nvSpPr>
          <p:cNvPr id="3" name="Text Placeholder 2">
            <a:extLst>
              <a:ext uri="{FF2B5EF4-FFF2-40B4-BE49-F238E27FC236}">
                <a16:creationId xmlns:a16="http://schemas.microsoft.com/office/drawing/2014/main" id="{18836FFE-76D6-1E43-9F4A-BE9DDF963D03}"/>
              </a:ext>
            </a:extLst>
          </p:cNvPr>
          <p:cNvSpPr>
            <a:spLocks noGrp="1"/>
          </p:cNvSpPr>
          <p:nvPr>
            <p:ph type="body" sz="quarter" idx="11"/>
          </p:nvPr>
        </p:nvSpPr>
        <p:spPr>
          <a:xfrm>
            <a:off x="271463" y="1135065"/>
            <a:ext cx="3066472" cy="163641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2" name="Title Placeholder 1">
            <a:extLst>
              <a:ext uri="{FF2B5EF4-FFF2-40B4-BE49-F238E27FC236}">
                <a16:creationId xmlns:a16="http://schemas.microsoft.com/office/drawing/2014/main" id="{0AE1B403-79AC-5646-9A8B-9E969BF06899}"/>
              </a:ext>
            </a:extLst>
          </p:cNvPr>
          <p:cNvSpPr>
            <a:spLocks noGrp="1"/>
          </p:cNvSpPr>
          <p:nvPr>
            <p:ph type="title" hasCustomPrompt="1"/>
          </p:nvPr>
        </p:nvSpPr>
        <p:spPr>
          <a:xfrm>
            <a:off x="271750" y="260592"/>
            <a:ext cx="6334248"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
        <p:nvSpPr>
          <p:cNvPr id="12" name="Text Placeholder 2">
            <a:extLst>
              <a:ext uri="{FF2B5EF4-FFF2-40B4-BE49-F238E27FC236}">
                <a16:creationId xmlns:a16="http://schemas.microsoft.com/office/drawing/2014/main" id="{7FFC6D62-8CD2-4448-AC7E-CC5463251332}"/>
              </a:ext>
            </a:extLst>
          </p:cNvPr>
          <p:cNvSpPr>
            <a:spLocks noGrp="1"/>
          </p:cNvSpPr>
          <p:nvPr>
            <p:ph type="body" sz="quarter" idx="12"/>
          </p:nvPr>
        </p:nvSpPr>
        <p:spPr>
          <a:xfrm>
            <a:off x="3539526" y="1135065"/>
            <a:ext cx="3066472" cy="163641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2">
            <a:extLst>
              <a:ext uri="{FF2B5EF4-FFF2-40B4-BE49-F238E27FC236}">
                <a16:creationId xmlns:a16="http://schemas.microsoft.com/office/drawing/2014/main" id="{476529A1-C181-4040-8D2B-F29F43595966}"/>
              </a:ext>
            </a:extLst>
          </p:cNvPr>
          <p:cNvSpPr>
            <a:spLocks noGrp="1"/>
          </p:cNvSpPr>
          <p:nvPr>
            <p:ph type="body" sz="quarter" idx="13"/>
          </p:nvPr>
        </p:nvSpPr>
        <p:spPr>
          <a:xfrm>
            <a:off x="271463" y="2992146"/>
            <a:ext cx="3066472" cy="163641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2">
            <a:extLst>
              <a:ext uri="{FF2B5EF4-FFF2-40B4-BE49-F238E27FC236}">
                <a16:creationId xmlns:a16="http://schemas.microsoft.com/office/drawing/2014/main" id="{3A0D3EF7-05BD-F643-BC38-C02A4D141E83}"/>
              </a:ext>
            </a:extLst>
          </p:cNvPr>
          <p:cNvSpPr>
            <a:spLocks noGrp="1"/>
          </p:cNvSpPr>
          <p:nvPr>
            <p:ph type="body" sz="quarter" idx="14"/>
          </p:nvPr>
        </p:nvSpPr>
        <p:spPr>
          <a:xfrm>
            <a:off x="3539526" y="2992146"/>
            <a:ext cx="3066472" cy="163641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805210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252696B7-0D9C-6D44-9D98-F7707C3E5E4A}"/>
              </a:ext>
            </a:extLst>
          </p:cNvPr>
          <p:cNvSpPr>
            <a:spLocks noGrp="1"/>
          </p:cNvSpPr>
          <p:nvPr>
            <p:ph type="pic" sz="quarter" idx="10"/>
          </p:nvPr>
        </p:nvSpPr>
        <p:spPr>
          <a:xfrm>
            <a:off x="4572000" y="1"/>
            <a:ext cx="4572000" cy="5143499"/>
          </a:xfrm>
          <a:solidFill>
            <a:schemeClr val="bg2">
              <a:alpha val="40000"/>
            </a:schemeClr>
          </a:solidFill>
        </p:spPr>
        <p:txBody>
          <a:bodyPr/>
          <a:lstStyle/>
          <a:p>
            <a:endParaRPr lang="en-US"/>
          </a:p>
        </p:txBody>
      </p:sp>
      <p:grpSp>
        <p:nvGrpSpPr>
          <p:cNvPr id="4" name="Group 3">
            <a:extLst>
              <a:ext uri="{FF2B5EF4-FFF2-40B4-BE49-F238E27FC236}">
                <a16:creationId xmlns:a16="http://schemas.microsoft.com/office/drawing/2014/main" id="{AB6402E2-51C6-B643-8346-E6A750C125A7}"/>
              </a:ext>
            </a:extLst>
          </p:cNvPr>
          <p:cNvGrpSpPr>
            <a:grpSpLocks noChangeAspect="1"/>
          </p:cNvGrpSpPr>
          <p:nvPr userDrawn="1"/>
        </p:nvGrpSpPr>
        <p:grpSpPr>
          <a:xfrm>
            <a:off x="2899143" y="1837677"/>
            <a:ext cx="182880" cy="2814224"/>
            <a:chOff x="792480" y="2316480"/>
            <a:chExt cx="198814" cy="3059419"/>
          </a:xfrm>
        </p:grpSpPr>
        <p:cxnSp>
          <p:nvCxnSpPr>
            <p:cNvPr id="5" name="Straight Connector 4">
              <a:extLst>
                <a:ext uri="{FF2B5EF4-FFF2-40B4-BE49-F238E27FC236}">
                  <a16:creationId xmlns:a16="http://schemas.microsoft.com/office/drawing/2014/main" id="{B9ADEA07-8891-984A-9750-3FF9A1489F14}"/>
                </a:ext>
              </a:extLst>
            </p:cNvPr>
            <p:cNvCxnSpPr>
              <a:cxnSpLocks/>
            </p:cNvCxnSpPr>
            <p:nvPr userDrawn="1"/>
          </p:nvCxnSpPr>
          <p:spPr>
            <a:xfrm flipV="1">
              <a:off x="891887" y="2517553"/>
              <a:ext cx="0" cy="2858346"/>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6" name="Oval 5">
              <a:extLst>
                <a:ext uri="{FF2B5EF4-FFF2-40B4-BE49-F238E27FC236}">
                  <a16:creationId xmlns:a16="http://schemas.microsoft.com/office/drawing/2014/main" id="{1BB4A413-A99C-C74B-A58C-0FEA700832B7}"/>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grpSp>
      <p:sp>
        <p:nvSpPr>
          <p:cNvPr id="32" name="Title Placeholder 1">
            <a:extLst>
              <a:ext uri="{FF2B5EF4-FFF2-40B4-BE49-F238E27FC236}">
                <a16:creationId xmlns:a16="http://schemas.microsoft.com/office/drawing/2014/main" id="{0AE1B403-79AC-5646-9A8B-9E969BF06899}"/>
              </a:ext>
            </a:extLst>
          </p:cNvPr>
          <p:cNvSpPr>
            <a:spLocks noGrp="1"/>
          </p:cNvSpPr>
          <p:nvPr>
            <p:ph type="title" hasCustomPrompt="1"/>
          </p:nvPr>
        </p:nvSpPr>
        <p:spPr>
          <a:xfrm>
            <a:off x="471340" y="260592"/>
            <a:ext cx="3642452"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
        <p:nvSpPr>
          <p:cNvPr id="14" name="Text Placeholder 2">
            <a:extLst>
              <a:ext uri="{FF2B5EF4-FFF2-40B4-BE49-F238E27FC236}">
                <a16:creationId xmlns:a16="http://schemas.microsoft.com/office/drawing/2014/main" id="{BB2E91BB-1601-C24C-9085-5EACD3F64A22}"/>
              </a:ext>
            </a:extLst>
          </p:cNvPr>
          <p:cNvSpPr>
            <a:spLocks noGrp="1"/>
          </p:cNvSpPr>
          <p:nvPr>
            <p:ph type="body" sz="quarter" idx="12"/>
          </p:nvPr>
        </p:nvSpPr>
        <p:spPr>
          <a:xfrm>
            <a:off x="471339" y="1135064"/>
            <a:ext cx="3642449" cy="316944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345939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252696B7-0D9C-6D44-9D98-F7707C3E5E4A}"/>
              </a:ext>
            </a:extLst>
          </p:cNvPr>
          <p:cNvSpPr>
            <a:spLocks noGrp="1"/>
          </p:cNvSpPr>
          <p:nvPr>
            <p:ph type="pic" sz="quarter" idx="10"/>
          </p:nvPr>
        </p:nvSpPr>
        <p:spPr>
          <a:xfrm>
            <a:off x="4572000" y="1"/>
            <a:ext cx="4572000" cy="5143499"/>
          </a:xfrm>
          <a:solidFill>
            <a:schemeClr val="bg2">
              <a:alpha val="40000"/>
            </a:schemeClr>
          </a:solidFill>
        </p:spPr>
        <p:txBody>
          <a:bodyPr/>
          <a:lstStyle/>
          <a:p>
            <a:endParaRPr lang="en-US"/>
          </a:p>
        </p:txBody>
      </p:sp>
      <p:grpSp>
        <p:nvGrpSpPr>
          <p:cNvPr id="4" name="Group 3">
            <a:extLst>
              <a:ext uri="{FF2B5EF4-FFF2-40B4-BE49-F238E27FC236}">
                <a16:creationId xmlns:a16="http://schemas.microsoft.com/office/drawing/2014/main" id="{AB6402E2-51C6-B643-8346-E6A750C125A7}"/>
              </a:ext>
            </a:extLst>
          </p:cNvPr>
          <p:cNvGrpSpPr>
            <a:grpSpLocks noChangeAspect="1"/>
          </p:cNvGrpSpPr>
          <p:nvPr userDrawn="1"/>
        </p:nvGrpSpPr>
        <p:grpSpPr>
          <a:xfrm>
            <a:off x="2899143" y="1837677"/>
            <a:ext cx="182880" cy="2814224"/>
            <a:chOff x="792480" y="2316480"/>
            <a:chExt cx="198814" cy="3059419"/>
          </a:xfrm>
        </p:grpSpPr>
        <p:cxnSp>
          <p:nvCxnSpPr>
            <p:cNvPr id="5" name="Straight Connector 4">
              <a:extLst>
                <a:ext uri="{FF2B5EF4-FFF2-40B4-BE49-F238E27FC236}">
                  <a16:creationId xmlns:a16="http://schemas.microsoft.com/office/drawing/2014/main" id="{B9ADEA07-8891-984A-9750-3FF9A1489F14}"/>
                </a:ext>
              </a:extLst>
            </p:cNvPr>
            <p:cNvCxnSpPr>
              <a:cxnSpLocks/>
            </p:cNvCxnSpPr>
            <p:nvPr userDrawn="1"/>
          </p:nvCxnSpPr>
          <p:spPr>
            <a:xfrm flipV="1">
              <a:off x="891887" y="2517553"/>
              <a:ext cx="0" cy="2858346"/>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6" name="Oval 5">
              <a:extLst>
                <a:ext uri="{FF2B5EF4-FFF2-40B4-BE49-F238E27FC236}">
                  <a16:creationId xmlns:a16="http://schemas.microsoft.com/office/drawing/2014/main" id="{1BB4A413-A99C-C74B-A58C-0FEA700832B7}"/>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grpSp>
      <p:sp>
        <p:nvSpPr>
          <p:cNvPr id="32" name="Title Placeholder 1">
            <a:extLst>
              <a:ext uri="{FF2B5EF4-FFF2-40B4-BE49-F238E27FC236}">
                <a16:creationId xmlns:a16="http://schemas.microsoft.com/office/drawing/2014/main" id="{0AE1B403-79AC-5646-9A8B-9E969BF06899}"/>
              </a:ext>
            </a:extLst>
          </p:cNvPr>
          <p:cNvSpPr>
            <a:spLocks noGrp="1"/>
          </p:cNvSpPr>
          <p:nvPr>
            <p:ph type="title" hasCustomPrompt="1"/>
          </p:nvPr>
        </p:nvSpPr>
        <p:spPr>
          <a:xfrm>
            <a:off x="271750" y="260592"/>
            <a:ext cx="4041632"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Tree>
    <p:extLst>
      <p:ext uri="{BB962C8B-B14F-4D97-AF65-F5344CB8AC3E}">
        <p14:creationId xmlns:p14="http://schemas.microsoft.com/office/powerpoint/2010/main" val="17970362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3_Title, Sub, 1 Content">
    <p:spTree>
      <p:nvGrpSpPr>
        <p:cNvPr id="1" name=""/>
        <p:cNvGrpSpPr/>
        <p:nvPr/>
      </p:nvGrpSpPr>
      <p:grpSpPr>
        <a:xfrm>
          <a:off x="0" y="0"/>
          <a:ext cx="0" cy="0"/>
          <a:chOff x="0" y="0"/>
          <a:chExt cx="0" cy="0"/>
        </a:xfrm>
      </p:grpSpPr>
      <p:sp>
        <p:nvSpPr>
          <p:cNvPr id="35" name="Text Placeholder 34">
            <a:extLst>
              <a:ext uri="{FF2B5EF4-FFF2-40B4-BE49-F238E27FC236}">
                <a16:creationId xmlns:a16="http://schemas.microsoft.com/office/drawing/2014/main" id="{F9DA520C-D204-0248-A17A-2D6767FB42DF}"/>
              </a:ext>
            </a:extLst>
          </p:cNvPr>
          <p:cNvSpPr>
            <a:spLocks noGrp="1"/>
          </p:cNvSpPr>
          <p:nvPr>
            <p:ph type="body" sz="quarter" idx="15" hasCustomPrompt="1"/>
          </p:nvPr>
        </p:nvSpPr>
        <p:spPr>
          <a:xfrm>
            <a:off x="1069975" y="971550"/>
            <a:ext cx="3965575" cy="387350"/>
          </a:xfrm>
        </p:spPr>
        <p:txBody>
          <a:bodyPr anchor="ctr">
            <a:noAutofit/>
          </a:bodyPr>
          <a:lstStyle>
            <a:lvl1pPr>
              <a:defRPr sz="1000" b="0" i="0">
                <a:latin typeface="Lato" panose="020F0502020204030203" pitchFamily="34" charset="77"/>
              </a:defRPr>
            </a:lvl1pPr>
            <a:lvl2pPr>
              <a:defRPr sz="1000" b="0" i="0">
                <a:latin typeface="Lato" panose="020F0502020204030203" pitchFamily="34" charset="77"/>
              </a:defRPr>
            </a:lvl2pPr>
            <a:lvl3pPr>
              <a:defRPr sz="1000" b="0" i="0">
                <a:latin typeface="Lato" panose="020F0502020204030203" pitchFamily="34" charset="77"/>
              </a:defRPr>
            </a:lvl3pPr>
            <a:lvl4pPr>
              <a:defRPr sz="1000" b="0" i="0">
                <a:latin typeface="Lato" panose="020F0502020204030203" pitchFamily="34" charset="77"/>
              </a:defRPr>
            </a:lvl4pPr>
            <a:lvl5pPr>
              <a:defRPr sz="1000" b="0" i="0">
                <a:latin typeface="Lato" panose="020F0502020204030203" pitchFamily="34" charset="77"/>
              </a:defRPr>
            </a:lvl5pPr>
          </a:lstStyle>
          <a:p>
            <a:pPr lvl="0"/>
            <a:r>
              <a:rPr lang="en-US" dirty="0"/>
              <a:t>Click to add text</a:t>
            </a:r>
          </a:p>
        </p:txBody>
      </p:sp>
      <p:sp>
        <p:nvSpPr>
          <p:cNvPr id="10" name="Picture Placeholder 9">
            <a:extLst>
              <a:ext uri="{FF2B5EF4-FFF2-40B4-BE49-F238E27FC236}">
                <a16:creationId xmlns:a16="http://schemas.microsoft.com/office/drawing/2014/main" id="{560BE08C-8E9C-984B-833F-BC81E0B746FF}"/>
              </a:ext>
            </a:extLst>
          </p:cNvPr>
          <p:cNvSpPr>
            <a:spLocks noGrp="1"/>
          </p:cNvSpPr>
          <p:nvPr>
            <p:ph type="pic" sz="quarter" idx="14"/>
          </p:nvPr>
        </p:nvSpPr>
        <p:spPr>
          <a:xfrm>
            <a:off x="5554103" y="0"/>
            <a:ext cx="3589897" cy="5141913"/>
          </a:xfrm>
          <a:solidFill>
            <a:schemeClr val="bg2">
              <a:alpha val="40000"/>
            </a:schemeClr>
          </a:solidFill>
        </p:spPr>
        <p:txBody>
          <a:bodyPr/>
          <a:lstStyle/>
          <a:p>
            <a:endParaRPr lang="en-US"/>
          </a:p>
        </p:txBody>
      </p:sp>
      <p:sp>
        <p:nvSpPr>
          <p:cNvPr id="4" name="Text Placeholder 8">
            <a:extLst>
              <a:ext uri="{FF2B5EF4-FFF2-40B4-BE49-F238E27FC236}">
                <a16:creationId xmlns:a16="http://schemas.microsoft.com/office/drawing/2014/main" id="{61FFA38F-50EE-9148-9541-A200CB5D0474}"/>
              </a:ext>
            </a:extLst>
          </p:cNvPr>
          <p:cNvSpPr>
            <a:spLocks noGrp="1"/>
          </p:cNvSpPr>
          <p:nvPr>
            <p:ph type="body" sz="quarter" idx="13"/>
          </p:nvPr>
        </p:nvSpPr>
        <p:spPr>
          <a:xfrm>
            <a:off x="604544" y="650520"/>
            <a:ext cx="2735497" cy="139892"/>
          </a:xfrm>
        </p:spPr>
        <p:txBody>
          <a:bodyPr>
            <a:noAutofit/>
          </a:bodyPr>
          <a:lstStyle>
            <a:lvl1pPr>
              <a:defRPr sz="1200">
                <a:solidFill>
                  <a:schemeClr val="tx2"/>
                </a:solidFill>
              </a:defRPr>
            </a:lvl1pPr>
          </a:lstStyle>
          <a:p>
            <a:endParaRPr lang="en-US" dirty="0">
              <a:solidFill>
                <a:schemeClr val="tx2"/>
              </a:solidFill>
            </a:endParaRPr>
          </a:p>
        </p:txBody>
      </p:sp>
      <p:sp>
        <p:nvSpPr>
          <p:cNvPr id="5" name="Title 5">
            <a:extLst>
              <a:ext uri="{FF2B5EF4-FFF2-40B4-BE49-F238E27FC236}">
                <a16:creationId xmlns:a16="http://schemas.microsoft.com/office/drawing/2014/main" id="{3C3012E6-B195-C04F-A1BB-93D852E44D4E}"/>
              </a:ext>
            </a:extLst>
          </p:cNvPr>
          <p:cNvSpPr>
            <a:spLocks noGrp="1"/>
          </p:cNvSpPr>
          <p:nvPr>
            <p:ph type="title"/>
          </p:nvPr>
        </p:nvSpPr>
        <p:spPr>
          <a:xfrm>
            <a:off x="599014" y="204608"/>
            <a:ext cx="4436588" cy="378857"/>
          </a:xfrm>
        </p:spPr>
        <p:txBody>
          <a:bodyPr/>
          <a:lstStyle>
            <a:lvl1pPr algn="l">
              <a:defRPr>
                <a:solidFill>
                  <a:schemeClr val="tx1"/>
                </a:solidFill>
              </a:defRPr>
            </a:lvl1pPr>
          </a:lstStyle>
          <a:p>
            <a:endParaRPr lang="en-US" dirty="0">
              <a:solidFill>
                <a:srgbClr val="000102"/>
              </a:solidFill>
            </a:endParaRPr>
          </a:p>
        </p:txBody>
      </p:sp>
      <p:sp>
        <p:nvSpPr>
          <p:cNvPr id="8" name="Rectangle 7">
            <a:extLst>
              <a:ext uri="{FF2B5EF4-FFF2-40B4-BE49-F238E27FC236}">
                <a16:creationId xmlns:a16="http://schemas.microsoft.com/office/drawing/2014/main" id="{544D4649-B8ED-7D4A-A07D-4DD359D8422F}"/>
              </a:ext>
            </a:extLst>
          </p:cNvPr>
          <p:cNvSpPr/>
          <p:nvPr userDrawn="1"/>
        </p:nvSpPr>
        <p:spPr>
          <a:xfrm rot="5400000">
            <a:off x="-2530510" y="2530508"/>
            <a:ext cx="5141532" cy="80515"/>
          </a:xfrm>
          <a:prstGeom prst="rect">
            <a:avLst/>
          </a:prstGeom>
          <a:gradFill>
            <a:gsLst>
              <a:gs pos="0">
                <a:schemeClr val="bg2"/>
              </a:gs>
              <a:gs pos="51000">
                <a:schemeClr val="accent3"/>
              </a:gs>
              <a:gs pos="99000">
                <a:schemeClr val="accent6"/>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 Placeholder 34">
            <a:extLst>
              <a:ext uri="{FF2B5EF4-FFF2-40B4-BE49-F238E27FC236}">
                <a16:creationId xmlns:a16="http://schemas.microsoft.com/office/drawing/2014/main" id="{DD3E69E3-3B05-6041-8ED1-93F76E87FC18}"/>
              </a:ext>
            </a:extLst>
          </p:cNvPr>
          <p:cNvSpPr>
            <a:spLocks noGrp="1"/>
          </p:cNvSpPr>
          <p:nvPr>
            <p:ph type="body" sz="quarter" idx="16" hasCustomPrompt="1"/>
          </p:nvPr>
        </p:nvSpPr>
        <p:spPr>
          <a:xfrm>
            <a:off x="1069975" y="1455916"/>
            <a:ext cx="3965575" cy="387350"/>
          </a:xfrm>
        </p:spPr>
        <p:txBody>
          <a:bodyPr anchor="ctr">
            <a:noAutofit/>
          </a:bodyPr>
          <a:lstStyle>
            <a:lvl1pPr>
              <a:defRPr sz="1000" b="0" i="0">
                <a:latin typeface="Lato" panose="020F0502020204030203" pitchFamily="34" charset="77"/>
              </a:defRPr>
            </a:lvl1pPr>
            <a:lvl2pPr>
              <a:defRPr sz="1000" b="0" i="0">
                <a:latin typeface="Lato" panose="020F0502020204030203" pitchFamily="34" charset="77"/>
              </a:defRPr>
            </a:lvl2pPr>
            <a:lvl3pPr>
              <a:defRPr sz="1000" b="0" i="0">
                <a:latin typeface="Lato" panose="020F0502020204030203" pitchFamily="34" charset="77"/>
              </a:defRPr>
            </a:lvl3pPr>
            <a:lvl4pPr>
              <a:defRPr sz="1000" b="0" i="0">
                <a:latin typeface="Lato" panose="020F0502020204030203" pitchFamily="34" charset="77"/>
              </a:defRPr>
            </a:lvl4pPr>
            <a:lvl5pPr>
              <a:defRPr sz="1000" b="0" i="0">
                <a:latin typeface="Lato" panose="020F0502020204030203" pitchFamily="34" charset="77"/>
              </a:defRPr>
            </a:lvl5pPr>
          </a:lstStyle>
          <a:p>
            <a:pPr lvl="0"/>
            <a:r>
              <a:rPr lang="en-US" dirty="0"/>
              <a:t>Click to add text</a:t>
            </a:r>
          </a:p>
        </p:txBody>
      </p:sp>
      <p:sp>
        <p:nvSpPr>
          <p:cNvPr id="37" name="Text Placeholder 34">
            <a:extLst>
              <a:ext uri="{FF2B5EF4-FFF2-40B4-BE49-F238E27FC236}">
                <a16:creationId xmlns:a16="http://schemas.microsoft.com/office/drawing/2014/main" id="{BA894395-971F-A746-94EE-9819865F22B2}"/>
              </a:ext>
            </a:extLst>
          </p:cNvPr>
          <p:cNvSpPr>
            <a:spLocks noGrp="1"/>
          </p:cNvSpPr>
          <p:nvPr>
            <p:ph type="body" sz="quarter" idx="17" hasCustomPrompt="1"/>
          </p:nvPr>
        </p:nvSpPr>
        <p:spPr>
          <a:xfrm>
            <a:off x="1069975" y="1940282"/>
            <a:ext cx="3965575" cy="387350"/>
          </a:xfrm>
        </p:spPr>
        <p:txBody>
          <a:bodyPr anchor="ctr">
            <a:noAutofit/>
          </a:bodyPr>
          <a:lstStyle>
            <a:lvl1pPr>
              <a:defRPr sz="1000" b="0" i="0">
                <a:latin typeface="Lato" panose="020F0502020204030203" pitchFamily="34" charset="77"/>
              </a:defRPr>
            </a:lvl1pPr>
            <a:lvl2pPr>
              <a:defRPr sz="1000" b="0" i="0">
                <a:latin typeface="Lato" panose="020F0502020204030203" pitchFamily="34" charset="77"/>
              </a:defRPr>
            </a:lvl2pPr>
            <a:lvl3pPr>
              <a:defRPr sz="1000" b="0" i="0">
                <a:latin typeface="Lato" panose="020F0502020204030203" pitchFamily="34" charset="77"/>
              </a:defRPr>
            </a:lvl3pPr>
            <a:lvl4pPr>
              <a:defRPr sz="1000" b="0" i="0">
                <a:latin typeface="Lato" panose="020F0502020204030203" pitchFamily="34" charset="77"/>
              </a:defRPr>
            </a:lvl4pPr>
            <a:lvl5pPr>
              <a:defRPr sz="1000" b="0" i="0">
                <a:latin typeface="Lato" panose="020F0502020204030203" pitchFamily="34" charset="77"/>
              </a:defRPr>
            </a:lvl5pPr>
          </a:lstStyle>
          <a:p>
            <a:pPr lvl="0"/>
            <a:r>
              <a:rPr lang="en-US" dirty="0"/>
              <a:t>Click to add text</a:t>
            </a:r>
          </a:p>
        </p:txBody>
      </p:sp>
      <p:sp>
        <p:nvSpPr>
          <p:cNvPr id="38" name="Text Placeholder 34">
            <a:extLst>
              <a:ext uri="{FF2B5EF4-FFF2-40B4-BE49-F238E27FC236}">
                <a16:creationId xmlns:a16="http://schemas.microsoft.com/office/drawing/2014/main" id="{DE61E558-540D-7E42-ABBE-0020ED954E7D}"/>
              </a:ext>
            </a:extLst>
          </p:cNvPr>
          <p:cNvSpPr>
            <a:spLocks noGrp="1"/>
          </p:cNvSpPr>
          <p:nvPr>
            <p:ph type="body" sz="quarter" idx="18" hasCustomPrompt="1"/>
          </p:nvPr>
        </p:nvSpPr>
        <p:spPr>
          <a:xfrm>
            <a:off x="1069975" y="2424648"/>
            <a:ext cx="3965575" cy="387350"/>
          </a:xfrm>
        </p:spPr>
        <p:txBody>
          <a:bodyPr anchor="ctr">
            <a:noAutofit/>
          </a:bodyPr>
          <a:lstStyle>
            <a:lvl1pPr>
              <a:defRPr sz="1000" b="0" i="0">
                <a:latin typeface="Lato" panose="020F0502020204030203" pitchFamily="34" charset="77"/>
              </a:defRPr>
            </a:lvl1pPr>
            <a:lvl2pPr>
              <a:defRPr sz="1000" b="0" i="0">
                <a:latin typeface="Lato" panose="020F0502020204030203" pitchFamily="34" charset="77"/>
              </a:defRPr>
            </a:lvl2pPr>
            <a:lvl3pPr>
              <a:defRPr sz="1000" b="0" i="0">
                <a:latin typeface="Lato" panose="020F0502020204030203" pitchFamily="34" charset="77"/>
              </a:defRPr>
            </a:lvl3pPr>
            <a:lvl4pPr>
              <a:defRPr sz="1000" b="0" i="0">
                <a:latin typeface="Lato" panose="020F0502020204030203" pitchFamily="34" charset="77"/>
              </a:defRPr>
            </a:lvl4pPr>
            <a:lvl5pPr>
              <a:defRPr sz="1000" b="0" i="0">
                <a:latin typeface="Lato" panose="020F0502020204030203" pitchFamily="34" charset="77"/>
              </a:defRPr>
            </a:lvl5pPr>
          </a:lstStyle>
          <a:p>
            <a:pPr lvl="0"/>
            <a:r>
              <a:rPr lang="en-US" dirty="0"/>
              <a:t>Click to add text</a:t>
            </a:r>
          </a:p>
        </p:txBody>
      </p:sp>
      <p:sp>
        <p:nvSpPr>
          <p:cNvPr id="39" name="Text Placeholder 34">
            <a:extLst>
              <a:ext uri="{FF2B5EF4-FFF2-40B4-BE49-F238E27FC236}">
                <a16:creationId xmlns:a16="http://schemas.microsoft.com/office/drawing/2014/main" id="{D8630EAC-2CE0-0F46-B9F6-92ED91592A6D}"/>
              </a:ext>
            </a:extLst>
          </p:cNvPr>
          <p:cNvSpPr>
            <a:spLocks noGrp="1"/>
          </p:cNvSpPr>
          <p:nvPr>
            <p:ph type="body" sz="quarter" idx="19" hasCustomPrompt="1"/>
          </p:nvPr>
        </p:nvSpPr>
        <p:spPr>
          <a:xfrm>
            <a:off x="1069975" y="2909014"/>
            <a:ext cx="3965575" cy="387350"/>
          </a:xfrm>
        </p:spPr>
        <p:txBody>
          <a:bodyPr anchor="ctr">
            <a:noAutofit/>
          </a:bodyPr>
          <a:lstStyle>
            <a:lvl1pPr>
              <a:defRPr sz="1000" b="0" i="0">
                <a:latin typeface="Lato" panose="020F0502020204030203" pitchFamily="34" charset="77"/>
              </a:defRPr>
            </a:lvl1pPr>
            <a:lvl2pPr>
              <a:defRPr sz="1000" b="0" i="0">
                <a:latin typeface="Lato" panose="020F0502020204030203" pitchFamily="34" charset="77"/>
              </a:defRPr>
            </a:lvl2pPr>
            <a:lvl3pPr>
              <a:defRPr sz="1000" b="0" i="0">
                <a:latin typeface="Lato" panose="020F0502020204030203" pitchFamily="34" charset="77"/>
              </a:defRPr>
            </a:lvl3pPr>
            <a:lvl4pPr>
              <a:defRPr sz="1000" b="0" i="0">
                <a:latin typeface="Lato" panose="020F0502020204030203" pitchFamily="34" charset="77"/>
              </a:defRPr>
            </a:lvl4pPr>
            <a:lvl5pPr>
              <a:defRPr sz="1000" b="0" i="0">
                <a:latin typeface="Lato" panose="020F0502020204030203" pitchFamily="34" charset="77"/>
              </a:defRPr>
            </a:lvl5pPr>
          </a:lstStyle>
          <a:p>
            <a:pPr lvl="0"/>
            <a:r>
              <a:rPr lang="en-US" dirty="0"/>
              <a:t>Click to add text</a:t>
            </a:r>
          </a:p>
        </p:txBody>
      </p:sp>
      <p:sp>
        <p:nvSpPr>
          <p:cNvPr id="40" name="Text Placeholder 34">
            <a:extLst>
              <a:ext uri="{FF2B5EF4-FFF2-40B4-BE49-F238E27FC236}">
                <a16:creationId xmlns:a16="http://schemas.microsoft.com/office/drawing/2014/main" id="{E736CBB9-EBD2-B643-A795-113A6DEC562A}"/>
              </a:ext>
            </a:extLst>
          </p:cNvPr>
          <p:cNvSpPr>
            <a:spLocks noGrp="1"/>
          </p:cNvSpPr>
          <p:nvPr>
            <p:ph type="body" sz="quarter" idx="20" hasCustomPrompt="1"/>
          </p:nvPr>
        </p:nvSpPr>
        <p:spPr>
          <a:xfrm>
            <a:off x="1069975" y="3393380"/>
            <a:ext cx="3965575" cy="387350"/>
          </a:xfrm>
        </p:spPr>
        <p:txBody>
          <a:bodyPr anchor="ctr">
            <a:noAutofit/>
          </a:bodyPr>
          <a:lstStyle>
            <a:lvl1pPr>
              <a:defRPr sz="1000" b="0" i="0">
                <a:latin typeface="Lato" panose="020F0502020204030203" pitchFamily="34" charset="77"/>
              </a:defRPr>
            </a:lvl1pPr>
            <a:lvl2pPr>
              <a:defRPr sz="1000" b="0" i="0">
                <a:latin typeface="Lato" panose="020F0502020204030203" pitchFamily="34" charset="77"/>
              </a:defRPr>
            </a:lvl2pPr>
            <a:lvl3pPr>
              <a:defRPr sz="1000" b="0" i="0">
                <a:latin typeface="Lato" panose="020F0502020204030203" pitchFamily="34" charset="77"/>
              </a:defRPr>
            </a:lvl3pPr>
            <a:lvl4pPr>
              <a:defRPr sz="1000" b="0" i="0">
                <a:latin typeface="Lato" panose="020F0502020204030203" pitchFamily="34" charset="77"/>
              </a:defRPr>
            </a:lvl4pPr>
            <a:lvl5pPr>
              <a:defRPr sz="1000" b="0" i="0">
                <a:latin typeface="Lato" panose="020F0502020204030203" pitchFamily="34" charset="77"/>
              </a:defRPr>
            </a:lvl5pPr>
          </a:lstStyle>
          <a:p>
            <a:pPr lvl="0"/>
            <a:r>
              <a:rPr lang="en-US" dirty="0"/>
              <a:t>Click to add text</a:t>
            </a:r>
          </a:p>
        </p:txBody>
      </p:sp>
      <p:sp>
        <p:nvSpPr>
          <p:cNvPr id="41" name="Text Placeholder 34">
            <a:extLst>
              <a:ext uri="{FF2B5EF4-FFF2-40B4-BE49-F238E27FC236}">
                <a16:creationId xmlns:a16="http://schemas.microsoft.com/office/drawing/2014/main" id="{FA195DA4-ED50-6746-AE32-1DD691DA03CB}"/>
              </a:ext>
            </a:extLst>
          </p:cNvPr>
          <p:cNvSpPr>
            <a:spLocks noGrp="1"/>
          </p:cNvSpPr>
          <p:nvPr>
            <p:ph type="body" sz="quarter" idx="21" hasCustomPrompt="1"/>
          </p:nvPr>
        </p:nvSpPr>
        <p:spPr>
          <a:xfrm>
            <a:off x="1069975" y="3877746"/>
            <a:ext cx="3965575" cy="387350"/>
          </a:xfrm>
        </p:spPr>
        <p:txBody>
          <a:bodyPr anchor="ctr">
            <a:noAutofit/>
          </a:bodyPr>
          <a:lstStyle>
            <a:lvl1pPr>
              <a:defRPr sz="1000" b="0" i="0">
                <a:latin typeface="Lato" panose="020F0502020204030203" pitchFamily="34" charset="77"/>
              </a:defRPr>
            </a:lvl1pPr>
            <a:lvl2pPr>
              <a:defRPr sz="1000" b="0" i="0">
                <a:latin typeface="Lato" panose="020F0502020204030203" pitchFamily="34" charset="77"/>
              </a:defRPr>
            </a:lvl2pPr>
            <a:lvl3pPr>
              <a:defRPr sz="1000" b="0" i="0">
                <a:latin typeface="Lato" panose="020F0502020204030203" pitchFamily="34" charset="77"/>
              </a:defRPr>
            </a:lvl3pPr>
            <a:lvl4pPr>
              <a:defRPr sz="1000" b="0" i="0">
                <a:latin typeface="Lato" panose="020F0502020204030203" pitchFamily="34" charset="77"/>
              </a:defRPr>
            </a:lvl4pPr>
            <a:lvl5pPr>
              <a:defRPr sz="1000" b="0" i="0">
                <a:latin typeface="Lato" panose="020F0502020204030203" pitchFamily="34" charset="77"/>
              </a:defRPr>
            </a:lvl5pPr>
          </a:lstStyle>
          <a:p>
            <a:pPr lvl="0"/>
            <a:r>
              <a:rPr lang="en-US" dirty="0"/>
              <a:t>Click to add text</a:t>
            </a:r>
          </a:p>
        </p:txBody>
      </p:sp>
      <p:sp>
        <p:nvSpPr>
          <p:cNvPr id="42" name="Text Placeholder 34">
            <a:extLst>
              <a:ext uri="{FF2B5EF4-FFF2-40B4-BE49-F238E27FC236}">
                <a16:creationId xmlns:a16="http://schemas.microsoft.com/office/drawing/2014/main" id="{2524B38A-F2EF-9A48-8804-2037A195F2FE}"/>
              </a:ext>
            </a:extLst>
          </p:cNvPr>
          <p:cNvSpPr>
            <a:spLocks noGrp="1"/>
          </p:cNvSpPr>
          <p:nvPr>
            <p:ph type="body" sz="quarter" idx="22" hasCustomPrompt="1"/>
          </p:nvPr>
        </p:nvSpPr>
        <p:spPr>
          <a:xfrm>
            <a:off x="1069975" y="4362113"/>
            <a:ext cx="3965575" cy="387350"/>
          </a:xfrm>
        </p:spPr>
        <p:txBody>
          <a:bodyPr anchor="ctr">
            <a:noAutofit/>
          </a:bodyPr>
          <a:lstStyle>
            <a:lvl1pPr>
              <a:defRPr sz="1000" b="0" i="0">
                <a:latin typeface="Lato" panose="020F0502020204030203" pitchFamily="34" charset="77"/>
              </a:defRPr>
            </a:lvl1pPr>
            <a:lvl2pPr>
              <a:defRPr sz="1000" b="0" i="0">
                <a:latin typeface="Lato" panose="020F0502020204030203" pitchFamily="34" charset="77"/>
              </a:defRPr>
            </a:lvl2pPr>
            <a:lvl3pPr>
              <a:defRPr sz="1000" b="0" i="0">
                <a:latin typeface="Lato" panose="020F0502020204030203" pitchFamily="34" charset="77"/>
              </a:defRPr>
            </a:lvl3pPr>
            <a:lvl4pPr>
              <a:defRPr sz="1000" b="0" i="0">
                <a:latin typeface="Lato" panose="020F0502020204030203" pitchFamily="34" charset="77"/>
              </a:defRPr>
            </a:lvl4pPr>
            <a:lvl5pPr>
              <a:defRPr sz="1000" b="0" i="0">
                <a:latin typeface="Lato" panose="020F0502020204030203" pitchFamily="34" charset="77"/>
              </a:defRPr>
            </a:lvl5pPr>
          </a:lstStyle>
          <a:p>
            <a:pPr lvl="0"/>
            <a:r>
              <a:rPr lang="en-US" dirty="0"/>
              <a:t>Click to add text</a:t>
            </a:r>
          </a:p>
        </p:txBody>
      </p:sp>
    </p:spTree>
    <p:extLst>
      <p:ext uri="{BB962C8B-B14F-4D97-AF65-F5344CB8AC3E}">
        <p14:creationId xmlns:p14="http://schemas.microsoft.com/office/powerpoint/2010/main" val="658503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60592"/>
            <a:ext cx="7886700" cy="653808"/>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628650" y="1254543"/>
            <a:ext cx="7886700" cy="3263504"/>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Box 3">
            <a:extLst>
              <a:ext uri="{FF2B5EF4-FFF2-40B4-BE49-F238E27FC236}">
                <a16:creationId xmlns:a16="http://schemas.microsoft.com/office/drawing/2014/main" id="{C7F6D12C-BFBC-5C4C-87F1-81F07E204465}"/>
              </a:ext>
            </a:extLst>
          </p:cNvPr>
          <p:cNvSpPr txBox="1"/>
          <p:nvPr userDrawn="1"/>
        </p:nvSpPr>
        <p:spPr>
          <a:xfrm>
            <a:off x="392597" y="4858191"/>
            <a:ext cx="2588895" cy="184666"/>
          </a:xfrm>
          <a:prstGeom prst="rect">
            <a:avLst/>
          </a:prstGeom>
          <a:noFill/>
        </p:spPr>
        <p:txBody>
          <a:bodyPr wrap="square" rtlCol="0">
            <a:spAutoFit/>
          </a:bodyPr>
          <a:lstStyle/>
          <a:p>
            <a:r>
              <a:rPr lang="en-US" sz="600" b="0" i="0" dirty="0">
                <a:solidFill>
                  <a:schemeClr val="tx2"/>
                </a:solidFill>
                <a:latin typeface="Lato Light" panose="020F0502020204030203" pitchFamily="34" charset="0"/>
                <a:ea typeface="Lato Light" panose="020F0502020204030203" pitchFamily="34" charset="0"/>
                <a:cs typeface="Lato Light" panose="020F0502020204030203" pitchFamily="34" charset="0"/>
              </a:rPr>
              <a:t>©2022 RealPage Inc.</a:t>
            </a:r>
          </a:p>
        </p:txBody>
      </p:sp>
      <p:sp>
        <p:nvSpPr>
          <p:cNvPr id="8" name="Slide Number Placeholder 5">
            <a:extLst>
              <a:ext uri="{FF2B5EF4-FFF2-40B4-BE49-F238E27FC236}">
                <a16:creationId xmlns:a16="http://schemas.microsoft.com/office/drawing/2014/main" id="{36DF9E3C-65D0-5A41-8EF5-6BF5853E1CFE}"/>
              </a:ext>
            </a:extLst>
          </p:cNvPr>
          <p:cNvSpPr txBox="1">
            <a:spLocks/>
          </p:cNvSpPr>
          <p:nvPr userDrawn="1"/>
        </p:nvSpPr>
        <p:spPr>
          <a:xfrm>
            <a:off x="223606" y="4853464"/>
            <a:ext cx="280781" cy="273844"/>
          </a:xfrm>
          <a:prstGeom prst="rect">
            <a:avLst/>
          </a:prstGeom>
        </p:spPr>
        <p:txBody>
          <a:bodyPr/>
          <a:lstStyle>
            <a:defPPr>
              <a:defRPr lang="en-US"/>
            </a:defPPr>
            <a:lvl1pPr marL="0" algn="l" defTabSz="457200" rtl="0" eaLnBrk="1" latinLnBrk="0" hangingPunct="1">
              <a:defRPr sz="600" b="0" i="0" kern="1200">
                <a:solidFill>
                  <a:schemeClr val="accent6">
                    <a:lumMod val="40000"/>
                    <a:lumOff val="60000"/>
                  </a:schemeClr>
                </a:solidFill>
                <a:latin typeface="Lato Light" panose="020F0502020204030203" pitchFamily="34" charset="0"/>
                <a:ea typeface="Lato Light" panose="020F0502020204030203" pitchFamily="34" charset="0"/>
                <a:cs typeface="Lato Light" panose="020F05020202040302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DE1F0DE-FBD3-414B-9485-E78F73017EBF}" type="slidenum">
              <a:rPr lang="en-US" smtClean="0">
                <a:solidFill>
                  <a:schemeClr val="tx2"/>
                </a:solidFill>
              </a:rPr>
              <a:pPr/>
              <a:t>‹#›</a:t>
            </a:fld>
            <a:endParaRPr lang="en-US" dirty="0">
              <a:solidFill>
                <a:schemeClr val="tx2"/>
              </a:solidFill>
            </a:endParaRPr>
          </a:p>
        </p:txBody>
      </p:sp>
      <p:pic>
        <p:nvPicPr>
          <p:cNvPr id="6" name="Picture 5">
            <a:extLst>
              <a:ext uri="{FF2B5EF4-FFF2-40B4-BE49-F238E27FC236}">
                <a16:creationId xmlns:a16="http://schemas.microsoft.com/office/drawing/2014/main" id="{1DD81F71-DCBE-E341-8582-597921162F09}"/>
              </a:ext>
            </a:extLst>
          </p:cNvPr>
          <p:cNvPicPr>
            <a:picLocks noChangeAspect="1"/>
          </p:cNvPicPr>
          <p:nvPr userDrawn="1"/>
        </p:nvPicPr>
        <p:blipFill>
          <a:blip r:embed="rId22" cstate="hqprint">
            <a:extLst>
              <a:ext uri="{28A0092B-C50C-407E-A947-70E740481C1C}">
                <a14:useLocalDpi xmlns:a14="http://schemas.microsoft.com/office/drawing/2010/main"/>
              </a:ext>
            </a:extLst>
          </a:blip>
          <a:stretch>
            <a:fillRect/>
          </a:stretch>
        </p:blipFill>
        <p:spPr>
          <a:xfrm>
            <a:off x="7908323" y="4871465"/>
            <a:ext cx="1060622" cy="130743"/>
          </a:xfrm>
          <a:prstGeom prst="rect">
            <a:avLst/>
          </a:prstGeom>
        </p:spPr>
      </p:pic>
    </p:spTree>
    <p:extLst>
      <p:ext uri="{BB962C8B-B14F-4D97-AF65-F5344CB8AC3E}">
        <p14:creationId xmlns:p14="http://schemas.microsoft.com/office/powerpoint/2010/main" val="1354122535"/>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843" r:id="rId3"/>
    <p:sldLayoutId id="2147483844" r:id="rId4"/>
    <p:sldLayoutId id="2147483850" r:id="rId5"/>
    <p:sldLayoutId id="2147483849" r:id="rId6"/>
    <p:sldLayoutId id="2147483847" r:id="rId7"/>
    <p:sldLayoutId id="2147483838" r:id="rId8"/>
    <p:sldLayoutId id="2147483857" r:id="rId9"/>
    <p:sldLayoutId id="2147483854" r:id="rId10"/>
    <p:sldLayoutId id="2147483863" r:id="rId11"/>
    <p:sldLayoutId id="2147483859" r:id="rId12"/>
    <p:sldLayoutId id="2147483860" r:id="rId13"/>
    <p:sldLayoutId id="2147483855" r:id="rId14"/>
    <p:sldLayoutId id="2147483864" r:id="rId15"/>
    <p:sldLayoutId id="2147483858" r:id="rId16"/>
    <p:sldLayoutId id="2147483861" r:id="rId17"/>
    <p:sldLayoutId id="2147483856" r:id="rId18"/>
    <p:sldLayoutId id="2147483862" r:id="rId19"/>
    <p:sldLayoutId id="2147483840" r:id="rId20"/>
  </p:sldLayoutIdLst>
  <p:txStyles>
    <p:titleStyle>
      <a:lvl1pPr algn="ctr" defTabSz="685800" rtl="0" eaLnBrk="1" latinLnBrk="0" hangingPunct="1">
        <a:lnSpc>
          <a:spcPct val="90000"/>
        </a:lnSpc>
        <a:spcBef>
          <a:spcPct val="0"/>
        </a:spcBef>
        <a:buNone/>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1pPr>
    </p:titleStyle>
    <p:bodyStyle>
      <a:lvl1pPr marL="0" indent="0" algn="l" defTabSz="685800" rtl="0" eaLnBrk="1" latinLnBrk="0" hangingPunct="1">
        <a:lnSpc>
          <a:spcPct val="90000"/>
        </a:lnSpc>
        <a:spcBef>
          <a:spcPts val="750"/>
        </a:spcBef>
        <a:buFont typeface="Arial" panose="020B0604020202020204" pitchFamily="34" charset="0"/>
        <a:buNone/>
        <a:defRPr sz="1200" b="0" i="0" kern="1200" cap="none" baseline="0">
          <a:solidFill>
            <a:schemeClr val="tx2"/>
          </a:solidFill>
          <a:latin typeface="Lato" panose="020F0502020204030203" pitchFamily="34" charset="0"/>
          <a:ea typeface="Lato" panose="020F0502020204030203" pitchFamily="34" charset="0"/>
          <a:cs typeface="Lato" panose="020F0502020204030203" pitchFamily="34" charset="0"/>
        </a:defRPr>
      </a:lvl1pPr>
      <a:lvl2pPr marL="236538" indent="-119063" algn="l" defTabSz="685800" rtl="0" eaLnBrk="1" latinLnBrk="0" hangingPunct="1">
        <a:lnSpc>
          <a:spcPct val="90000"/>
        </a:lnSpc>
        <a:spcBef>
          <a:spcPts val="375"/>
        </a:spcBef>
        <a:buFont typeface="Arial" panose="020B0604020202020204" pitchFamily="34" charset="0"/>
        <a:buChar char="•"/>
        <a:tabLst/>
        <a:defRPr sz="1100" b="0" i="0" kern="1200">
          <a:solidFill>
            <a:schemeClr val="tx2"/>
          </a:solidFill>
          <a:latin typeface="Lato Light" panose="020F0502020204030203" pitchFamily="34" charset="0"/>
          <a:ea typeface="Lato Light" panose="020F0502020204030203" pitchFamily="34" charset="0"/>
          <a:cs typeface="Lato Light" panose="020F0502020204030203" pitchFamily="34" charset="0"/>
        </a:defRPr>
      </a:lvl2pPr>
      <a:lvl3pPr marL="346075" indent="-111125" algn="l" defTabSz="685800" rtl="0" eaLnBrk="1" latinLnBrk="0" hangingPunct="1">
        <a:lnSpc>
          <a:spcPct val="90000"/>
        </a:lnSpc>
        <a:spcBef>
          <a:spcPts val="375"/>
        </a:spcBef>
        <a:buFont typeface="Arial" panose="020B0604020202020204" pitchFamily="34" charset="0"/>
        <a:buChar char="•"/>
        <a:tabLst/>
        <a:defRPr sz="1050" b="0" i="0" kern="1200">
          <a:solidFill>
            <a:schemeClr val="tx2"/>
          </a:solidFill>
          <a:latin typeface="Lato Light" panose="020F0502020204030203" pitchFamily="34" charset="0"/>
          <a:ea typeface="Lato Light" panose="020F0502020204030203" pitchFamily="34" charset="0"/>
          <a:cs typeface="Lato Light" panose="020F0502020204030203" pitchFamily="34" charset="0"/>
        </a:defRPr>
      </a:lvl3pPr>
      <a:lvl4pPr marL="465138" indent="-119063" algn="l" defTabSz="685800" rtl="0" eaLnBrk="1" latinLnBrk="0" hangingPunct="1">
        <a:lnSpc>
          <a:spcPct val="90000"/>
        </a:lnSpc>
        <a:spcBef>
          <a:spcPts val="375"/>
        </a:spcBef>
        <a:buFont typeface="Arial" panose="020B0604020202020204" pitchFamily="34" charset="0"/>
        <a:buChar char="•"/>
        <a:tabLst/>
        <a:defRPr sz="1000" b="0" i="0" kern="1200">
          <a:solidFill>
            <a:schemeClr val="tx2"/>
          </a:solidFill>
          <a:latin typeface="Lato Light" panose="020F0502020204030203" pitchFamily="34" charset="0"/>
          <a:ea typeface="Lato Light" panose="020F0502020204030203" pitchFamily="34" charset="0"/>
          <a:cs typeface="Lato Light" panose="020F0502020204030203" pitchFamily="34" charset="0"/>
        </a:defRPr>
      </a:lvl4pPr>
      <a:lvl5pPr marL="574675" indent="-111125" algn="l" defTabSz="685800" rtl="0" eaLnBrk="1" latinLnBrk="0" hangingPunct="1">
        <a:lnSpc>
          <a:spcPct val="90000"/>
        </a:lnSpc>
        <a:spcBef>
          <a:spcPts val="375"/>
        </a:spcBef>
        <a:buFont typeface="Arial" panose="020B0604020202020204" pitchFamily="34" charset="0"/>
        <a:buChar char="•"/>
        <a:tabLst/>
        <a:defRPr sz="1000" b="0" i="0" kern="1200">
          <a:solidFill>
            <a:schemeClr val="tx2"/>
          </a:solidFill>
          <a:latin typeface="Lato Light" panose="020F0502020204030203" pitchFamily="34" charset="0"/>
          <a:ea typeface="Lato Light" panose="020F0502020204030203" pitchFamily="34" charset="0"/>
          <a:cs typeface="Lato Light" panose="020F0502020204030203"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32">
          <p15:clr>
            <a:srgbClr val="F26B43"/>
          </p15:clr>
        </p15:guide>
        <p15:guide id="2" pos="2880">
          <p15:clr>
            <a:srgbClr val="F26B43"/>
          </p15:clr>
        </p15:guide>
        <p15:guide id="3" orient="horz" pos="1740">
          <p15:clr>
            <a:srgbClr val="F26B43"/>
          </p15:clr>
        </p15:guide>
        <p15:guide id="4" pos="392">
          <p15:clr>
            <a:srgbClr val="F26B43"/>
          </p15:clr>
        </p15:guide>
        <p15:guide id="5" orient="horz" pos="161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9.xml"/><Relationship Id="rId5" Type="http://schemas.openxmlformats.org/officeDocument/2006/relationships/image" Target="../media/image11.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0.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7.emf"/><Relationship Id="rId5" Type="http://schemas.openxmlformats.org/officeDocument/2006/relationships/image" Target="../media/image16.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emf"/><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svg"/><Relationship Id="rId3" Type="http://schemas.openxmlformats.org/officeDocument/2006/relationships/image" Target="../media/image10.png"/><Relationship Id="rId7" Type="http://schemas.openxmlformats.org/officeDocument/2006/relationships/image" Target="../media/image20.svg"/><Relationship Id="rId12"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9.png"/><Relationship Id="rId11" Type="http://schemas.openxmlformats.org/officeDocument/2006/relationships/image" Target="../media/image24.svg"/><Relationship Id="rId5" Type="http://schemas.openxmlformats.org/officeDocument/2006/relationships/image" Target="../media/image13.png"/><Relationship Id="rId10" Type="http://schemas.openxmlformats.org/officeDocument/2006/relationships/image" Target="../media/image23.png"/><Relationship Id="rId4" Type="http://schemas.openxmlformats.org/officeDocument/2006/relationships/image" Target="../media/image17.emf"/><Relationship Id="rId9" Type="http://schemas.openxmlformats.org/officeDocument/2006/relationships/image" Target="../media/image22.svg"/></Relationships>
</file>

<file path=ppt/slides/_rels/slide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7.emf"/><Relationship Id="rId5" Type="http://schemas.openxmlformats.org/officeDocument/2006/relationships/image" Target="../media/image13.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7.emf"/><Relationship Id="rId5" Type="http://schemas.openxmlformats.org/officeDocument/2006/relationships/image" Target="../media/image13.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7.emf"/></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hyperlink" Target="https://forms.office.com/r/p1UepZ5W1F" TargetMode="Externa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7.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Business people discussing a strategy and working together in of -  Instituto ILEN">
            <a:extLst>
              <a:ext uri="{FF2B5EF4-FFF2-40B4-BE49-F238E27FC236}">
                <a16:creationId xmlns:a16="http://schemas.microsoft.com/office/drawing/2014/main" id="{237F2650-850C-D262-8457-1681DA569E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4893"/>
          <a:stretch/>
        </p:blipFill>
        <p:spPr bwMode="auto">
          <a:xfrm>
            <a:off x="2577795" y="0"/>
            <a:ext cx="6566205" cy="51435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close up of a logo&#10;&#10;Description automatically generated">
            <a:extLst>
              <a:ext uri="{FF2B5EF4-FFF2-40B4-BE49-F238E27FC236}">
                <a16:creationId xmlns:a16="http://schemas.microsoft.com/office/drawing/2014/main" id="{5640F7C5-6F67-2E11-B0B9-19C1E12D6D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4471" y="0"/>
            <a:ext cx="5698973" cy="5143500"/>
          </a:xfrm>
          <a:prstGeom prst="rect">
            <a:avLst/>
          </a:prstGeom>
        </p:spPr>
      </p:pic>
      <p:pic>
        <p:nvPicPr>
          <p:cNvPr id="4098" name="Picture 2" descr="Real Estate and Property Management Software | RealPage">
            <a:extLst>
              <a:ext uri="{FF2B5EF4-FFF2-40B4-BE49-F238E27FC236}">
                <a16:creationId xmlns:a16="http://schemas.microsoft.com/office/drawing/2014/main" id="{8F13AD12-4335-967E-CDB8-A3513D6BED52}"/>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64606" y="217489"/>
            <a:ext cx="1277109" cy="155382"/>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BCADEDD-3035-C390-E64C-E6A8C5B0604B}"/>
              </a:ext>
            </a:extLst>
          </p:cNvPr>
          <p:cNvSpPr txBox="1"/>
          <p:nvPr/>
        </p:nvSpPr>
        <p:spPr>
          <a:xfrm>
            <a:off x="373142" y="584079"/>
            <a:ext cx="3791664" cy="369332"/>
          </a:xfrm>
          <a:prstGeom prst="rect">
            <a:avLst/>
          </a:prstGeom>
          <a:noFill/>
        </p:spPr>
        <p:txBody>
          <a:bodyPr wrap="square" rtlCol="0">
            <a:spAutoFit/>
          </a:bodyPr>
          <a:lstStyle/>
          <a:p>
            <a:pPr defTabSz="685783"/>
            <a:r>
              <a:rPr lang="en-US" b="1">
                <a:latin typeface="Lato" panose="020F0502020204030203" pitchFamily="34" charset="0"/>
                <a:ea typeface="Lato Medium" panose="020F0502020204030203" pitchFamily="34" charset="0"/>
                <a:cs typeface="Lato Medium" panose="020F0502020204030203" pitchFamily="34" charset="0"/>
              </a:rPr>
              <a:t>Character</a:t>
            </a:r>
          </a:p>
        </p:txBody>
      </p:sp>
      <p:sp>
        <p:nvSpPr>
          <p:cNvPr id="3" name="TextBox 2">
            <a:extLst>
              <a:ext uri="{FF2B5EF4-FFF2-40B4-BE49-F238E27FC236}">
                <a16:creationId xmlns:a16="http://schemas.microsoft.com/office/drawing/2014/main" id="{6880E4D4-4F17-F482-0C2F-244CB4E22E5C}"/>
              </a:ext>
            </a:extLst>
          </p:cNvPr>
          <p:cNvSpPr txBox="1"/>
          <p:nvPr/>
        </p:nvSpPr>
        <p:spPr>
          <a:xfrm>
            <a:off x="393315" y="956950"/>
            <a:ext cx="1703864" cy="276999"/>
          </a:xfrm>
          <a:prstGeom prst="rect">
            <a:avLst/>
          </a:prstGeom>
          <a:noFill/>
        </p:spPr>
        <p:txBody>
          <a:bodyPr wrap="none" rtlCol="0">
            <a:spAutoFit/>
          </a:bodyPr>
          <a:lstStyle/>
          <a:p>
            <a:r>
              <a:rPr lang="en-US" sz="1200" dirty="0"/>
              <a:t>Character Key Actions</a:t>
            </a:r>
          </a:p>
        </p:txBody>
      </p:sp>
      <p:sp>
        <p:nvSpPr>
          <p:cNvPr id="4" name="TextBox 3">
            <a:extLst>
              <a:ext uri="{FF2B5EF4-FFF2-40B4-BE49-F238E27FC236}">
                <a16:creationId xmlns:a16="http://schemas.microsoft.com/office/drawing/2014/main" id="{A2515962-9B86-8EB4-2337-0DDDB2020F54}"/>
              </a:ext>
            </a:extLst>
          </p:cNvPr>
          <p:cNvSpPr txBox="1"/>
          <p:nvPr/>
        </p:nvSpPr>
        <p:spPr>
          <a:xfrm>
            <a:off x="402677" y="1275964"/>
            <a:ext cx="2884123" cy="276999"/>
          </a:xfrm>
          <a:prstGeom prst="rect">
            <a:avLst/>
          </a:prstGeom>
          <a:noFill/>
        </p:spPr>
        <p:txBody>
          <a:bodyPr wrap="none" rtlCol="0">
            <a:spAutoFit/>
          </a:bodyPr>
          <a:lstStyle/>
          <a:p>
            <a:r>
              <a:rPr lang="en-US" sz="1200" dirty="0">
                <a:latin typeface="Lato" panose="020F0502020204030203" pitchFamily="34" charset="0"/>
              </a:rPr>
              <a:t>Module I: </a:t>
            </a:r>
            <a:r>
              <a:rPr lang="en-US" sz="1200" b="1" dirty="0">
                <a:latin typeface="Lato" panose="020F0502020204030203" pitchFamily="34" charset="0"/>
              </a:rPr>
              <a:t>Impact of Character </a:t>
            </a:r>
            <a:r>
              <a:rPr lang="en-US" sz="900" dirty="0">
                <a:latin typeface="Lato" panose="020F0502020204030203" pitchFamily="34" charset="0"/>
              </a:rPr>
              <a:t>(30 minutes)</a:t>
            </a:r>
            <a:endParaRPr lang="en-US" sz="1200" dirty="0">
              <a:latin typeface="Lato" panose="020F0502020204030203" pitchFamily="34" charset="0"/>
            </a:endParaRPr>
          </a:p>
        </p:txBody>
      </p:sp>
      <p:sp>
        <p:nvSpPr>
          <p:cNvPr id="5" name="TextBox 4">
            <a:extLst>
              <a:ext uri="{FF2B5EF4-FFF2-40B4-BE49-F238E27FC236}">
                <a16:creationId xmlns:a16="http://schemas.microsoft.com/office/drawing/2014/main" id="{63651DA3-C4EE-9C87-A633-5F9919DAEF3C}"/>
              </a:ext>
            </a:extLst>
          </p:cNvPr>
          <p:cNvSpPr txBox="1"/>
          <p:nvPr/>
        </p:nvSpPr>
        <p:spPr>
          <a:xfrm>
            <a:off x="1003059" y="1485860"/>
            <a:ext cx="5917975" cy="923330"/>
          </a:xfrm>
          <a:prstGeom prst="rect">
            <a:avLst/>
          </a:prstGeom>
          <a:noFill/>
        </p:spPr>
        <p:txBody>
          <a:bodyPr wrap="square" rtlCol="0">
            <a:spAutoFit/>
          </a:bodyPr>
          <a:lstStyle/>
          <a:p>
            <a:pPr marL="214313" indent="-214313">
              <a:buFontTx/>
              <a:buChar char="-"/>
            </a:pPr>
            <a:r>
              <a:rPr lang="en-US" sz="900" dirty="0">
                <a:latin typeface="Lato" panose="020F0502020204030203" pitchFamily="34" charset="0"/>
              </a:rPr>
              <a:t>Objectives</a:t>
            </a:r>
          </a:p>
          <a:p>
            <a:pPr marL="214313" indent="-214313">
              <a:buFontTx/>
              <a:buChar char="-"/>
            </a:pPr>
            <a:r>
              <a:rPr lang="en-US" sz="900" dirty="0">
                <a:latin typeface="Lato" panose="020F0502020204030203" pitchFamily="34" charset="0"/>
              </a:rPr>
              <a:t>Self-Assessment – Say Yes or No</a:t>
            </a:r>
          </a:p>
          <a:p>
            <a:pPr marL="214313" indent="-214313">
              <a:buFontTx/>
              <a:buChar char="-"/>
            </a:pPr>
            <a:r>
              <a:rPr lang="en-US" sz="900" dirty="0">
                <a:latin typeface="Lato" panose="020F0502020204030203" pitchFamily="34" charset="0"/>
                <a:ea typeface="Calibri" panose="020F0502020204030204" pitchFamily="34" charset="0"/>
                <a:cs typeface="Times New Roman" panose="02020603050405020304" pitchFamily="18" charset="0"/>
              </a:rPr>
              <a:t>Importance of Character: </a:t>
            </a:r>
            <a:r>
              <a:rPr lang="en-US" sz="900" dirty="0">
                <a:latin typeface="Lato" panose="020F0502020204030203" pitchFamily="34" charset="0"/>
              </a:rPr>
              <a:t>Employee, Leader and Organization</a:t>
            </a:r>
          </a:p>
          <a:p>
            <a:pPr marL="214313" indent="-214313">
              <a:buFontTx/>
              <a:buChar char="-"/>
            </a:pPr>
            <a:r>
              <a:rPr lang="en-US" sz="900" dirty="0">
                <a:latin typeface="Lato" panose="020F0502020204030203" pitchFamily="34" charset="0"/>
              </a:rPr>
              <a:t>Demonstrate Character - </a:t>
            </a:r>
            <a:r>
              <a:rPr lang="en-US" sz="900" dirty="0">
                <a:latin typeface="Lato" panose="020F0502020204030203" pitchFamily="34" charset="0"/>
                <a:ea typeface="Lato Medium" panose="020F0502020204030203" pitchFamily="34" charset="0"/>
                <a:cs typeface="Lato Medium" panose="020F0502020204030203" pitchFamily="34" charset="0"/>
              </a:rPr>
              <a:t>at home, at work, and in your community</a:t>
            </a:r>
            <a:endParaRPr lang="en-US" sz="825" dirty="0">
              <a:latin typeface="Lato" panose="020F0502020204030203" pitchFamily="34" charset="0"/>
              <a:ea typeface="Lato Medium" panose="020F0502020204030203" pitchFamily="34" charset="0"/>
              <a:cs typeface="Lato Medium" panose="020F0502020204030203" pitchFamily="34" charset="0"/>
            </a:endParaRPr>
          </a:p>
          <a:p>
            <a:pPr marL="214313" indent="-214313">
              <a:buFontTx/>
              <a:buChar char="-"/>
            </a:pPr>
            <a:r>
              <a:rPr lang="en-US" sz="900" dirty="0">
                <a:latin typeface="Lato" panose="020F0502020204030203" pitchFamily="34" charset="0"/>
              </a:rPr>
              <a:t>Quote to Ponder </a:t>
            </a:r>
          </a:p>
          <a:p>
            <a:pPr marL="214313" indent="-214313">
              <a:buFontTx/>
              <a:buChar char="-"/>
            </a:pPr>
            <a:endParaRPr lang="en-US" sz="900" dirty="0">
              <a:latin typeface="Lato" panose="020F0502020204030203" pitchFamily="34" charset="0"/>
            </a:endParaRPr>
          </a:p>
        </p:txBody>
      </p:sp>
      <p:sp>
        <p:nvSpPr>
          <p:cNvPr id="7" name="TextBox 6">
            <a:extLst>
              <a:ext uri="{FF2B5EF4-FFF2-40B4-BE49-F238E27FC236}">
                <a16:creationId xmlns:a16="http://schemas.microsoft.com/office/drawing/2014/main" id="{7945ABF8-06C7-2FBF-C3E2-1A7CFD4D233D}"/>
              </a:ext>
            </a:extLst>
          </p:cNvPr>
          <p:cNvSpPr txBox="1"/>
          <p:nvPr/>
        </p:nvSpPr>
        <p:spPr>
          <a:xfrm>
            <a:off x="393315" y="2409191"/>
            <a:ext cx="3518674" cy="461665"/>
          </a:xfrm>
          <a:prstGeom prst="rect">
            <a:avLst/>
          </a:prstGeom>
          <a:noFill/>
        </p:spPr>
        <p:txBody>
          <a:bodyPr wrap="square" rtlCol="0">
            <a:spAutoFit/>
          </a:bodyPr>
          <a:lstStyle/>
          <a:p>
            <a:r>
              <a:rPr lang="en-US" sz="1200" dirty="0">
                <a:latin typeface="Lato" panose="020F0502020204030203" pitchFamily="34" charset="0"/>
              </a:rPr>
              <a:t>Module II: </a:t>
            </a:r>
            <a:r>
              <a:rPr lang="en-US" sz="1200" b="1" dirty="0">
                <a:latin typeface="Lato" panose="020F0502020204030203" pitchFamily="34" charset="0"/>
              </a:rPr>
              <a:t>Pillars of Character Model </a:t>
            </a:r>
            <a:r>
              <a:rPr lang="en-US" sz="900" dirty="0">
                <a:latin typeface="Lato" panose="020F0502020204030203" pitchFamily="34" charset="0"/>
              </a:rPr>
              <a:t>(30 minutes)</a:t>
            </a:r>
          </a:p>
          <a:p>
            <a:endParaRPr lang="en-US" sz="1200" b="1" dirty="0">
              <a:latin typeface="Lato" panose="020F0502020204030203" pitchFamily="34" charset="0"/>
            </a:endParaRPr>
          </a:p>
        </p:txBody>
      </p:sp>
      <p:sp>
        <p:nvSpPr>
          <p:cNvPr id="2" name="TextBox 1">
            <a:extLst>
              <a:ext uri="{FF2B5EF4-FFF2-40B4-BE49-F238E27FC236}">
                <a16:creationId xmlns:a16="http://schemas.microsoft.com/office/drawing/2014/main" id="{F5C05D1C-7058-A278-585E-C878096241CB}"/>
              </a:ext>
            </a:extLst>
          </p:cNvPr>
          <p:cNvSpPr txBox="1"/>
          <p:nvPr/>
        </p:nvSpPr>
        <p:spPr>
          <a:xfrm>
            <a:off x="373143" y="3607516"/>
            <a:ext cx="4125245" cy="461665"/>
          </a:xfrm>
          <a:prstGeom prst="rect">
            <a:avLst/>
          </a:prstGeom>
          <a:noFill/>
        </p:spPr>
        <p:txBody>
          <a:bodyPr wrap="square" lIns="91440" tIns="45720" rIns="91440" bIns="45720" rtlCol="0" anchor="t">
            <a:spAutoFit/>
          </a:bodyPr>
          <a:lstStyle/>
          <a:p>
            <a:r>
              <a:rPr lang="en-US" sz="1200" dirty="0">
                <a:latin typeface="Lato"/>
                <a:ea typeface="Lato"/>
                <a:cs typeface="Lato"/>
              </a:rPr>
              <a:t>Module III: </a:t>
            </a:r>
            <a:r>
              <a:rPr lang="en-US" sz="1200" b="1" dirty="0">
                <a:latin typeface="Lato"/>
                <a:ea typeface="Lato"/>
                <a:cs typeface="Lato"/>
              </a:rPr>
              <a:t>Build Your Character </a:t>
            </a:r>
            <a:r>
              <a:rPr lang="en-US" sz="900" dirty="0">
                <a:latin typeface="Lato"/>
                <a:ea typeface="Lato"/>
                <a:cs typeface="Lato"/>
              </a:rPr>
              <a:t>(30 minutes)</a:t>
            </a:r>
          </a:p>
          <a:p>
            <a:endParaRPr lang="en-US" sz="1200" b="1" dirty="0">
              <a:latin typeface="Lato" panose="020F0502020204030203" pitchFamily="34" charset="0"/>
            </a:endParaRPr>
          </a:p>
        </p:txBody>
      </p:sp>
      <p:sp>
        <p:nvSpPr>
          <p:cNvPr id="6" name="TextBox 5">
            <a:extLst>
              <a:ext uri="{FF2B5EF4-FFF2-40B4-BE49-F238E27FC236}">
                <a16:creationId xmlns:a16="http://schemas.microsoft.com/office/drawing/2014/main" id="{FEBE4ADA-2E9A-092C-67BC-A7161086591A}"/>
              </a:ext>
            </a:extLst>
          </p:cNvPr>
          <p:cNvSpPr txBox="1"/>
          <p:nvPr/>
        </p:nvSpPr>
        <p:spPr>
          <a:xfrm>
            <a:off x="982887" y="3830709"/>
            <a:ext cx="5082157" cy="784830"/>
          </a:xfrm>
          <a:prstGeom prst="rect">
            <a:avLst/>
          </a:prstGeom>
          <a:noFill/>
        </p:spPr>
        <p:txBody>
          <a:bodyPr wrap="square" rtlCol="0">
            <a:spAutoFit/>
          </a:bodyPr>
          <a:lstStyle/>
          <a:p>
            <a:pPr marL="214313" indent="-214313">
              <a:buFontTx/>
              <a:buChar char="-"/>
            </a:pPr>
            <a:r>
              <a:rPr lang="en-US" sz="900" dirty="0">
                <a:latin typeface="Lato" panose="020F0502020204030203" pitchFamily="34" charset="0"/>
              </a:rPr>
              <a:t>Objectives</a:t>
            </a:r>
          </a:p>
          <a:p>
            <a:pPr marL="214313" indent="-214313">
              <a:buFontTx/>
              <a:buChar char="-"/>
            </a:pPr>
            <a:r>
              <a:rPr lang="en-US" sz="900" dirty="0">
                <a:latin typeface="Lato" panose="020F0502020204030203" pitchFamily="34" charset="0"/>
              </a:rPr>
              <a:t>Discussion – Culture &amp; Diversity, Conflict and Unethical behavior</a:t>
            </a:r>
          </a:p>
          <a:p>
            <a:pPr marL="214313" indent="-214313">
              <a:buFontTx/>
              <a:buChar char="-"/>
            </a:pPr>
            <a:r>
              <a:rPr lang="en-US" sz="900" dirty="0">
                <a:latin typeface="Lato" panose="020F0502020204030203" pitchFamily="34" charset="0"/>
              </a:rPr>
              <a:t>Build Your Character – Having, Doing and Being</a:t>
            </a:r>
          </a:p>
          <a:p>
            <a:pPr marL="214313" indent="-214313">
              <a:buFontTx/>
              <a:buChar char="-"/>
            </a:pPr>
            <a:r>
              <a:rPr lang="en-US" sz="900" dirty="0">
                <a:latin typeface="Lato" panose="020F0502020204030203" pitchFamily="34" charset="0"/>
              </a:rPr>
              <a:t>Character Vocabulary in Communication</a:t>
            </a:r>
          </a:p>
          <a:p>
            <a:pPr marL="214313" indent="-214313">
              <a:buFontTx/>
              <a:buChar char="-"/>
            </a:pPr>
            <a:r>
              <a:rPr lang="en-US" sz="900" dirty="0">
                <a:latin typeface="Lato" panose="020F0502020204030203" pitchFamily="34" charset="0"/>
              </a:rPr>
              <a:t>Quote to Ponder</a:t>
            </a:r>
            <a:endParaRPr lang="en-US" sz="900" i="1" dirty="0">
              <a:latin typeface="Lato" panose="020F0502020204030203" pitchFamily="34" charset="0"/>
              <a:ea typeface="Lato Medium" panose="020F0502020204030203" pitchFamily="34" charset="0"/>
              <a:cs typeface="Lato Medium" panose="020F0502020204030203" pitchFamily="34" charset="0"/>
            </a:endParaRPr>
          </a:p>
        </p:txBody>
      </p:sp>
      <p:sp>
        <p:nvSpPr>
          <p:cNvPr id="9" name="Rectangle 8">
            <a:extLst>
              <a:ext uri="{FF2B5EF4-FFF2-40B4-BE49-F238E27FC236}">
                <a16:creationId xmlns:a16="http://schemas.microsoft.com/office/drawing/2014/main" id="{861862BE-BF84-1DF7-0CB9-088C81FAA440}"/>
              </a:ext>
            </a:extLst>
          </p:cNvPr>
          <p:cNvSpPr/>
          <p:nvPr/>
        </p:nvSpPr>
        <p:spPr>
          <a:xfrm>
            <a:off x="4021091" y="2733949"/>
            <a:ext cx="1243013" cy="342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TextBox 7">
            <a:extLst>
              <a:ext uri="{FF2B5EF4-FFF2-40B4-BE49-F238E27FC236}">
                <a16:creationId xmlns:a16="http://schemas.microsoft.com/office/drawing/2014/main" id="{D7C233DE-074E-84E9-B875-115B3492BBF4}"/>
              </a:ext>
            </a:extLst>
          </p:cNvPr>
          <p:cNvSpPr txBox="1"/>
          <p:nvPr/>
        </p:nvSpPr>
        <p:spPr>
          <a:xfrm>
            <a:off x="1003059" y="2628481"/>
            <a:ext cx="5082156" cy="1188787"/>
          </a:xfrm>
          <a:prstGeom prst="rect">
            <a:avLst/>
          </a:prstGeom>
          <a:noFill/>
        </p:spPr>
        <p:txBody>
          <a:bodyPr wrap="square" rtlCol="0">
            <a:spAutoFit/>
          </a:bodyPr>
          <a:lstStyle/>
          <a:p>
            <a:pPr marL="214313" indent="-214313">
              <a:buFontTx/>
              <a:buChar char="-"/>
            </a:pPr>
            <a:r>
              <a:rPr lang="en-US" sz="900" dirty="0">
                <a:latin typeface="Lato" panose="020F0502020204030203" pitchFamily="34" charset="0"/>
              </a:rPr>
              <a:t>Objectives</a:t>
            </a:r>
          </a:p>
          <a:p>
            <a:pPr marL="214313" indent="-214313">
              <a:buFontTx/>
              <a:buChar char="-"/>
            </a:pPr>
            <a:r>
              <a:rPr lang="en-US" sz="900" dirty="0">
                <a:latin typeface="Lato" panose="020F0502020204030203" pitchFamily="34" charset="0"/>
              </a:rPr>
              <a:t>Pillars of Character </a:t>
            </a:r>
          </a:p>
          <a:p>
            <a:pPr marL="214313" indent="-214313">
              <a:buFontTx/>
              <a:buChar char="-"/>
            </a:pPr>
            <a:r>
              <a:rPr lang="en-US" sz="900" dirty="0">
                <a:latin typeface="Lato" panose="020F0502020204030203" pitchFamily="34" charset="0"/>
              </a:rPr>
              <a:t>Case Study: Mindset - Treat every person you encounter with dignity and respect</a:t>
            </a:r>
          </a:p>
          <a:p>
            <a:pPr marL="214313" indent="-214313">
              <a:buFontTx/>
              <a:buChar char="-"/>
            </a:pPr>
            <a:r>
              <a:rPr lang="en-US" sz="900" dirty="0">
                <a:latin typeface="Lato" panose="020F0502020204030203" pitchFamily="34" charset="0"/>
              </a:rPr>
              <a:t>Case Study: Mindset - What we think, we become</a:t>
            </a:r>
          </a:p>
          <a:p>
            <a:pPr marL="214313" indent="-214313">
              <a:buFontTx/>
              <a:buChar char="-"/>
            </a:pPr>
            <a:r>
              <a:rPr lang="en-US" sz="900" dirty="0">
                <a:latin typeface="Lato" panose="020F0502020204030203" pitchFamily="34" charset="0"/>
              </a:rPr>
              <a:t>Quote to Ponder</a:t>
            </a:r>
            <a:endParaRPr lang="en-US" sz="825" i="1" dirty="0">
              <a:latin typeface="Lato" panose="020F0502020204030203" pitchFamily="34" charset="0"/>
              <a:ea typeface="Lato Medium" panose="020F0502020204030203" pitchFamily="34" charset="0"/>
              <a:cs typeface="Lato Medium" panose="020F0502020204030203" pitchFamily="34" charset="0"/>
            </a:endParaRPr>
          </a:p>
          <a:p>
            <a:r>
              <a:rPr lang="en-US" sz="825" i="1" dirty="0">
                <a:latin typeface="Lato" panose="020F0502020204030203" pitchFamily="34" charset="0"/>
                <a:ea typeface="Lato Medium" panose="020F0502020204030203" pitchFamily="34" charset="0"/>
                <a:cs typeface="Lato Medium" panose="020F0502020204030203" pitchFamily="34" charset="0"/>
              </a:rPr>
              <a:t> </a:t>
            </a:r>
          </a:p>
          <a:p>
            <a:r>
              <a:rPr lang="en-US" sz="900" b="1" i="1" dirty="0">
                <a:latin typeface="Lato" panose="020F0502020204030203" pitchFamily="34" charset="0"/>
              </a:rPr>
              <a:t> </a:t>
            </a:r>
          </a:p>
          <a:p>
            <a:endParaRPr lang="en-US" sz="900" dirty="0">
              <a:latin typeface="Lato" panose="020F0502020204030203" pitchFamily="34" charset="0"/>
            </a:endParaRPr>
          </a:p>
        </p:txBody>
      </p:sp>
      <p:sp>
        <p:nvSpPr>
          <p:cNvPr id="10" name="Rectangle 9">
            <a:extLst>
              <a:ext uri="{FF2B5EF4-FFF2-40B4-BE49-F238E27FC236}">
                <a16:creationId xmlns:a16="http://schemas.microsoft.com/office/drawing/2014/main" id="{97AB08B6-F8C7-E8B8-7E2B-633CEA404100}"/>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A48FDDB5-89FA-A928-40A7-08878639F33B}"/>
              </a:ext>
            </a:extLst>
          </p:cNvPr>
          <p:cNvSpPr txBox="1"/>
          <p:nvPr/>
        </p:nvSpPr>
        <p:spPr>
          <a:xfrm>
            <a:off x="239784" y="4849257"/>
            <a:ext cx="524503"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1</a:t>
            </a:r>
          </a:p>
        </p:txBody>
      </p:sp>
    </p:spTree>
    <p:extLst>
      <p:ext uri="{BB962C8B-B14F-4D97-AF65-F5344CB8AC3E}">
        <p14:creationId xmlns:p14="http://schemas.microsoft.com/office/powerpoint/2010/main" val="3776217059"/>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Working With a Self-Storage Call Center | Inside Self-Storage">
            <a:extLst>
              <a:ext uri="{FF2B5EF4-FFF2-40B4-BE49-F238E27FC236}">
                <a16:creationId xmlns:a16="http://schemas.microsoft.com/office/drawing/2014/main" id="{BBCFB04D-94DD-5AAE-3C93-0F7E2B1541F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2" r="12705"/>
          <a:stretch/>
        </p:blipFill>
        <p:spPr bwMode="auto">
          <a:xfrm>
            <a:off x="478978" y="0"/>
            <a:ext cx="8665022" cy="515238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close up of a logo&#10;&#10;Description automatically generated">
            <a:extLst>
              <a:ext uri="{FF2B5EF4-FFF2-40B4-BE49-F238E27FC236}">
                <a16:creationId xmlns:a16="http://schemas.microsoft.com/office/drawing/2014/main" id="{34FD364F-B6D4-4A6B-CBCC-54E958C1FE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5220" y="7088"/>
            <a:ext cx="7290028" cy="5143500"/>
          </a:xfrm>
          <a:prstGeom prst="rect">
            <a:avLst/>
          </a:prstGeom>
        </p:spPr>
      </p:pic>
      <p:sp>
        <p:nvSpPr>
          <p:cNvPr id="5" name="TextBox 1">
            <a:extLst>
              <a:ext uri="{FF2B5EF4-FFF2-40B4-BE49-F238E27FC236}">
                <a16:creationId xmlns:a16="http://schemas.microsoft.com/office/drawing/2014/main" id="{3E6D4D2D-5515-3E45-96F4-A7726B36F432}"/>
              </a:ext>
            </a:extLst>
          </p:cNvPr>
          <p:cNvSpPr txBox="1"/>
          <p:nvPr/>
        </p:nvSpPr>
        <p:spPr>
          <a:xfrm>
            <a:off x="424665" y="2308800"/>
            <a:ext cx="3188693" cy="461665"/>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685800"/>
            <a:r>
              <a:rPr lang="en-US" sz="2400" dirty="0">
                <a:solidFill>
                  <a:schemeClr val="accent6"/>
                </a:solidFill>
                <a:latin typeface="Lato" panose="020F0502020204030203" pitchFamily="34" charset="0"/>
                <a:ea typeface="Lato Medium" panose="020F0502020204030203" pitchFamily="34" charset="0"/>
                <a:cs typeface="Lato Medium" panose="020F0502020204030203" pitchFamily="34" charset="0"/>
              </a:rPr>
              <a:t>Core Value: Character</a:t>
            </a:r>
          </a:p>
        </p:txBody>
      </p:sp>
      <p:pic>
        <p:nvPicPr>
          <p:cNvPr id="12" name="Picture 11" descr="A picture containing text, sign, clipart&#10;&#10;Description automatically generated">
            <a:extLst>
              <a:ext uri="{FF2B5EF4-FFF2-40B4-BE49-F238E27FC236}">
                <a16:creationId xmlns:a16="http://schemas.microsoft.com/office/drawing/2014/main" id="{0CF78E8A-7A6A-86C5-2AFF-504904BA3F61}"/>
              </a:ext>
            </a:extLst>
          </p:cNvPr>
          <p:cNvPicPr>
            <a:picLocks noChangeAspect="1"/>
          </p:cNvPicPr>
          <p:nvPr/>
        </p:nvPicPr>
        <p:blipFill rotWithShape="1">
          <a:blip r:embed="rId5">
            <a:extLst>
              <a:ext uri="{28A0092B-C50C-407E-A947-70E740481C1C}">
                <a14:useLocalDpi xmlns:a14="http://schemas.microsoft.com/office/drawing/2010/main" val="0"/>
              </a:ext>
            </a:extLst>
          </a:blip>
          <a:srcRect b="15817"/>
          <a:stretch/>
        </p:blipFill>
        <p:spPr>
          <a:xfrm>
            <a:off x="332634" y="106861"/>
            <a:ext cx="1170741" cy="167459"/>
          </a:xfrm>
          <a:prstGeom prst="rect">
            <a:avLst/>
          </a:prstGeom>
        </p:spPr>
      </p:pic>
      <p:sp>
        <p:nvSpPr>
          <p:cNvPr id="2" name="Rectangle 1">
            <a:extLst>
              <a:ext uri="{FF2B5EF4-FFF2-40B4-BE49-F238E27FC236}">
                <a16:creationId xmlns:a16="http://schemas.microsoft.com/office/drawing/2014/main" id="{4AF72709-DCED-C67D-7795-60C584FD3BF6}"/>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850A7B1-0BB4-4ED4-B8B5-DDB51F01911D}"/>
              </a:ext>
            </a:extLst>
          </p:cNvPr>
          <p:cNvSpPr txBox="1"/>
          <p:nvPr/>
        </p:nvSpPr>
        <p:spPr>
          <a:xfrm>
            <a:off x="239784" y="4849257"/>
            <a:ext cx="524503"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2</a:t>
            </a:r>
          </a:p>
        </p:txBody>
      </p:sp>
    </p:spTree>
    <p:extLst>
      <p:ext uri="{BB962C8B-B14F-4D97-AF65-F5344CB8AC3E}">
        <p14:creationId xmlns:p14="http://schemas.microsoft.com/office/powerpoint/2010/main" val="1375915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close up of a logo&#10;&#10;Description automatically generated">
            <a:extLst>
              <a:ext uri="{FF2B5EF4-FFF2-40B4-BE49-F238E27FC236}">
                <a16:creationId xmlns:a16="http://schemas.microsoft.com/office/drawing/2014/main" id="{5640F7C5-6F67-2E11-B0B9-19C1E12D6D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4471" y="0"/>
            <a:ext cx="5698973" cy="5143500"/>
          </a:xfrm>
          <a:prstGeom prst="rect">
            <a:avLst/>
          </a:prstGeom>
        </p:spPr>
      </p:pic>
      <p:pic>
        <p:nvPicPr>
          <p:cNvPr id="4098" name="Picture 2" descr="Real Estate and Property Management Software | RealPage">
            <a:extLst>
              <a:ext uri="{FF2B5EF4-FFF2-40B4-BE49-F238E27FC236}">
                <a16:creationId xmlns:a16="http://schemas.microsoft.com/office/drawing/2014/main" id="{8F13AD12-4335-967E-CDB8-A3513D6BED52}"/>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64606" y="217489"/>
            <a:ext cx="1277109" cy="15538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226D41FA-B604-864B-90AF-5EB11BB36B76}"/>
              </a:ext>
            </a:extLst>
          </p:cNvPr>
          <p:cNvSpPr txBox="1"/>
          <p:nvPr/>
        </p:nvSpPr>
        <p:spPr>
          <a:xfrm>
            <a:off x="464606" y="675742"/>
            <a:ext cx="8344599" cy="738664"/>
          </a:xfrm>
          <a:prstGeom prst="rect">
            <a:avLst/>
          </a:prstGeom>
          <a:noFill/>
        </p:spPr>
        <p:txBody>
          <a:bodyPr wrap="square">
            <a:spAutoFit/>
          </a:bodyPr>
          <a:lstStyle/>
          <a:p>
            <a:r>
              <a:rPr lang="en-US" sz="1050" b="1" dirty="0">
                <a:latin typeface="Lato" panose="020F0502020204030203" pitchFamily="34" charset="0"/>
              </a:rPr>
              <a:t>Overview</a:t>
            </a:r>
          </a:p>
          <a:p>
            <a:r>
              <a:rPr lang="en-US" sz="1050" dirty="0">
                <a:latin typeface="Lato" panose="020F0502020204030203" pitchFamily="34" charset="0"/>
              </a:rPr>
              <a:t>The RealPage Core Values - Manager Learning Resources aim to help ensure alignment of the core values’ definition throughout RealPage. RealPage leaders and teammates will have thoughtful conversations and engage in helpful activities that will help them embody the core values’ key actions. </a:t>
            </a:r>
          </a:p>
        </p:txBody>
      </p:sp>
      <p:sp>
        <p:nvSpPr>
          <p:cNvPr id="14" name="TextBox 13">
            <a:extLst>
              <a:ext uri="{FF2B5EF4-FFF2-40B4-BE49-F238E27FC236}">
                <a16:creationId xmlns:a16="http://schemas.microsoft.com/office/drawing/2014/main" id="{17CF3AD5-66AB-5530-9D5B-A71FF54614BA}"/>
              </a:ext>
            </a:extLst>
          </p:cNvPr>
          <p:cNvSpPr txBox="1"/>
          <p:nvPr/>
        </p:nvSpPr>
        <p:spPr>
          <a:xfrm>
            <a:off x="581673" y="1801525"/>
            <a:ext cx="7980654" cy="2834622"/>
          </a:xfrm>
          <a:prstGeom prst="rect">
            <a:avLst/>
          </a:prstGeom>
          <a:noFill/>
        </p:spPr>
        <p:txBody>
          <a:bodyPr wrap="square" lIns="91440" tIns="45720" rIns="91440" bIns="45720" anchor="t">
            <a:spAutoFit/>
          </a:bodyPr>
          <a:lstStyle/>
          <a:p>
            <a:pPr marL="0" marR="0">
              <a:lnSpc>
                <a:spcPct val="107000"/>
              </a:lnSpc>
              <a:spcBef>
                <a:spcPts val="0"/>
              </a:spcBef>
              <a:spcAft>
                <a:spcPts val="800"/>
              </a:spcAft>
            </a:pPr>
            <a:r>
              <a:rPr lang="en-US" sz="1000" kern="100" dirty="0">
                <a:effectLst/>
                <a:latin typeface="Lato" panose="020F0502020204030203" pitchFamily="34" charset="0"/>
                <a:ea typeface="Calibri" panose="020F0502020204030204" pitchFamily="34" charset="0"/>
                <a:cs typeface="Times New Roman" panose="02020603050405020304" pitchFamily="18" charset="0"/>
              </a:rPr>
              <a:t>Good character builds the trust needed for success. These learning resources aim to help participants develop their character by creating awareness of the areas they can improve on, exploring the importance and pillars of character and providing tools to build character.</a:t>
            </a:r>
          </a:p>
          <a:p>
            <a:pPr marL="0" marR="0">
              <a:lnSpc>
                <a:spcPct val="107000"/>
              </a:lnSpc>
              <a:spcBef>
                <a:spcPts val="0"/>
              </a:spcBef>
              <a:spcAft>
                <a:spcPts val="800"/>
              </a:spcAft>
            </a:pPr>
            <a:r>
              <a:rPr lang="en-US" sz="1000" kern="100" dirty="0">
                <a:effectLst/>
                <a:latin typeface="Lato" panose="020F0502020204030203" pitchFamily="34" charset="0"/>
                <a:ea typeface="Calibri" panose="020F0502020204030204" pitchFamily="34" charset="0"/>
                <a:cs typeface="Times New Roman" panose="02020603050405020304" pitchFamily="18" charset="0"/>
              </a:rPr>
              <a:t>Module I: Impact of Character</a:t>
            </a:r>
          </a:p>
          <a:p>
            <a:pPr marL="0" marR="0">
              <a:lnSpc>
                <a:spcPct val="107000"/>
              </a:lnSpc>
              <a:spcBef>
                <a:spcPts val="0"/>
              </a:spcBef>
              <a:spcAft>
                <a:spcPts val="800"/>
              </a:spcAft>
            </a:pPr>
            <a:r>
              <a:rPr lang="en-US" sz="1000" kern="100" dirty="0">
                <a:effectLst/>
                <a:latin typeface="Lato" panose="020F0502020204030203" pitchFamily="34" charset="0"/>
                <a:ea typeface="Calibri" panose="020F0502020204030204" pitchFamily="34" charset="0"/>
                <a:cs typeface="Times New Roman" panose="02020603050405020304" pitchFamily="18" charset="0"/>
              </a:rPr>
              <a:t>Character is best shown when no one is watching. This first module aims to help participants take a close look at their actions to realize areas of character that they can or need to improve on. They will also explore the importance of good character as an employee or a leader and to the organization helping them move towards development.</a:t>
            </a:r>
          </a:p>
          <a:p>
            <a:pPr marL="0" marR="0">
              <a:lnSpc>
                <a:spcPct val="107000"/>
              </a:lnSpc>
              <a:spcBef>
                <a:spcPts val="0"/>
              </a:spcBef>
              <a:spcAft>
                <a:spcPts val="800"/>
              </a:spcAft>
            </a:pPr>
            <a:r>
              <a:rPr lang="en-US" sz="1000" b="1" kern="100" dirty="0">
                <a:solidFill>
                  <a:srgbClr val="35A6A1"/>
                </a:solidFill>
                <a:effectLst/>
                <a:latin typeface="Lato" panose="020F0502020204030203" pitchFamily="34" charset="0"/>
                <a:ea typeface="Calibri" panose="020F0502020204030204" pitchFamily="34" charset="0"/>
                <a:cs typeface="Times New Roman" panose="02020603050405020304" pitchFamily="18" charset="0"/>
              </a:rPr>
              <a:t>Module II: Pillars of Character Model</a:t>
            </a:r>
          </a:p>
          <a:p>
            <a:pPr marL="0" marR="0">
              <a:lnSpc>
                <a:spcPct val="107000"/>
              </a:lnSpc>
              <a:spcBef>
                <a:spcPts val="0"/>
              </a:spcBef>
              <a:spcAft>
                <a:spcPts val="800"/>
              </a:spcAft>
            </a:pPr>
            <a:r>
              <a:rPr lang="en-US" sz="1000" b="1" kern="100" dirty="0">
                <a:solidFill>
                  <a:srgbClr val="35A6A1"/>
                </a:solidFill>
                <a:effectLst/>
                <a:latin typeface="Lato" panose="020F0502020204030203" pitchFamily="34" charset="0"/>
                <a:ea typeface="Calibri" panose="020F0502020204030204" pitchFamily="34" charset="0"/>
                <a:cs typeface="Times New Roman" panose="02020603050405020304" pitchFamily="18" charset="0"/>
              </a:rPr>
              <a:t>In this second module, participants will have a better understanding of what is considered ethical through the four pillars of character. They will also have an opportunity to discuss behavior that they want to improve and how they can do it. Then, through case studies they will determine actions that could improve character.</a:t>
            </a:r>
          </a:p>
          <a:p>
            <a:pPr>
              <a:lnSpc>
                <a:spcPct val="107000"/>
              </a:lnSpc>
              <a:spcAft>
                <a:spcPts val="800"/>
              </a:spcAft>
            </a:pPr>
            <a:r>
              <a:rPr lang="en-US" sz="1000" kern="100">
                <a:effectLst/>
                <a:latin typeface="Lato"/>
                <a:ea typeface="Calibri" panose="020F0502020204030204" pitchFamily="34" charset="0"/>
                <a:cs typeface="Times New Roman"/>
              </a:rPr>
              <a:t>Module III: </a:t>
            </a:r>
            <a:r>
              <a:rPr lang="en-US" sz="1000" kern="100">
                <a:latin typeface="Lato"/>
                <a:ea typeface="Calibri" panose="020F0502020204030204" pitchFamily="34" charset="0"/>
                <a:cs typeface="Times New Roman"/>
              </a:rPr>
              <a:t>Build Your Character</a:t>
            </a:r>
            <a:endParaRPr lang="en-US" sz="1000" kern="100">
              <a:effectLst/>
              <a:latin typeface="Lato"/>
              <a:ea typeface="Calibri" panose="020F0502020204030204" pitchFamily="34" charset="0"/>
              <a:cs typeface="Times New Roman"/>
            </a:endParaRPr>
          </a:p>
          <a:p>
            <a:pPr marL="0" marR="0">
              <a:lnSpc>
                <a:spcPct val="107000"/>
              </a:lnSpc>
              <a:spcBef>
                <a:spcPts val="0"/>
              </a:spcBef>
              <a:spcAft>
                <a:spcPts val="800"/>
              </a:spcAft>
            </a:pPr>
            <a:r>
              <a:rPr lang="en-US" sz="1000" kern="100" dirty="0">
                <a:effectLst/>
                <a:latin typeface="Lato" panose="020F0502020204030203" pitchFamily="34" charset="0"/>
                <a:ea typeface="Calibri" panose="020F0502020204030204" pitchFamily="34" charset="0"/>
                <a:cs typeface="Times New Roman" panose="02020603050405020304" pitchFamily="18" charset="0"/>
              </a:rPr>
              <a:t>The first two modules focus on self-awareness and understanding the behaviors that comprise good character. In this third module, learners will explore tools to help build their character and to promote good character when communicating with others. </a:t>
            </a:r>
          </a:p>
        </p:txBody>
      </p:sp>
      <p:sp>
        <p:nvSpPr>
          <p:cNvPr id="2" name="Rectangle 1">
            <a:extLst>
              <a:ext uri="{FF2B5EF4-FFF2-40B4-BE49-F238E27FC236}">
                <a16:creationId xmlns:a16="http://schemas.microsoft.com/office/drawing/2014/main" id="{027A1EB1-9505-ACD8-0FA5-9E4723A81F65}"/>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282DD78-EF9C-D0B9-07B3-9DBA259F4456}"/>
              </a:ext>
            </a:extLst>
          </p:cNvPr>
          <p:cNvSpPr txBox="1"/>
          <p:nvPr/>
        </p:nvSpPr>
        <p:spPr>
          <a:xfrm>
            <a:off x="239784" y="4849257"/>
            <a:ext cx="524503"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3</a:t>
            </a:r>
          </a:p>
        </p:txBody>
      </p:sp>
      <p:sp>
        <p:nvSpPr>
          <p:cNvPr id="4" name="Rectangle 3">
            <a:extLst>
              <a:ext uri="{FF2B5EF4-FFF2-40B4-BE49-F238E27FC236}">
                <a16:creationId xmlns:a16="http://schemas.microsoft.com/office/drawing/2014/main" id="{A8BB3819-5B8C-C732-637A-095AB8C9EF85}"/>
              </a:ext>
            </a:extLst>
          </p:cNvPr>
          <p:cNvSpPr/>
          <p:nvPr/>
        </p:nvSpPr>
        <p:spPr>
          <a:xfrm>
            <a:off x="7803444" y="4849257"/>
            <a:ext cx="1266215"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a:extLst>
              <a:ext uri="{FF2B5EF4-FFF2-40B4-BE49-F238E27FC236}">
                <a16:creationId xmlns:a16="http://schemas.microsoft.com/office/drawing/2014/main" id="{8212762E-88E6-AEC0-C5E3-6693026CFE26}"/>
              </a:ext>
            </a:extLst>
          </p:cNvPr>
          <p:cNvSpPr/>
          <p:nvPr/>
        </p:nvSpPr>
        <p:spPr>
          <a:xfrm>
            <a:off x="502034" y="1545158"/>
            <a:ext cx="8344599" cy="3220125"/>
          </a:xfrm>
          <a:prstGeom prst="roundRect">
            <a:avLst>
              <a:gd name="adj" fmla="val 3878"/>
            </a:avLst>
          </a:prstGeom>
          <a:noFill/>
          <a:ln w="6350">
            <a:solidFill>
              <a:srgbClr val="A9AEAF"/>
            </a:solidFill>
            <a:miter lim="400000"/>
          </a:ln>
        </p:spPr>
        <p:txBody>
          <a:bodyPr lIns="0" tIns="0" rIns="0" bIns="0" anchor="ctr"/>
          <a:lstStyle/>
          <a:p>
            <a:endParaRPr sz="900" dirty="0"/>
          </a:p>
        </p:txBody>
      </p:sp>
      <p:sp>
        <p:nvSpPr>
          <p:cNvPr id="6" name="Shape">
            <a:extLst>
              <a:ext uri="{FF2B5EF4-FFF2-40B4-BE49-F238E27FC236}">
                <a16:creationId xmlns:a16="http://schemas.microsoft.com/office/drawing/2014/main" id="{3543BFAF-8E95-F048-CE9E-35C08B4E0762}"/>
              </a:ext>
            </a:extLst>
          </p:cNvPr>
          <p:cNvSpPr/>
          <p:nvPr/>
        </p:nvSpPr>
        <p:spPr>
          <a:xfrm>
            <a:off x="503685" y="1526427"/>
            <a:ext cx="1358604" cy="239524"/>
          </a:xfrm>
          <a:custGeom>
            <a:avLst/>
            <a:gdLst/>
            <a:ahLst/>
            <a:cxnLst>
              <a:cxn ang="0">
                <a:pos x="wd2" y="hd2"/>
              </a:cxn>
              <a:cxn ang="5400000">
                <a:pos x="wd2" y="hd2"/>
              </a:cxn>
              <a:cxn ang="10800000">
                <a:pos x="wd2" y="hd2"/>
              </a:cxn>
              <a:cxn ang="16200000">
                <a:pos x="wd2" y="hd2"/>
              </a:cxn>
            </a:cxnLst>
            <a:rect l="0" t="0" r="r" b="b"/>
            <a:pathLst>
              <a:path w="21600" h="21600" extrusionOk="0">
                <a:moveTo>
                  <a:pt x="1281" y="0"/>
                </a:moveTo>
                <a:cubicBezTo>
                  <a:pt x="905" y="0"/>
                  <a:pt x="679" y="0"/>
                  <a:pt x="529" y="177"/>
                </a:cubicBezTo>
                <a:cubicBezTo>
                  <a:pt x="312" y="399"/>
                  <a:pt x="142" y="878"/>
                  <a:pt x="63" y="1488"/>
                </a:cubicBezTo>
                <a:cubicBezTo>
                  <a:pt x="0" y="1911"/>
                  <a:pt x="0" y="2547"/>
                  <a:pt x="0" y="3604"/>
                </a:cubicBezTo>
                <a:lnTo>
                  <a:pt x="0" y="21600"/>
                </a:lnTo>
                <a:lnTo>
                  <a:pt x="21600" y="21600"/>
                </a:lnTo>
                <a:lnTo>
                  <a:pt x="21600" y="3604"/>
                </a:lnTo>
                <a:cubicBezTo>
                  <a:pt x="21600" y="2547"/>
                  <a:pt x="21600" y="1911"/>
                  <a:pt x="21537" y="1488"/>
                </a:cubicBezTo>
                <a:cubicBezTo>
                  <a:pt x="21458" y="878"/>
                  <a:pt x="21288" y="399"/>
                  <a:pt x="21071" y="177"/>
                </a:cubicBezTo>
                <a:cubicBezTo>
                  <a:pt x="20921" y="0"/>
                  <a:pt x="20695" y="0"/>
                  <a:pt x="20319" y="0"/>
                </a:cubicBezTo>
                <a:lnTo>
                  <a:pt x="1281" y="0"/>
                </a:lnTo>
                <a:close/>
              </a:path>
            </a:pathLst>
          </a:custGeom>
          <a:solidFill>
            <a:schemeClr val="accent6"/>
          </a:solidFill>
          <a:ln w="12700">
            <a:miter lim="400000"/>
          </a:ln>
        </p:spPr>
        <p:txBody>
          <a:bodyPr lIns="0" tIns="0" rIns="0" bIns="0" anchor="ctr"/>
          <a:lstStyle/>
          <a:p>
            <a:endParaRPr sz="900"/>
          </a:p>
        </p:txBody>
      </p:sp>
      <p:sp>
        <p:nvSpPr>
          <p:cNvPr id="8" name="TextBox 7">
            <a:extLst>
              <a:ext uri="{FF2B5EF4-FFF2-40B4-BE49-F238E27FC236}">
                <a16:creationId xmlns:a16="http://schemas.microsoft.com/office/drawing/2014/main" id="{EF1A995D-C79A-224C-4943-53DE9D266655}"/>
              </a:ext>
            </a:extLst>
          </p:cNvPr>
          <p:cNvSpPr txBox="1"/>
          <p:nvPr/>
        </p:nvSpPr>
        <p:spPr>
          <a:xfrm>
            <a:off x="764287" y="1510372"/>
            <a:ext cx="4572000" cy="276999"/>
          </a:xfrm>
          <a:prstGeom prst="rect">
            <a:avLst/>
          </a:prstGeom>
          <a:noFill/>
        </p:spPr>
        <p:txBody>
          <a:bodyPr wrap="square">
            <a:spAutoFit/>
          </a:bodyPr>
          <a:lstStyle/>
          <a:p>
            <a:r>
              <a:rPr lang="en-US" sz="1200" dirty="0">
                <a:solidFill>
                  <a:schemeClr val="bg1"/>
                </a:solidFill>
                <a:latin typeface="Lato" panose="020F0502020204030203" pitchFamily="34" charset="0"/>
              </a:rPr>
              <a:t>Character</a:t>
            </a:r>
          </a:p>
        </p:txBody>
      </p:sp>
    </p:spTree>
    <p:extLst>
      <p:ext uri="{BB962C8B-B14F-4D97-AF65-F5344CB8AC3E}">
        <p14:creationId xmlns:p14="http://schemas.microsoft.com/office/powerpoint/2010/main" val="1230878493"/>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F8CDB9F-4F35-2DE2-E2D3-009F3EC48931}"/>
              </a:ext>
            </a:extLst>
          </p:cNvPr>
          <p:cNvPicPr>
            <a:picLocks noChangeAspect="1"/>
          </p:cNvPicPr>
          <p:nvPr/>
        </p:nvPicPr>
        <p:blipFill rotWithShape="1">
          <a:blip r:embed="rId3"/>
          <a:srcRect l="5689" t="1289" r="16505" b="1191"/>
          <a:stretch/>
        </p:blipFill>
        <p:spPr>
          <a:xfrm>
            <a:off x="-16194" y="-260"/>
            <a:ext cx="204988" cy="5138528"/>
          </a:xfrm>
          <a:prstGeom prst="rect">
            <a:avLst/>
          </a:prstGeom>
        </p:spPr>
      </p:pic>
      <p:sp>
        <p:nvSpPr>
          <p:cNvPr id="4" name="Rectangle 3">
            <a:extLst>
              <a:ext uri="{FF2B5EF4-FFF2-40B4-BE49-F238E27FC236}">
                <a16:creationId xmlns:a16="http://schemas.microsoft.com/office/drawing/2014/main" id="{174F2F1F-3277-4C89-961E-3BEBAF06C7C6}"/>
              </a:ext>
            </a:extLst>
          </p:cNvPr>
          <p:cNvSpPr/>
          <p:nvPr/>
        </p:nvSpPr>
        <p:spPr>
          <a:xfrm>
            <a:off x="6299200" y="4771390"/>
            <a:ext cx="2753360" cy="2781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9E2ACF75-6929-8354-1AE9-8066B7C41B8B}"/>
              </a:ext>
            </a:extLst>
          </p:cNvPr>
          <p:cNvPicPr>
            <a:picLocks noChangeAspect="1"/>
          </p:cNvPicPr>
          <p:nvPr/>
        </p:nvPicPr>
        <p:blipFill>
          <a:blip r:embed="rId4"/>
          <a:stretch>
            <a:fillRect/>
          </a:stretch>
        </p:blipFill>
        <p:spPr>
          <a:xfrm>
            <a:off x="829102" y="262974"/>
            <a:ext cx="7808686" cy="4356293"/>
          </a:xfrm>
          <a:prstGeom prst="rect">
            <a:avLst/>
          </a:prstGeom>
        </p:spPr>
      </p:pic>
      <p:sp>
        <p:nvSpPr>
          <p:cNvPr id="3" name="Rectangle 2">
            <a:extLst>
              <a:ext uri="{FF2B5EF4-FFF2-40B4-BE49-F238E27FC236}">
                <a16:creationId xmlns:a16="http://schemas.microsoft.com/office/drawing/2014/main" id="{E824703A-1A5A-801E-CD40-DBEDB0129622}"/>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6173225-ADE2-591C-A2AB-F553B0C3971A}"/>
              </a:ext>
            </a:extLst>
          </p:cNvPr>
          <p:cNvSpPr txBox="1"/>
          <p:nvPr/>
        </p:nvSpPr>
        <p:spPr>
          <a:xfrm>
            <a:off x="239784" y="4849257"/>
            <a:ext cx="524503"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4</a:t>
            </a:r>
          </a:p>
        </p:txBody>
      </p:sp>
    </p:spTree>
    <p:extLst>
      <p:ext uri="{BB962C8B-B14F-4D97-AF65-F5344CB8AC3E}">
        <p14:creationId xmlns:p14="http://schemas.microsoft.com/office/powerpoint/2010/main" val="3210545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9CE7B51-3779-BA79-5C4F-BDC34ABEBCEC}"/>
              </a:ext>
            </a:extLst>
          </p:cNvPr>
          <p:cNvSpPr/>
          <p:nvPr/>
        </p:nvSpPr>
        <p:spPr>
          <a:xfrm>
            <a:off x="3454400" y="0"/>
            <a:ext cx="5680075" cy="51435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lose up of a logo&#10;&#10;Description automatically generated">
            <a:extLst>
              <a:ext uri="{FF2B5EF4-FFF2-40B4-BE49-F238E27FC236}">
                <a16:creationId xmlns:a16="http://schemas.microsoft.com/office/drawing/2014/main" id="{26B0CC66-34D2-15DC-93CB-8FF1AA7F0C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0" y="0"/>
            <a:ext cx="7315200" cy="5143500"/>
          </a:xfrm>
          <a:prstGeom prst="rect">
            <a:avLst/>
          </a:prstGeom>
        </p:spPr>
      </p:pic>
      <p:pic>
        <p:nvPicPr>
          <p:cNvPr id="7" name="Picture 6" descr="A picture containing text, sign, clipart&#10;&#10;Description automatically generated">
            <a:extLst>
              <a:ext uri="{FF2B5EF4-FFF2-40B4-BE49-F238E27FC236}">
                <a16:creationId xmlns:a16="http://schemas.microsoft.com/office/drawing/2014/main" id="{C012A189-B78D-2A5D-72B0-2C122BBDCC37}"/>
              </a:ext>
            </a:extLst>
          </p:cNvPr>
          <p:cNvPicPr>
            <a:picLocks noChangeAspect="1"/>
          </p:cNvPicPr>
          <p:nvPr/>
        </p:nvPicPr>
        <p:blipFill rotWithShape="1">
          <a:blip r:embed="rId4">
            <a:extLst>
              <a:ext uri="{28A0092B-C50C-407E-A947-70E740481C1C}">
                <a14:useLocalDpi xmlns:a14="http://schemas.microsoft.com/office/drawing/2010/main" val="0"/>
              </a:ext>
            </a:extLst>
          </a:blip>
          <a:srcRect b="15817"/>
          <a:stretch/>
        </p:blipFill>
        <p:spPr>
          <a:xfrm>
            <a:off x="424207" y="178174"/>
            <a:ext cx="1170741" cy="167459"/>
          </a:xfrm>
          <a:prstGeom prst="rect">
            <a:avLst/>
          </a:prstGeom>
        </p:spPr>
      </p:pic>
      <p:sp>
        <p:nvSpPr>
          <p:cNvPr id="6" name="Title 8">
            <a:extLst>
              <a:ext uri="{FF2B5EF4-FFF2-40B4-BE49-F238E27FC236}">
                <a16:creationId xmlns:a16="http://schemas.microsoft.com/office/drawing/2014/main" id="{45018739-8A55-4703-8F78-71C94AAD3E40}"/>
              </a:ext>
            </a:extLst>
          </p:cNvPr>
          <p:cNvSpPr txBox="1">
            <a:spLocks/>
          </p:cNvSpPr>
          <p:nvPr/>
        </p:nvSpPr>
        <p:spPr>
          <a:xfrm>
            <a:off x="682783" y="1663831"/>
            <a:ext cx="3642452" cy="653808"/>
          </a:xfrm>
          <a:prstGeom prst="rect">
            <a:avLst/>
          </a:prstGeom>
        </p:spPr>
        <p:txBody>
          <a:bodyPr vert="horz" lIns="0" tIns="0" rIns="0" bIns="0" rtlCol="0" anchor="b" anchorCtr="0">
            <a:normAutofit/>
          </a:bodyPr>
          <a:lstStyle>
            <a:lvl1pPr algn="l" defTabSz="685800" rtl="0" eaLnBrk="1" latinLnBrk="0" hangingPunct="1">
              <a:lnSpc>
                <a:spcPct val="90000"/>
              </a:lnSpc>
              <a:spcBef>
                <a:spcPct val="0"/>
              </a:spcBef>
              <a:buNone/>
              <a:defRPr sz="2800" kern="1200">
                <a:solidFill>
                  <a:srgbClr val="232526"/>
                </a:solidFill>
                <a:latin typeface="Lato" panose="020F0502020204030203" pitchFamily="34" charset="0"/>
                <a:ea typeface="Lato" panose="020F0502020204030203" pitchFamily="34" charset="0"/>
                <a:cs typeface="Lato" panose="020F0502020204030203" pitchFamily="34" charset="0"/>
              </a:defRPr>
            </a:lvl1pPr>
          </a:lstStyle>
          <a:p>
            <a:r>
              <a:rPr lang="en-US" sz="2000" dirty="0"/>
              <a:t>Pillars of Character: </a:t>
            </a:r>
            <a:r>
              <a:rPr lang="en-US" sz="2000" dirty="0">
                <a:latin typeface="Lato"/>
                <a:ea typeface="Lato"/>
                <a:cs typeface="Lato"/>
              </a:rPr>
              <a:t>Objective</a:t>
            </a:r>
            <a:br>
              <a:rPr lang="en-US" sz="2000" dirty="0">
                <a:latin typeface="Lato"/>
                <a:ea typeface="Lato"/>
                <a:cs typeface="Lato"/>
              </a:rPr>
            </a:br>
            <a:endParaRPr lang="en-US" sz="2000" dirty="0"/>
          </a:p>
        </p:txBody>
      </p:sp>
      <p:sp>
        <p:nvSpPr>
          <p:cNvPr id="8" name="TextBox 7">
            <a:extLst>
              <a:ext uri="{FF2B5EF4-FFF2-40B4-BE49-F238E27FC236}">
                <a16:creationId xmlns:a16="http://schemas.microsoft.com/office/drawing/2014/main" id="{0E0B73F8-1825-5D6E-7FDE-26C0A19AA559}"/>
              </a:ext>
            </a:extLst>
          </p:cNvPr>
          <p:cNvSpPr txBox="1"/>
          <p:nvPr/>
        </p:nvSpPr>
        <p:spPr>
          <a:xfrm>
            <a:off x="682783" y="2217386"/>
            <a:ext cx="3935399"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defTabSz="685800">
              <a:buFont typeface="Arial"/>
              <a:buChar char="•"/>
            </a:pPr>
            <a:r>
              <a:rPr lang="en-US" sz="1400" dirty="0">
                <a:solidFill>
                  <a:schemeClr val="accent6"/>
                </a:solidFill>
                <a:latin typeface="Lato"/>
                <a:ea typeface="Lato Medium"/>
                <a:cs typeface="Lato Medium"/>
              </a:rPr>
              <a:t>Learn and demonstrate behaviors that reflect pillars of character</a:t>
            </a:r>
          </a:p>
          <a:p>
            <a:pPr marL="285750" indent="-285750" defTabSz="685800">
              <a:buFont typeface="Arial"/>
              <a:buChar char="•"/>
            </a:pPr>
            <a:endParaRPr lang="en-US" sz="1400" dirty="0">
              <a:solidFill>
                <a:schemeClr val="accent6"/>
              </a:solidFill>
              <a:latin typeface="Lato" panose="020F0502020204030203" pitchFamily="34" charset="0"/>
              <a:ea typeface="Lato Medium"/>
              <a:cs typeface="Lato Medium"/>
            </a:endParaRPr>
          </a:p>
          <a:p>
            <a:pPr defTabSz="685800"/>
            <a:endParaRPr lang="en-US" sz="1400" dirty="0">
              <a:solidFill>
                <a:schemeClr val="accent6"/>
              </a:solidFill>
              <a:latin typeface="Lato" panose="020F0502020204030203" pitchFamily="34" charset="0"/>
              <a:ea typeface="Lato Medium"/>
              <a:cs typeface="Lato Medium"/>
            </a:endParaRPr>
          </a:p>
        </p:txBody>
      </p:sp>
      <p:pic>
        <p:nvPicPr>
          <p:cNvPr id="3074" name="Picture 2" descr="10 Tips To Help Your Employees Set Better Professional Goals In 2021">
            <a:extLst>
              <a:ext uri="{FF2B5EF4-FFF2-40B4-BE49-F238E27FC236}">
                <a16:creationId xmlns:a16="http://schemas.microsoft.com/office/drawing/2014/main" id="{DE529BCE-6501-2F90-3683-77D8B153485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62550" r="13606"/>
          <a:stretch/>
        </p:blipFill>
        <p:spPr bwMode="auto">
          <a:xfrm>
            <a:off x="6640946" y="0"/>
            <a:ext cx="2493530" cy="51435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BE01A230-5DB8-46D3-2916-D7221431F99A}"/>
              </a:ext>
            </a:extLst>
          </p:cNvPr>
          <p:cNvPicPr>
            <a:picLocks noChangeAspect="1"/>
          </p:cNvPicPr>
          <p:nvPr/>
        </p:nvPicPr>
        <p:blipFill>
          <a:blip r:embed="rId6"/>
          <a:stretch>
            <a:fillRect/>
          </a:stretch>
        </p:blipFill>
        <p:spPr>
          <a:xfrm>
            <a:off x="8051504" y="4242246"/>
            <a:ext cx="901996" cy="750258"/>
          </a:xfrm>
          <a:prstGeom prst="rect">
            <a:avLst/>
          </a:prstGeom>
        </p:spPr>
      </p:pic>
      <p:sp>
        <p:nvSpPr>
          <p:cNvPr id="3" name="Rectangle 2">
            <a:extLst>
              <a:ext uri="{FF2B5EF4-FFF2-40B4-BE49-F238E27FC236}">
                <a16:creationId xmlns:a16="http://schemas.microsoft.com/office/drawing/2014/main" id="{3561C743-E9AB-064F-7886-9F2ABD15E285}"/>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EF47087-850A-8BA3-87BA-97CDDAFEC60B}"/>
              </a:ext>
            </a:extLst>
          </p:cNvPr>
          <p:cNvSpPr txBox="1"/>
          <p:nvPr/>
        </p:nvSpPr>
        <p:spPr>
          <a:xfrm>
            <a:off x="239784" y="4849257"/>
            <a:ext cx="524503"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5</a:t>
            </a:r>
          </a:p>
        </p:txBody>
      </p:sp>
      <p:sp>
        <p:nvSpPr>
          <p:cNvPr id="10" name="Title 8">
            <a:extLst>
              <a:ext uri="{FF2B5EF4-FFF2-40B4-BE49-F238E27FC236}">
                <a16:creationId xmlns:a16="http://schemas.microsoft.com/office/drawing/2014/main" id="{1A15985E-C6B8-17D6-1586-65FFF78DDBB7}"/>
              </a:ext>
            </a:extLst>
          </p:cNvPr>
          <p:cNvSpPr txBox="1">
            <a:spLocks/>
          </p:cNvSpPr>
          <p:nvPr/>
        </p:nvSpPr>
        <p:spPr>
          <a:xfrm>
            <a:off x="720407" y="1166394"/>
            <a:ext cx="1202845" cy="516143"/>
          </a:xfrm>
          <a:prstGeom prst="rect">
            <a:avLst/>
          </a:prstGeom>
        </p:spPr>
        <p:txBody>
          <a:bodyPr vert="horz" lIns="0" tIns="0" rIns="0" bIns="0" rtlCol="0" anchor="b" anchorCtr="0">
            <a:normAutofit/>
          </a:bodyPr>
          <a:lstStyle>
            <a:lvl1pPr algn="l" defTabSz="685800" rtl="0" eaLnBrk="1" latinLnBrk="0" hangingPunct="1">
              <a:lnSpc>
                <a:spcPct val="90000"/>
              </a:lnSpc>
              <a:spcBef>
                <a:spcPct val="0"/>
              </a:spcBef>
              <a:buNone/>
              <a:defRPr sz="2800" kern="1200">
                <a:solidFill>
                  <a:srgbClr val="232526"/>
                </a:solidFill>
                <a:latin typeface="Lato" panose="020F0502020204030203" pitchFamily="34" charset="0"/>
                <a:ea typeface="Lato" panose="020F0502020204030203" pitchFamily="34" charset="0"/>
                <a:cs typeface="Lato" panose="020F0502020204030203" pitchFamily="34" charset="0"/>
              </a:defRPr>
            </a:lvl1pPr>
          </a:lstStyle>
          <a:p>
            <a:pPr defTabSz="914377"/>
            <a:r>
              <a:rPr lang="en-US" sz="1600" dirty="0">
                <a:solidFill>
                  <a:srgbClr val="4D5456">
                    <a:lumMod val="75000"/>
                  </a:srgbClr>
                </a:solidFill>
              </a:rPr>
              <a:t>Module II</a:t>
            </a:r>
          </a:p>
        </p:txBody>
      </p:sp>
    </p:spTree>
    <p:extLst>
      <p:ext uri="{BB962C8B-B14F-4D97-AF65-F5344CB8AC3E}">
        <p14:creationId xmlns:p14="http://schemas.microsoft.com/office/powerpoint/2010/main" val="3594769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9D5FF91-5F72-4CEC-5BA0-48DD6E63F34E}"/>
              </a:ext>
            </a:extLst>
          </p:cNvPr>
          <p:cNvSpPr/>
          <p:nvPr/>
        </p:nvSpPr>
        <p:spPr>
          <a:xfrm>
            <a:off x="473242" y="200526"/>
            <a:ext cx="1437429" cy="3769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00B68FC9-7ECA-A14E-F763-AB40CB7860E4}"/>
              </a:ext>
            </a:extLst>
          </p:cNvPr>
          <p:cNvSpPr/>
          <p:nvPr/>
        </p:nvSpPr>
        <p:spPr>
          <a:xfrm>
            <a:off x="3481137" y="0"/>
            <a:ext cx="5662863"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lose up of a logo&#10;&#10;Description automatically generated">
            <a:extLst>
              <a:ext uri="{FF2B5EF4-FFF2-40B4-BE49-F238E27FC236}">
                <a16:creationId xmlns:a16="http://schemas.microsoft.com/office/drawing/2014/main" id="{BC403EB1-0A71-2ADE-8E9F-0480F2CFAE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0" y="0"/>
            <a:ext cx="7315200" cy="5143500"/>
          </a:xfrm>
          <a:prstGeom prst="rect">
            <a:avLst/>
          </a:prstGeom>
        </p:spPr>
      </p:pic>
      <p:pic>
        <p:nvPicPr>
          <p:cNvPr id="7" name="Picture 6" descr="A picture containing text, sign, clipart&#10;&#10;Description automatically generated">
            <a:extLst>
              <a:ext uri="{FF2B5EF4-FFF2-40B4-BE49-F238E27FC236}">
                <a16:creationId xmlns:a16="http://schemas.microsoft.com/office/drawing/2014/main" id="{C012A189-B78D-2A5D-72B0-2C122BBDCC37}"/>
              </a:ext>
            </a:extLst>
          </p:cNvPr>
          <p:cNvPicPr>
            <a:picLocks noChangeAspect="1"/>
          </p:cNvPicPr>
          <p:nvPr/>
        </p:nvPicPr>
        <p:blipFill rotWithShape="1">
          <a:blip r:embed="rId4">
            <a:extLst>
              <a:ext uri="{28A0092B-C50C-407E-A947-70E740481C1C}">
                <a14:useLocalDpi xmlns:a14="http://schemas.microsoft.com/office/drawing/2010/main" val="0"/>
              </a:ext>
            </a:extLst>
          </a:blip>
          <a:srcRect b="15817"/>
          <a:stretch/>
        </p:blipFill>
        <p:spPr>
          <a:xfrm>
            <a:off x="424207" y="178174"/>
            <a:ext cx="1170741" cy="167459"/>
          </a:xfrm>
          <a:prstGeom prst="rect">
            <a:avLst/>
          </a:prstGeom>
        </p:spPr>
      </p:pic>
      <p:sp>
        <p:nvSpPr>
          <p:cNvPr id="16" name="Title 1">
            <a:extLst>
              <a:ext uri="{FF2B5EF4-FFF2-40B4-BE49-F238E27FC236}">
                <a16:creationId xmlns:a16="http://schemas.microsoft.com/office/drawing/2014/main" id="{087945C6-0B3E-9FB0-1693-E156CB6A0B20}"/>
              </a:ext>
            </a:extLst>
          </p:cNvPr>
          <p:cNvSpPr txBox="1">
            <a:spLocks/>
          </p:cNvSpPr>
          <p:nvPr/>
        </p:nvSpPr>
        <p:spPr>
          <a:xfrm>
            <a:off x="3464127" y="513536"/>
            <a:ext cx="8181216" cy="653808"/>
          </a:xfrm>
          <a:prstGeom prst="rect">
            <a:avLst/>
          </a:prstGeom>
        </p:spPr>
        <p:txBody>
          <a:bodyPr vert="horz" lIns="0" tIns="0" rIns="0" bIns="0" rtlCol="0" anchor="b" anchorCtr="0">
            <a:normAutofit/>
          </a:bodyPr>
          <a:lstStyle>
            <a:lvl1pPr algn="l" defTabSz="685800" rtl="0" eaLnBrk="1" latinLnBrk="0" hangingPunct="1">
              <a:lnSpc>
                <a:spcPct val="90000"/>
              </a:lnSpc>
              <a:spcBef>
                <a:spcPct val="0"/>
              </a:spcBef>
              <a:buNone/>
              <a:defRPr sz="2800" kern="1200">
                <a:solidFill>
                  <a:srgbClr val="232526"/>
                </a:solidFill>
                <a:latin typeface="Lato" panose="020F0502020204030203" pitchFamily="34" charset="0"/>
                <a:ea typeface="Lato" panose="020F0502020204030203" pitchFamily="34" charset="0"/>
                <a:cs typeface="Lato" panose="020F0502020204030203" pitchFamily="34" charset="0"/>
              </a:defRPr>
            </a:lvl1pPr>
          </a:lstStyle>
          <a:p>
            <a:r>
              <a:rPr lang="en-US" sz="2000" b="1" dirty="0"/>
              <a:t>Pillars of Character</a:t>
            </a:r>
          </a:p>
        </p:txBody>
      </p:sp>
      <p:sp>
        <p:nvSpPr>
          <p:cNvPr id="17" name="TextBox 16">
            <a:extLst>
              <a:ext uri="{FF2B5EF4-FFF2-40B4-BE49-F238E27FC236}">
                <a16:creationId xmlns:a16="http://schemas.microsoft.com/office/drawing/2014/main" id="{094D8DDC-DEC3-643E-0694-1B1474C783B2}"/>
              </a:ext>
            </a:extLst>
          </p:cNvPr>
          <p:cNvSpPr txBox="1"/>
          <p:nvPr/>
        </p:nvSpPr>
        <p:spPr>
          <a:xfrm>
            <a:off x="763443" y="3245604"/>
            <a:ext cx="1309652" cy="461665"/>
          </a:xfrm>
          <a:prstGeom prst="rect">
            <a:avLst/>
          </a:prstGeom>
          <a:noFill/>
        </p:spPr>
        <p:txBody>
          <a:bodyPr wrap="square" lIns="91440" tIns="45720" rIns="91440" bIns="45720" rtlCol="0" anchor="t">
            <a:spAutoFit/>
          </a:bodyPr>
          <a:lstStyle/>
          <a:p>
            <a:pPr algn="ctr" defTabSz="514350"/>
            <a:r>
              <a:rPr lang="en-US" sz="1200" dirty="0">
                <a:solidFill>
                  <a:srgbClr val="000102"/>
                </a:solidFill>
                <a:latin typeface="Lato"/>
                <a:ea typeface="Lato Medium"/>
                <a:cs typeface="Lato Medium"/>
              </a:rPr>
              <a:t>Inclusion</a:t>
            </a:r>
          </a:p>
          <a:p>
            <a:pPr algn="ctr" defTabSz="514350"/>
            <a:r>
              <a:rPr lang="en-US" sz="1200" dirty="0">
                <a:solidFill>
                  <a:srgbClr val="000102"/>
                </a:solidFill>
                <a:latin typeface="Lato"/>
                <a:ea typeface="Lato Medium"/>
                <a:cs typeface="Lato Medium"/>
              </a:rPr>
              <a:t>&amp; Diversity</a:t>
            </a:r>
            <a:endParaRPr lang="en-US" sz="1200" dirty="0">
              <a:solidFill>
                <a:srgbClr val="000102"/>
              </a:solidFill>
              <a:latin typeface="Lato" panose="020F0502020204030203" pitchFamily="34" charset="77"/>
              <a:ea typeface="Lato Medium" panose="020F0502020204030203" pitchFamily="34" charset="0"/>
              <a:cs typeface="Lato Medium" panose="020F0502020204030203" pitchFamily="34" charset="0"/>
            </a:endParaRPr>
          </a:p>
        </p:txBody>
      </p:sp>
      <p:sp>
        <p:nvSpPr>
          <p:cNvPr id="18" name="TextBox 17">
            <a:extLst>
              <a:ext uri="{FF2B5EF4-FFF2-40B4-BE49-F238E27FC236}">
                <a16:creationId xmlns:a16="http://schemas.microsoft.com/office/drawing/2014/main" id="{3226A74D-0738-94B2-B2D1-5703A05EF9CA}"/>
              </a:ext>
            </a:extLst>
          </p:cNvPr>
          <p:cNvSpPr txBox="1"/>
          <p:nvPr/>
        </p:nvSpPr>
        <p:spPr>
          <a:xfrm>
            <a:off x="2826311" y="3283753"/>
            <a:ext cx="1309652" cy="276999"/>
          </a:xfrm>
          <a:prstGeom prst="rect">
            <a:avLst/>
          </a:prstGeom>
          <a:noFill/>
        </p:spPr>
        <p:txBody>
          <a:bodyPr wrap="square" rtlCol="0">
            <a:spAutoFit/>
          </a:bodyPr>
          <a:lstStyle/>
          <a:p>
            <a:pPr algn="ctr" defTabSz="514350"/>
            <a:r>
              <a:rPr lang="en-US" sz="1200" dirty="0">
                <a:solidFill>
                  <a:srgbClr val="000102"/>
                </a:solidFill>
                <a:latin typeface="Lato" panose="020F0502020204030203" pitchFamily="34" charset="77"/>
                <a:ea typeface="Lato Medium" panose="020F0502020204030203" pitchFamily="34" charset="0"/>
                <a:cs typeface="Lato Medium" panose="020F0502020204030203" pitchFamily="34" charset="0"/>
              </a:rPr>
              <a:t>Trustworthiness</a:t>
            </a:r>
          </a:p>
        </p:txBody>
      </p:sp>
      <p:sp>
        <p:nvSpPr>
          <p:cNvPr id="19" name="TextBox 18">
            <a:extLst>
              <a:ext uri="{FF2B5EF4-FFF2-40B4-BE49-F238E27FC236}">
                <a16:creationId xmlns:a16="http://schemas.microsoft.com/office/drawing/2014/main" id="{34968BEB-1D81-FABE-AD41-6A52EE92D246}"/>
              </a:ext>
            </a:extLst>
          </p:cNvPr>
          <p:cNvSpPr txBox="1"/>
          <p:nvPr/>
        </p:nvSpPr>
        <p:spPr>
          <a:xfrm>
            <a:off x="5008039" y="3291287"/>
            <a:ext cx="1309652" cy="276999"/>
          </a:xfrm>
          <a:prstGeom prst="rect">
            <a:avLst/>
          </a:prstGeom>
          <a:noFill/>
        </p:spPr>
        <p:txBody>
          <a:bodyPr wrap="square" rtlCol="0">
            <a:spAutoFit/>
          </a:bodyPr>
          <a:lstStyle/>
          <a:p>
            <a:pPr algn="ctr" defTabSz="514350"/>
            <a:r>
              <a:rPr lang="en-US" sz="1200" dirty="0">
                <a:solidFill>
                  <a:srgbClr val="000102"/>
                </a:solidFill>
                <a:latin typeface="Lato" panose="020F0502020204030203" pitchFamily="34" charset="77"/>
                <a:ea typeface="Lato Medium" panose="020F0502020204030203" pitchFamily="34" charset="0"/>
                <a:cs typeface="Lato Medium" panose="020F0502020204030203" pitchFamily="34" charset="0"/>
              </a:rPr>
              <a:t>Respect</a:t>
            </a:r>
          </a:p>
        </p:txBody>
      </p:sp>
      <p:sp>
        <p:nvSpPr>
          <p:cNvPr id="20" name="TextBox 19">
            <a:extLst>
              <a:ext uri="{FF2B5EF4-FFF2-40B4-BE49-F238E27FC236}">
                <a16:creationId xmlns:a16="http://schemas.microsoft.com/office/drawing/2014/main" id="{9D4880BB-011C-563E-F004-47FD9BD67E8D}"/>
              </a:ext>
            </a:extLst>
          </p:cNvPr>
          <p:cNvSpPr txBox="1"/>
          <p:nvPr/>
        </p:nvSpPr>
        <p:spPr>
          <a:xfrm>
            <a:off x="7095254" y="3283752"/>
            <a:ext cx="1309652" cy="276999"/>
          </a:xfrm>
          <a:prstGeom prst="rect">
            <a:avLst/>
          </a:prstGeom>
          <a:noFill/>
        </p:spPr>
        <p:txBody>
          <a:bodyPr wrap="square" lIns="91440" tIns="45720" rIns="91440" bIns="45720" rtlCol="0" anchor="t">
            <a:spAutoFit/>
          </a:bodyPr>
          <a:lstStyle/>
          <a:p>
            <a:pPr algn="ctr" defTabSz="514350"/>
            <a:r>
              <a:rPr lang="en-US" sz="1200" dirty="0">
                <a:solidFill>
                  <a:srgbClr val="000102"/>
                </a:solidFill>
                <a:latin typeface="Lato"/>
                <a:ea typeface="Lato Medium"/>
                <a:cs typeface="Lato Medium"/>
              </a:rPr>
              <a:t> Integrity</a:t>
            </a:r>
          </a:p>
        </p:txBody>
      </p:sp>
      <p:pic>
        <p:nvPicPr>
          <p:cNvPr id="21" name="Picture 20">
            <a:extLst>
              <a:ext uri="{FF2B5EF4-FFF2-40B4-BE49-F238E27FC236}">
                <a16:creationId xmlns:a16="http://schemas.microsoft.com/office/drawing/2014/main" id="{BCC537F7-889D-64D2-29AF-2FB8E6257D42}"/>
              </a:ext>
            </a:extLst>
          </p:cNvPr>
          <p:cNvPicPr>
            <a:picLocks noChangeAspect="1"/>
          </p:cNvPicPr>
          <p:nvPr/>
        </p:nvPicPr>
        <p:blipFill>
          <a:blip r:embed="rId5"/>
          <a:stretch>
            <a:fillRect/>
          </a:stretch>
        </p:blipFill>
        <p:spPr>
          <a:xfrm>
            <a:off x="8051504" y="4242246"/>
            <a:ext cx="901996" cy="750258"/>
          </a:xfrm>
          <a:prstGeom prst="rect">
            <a:avLst/>
          </a:prstGeom>
          <a:effectLst>
            <a:outerShdw blurRad="50800" dist="38100" dir="2700000" algn="tl" rotWithShape="0">
              <a:prstClr val="black">
                <a:alpha val="40000"/>
              </a:prstClr>
            </a:outerShdw>
          </a:effectLst>
        </p:spPr>
      </p:pic>
      <p:pic>
        <p:nvPicPr>
          <p:cNvPr id="3" name="Picture 2">
            <a:extLst>
              <a:ext uri="{FF2B5EF4-FFF2-40B4-BE49-F238E27FC236}">
                <a16:creationId xmlns:a16="http://schemas.microsoft.com/office/drawing/2014/main" id="{22A98E51-EF3E-9447-C750-FBD0C636A412}"/>
              </a:ext>
            </a:extLst>
          </p:cNvPr>
          <p:cNvPicPr>
            <a:picLocks noChangeAspect="1"/>
          </p:cNvPicPr>
          <p:nvPr/>
        </p:nvPicPr>
        <p:blipFill>
          <a:blip r:embed="rId6"/>
          <a:stretch>
            <a:fillRect/>
          </a:stretch>
        </p:blipFill>
        <p:spPr>
          <a:xfrm>
            <a:off x="569478" y="1497324"/>
            <a:ext cx="8042090" cy="1748280"/>
          </a:xfrm>
          <a:prstGeom prst="rect">
            <a:avLst/>
          </a:prstGeom>
        </p:spPr>
      </p:pic>
      <p:sp>
        <p:nvSpPr>
          <p:cNvPr id="4" name="Rectangle 3">
            <a:extLst>
              <a:ext uri="{FF2B5EF4-FFF2-40B4-BE49-F238E27FC236}">
                <a16:creationId xmlns:a16="http://schemas.microsoft.com/office/drawing/2014/main" id="{EDD304C8-BCB4-5099-C8C5-5C95F3A6B96A}"/>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CA39D7E-1CCC-010D-28AF-B5D6ECABF25A}"/>
              </a:ext>
            </a:extLst>
          </p:cNvPr>
          <p:cNvSpPr txBox="1"/>
          <p:nvPr/>
        </p:nvSpPr>
        <p:spPr>
          <a:xfrm>
            <a:off x="239784" y="4849257"/>
            <a:ext cx="524503"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6</a:t>
            </a:r>
          </a:p>
        </p:txBody>
      </p:sp>
    </p:spTree>
    <p:extLst>
      <p:ext uri="{BB962C8B-B14F-4D97-AF65-F5344CB8AC3E}">
        <p14:creationId xmlns:p14="http://schemas.microsoft.com/office/powerpoint/2010/main" val="2550848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B68FC9-7ECA-A14E-F763-AB40CB7860E4}"/>
              </a:ext>
            </a:extLst>
          </p:cNvPr>
          <p:cNvSpPr/>
          <p:nvPr/>
        </p:nvSpPr>
        <p:spPr>
          <a:xfrm>
            <a:off x="3494567" y="0"/>
            <a:ext cx="5662863"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lose up of a logo&#10;&#10;Description automatically generated">
            <a:extLst>
              <a:ext uri="{FF2B5EF4-FFF2-40B4-BE49-F238E27FC236}">
                <a16:creationId xmlns:a16="http://schemas.microsoft.com/office/drawing/2014/main" id="{AE3AD535-705F-7F99-B20D-A31EFECCEB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0" y="0"/>
            <a:ext cx="7315200" cy="5143500"/>
          </a:xfrm>
          <a:prstGeom prst="rect">
            <a:avLst/>
          </a:prstGeom>
        </p:spPr>
      </p:pic>
      <p:sp>
        <p:nvSpPr>
          <p:cNvPr id="17" name="Oval 16">
            <a:extLst>
              <a:ext uri="{FF2B5EF4-FFF2-40B4-BE49-F238E27FC236}">
                <a16:creationId xmlns:a16="http://schemas.microsoft.com/office/drawing/2014/main" id="{CC813690-3884-5DB1-BBB1-AE05ABF82520}"/>
              </a:ext>
            </a:extLst>
          </p:cNvPr>
          <p:cNvSpPr/>
          <p:nvPr/>
        </p:nvSpPr>
        <p:spPr>
          <a:xfrm>
            <a:off x="4916184" y="631836"/>
            <a:ext cx="845967" cy="845967"/>
          </a:xfrm>
          <a:prstGeom prst="ellipse">
            <a:avLst/>
          </a:prstGeom>
          <a:solidFill>
            <a:srgbClr val="35A6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Oval 15">
            <a:extLst>
              <a:ext uri="{FF2B5EF4-FFF2-40B4-BE49-F238E27FC236}">
                <a16:creationId xmlns:a16="http://schemas.microsoft.com/office/drawing/2014/main" id="{DC329CFE-BE35-538B-85CC-4B1530BDECB8}"/>
              </a:ext>
            </a:extLst>
          </p:cNvPr>
          <p:cNvSpPr/>
          <p:nvPr/>
        </p:nvSpPr>
        <p:spPr>
          <a:xfrm>
            <a:off x="6634370" y="651821"/>
            <a:ext cx="845967" cy="845967"/>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Oval 11">
            <a:extLst>
              <a:ext uri="{FF2B5EF4-FFF2-40B4-BE49-F238E27FC236}">
                <a16:creationId xmlns:a16="http://schemas.microsoft.com/office/drawing/2014/main" id="{F4911906-737F-DCE6-ADC6-05239742C3E8}"/>
              </a:ext>
            </a:extLst>
          </p:cNvPr>
          <p:cNvSpPr/>
          <p:nvPr/>
        </p:nvSpPr>
        <p:spPr>
          <a:xfrm>
            <a:off x="3233145" y="651822"/>
            <a:ext cx="845967" cy="845967"/>
          </a:xfrm>
          <a:prstGeom prst="ellipse">
            <a:avLst/>
          </a:prstGeom>
          <a:solidFill>
            <a:srgbClr val="2478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Oval 10">
            <a:extLst>
              <a:ext uri="{FF2B5EF4-FFF2-40B4-BE49-F238E27FC236}">
                <a16:creationId xmlns:a16="http://schemas.microsoft.com/office/drawing/2014/main" id="{EC2ECBB1-A8CF-2086-899C-2FE8D31E44E0}"/>
              </a:ext>
            </a:extLst>
          </p:cNvPr>
          <p:cNvSpPr/>
          <p:nvPr/>
        </p:nvSpPr>
        <p:spPr>
          <a:xfrm>
            <a:off x="1544853" y="656275"/>
            <a:ext cx="845967" cy="84596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 name="TextBox 2">
            <a:extLst>
              <a:ext uri="{FF2B5EF4-FFF2-40B4-BE49-F238E27FC236}">
                <a16:creationId xmlns:a16="http://schemas.microsoft.com/office/drawing/2014/main" id="{D5ECAA01-3780-A531-82CE-111CE4AC5256}"/>
              </a:ext>
            </a:extLst>
          </p:cNvPr>
          <p:cNvSpPr txBox="1"/>
          <p:nvPr/>
        </p:nvSpPr>
        <p:spPr>
          <a:xfrm>
            <a:off x="2556443" y="2936373"/>
            <a:ext cx="2259863" cy="307777"/>
          </a:xfrm>
          <a:prstGeom prst="rect">
            <a:avLst/>
          </a:prstGeom>
          <a:noFill/>
        </p:spPr>
        <p:txBody>
          <a:bodyPr wrap="square" rtlCol="0">
            <a:spAutoFit/>
          </a:bodyPr>
          <a:lstStyle/>
          <a:p>
            <a:pPr algn="ctr" defTabSz="514350"/>
            <a:r>
              <a:rPr lang="en-US" sz="1400" spc="-150" dirty="0">
                <a:solidFill>
                  <a:schemeClr val="bg1"/>
                </a:solidFill>
                <a:latin typeface="Lato" panose="020F0502020204030203" pitchFamily="34" charset="0"/>
                <a:ea typeface="Lato Medium" panose="020F0502020204030203" pitchFamily="34" charset="0"/>
                <a:cs typeface="Lato Medium" panose="020F0502020204030203" pitchFamily="34" charset="0"/>
              </a:rPr>
              <a:t>C H A R A C T E R</a:t>
            </a:r>
          </a:p>
        </p:txBody>
      </p:sp>
      <p:sp>
        <p:nvSpPr>
          <p:cNvPr id="5" name="Rectangle 4">
            <a:extLst>
              <a:ext uri="{FF2B5EF4-FFF2-40B4-BE49-F238E27FC236}">
                <a16:creationId xmlns:a16="http://schemas.microsoft.com/office/drawing/2014/main" id="{D9D5FF91-5F72-4CEC-5BA0-48DD6E63F34E}"/>
              </a:ext>
            </a:extLst>
          </p:cNvPr>
          <p:cNvSpPr/>
          <p:nvPr/>
        </p:nvSpPr>
        <p:spPr>
          <a:xfrm>
            <a:off x="473242" y="200526"/>
            <a:ext cx="1437429" cy="3769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798CAA76-47A1-F54E-5EEB-6927A9084FE0}"/>
              </a:ext>
            </a:extLst>
          </p:cNvPr>
          <p:cNvPicPr>
            <a:picLocks noChangeAspect="1"/>
          </p:cNvPicPr>
          <p:nvPr/>
        </p:nvPicPr>
        <p:blipFill>
          <a:blip r:embed="rId4"/>
          <a:stretch>
            <a:fillRect/>
          </a:stretch>
        </p:blipFill>
        <p:spPr>
          <a:xfrm>
            <a:off x="8051504" y="4242246"/>
            <a:ext cx="901996" cy="750258"/>
          </a:xfrm>
          <a:prstGeom prst="rect">
            <a:avLst/>
          </a:prstGeom>
        </p:spPr>
      </p:pic>
      <p:pic>
        <p:nvPicPr>
          <p:cNvPr id="7" name="Picture 6" descr="A picture containing text, sign, clipart&#10;&#10;Description automatically generated">
            <a:extLst>
              <a:ext uri="{FF2B5EF4-FFF2-40B4-BE49-F238E27FC236}">
                <a16:creationId xmlns:a16="http://schemas.microsoft.com/office/drawing/2014/main" id="{C012A189-B78D-2A5D-72B0-2C122BBDCC37}"/>
              </a:ext>
            </a:extLst>
          </p:cNvPr>
          <p:cNvPicPr>
            <a:picLocks noChangeAspect="1"/>
          </p:cNvPicPr>
          <p:nvPr/>
        </p:nvPicPr>
        <p:blipFill rotWithShape="1">
          <a:blip r:embed="rId5">
            <a:extLst>
              <a:ext uri="{28A0092B-C50C-407E-A947-70E740481C1C}">
                <a14:useLocalDpi xmlns:a14="http://schemas.microsoft.com/office/drawing/2010/main" val="0"/>
              </a:ext>
            </a:extLst>
          </a:blip>
          <a:srcRect b="15817"/>
          <a:stretch/>
        </p:blipFill>
        <p:spPr>
          <a:xfrm>
            <a:off x="424207" y="178174"/>
            <a:ext cx="1170741" cy="167459"/>
          </a:xfrm>
          <a:prstGeom prst="rect">
            <a:avLst/>
          </a:prstGeom>
        </p:spPr>
      </p:pic>
      <p:sp>
        <p:nvSpPr>
          <p:cNvPr id="9" name="TextBox 8">
            <a:extLst>
              <a:ext uri="{FF2B5EF4-FFF2-40B4-BE49-F238E27FC236}">
                <a16:creationId xmlns:a16="http://schemas.microsoft.com/office/drawing/2014/main" id="{CC7D4D81-D612-277E-0BAF-52215C1AD9B1}"/>
              </a:ext>
            </a:extLst>
          </p:cNvPr>
          <p:cNvSpPr txBox="1"/>
          <p:nvPr/>
        </p:nvSpPr>
        <p:spPr>
          <a:xfrm>
            <a:off x="5056922" y="2086080"/>
            <a:ext cx="184731" cy="300082"/>
          </a:xfrm>
          <a:prstGeom prst="rect">
            <a:avLst/>
          </a:prstGeom>
          <a:noFill/>
        </p:spPr>
        <p:txBody>
          <a:bodyPr wrap="square" rtlCol="0">
            <a:spAutoFit/>
          </a:bodyPr>
          <a:lstStyle/>
          <a:p>
            <a:pPr algn="ctr" defTabSz="514350"/>
            <a:endParaRPr lang="en-US" sz="1350">
              <a:solidFill>
                <a:schemeClr val="accent6"/>
              </a:solidFill>
              <a:latin typeface="Lato Medium" panose="020F0502020204030203" pitchFamily="34" charset="0"/>
              <a:ea typeface="Lato Medium" panose="020F0502020204030203" pitchFamily="34" charset="0"/>
              <a:cs typeface="Lato Medium" panose="020F0502020204030203" pitchFamily="34" charset="0"/>
            </a:endParaRPr>
          </a:p>
        </p:txBody>
      </p:sp>
      <p:sp>
        <p:nvSpPr>
          <p:cNvPr id="10" name="Rectangle 9">
            <a:extLst>
              <a:ext uri="{FF2B5EF4-FFF2-40B4-BE49-F238E27FC236}">
                <a16:creationId xmlns:a16="http://schemas.microsoft.com/office/drawing/2014/main" id="{03AE8AEF-CF80-F968-4910-A3FA37B9663E}"/>
              </a:ext>
            </a:extLst>
          </p:cNvPr>
          <p:cNvSpPr>
            <a:spLocks noChangeArrowheads="1"/>
          </p:cNvSpPr>
          <p:nvPr/>
        </p:nvSpPr>
        <p:spPr bwMode="auto">
          <a:xfrm>
            <a:off x="5232916" y="1715514"/>
            <a:ext cx="65" cy="161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a:endParaRPr lang="ru-RU" altLang="ru-RU" sz="1050">
              <a:solidFill>
                <a:srgbClr val="858888"/>
              </a:solidFill>
            </a:endParaRPr>
          </a:p>
        </p:txBody>
      </p:sp>
      <p:grpSp>
        <p:nvGrpSpPr>
          <p:cNvPr id="30" name="Group 29">
            <a:extLst>
              <a:ext uri="{FF2B5EF4-FFF2-40B4-BE49-F238E27FC236}">
                <a16:creationId xmlns:a16="http://schemas.microsoft.com/office/drawing/2014/main" id="{4E8521EE-52E4-433E-031C-62BBBCC508BD}"/>
              </a:ext>
            </a:extLst>
          </p:cNvPr>
          <p:cNvGrpSpPr/>
          <p:nvPr/>
        </p:nvGrpSpPr>
        <p:grpSpPr>
          <a:xfrm>
            <a:off x="1258235" y="1012036"/>
            <a:ext cx="1447556" cy="3266731"/>
            <a:chOff x="-1435293" y="1070894"/>
            <a:chExt cx="1447556" cy="3266731"/>
          </a:xfrm>
        </p:grpSpPr>
        <p:grpSp>
          <p:nvGrpSpPr>
            <p:cNvPr id="29" name="Group 28">
              <a:extLst>
                <a:ext uri="{FF2B5EF4-FFF2-40B4-BE49-F238E27FC236}">
                  <a16:creationId xmlns:a16="http://schemas.microsoft.com/office/drawing/2014/main" id="{325C86B2-A535-D2BA-633A-7BB92AE9035F}"/>
                </a:ext>
              </a:extLst>
            </p:cNvPr>
            <p:cNvGrpSpPr/>
            <p:nvPr/>
          </p:nvGrpSpPr>
          <p:grpSpPr>
            <a:xfrm>
              <a:off x="-1398648" y="1070894"/>
              <a:ext cx="1355470" cy="3266731"/>
              <a:chOff x="-1398648" y="1070894"/>
              <a:chExt cx="1355470" cy="3266731"/>
            </a:xfrm>
          </p:grpSpPr>
          <p:sp>
            <p:nvSpPr>
              <p:cNvPr id="28" name="Rectangle: Rounded Corners 27">
                <a:extLst>
                  <a:ext uri="{FF2B5EF4-FFF2-40B4-BE49-F238E27FC236}">
                    <a16:creationId xmlns:a16="http://schemas.microsoft.com/office/drawing/2014/main" id="{52988723-305E-99E2-AF46-C99625041428}"/>
                  </a:ext>
                </a:extLst>
              </p:cNvPr>
              <p:cNvSpPr/>
              <p:nvPr/>
            </p:nvSpPr>
            <p:spPr>
              <a:xfrm>
                <a:off x="-1390410" y="1249259"/>
                <a:ext cx="1338345" cy="3088366"/>
              </a:xfrm>
              <a:prstGeom prst="roundRect">
                <a:avLst/>
              </a:prstGeom>
              <a:solidFill>
                <a:schemeClr val="bg1"/>
              </a:solidFill>
              <a:ln>
                <a:solidFill>
                  <a:srgbClr val="1331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extLst>
                  <a:ext uri="{FF2B5EF4-FFF2-40B4-BE49-F238E27FC236}">
                    <a16:creationId xmlns:a16="http://schemas.microsoft.com/office/drawing/2014/main" id="{125ED0DB-B402-613B-C134-C03EFCF60E23}"/>
                  </a:ext>
                </a:extLst>
              </p:cNvPr>
              <p:cNvSpPr/>
              <p:nvPr/>
            </p:nvSpPr>
            <p:spPr>
              <a:xfrm>
                <a:off x="-1398648" y="1070894"/>
                <a:ext cx="1355470" cy="591428"/>
              </a:xfrm>
              <a:custGeom>
                <a:avLst/>
                <a:gdLst/>
                <a:ahLst/>
                <a:cxnLst>
                  <a:cxn ang="0">
                    <a:pos x="wd2" y="hd2"/>
                  </a:cxn>
                  <a:cxn ang="5400000">
                    <a:pos x="wd2" y="hd2"/>
                  </a:cxn>
                  <a:cxn ang="10800000">
                    <a:pos x="wd2" y="hd2"/>
                  </a:cxn>
                  <a:cxn ang="16200000">
                    <a:pos x="wd2" y="hd2"/>
                  </a:cxn>
                </a:cxnLst>
                <a:rect l="0" t="0" r="r" b="b"/>
                <a:pathLst>
                  <a:path w="21600" h="21600" extrusionOk="0">
                    <a:moveTo>
                      <a:pt x="1281" y="0"/>
                    </a:moveTo>
                    <a:cubicBezTo>
                      <a:pt x="905" y="0"/>
                      <a:pt x="679" y="0"/>
                      <a:pt x="529" y="177"/>
                    </a:cubicBezTo>
                    <a:cubicBezTo>
                      <a:pt x="312" y="399"/>
                      <a:pt x="142" y="878"/>
                      <a:pt x="63" y="1488"/>
                    </a:cubicBezTo>
                    <a:cubicBezTo>
                      <a:pt x="0" y="1911"/>
                      <a:pt x="0" y="2547"/>
                      <a:pt x="0" y="3604"/>
                    </a:cubicBezTo>
                    <a:lnTo>
                      <a:pt x="0" y="21600"/>
                    </a:lnTo>
                    <a:lnTo>
                      <a:pt x="21600" y="21600"/>
                    </a:lnTo>
                    <a:lnTo>
                      <a:pt x="21600" y="3604"/>
                    </a:lnTo>
                    <a:cubicBezTo>
                      <a:pt x="21600" y="2547"/>
                      <a:pt x="21600" y="1911"/>
                      <a:pt x="21537" y="1488"/>
                    </a:cubicBezTo>
                    <a:cubicBezTo>
                      <a:pt x="21458" y="878"/>
                      <a:pt x="21288" y="399"/>
                      <a:pt x="21071" y="177"/>
                    </a:cubicBezTo>
                    <a:cubicBezTo>
                      <a:pt x="20921" y="0"/>
                      <a:pt x="20695" y="0"/>
                      <a:pt x="20319" y="0"/>
                    </a:cubicBezTo>
                    <a:lnTo>
                      <a:pt x="1281" y="0"/>
                    </a:lnTo>
                    <a:close/>
                  </a:path>
                </a:pathLst>
              </a:custGeom>
              <a:solidFill>
                <a:schemeClr val="accent6"/>
              </a:solidFill>
              <a:ln w="12700">
                <a:miter lim="400000"/>
              </a:ln>
            </p:spPr>
            <p:txBody>
              <a:bodyPr lIns="0" tIns="0" rIns="0" bIns="0" anchor="ctr"/>
              <a:lstStyle/>
              <a:p>
                <a:endParaRPr sz="675"/>
              </a:p>
            </p:txBody>
          </p:sp>
        </p:grpSp>
        <p:sp>
          <p:nvSpPr>
            <p:cNvPr id="14" name="Rectangle 13">
              <a:extLst>
                <a:ext uri="{FF2B5EF4-FFF2-40B4-BE49-F238E27FC236}">
                  <a16:creationId xmlns:a16="http://schemas.microsoft.com/office/drawing/2014/main" id="{174500B8-EAE2-6BDF-4F05-86E5D3D7AFA1}"/>
                </a:ext>
              </a:extLst>
            </p:cNvPr>
            <p:cNvSpPr/>
            <p:nvPr/>
          </p:nvSpPr>
          <p:spPr>
            <a:xfrm>
              <a:off x="-1435293" y="1189412"/>
              <a:ext cx="1447556" cy="630942"/>
            </a:xfrm>
            <a:prstGeom prst="rect">
              <a:avLst/>
            </a:prstGeom>
          </p:spPr>
          <p:txBody>
            <a:bodyPr wrap="square" lIns="91440" tIns="45720" rIns="91440" bIns="45720" anchor="t">
              <a:spAutoFit/>
            </a:bodyPr>
            <a:lstStyle/>
            <a:p>
              <a:pPr algn="ctr" defTabSz="514350"/>
              <a:r>
                <a:rPr lang="en-US" sz="1200" b="1" dirty="0">
                  <a:solidFill>
                    <a:schemeClr val="bg1"/>
                  </a:solidFill>
                  <a:latin typeface="Lato"/>
                  <a:ea typeface="Lato"/>
                  <a:cs typeface="Lato"/>
                </a:rPr>
                <a:t>Inclusion &amp; Diversity </a:t>
              </a:r>
              <a:endParaRPr lang="en-US" sz="1200" b="1" dirty="0">
                <a:solidFill>
                  <a:schemeClr val="bg1"/>
                </a:solidFill>
                <a:ea typeface="+mn-lt"/>
                <a:cs typeface="+mn-lt"/>
              </a:endParaRPr>
            </a:p>
            <a:p>
              <a:pPr algn="ctr" defTabSz="514350"/>
              <a:endParaRPr lang="en-US" sz="1100" b="1" dirty="0">
                <a:solidFill>
                  <a:schemeClr val="bg1"/>
                </a:solidFill>
                <a:latin typeface="Lato" panose="020F0502020204030203" pitchFamily="34" charset="77"/>
                <a:ea typeface="Lato"/>
                <a:cs typeface="Lato"/>
              </a:endParaRPr>
            </a:p>
          </p:txBody>
        </p:sp>
      </p:grpSp>
      <p:grpSp>
        <p:nvGrpSpPr>
          <p:cNvPr id="31" name="Group 30">
            <a:extLst>
              <a:ext uri="{FF2B5EF4-FFF2-40B4-BE49-F238E27FC236}">
                <a16:creationId xmlns:a16="http://schemas.microsoft.com/office/drawing/2014/main" id="{D42341D9-31B3-A913-3ECB-24C11C83C908}"/>
              </a:ext>
            </a:extLst>
          </p:cNvPr>
          <p:cNvGrpSpPr/>
          <p:nvPr/>
        </p:nvGrpSpPr>
        <p:grpSpPr>
          <a:xfrm>
            <a:off x="4649629" y="1028707"/>
            <a:ext cx="1447556" cy="3266731"/>
            <a:chOff x="-1437818" y="1070894"/>
            <a:chExt cx="1447556" cy="3266731"/>
          </a:xfrm>
        </p:grpSpPr>
        <p:grpSp>
          <p:nvGrpSpPr>
            <p:cNvPr id="32" name="Group 31">
              <a:extLst>
                <a:ext uri="{FF2B5EF4-FFF2-40B4-BE49-F238E27FC236}">
                  <a16:creationId xmlns:a16="http://schemas.microsoft.com/office/drawing/2014/main" id="{EFCC55E1-A251-5C73-07E6-3FCC8857CC76}"/>
                </a:ext>
              </a:extLst>
            </p:cNvPr>
            <p:cNvGrpSpPr/>
            <p:nvPr/>
          </p:nvGrpSpPr>
          <p:grpSpPr>
            <a:xfrm>
              <a:off x="-1398648" y="1070894"/>
              <a:ext cx="1355470" cy="3266731"/>
              <a:chOff x="-1398648" y="1070894"/>
              <a:chExt cx="1355470" cy="3266731"/>
            </a:xfrm>
          </p:grpSpPr>
          <p:sp>
            <p:nvSpPr>
              <p:cNvPr id="34" name="Rectangle: Rounded Corners 33">
                <a:extLst>
                  <a:ext uri="{FF2B5EF4-FFF2-40B4-BE49-F238E27FC236}">
                    <a16:creationId xmlns:a16="http://schemas.microsoft.com/office/drawing/2014/main" id="{36FEC6D0-733C-6E8C-6800-E21A6BFF3C4D}"/>
                  </a:ext>
                </a:extLst>
              </p:cNvPr>
              <p:cNvSpPr/>
              <p:nvPr/>
            </p:nvSpPr>
            <p:spPr>
              <a:xfrm>
                <a:off x="-1390410" y="1249259"/>
                <a:ext cx="1338345" cy="3088366"/>
              </a:xfrm>
              <a:prstGeom prst="roundRect">
                <a:avLst/>
              </a:prstGeom>
              <a:solidFill>
                <a:schemeClr val="bg1"/>
              </a:solidFill>
              <a:ln>
                <a:solidFill>
                  <a:srgbClr val="35A6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Shape">
                <a:extLst>
                  <a:ext uri="{FF2B5EF4-FFF2-40B4-BE49-F238E27FC236}">
                    <a16:creationId xmlns:a16="http://schemas.microsoft.com/office/drawing/2014/main" id="{61C81116-37BB-B8FA-6F77-E170B823CF60}"/>
                  </a:ext>
                </a:extLst>
              </p:cNvPr>
              <p:cNvSpPr/>
              <p:nvPr/>
            </p:nvSpPr>
            <p:spPr>
              <a:xfrm>
                <a:off x="-1398648" y="1070894"/>
                <a:ext cx="1355470" cy="591428"/>
              </a:xfrm>
              <a:custGeom>
                <a:avLst/>
                <a:gdLst/>
                <a:ahLst/>
                <a:cxnLst>
                  <a:cxn ang="0">
                    <a:pos x="wd2" y="hd2"/>
                  </a:cxn>
                  <a:cxn ang="5400000">
                    <a:pos x="wd2" y="hd2"/>
                  </a:cxn>
                  <a:cxn ang="10800000">
                    <a:pos x="wd2" y="hd2"/>
                  </a:cxn>
                  <a:cxn ang="16200000">
                    <a:pos x="wd2" y="hd2"/>
                  </a:cxn>
                </a:cxnLst>
                <a:rect l="0" t="0" r="r" b="b"/>
                <a:pathLst>
                  <a:path w="21600" h="21600" extrusionOk="0">
                    <a:moveTo>
                      <a:pt x="1281" y="0"/>
                    </a:moveTo>
                    <a:cubicBezTo>
                      <a:pt x="905" y="0"/>
                      <a:pt x="679" y="0"/>
                      <a:pt x="529" y="177"/>
                    </a:cubicBezTo>
                    <a:cubicBezTo>
                      <a:pt x="312" y="399"/>
                      <a:pt x="142" y="878"/>
                      <a:pt x="63" y="1488"/>
                    </a:cubicBezTo>
                    <a:cubicBezTo>
                      <a:pt x="0" y="1911"/>
                      <a:pt x="0" y="2547"/>
                      <a:pt x="0" y="3604"/>
                    </a:cubicBezTo>
                    <a:lnTo>
                      <a:pt x="0" y="21600"/>
                    </a:lnTo>
                    <a:lnTo>
                      <a:pt x="21600" y="21600"/>
                    </a:lnTo>
                    <a:lnTo>
                      <a:pt x="21600" y="3604"/>
                    </a:lnTo>
                    <a:cubicBezTo>
                      <a:pt x="21600" y="2547"/>
                      <a:pt x="21600" y="1911"/>
                      <a:pt x="21537" y="1488"/>
                    </a:cubicBezTo>
                    <a:cubicBezTo>
                      <a:pt x="21458" y="878"/>
                      <a:pt x="21288" y="399"/>
                      <a:pt x="21071" y="177"/>
                    </a:cubicBezTo>
                    <a:cubicBezTo>
                      <a:pt x="20921" y="0"/>
                      <a:pt x="20695" y="0"/>
                      <a:pt x="20319" y="0"/>
                    </a:cubicBezTo>
                    <a:lnTo>
                      <a:pt x="1281" y="0"/>
                    </a:lnTo>
                    <a:close/>
                  </a:path>
                </a:pathLst>
              </a:custGeom>
              <a:solidFill>
                <a:srgbClr val="35A6A1"/>
              </a:solidFill>
              <a:ln w="12700">
                <a:miter lim="400000"/>
              </a:ln>
            </p:spPr>
            <p:txBody>
              <a:bodyPr lIns="0" tIns="0" rIns="0" bIns="0" anchor="ctr"/>
              <a:lstStyle/>
              <a:p>
                <a:endParaRPr sz="675"/>
              </a:p>
            </p:txBody>
          </p:sp>
        </p:grpSp>
        <p:sp>
          <p:nvSpPr>
            <p:cNvPr id="33" name="Rectangle 32">
              <a:extLst>
                <a:ext uri="{FF2B5EF4-FFF2-40B4-BE49-F238E27FC236}">
                  <a16:creationId xmlns:a16="http://schemas.microsoft.com/office/drawing/2014/main" id="{933BA9F8-FDB2-567A-5469-824B6533B516}"/>
                </a:ext>
              </a:extLst>
            </p:cNvPr>
            <p:cNvSpPr/>
            <p:nvPr/>
          </p:nvSpPr>
          <p:spPr>
            <a:xfrm>
              <a:off x="-1437818" y="1208109"/>
              <a:ext cx="1447556" cy="446276"/>
            </a:xfrm>
            <a:prstGeom prst="rect">
              <a:avLst/>
            </a:prstGeom>
          </p:spPr>
          <p:txBody>
            <a:bodyPr wrap="square" lIns="91440" tIns="45720" rIns="91440" bIns="45720" anchor="t">
              <a:spAutoFit/>
            </a:bodyPr>
            <a:lstStyle/>
            <a:p>
              <a:pPr algn="ctr" defTabSz="514350"/>
              <a:r>
                <a:rPr lang="en-US" sz="1200" b="1" dirty="0">
                  <a:solidFill>
                    <a:schemeClr val="bg1"/>
                  </a:solidFill>
                  <a:latin typeface="Lato"/>
                  <a:ea typeface="Lato"/>
                  <a:cs typeface="Lato"/>
                </a:rPr>
                <a:t>Respect</a:t>
              </a:r>
              <a:endParaRPr lang="en-US" sz="1200" b="1" dirty="0">
                <a:solidFill>
                  <a:schemeClr val="bg1"/>
                </a:solidFill>
                <a:ea typeface="+mn-lt"/>
                <a:cs typeface="+mn-lt"/>
              </a:endParaRPr>
            </a:p>
            <a:p>
              <a:pPr algn="ctr" defTabSz="514350"/>
              <a:endParaRPr lang="en-US" sz="1100" b="1" dirty="0">
                <a:solidFill>
                  <a:schemeClr val="bg1"/>
                </a:solidFill>
                <a:latin typeface="Lato" panose="020F0502020204030203" pitchFamily="34" charset="77"/>
                <a:ea typeface="Lato"/>
                <a:cs typeface="Lato"/>
              </a:endParaRPr>
            </a:p>
          </p:txBody>
        </p:sp>
      </p:grpSp>
      <p:grpSp>
        <p:nvGrpSpPr>
          <p:cNvPr id="36" name="Group 35">
            <a:extLst>
              <a:ext uri="{FF2B5EF4-FFF2-40B4-BE49-F238E27FC236}">
                <a16:creationId xmlns:a16="http://schemas.microsoft.com/office/drawing/2014/main" id="{44478539-3047-5180-D2D6-1B9D461B8A2F}"/>
              </a:ext>
            </a:extLst>
          </p:cNvPr>
          <p:cNvGrpSpPr/>
          <p:nvPr/>
        </p:nvGrpSpPr>
        <p:grpSpPr>
          <a:xfrm>
            <a:off x="2959922" y="1012036"/>
            <a:ext cx="1447556" cy="3266731"/>
            <a:chOff x="-1435587" y="1070894"/>
            <a:chExt cx="1447556" cy="3266731"/>
          </a:xfrm>
        </p:grpSpPr>
        <p:grpSp>
          <p:nvGrpSpPr>
            <p:cNvPr id="37" name="Group 36">
              <a:extLst>
                <a:ext uri="{FF2B5EF4-FFF2-40B4-BE49-F238E27FC236}">
                  <a16:creationId xmlns:a16="http://schemas.microsoft.com/office/drawing/2014/main" id="{7B4BF9E5-CF3C-FD7B-87E4-2CA66309A5C6}"/>
                </a:ext>
              </a:extLst>
            </p:cNvPr>
            <p:cNvGrpSpPr/>
            <p:nvPr/>
          </p:nvGrpSpPr>
          <p:grpSpPr>
            <a:xfrm>
              <a:off x="-1398648" y="1070894"/>
              <a:ext cx="1355470" cy="3266731"/>
              <a:chOff x="-1398648" y="1070894"/>
              <a:chExt cx="1355470" cy="3266731"/>
            </a:xfrm>
          </p:grpSpPr>
          <p:sp>
            <p:nvSpPr>
              <p:cNvPr id="39" name="Rectangle: Rounded Corners 38">
                <a:extLst>
                  <a:ext uri="{FF2B5EF4-FFF2-40B4-BE49-F238E27FC236}">
                    <a16:creationId xmlns:a16="http://schemas.microsoft.com/office/drawing/2014/main" id="{E3F47746-819C-A1B1-2D93-23C620405887}"/>
                  </a:ext>
                </a:extLst>
              </p:cNvPr>
              <p:cNvSpPr/>
              <p:nvPr/>
            </p:nvSpPr>
            <p:spPr>
              <a:xfrm>
                <a:off x="-1390410" y="1249259"/>
                <a:ext cx="1338345" cy="3088366"/>
              </a:xfrm>
              <a:prstGeom prst="roundRect">
                <a:avLst/>
              </a:prstGeom>
              <a:solidFill>
                <a:schemeClr val="bg1"/>
              </a:solidFill>
              <a:ln>
                <a:solidFill>
                  <a:srgbClr val="2478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Shape">
                <a:extLst>
                  <a:ext uri="{FF2B5EF4-FFF2-40B4-BE49-F238E27FC236}">
                    <a16:creationId xmlns:a16="http://schemas.microsoft.com/office/drawing/2014/main" id="{6EB271AD-CE29-037E-2BA0-8E3B39216B85}"/>
                  </a:ext>
                </a:extLst>
              </p:cNvPr>
              <p:cNvSpPr/>
              <p:nvPr/>
            </p:nvSpPr>
            <p:spPr>
              <a:xfrm>
                <a:off x="-1398648" y="1070894"/>
                <a:ext cx="1355470" cy="591428"/>
              </a:xfrm>
              <a:custGeom>
                <a:avLst/>
                <a:gdLst/>
                <a:ahLst/>
                <a:cxnLst>
                  <a:cxn ang="0">
                    <a:pos x="wd2" y="hd2"/>
                  </a:cxn>
                  <a:cxn ang="5400000">
                    <a:pos x="wd2" y="hd2"/>
                  </a:cxn>
                  <a:cxn ang="10800000">
                    <a:pos x="wd2" y="hd2"/>
                  </a:cxn>
                  <a:cxn ang="16200000">
                    <a:pos x="wd2" y="hd2"/>
                  </a:cxn>
                </a:cxnLst>
                <a:rect l="0" t="0" r="r" b="b"/>
                <a:pathLst>
                  <a:path w="21600" h="21600" extrusionOk="0">
                    <a:moveTo>
                      <a:pt x="1281" y="0"/>
                    </a:moveTo>
                    <a:cubicBezTo>
                      <a:pt x="905" y="0"/>
                      <a:pt x="679" y="0"/>
                      <a:pt x="529" y="177"/>
                    </a:cubicBezTo>
                    <a:cubicBezTo>
                      <a:pt x="312" y="399"/>
                      <a:pt x="142" y="878"/>
                      <a:pt x="63" y="1488"/>
                    </a:cubicBezTo>
                    <a:cubicBezTo>
                      <a:pt x="0" y="1911"/>
                      <a:pt x="0" y="2547"/>
                      <a:pt x="0" y="3604"/>
                    </a:cubicBezTo>
                    <a:lnTo>
                      <a:pt x="0" y="21600"/>
                    </a:lnTo>
                    <a:lnTo>
                      <a:pt x="21600" y="21600"/>
                    </a:lnTo>
                    <a:lnTo>
                      <a:pt x="21600" y="3604"/>
                    </a:lnTo>
                    <a:cubicBezTo>
                      <a:pt x="21600" y="2547"/>
                      <a:pt x="21600" y="1911"/>
                      <a:pt x="21537" y="1488"/>
                    </a:cubicBezTo>
                    <a:cubicBezTo>
                      <a:pt x="21458" y="878"/>
                      <a:pt x="21288" y="399"/>
                      <a:pt x="21071" y="177"/>
                    </a:cubicBezTo>
                    <a:cubicBezTo>
                      <a:pt x="20921" y="0"/>
                      <a:pt x="20695" y="0"/>
                      <a:pt x="20319" y="0"/>
                    </a:cubicBezTo>
                    <a:lnTo>
                      <a:pt x="1281" y="0"/>
                    </a:lnTo>
                    <a:close/>
                  </a:path>
                </a:pathLst>
              </a:custGeom>
              <a:solidFill>
                <a:srgbClr val="247888"/>
              </a:solidFill>
              <a:ln w="12700">
                <a:miter lim="400000"/>
              </a:ln>
            </p:spPr>
            <p:txBody>
              <a:bodyPr lIns="0" tIns="0" rIns="0" bIns="0" anchor="ctr"/>
              <a:lstStyle/>
              <a:p>
                <a:endParaRPr sz="675"/>
              </a:p>
            </p:txBody>
          </p:sp>
        </p:grpSp>
        <p:sp>
          <p:nvSpPr>
            <p:cNvPr id="38" name="Rectangle 37">
              <a:extLst>
                <a:ext uri="{FF2B5EF4-FFF2-40B4-BE49-F238E27FC236}">
                  <a16:creationId xmlns:a16="http://schemas.microsoft.com/office/drawing/2014/main" id="{649CE1C9-3AB8-BBE0-1763-0E77A06800A8}"/>
                </a:ext>
              </a:extLst>
            </p:cNvPr>
            <p:cNvSpPr/>
            <p:nvPr/>
          </p:nvSpPr>
          <p:spPr>
            <a:xfrm>
              <a:off x="-1435587" y="1236071"/>
              <a:ext cx="1447556" cy="446276"/>
            </a:xfrm>
            <a:prstGeom prst="rect">
              <a:avLst/>
            </a:prstGeom>
          </p:spPr>
          <p:txBody>
            <a:bodyPr wrap="square" lIns="91440" tIns="45720" rIns="91440" bIns="45720" anchor="t">
              <a:spAutoFit/>
            </a:bodyPr>
            <a:lstStyle/>
            <a:p>
              <a:pPr algn="ctr" defTabSz="514350"/>
              <a:r>
                <a:rPr lang="en-US" sz="1200" b="1" dirty="0">
                  <a:solidFill>
                    <a:schemeClr val="bg1"/>
                  </a:solidFill>
                  <a:latin typeface="Lato"/>
                  <a:ea typeface="Lato"/>
                  <a:cs typeface="Lato"/>
                </a:rPr>
                <a:t>Trustworthiness</a:t>
              </a:r>
              <a:endParaRPr lang="en-US" sz="1200" b="1" dirty="0">
                <a:solidFill>
                  <a:schemeClr val="bg1"/>
                </a:solidFill>
                <a:ea typeface="+mn-lt"/>
                <a:cs typeface="+mn-lt"/>
              </a:endParaRPr>
            </a:p>
            <a:p>
              <a:pPr algn="ctr" defTabSz="514350"/>
              <a:endParaRPr lang="en-US" sz="1100" b="1" dirty="0">
                <a:solidFill>
                  <a:schemeClr val="bg1"/>
                </a:solidFill>
                <a:latin typeface="Lato" panose="020F0502020204030203" pitchFamily="34" charset="77"/>
                <a:ea typeface="Lato"/>
                <a:cs typeface="Lato"/>
              </a:endParaRPr>
            </a:p>
          </p:txBody>
        </p:sp>
      </p:grpSp>
      <p:grpSp>
        <p:nvGrpSpPr>
          <p:cNvPr id="41" name="Group 40">
            <a:extLst>
              <a:ext uri="{FF2B5EF4-FFF2-40B4-BE49-F238E27FC236}">
                <a16:creationId xmlns:a16="http://schemas.microsoft.com/office/drawing/2014/main" id="{C897179C-E408-8414-012D-C941621AE615}"/>
              </a:ext>
            </a:extLst>
          </p:cNvPr>
          <p:cNvGrpSpPr/>
          <p:nvPr/>
        </p:nvGrpSpPr>
        <p:grpSpPr>
          <a:xfrm>
            <a:off x="6325999" y="1020770"/>
            <a:ext cx="1447556" cy="3266731"/>
            <a:chOff x="-1435587" y="1070894"/>
            <a:chExt cx="1447556" cy="3266731"/>
          </a:xfrm>
        </p:grpSpPr>
        <p:grpSp>
          <p:nvGrpSpPr>
            <p:cNvPr id="42" name="Group 41">
              <a:extLst>
                <a:ext uri="{FF2B5EF4-FFF2-40B4-BE49-F238E27FC236}">
                  <a16:creationId xmlns:a16="http://schemas.microsoft.com/office/drawing/2014/main" id="{97243F29-CFF1-32A1-2621-6DE670599111}"/>
                </a:ext>
              </a:extLst>
            </p:cNvPr>
            <p:cNvGrpSpPr/>
            <p:nvPr/>
          </p:nvGrpSpPr>
          <p:grpSpPr>
            <a:xfrm>
              <a:off x="-1398648" y="1070894"/>
              <a:ext cx="1355470" cy="3266731"/>
              <a:chOff x="-1398648" y="1070894"/>
              <a:chExt cx="1355470" cy="3266731"/>
            </a:xfrm>
          </p:grpSpPr>
          <p:sp>
            <p:nvSpPr>
              <p:cNvPr id="44" name="Rectangle: Rounded Corners 43">
                <a:extLst>
                  <a:ext uri="{FF2B5EF4-FFF2-40B4-BE49-F238E27FC236}">
                    <a16:creationId xmlns:a16="http://schemas.microsoft.com/office/drawing/2014/main" id="{984F092B-9722-91BB-9065-B3D83A2753E8}"/>
                  </a:ext>
                </a:extLst>
              </p:cNvPr>
              <p:cNvSpPr/>
              <p:nvPr/>
            </p:nvSpPr>
            <p:spPr>
              <a:xfrm>
                <a:off x="-1390410" y="1249259"/>
                <a:ext cx="1338345" cy="3088366"/>
              </a:xfrm>
              <a:prstGeom prst="roundRect">
                <a:avLst/>
              </a:prstGeom>
              <a:solidFill>
                <a:schemeClr val="bg1"/>
              </a:solidFill>
              <a:ln>
                <a:solidFill>
                  <a:srgbClr val="4AB7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Shape">
                <a:extLst>
                  <a:ext uri="{FF2B5EF4-FFF2-40B4-BE49-F238E27FC236}">
                    <a16:creationId xmlns:a16="http://schemas.microsoft.com/office/drawing/2014/main" id="{E5A2E67E-4D1F-9B7C-F6F6-292B072C8433}"/>
                  </a:ext>
                </a:extLst>
              </p:cNvPr>
              <p:cNvSpPr/>
              <p:nvPr/>
            </p:nvSpPr>
            <p:spPr>
              <a:xfrm>
                <a:off x="-1398648" y="1070894"/>
                <a:ext cx="1355470" cy="591428"/>
              </a:xfrm>
              <a:custGeom>
                <a:avLst/>
                <a:gdLst/>
                <a:ahLst/>
                <a:cxnLst>
                  <a:cxn ang="0">
                    <a:pos x="wd2" y="hd2"/>
                  </a:cxn>
                  <a:cxn ang="5400000">
                    <a:pos x="wd2" y="hd2"/>
                  </a:cxn>
                  <a:cxn ang="10800000">
                    <a:pos x="wd2" y="hd2"/>
                  </a:cxn>
                  <a:cxn ang="16200000">
                    <a:pos x="wd2" y="hd2"/>
                  </a:cxn>
                </a:cxnLst>
                <a:rect l="0" t="0" r="r" b="b"/>
                <a:pathLst>
                  <a:path w="21600" h="21600" extrusionOk="0">
                    <a:moveTo>
                      <a:pt x="1281" y="0"/>
                    </a:moveTo>
                    <a:cubicBezTo>
                      <a:pt x="905" y="0"/>
                      <a:pt x="679" y="0"/>
                      <a:pt x="529" y="177"/>
                    </a:cubicBezTo>
                    <a:cubicBezTo>
                      <a:pt x="312" y="399"/>
                      <a:pt x="142" y="878"/>
                      <a:pt x="63" y="1488"/>
                    </a:cubicBezTo>
                    <a:cubicBezTo>
                      <a:pt x="0" y="1911"/>
                      <a:pt x="0" y="2547"/>
                      <a:pt x="0" y="3604"/>
                    </a:cubicBezTo>
                    <a:lnTo>
                      <a:pt x="0" y="21600"/>
                    </a:lnTo>
                    <a:lnTo>
                      <a:pt x="21600" y="21600"/>
                    </a:lnTo>
                    <a:lnTo>
                      <a:pt x="21600" y="3604"/>
                    </a:lnTo>
                    <a:cubicBezTo>
                      <a:pt x="21600" y="2547"/>
                      <a:pt x="21600" y="1911"/>
                      <a:pt x="21537" y="1488"/>
                    </a:cubicBezTo>
                    <a:cubicBezTo>
                      <a:pt x="21458" y="878"/>
                      <a:pt x="21288" y="399"/>
                      <a:pt x="21071" y="177"/>
                    </a:cubicBezTo>
                    <a:cubicBezTo>
                      <a:pt x="20921" y="0"/>
                      <a:pt x="20695" y="0"/>
                      <a:pt x="20319" y="0"/>
                    </a:cubicBezTo>
                    <a:lnTo>
                      <a:pt x="1281" y="0"/>
                    </a:lnTo>
                    <a:close/>
                  </a:path>
                </a:pathLst>
              </a:custGeom>
              <a:solidFill>
                <a:srgbClr val="4AB79C"/>
              </a:solidFill>
              <a:ln w="12700">
                <a:miter lim="400000"/>
              </a:ln>
            </p:spPr>
            <p:txBody>
              <a:bodyPr lIns="0" tIns="0" rIns="0" bIns="0" anchor="ctr"/>
              <a:lstStyle/>
              <a:p>
                <a:endParaRPr sz="675"/>
              </a:p>
            </p:txBody>
          </p:sp>
        </p:grpSp>
        <p:sp>
          <p:nvSpPr>
            <p:cNvPr id="43" name="Rectangle 42">
              <a:extLst>
                <a:ext uri="{FF2B5EF4-FFF2-40B4-BE49-F238E27FC236}">
                  <a16:creationId xmlns:a16="http://schemas.microsoft.com/office/drawing/2014/main" id="{3BBE9BE9-6456-9B7E-E0B1-78E95392211B}"/>
                </a:ext>
              </a:extLst>
            </p:cNvPr>
            <p:cNvSpPr/>
            <p:nvPr/>
          </p:nvSpPr>
          <p:spPr>
            <a:xfrm>
              <a:off x="-1435587" y="1236071"/>
              <a:ext cx="1447556" cy="446276"/>
            </a:xfrm>
            <a:prstGeom prst="rect">
              <a:avLst/>
            </a:prstGeom>
          </p:spPr>
          <p:txBody>
            <a:bodyPr wrap="square" lIns="91440" tIns="45720" rIns="91440" bIns="45720" anchor="t">
              <a:spAutoFit/>
            </a:bodyPr>
            <a:lstStyle/>
            <a:p>
              <a:pPr algn="ctr" defTabSz="514350"/>
              <a:r>
                <a:rPr lang="en-US" sz="1200" b="1" dirty="0">
                  <a:solidFill>
                    <a:schemeClr val="bg1"/>
                  </a:solidFill>
                  <a:latin typeface="Lato"/>
                  <a:ea typeface="+mn-lt"/>
                  <a:cs typeface="+mn-lt"/>
                </a:rPr>
                <a:t>Integrity</a:t>
              </a:r>
              <a:endParaRPr lang="en-US" sz="1200" b="1" dirty="0">
                <a:solidFill>
                  <a:schemeClr val="bg1"/>
                </a:solidFill>
                <a:ea typeface="+mn-lt"/>
                <a:cs typeface="+mn-lt"/>
              </a:endParaRPr>
            </a:p>
            <a:p>
              <a:pPr algn="ctr" defTabSz="514350"/>
              <a:endParaRPr lang="en-US" sz="1100" b="1" dirty="0">
                <a:solidFill>
                  <a:schemeClr val="bg1"/>
                </a:solidFill>
                <a:latin typeface="Lato" panose="020F0502020204030203" pitchFamily="34" charset="77"/>
                <a:ea typeface="Lato"/>
                <a:cs typeface="Lato"/>
              </a:endParaRPr>
            </a:p>
          </p:txBody>
        </p:sp>
      </p:grpSp>
      <p:sp>
        <p:nvSpPr>
          <p:cNvPr id="15" name="Rectangle 14">
            <a:extLst>
              <a:ext uri="{FF2B5EF4-FFF2-40B4-BE49-F238E27FC236}">
                <a16:creationId xmlns:a16="http://schemas.microsoft.com/office/drawing/2014/main" id="{361EAFFE-E2FF-F378-F283-E8A5170CBC31}"/>
              </a:ext>
            </a:extLst>
          </p:cNvPr>
          <p:cNvSpPr/>
          <p:nvPr/>
        </p:nvSpPr>
        <p:spPr>
          <a:xfrm>
            <a:off x="1293530" y="1702178"/>
            <a:ext cx="1355469" cy="2308324"/>
          </a:xfrm>
          <a:prstGeom prst="rect">
            <a:avLst/>
          </a:prstGeom>
        </p:spPr>
        <p:txBody>
          <a:bodyPr wrap="square" lIns="91440" tIns="45720" rIns="91440" bIns="45720" anchor="t">
            <a:spAutoFit/>
          </a:bodyPr>
          <a:lstStyle/>
          <a:p>
            <a:pPr marL="171450" indent="-171450">
              <a:buFont typeface="Arial"/>
              <a:buChar char="•"/>
            </a:pPr>
            <a:r>
              <a:rPr lang="en-US" sz="900" dirty="0">
                <a:solidFill>
                  <a:schemeClr val="tx2"/>
                </a:solidFill>
                <a:latin typeface="Lato" panose="020F0502020204030203" pitchFamily="34" charset="77"/>
              </a:rPr>
              <a:t>Be empathetic and practice gratitude</a:t>
            </a:r>
          </a:p>
          <a:p>
            <a:pPr marL="171450" indent="-171450">
              <a:buFont typeface="Arial"/>
              <a:buChar char="•"/>
            </a:pPr>
            <a:r>
              <a:rPr lang="en-US" sz="900" dirty="0">
                <a:solidFill>
                  <a:schemeClr val="tx2"/>
                </a:solidFill>
                <a:latin typeface="Lato" panose="020F0502020204030203" pitchFamily="34" charset="77"/>
              </a:rPr>
              <a:t>Involve and include others</a:t>
            </a:r>
          </a:p>
          <a:p>
            <a:pPr marL="171450" indent="-171450">
              <a:buFont typeface="Arial"/>
              <a:buChar char="•"/>
            </a:pPr>
            <a:r>
              <a:rPr lang="en-US" sz="900" dirty="0">
                <a:solidFill>
                  <a:schemeClr val="tx2"/>
                </a:solidFill>
                <a:latin typeface="Lato"/>
                <a:ea typeface="Lato"/>
                <a:cs typeface="Lato"/>
              </a:rPr>
              <a:t>Stay informed on various parameters of diversity-different beliefs, geographic locations, culture, language and ethnicity. </a:t>
            </a:r>
          </a:p>
          <a:p>
            <a:pPr marL="171450" indent="-171450">
              <a:buFont typeface="Arial"/>
              <a:buChar char="•"/>
            </a:pPr>
            <a:r>
              <a:rPr lang="en-US" sz="900" dirty="0">
                <a:solidFill>
                  <a:schemeClr val="tx2"/>
                </a:solidFill>
                <a:latin typeface="Lato"/>
                <a:ea typeface="Lato"/>
                <a:cs typeface="Lato"/>
              </a:rPr>
              <a:t>Celebrate, acknowledge and value diversity</a:t>
            </a:r>
          </a:p>
          <a:p>
            <a:endParaRPr lang="en-US" sz="900" dirty="0">
              <a:solidFill>
                <a:schemeClr val="tx2"/>
              </a:solidFill>
              <a:latin typeface="Lato" panose="020F0502020204030203" pitchFamily="34" charset="77"/>
            </a:endParaRPr>
          </a:p>
        </p:txBody>
      </p:sp>
      <p:sp>
        <p:nvSpPr>
          <p:cNvPr id="19" name="TextBox 18">
            <a:extLst>
              <a:ext uri="{FF2B5EF4-FFF2-40B4-BE49-F238E27FC236}">
                <a16:creationId xmlns:a16="http://schemas.microsoft.com/office/drawing/2014/main" id="{61BAC5B0-5D48-5EE3-3BCF-D008481E8281}"/>
              </a:ext>
            </a:extLst>
          </p:cNvPr>
          <p:cNvSpPr txBox="1"/>
          <p:nvPr/>
        </p:nvSpPr>
        <p:spPr>
          <a:xfrm>
            <a:off x="3094597" y="1727111"/>
            <a:ext cx="1229373" cy="1338828"/>
          </a:xfrm>
          <a:prstGeom prst="rect">
            <a:avLst/>
          </a:prstGeom>
          <a:noFill/>
        </p:spPr>
        <p:txBody>
          <a:bodyPr wrap="square" lIns="91440" tIns="45720" rIns="91440" bIns="45720" rtlCol="0" anchor="t">
            <a:spAutoFit/>
          </a:bodyPr>
          <a:lstStyle/>
          <a:p>
            <a:pPr marL="171450" indent="-171450">
              <a:buFont typeface="Arial"/>
              <a:buChar char="•"/>
            </a:pPr>
            <a:r>
              <a:rPr lang="en-US" sz="900" dirty="0">
                <a:solidFill>
                  <a:schemeClr val="tx2"/>
                </a:solidFill>
                <a:latin typeface="Lato"/>
                <a:ea typeface="Lato"/>
                <a:cs typeface="Lato"/>
              </a:rPr>
              <a:t>Be honest</a:t>
            </a:r>
          </a:p>
          <a:p>
            <a:pPr marL="171450" indent="-171450">
              <a:buFont typeface="Arial"/>
              <a:buChar char="•"/>
            </a:pPr>
            <a:r>
              <a:rPr lang="en-US" sz="900" dirty="0">
                <a:solidFill>
                  <a:schemeClr val="tx2"/>
                </a:solidFill>
                <a:latin typeface="Lato"/>
                <a:ea typeface="Lato"/>
                <a:cs typeface="Lato"/>
              </a:rPr>
              <a:t>Demonstrate reliability and credibility</a:t>
            </a:r>
          </a:p>
          <a:p>
            <a:pPr marL="171450" indent="-171450">
              <a:buFont typeface="Arial"/>
              <a:buChar char="•"/>
            </a:pPr>
            <a:r>
              <a:rPr lang="en-US" sz="900" dirty="0">
                <a:solidFill>
                  <a:schemeClr val="tx2"/>
                </a:solidFill>
                <a:latin typeface="Lato"/>
                <a:ea typeface="Lato"/>
                <a:cs typeface="Lato"/>
              </a:rPr>
              <a:t>Keep your promises</a:t>
            </a:r>
          </a:p>
          <a:p>
            <a:pPr marL="171450" indent="-171450">
              <a:buFont typeface="Arial"/>
              <a:buChar char="•"/>
            </a:pPr>
            <a:r>
              <a:rPr lang="en-US" sz="900" dirty="0">
                <a:solidFill>
                  <a:schemeClr val="tx2"/>
                </a:solidFill>
                <a:latin typeface="Lato"/>
                <a:ea typeface="Lato"/>
                <a:cs typeface="Lato"/>
              </a:rPr>
              <a:t>Be loyal</a:t>
            </a:r>
          </a:p>
          <a:p>
            <a:pPr marL="171450" indent="-171450">
              <a:buFont typeface="Arial"/>
              <a:buChar char="•"/>
            </a:pPr>
            <a:r>
              <a:rPr lang="en-US" sz="900" dirty="0">
                <a:solidFill>
                  <a:schemeClr val="tx2"/>
                </a:solidFill>
                <a:latin typeface="Lato"/>
                <a:ea typeface="Lato"/>
                <a:cs typeface="Lato"/>
              </a:rPr>
              <a:t>Do what you say you’ll do</a:t>
            </a:r>
          </a:p>
        </p:txBody>
      </p:sp>
      <p:sp>
        <p:nvSpPr>
          <p:cNvPr id="23" name="Rectangle 22">
            <a:extLst>
              <a:ext uri="{FF2B5EF4-FFF2-40B4-BE49-F238E27FC236}">
                <a16:creationId xmlns:a16="http://schemas.microsoft.com/office/drawing/2014/main" id="{FFAD0ED1-A583-5232-9BB4-49A2CF939A30}"/>
              </a:ext>
            </a:extLst>
          </p:cNvPr>
          <p:cNvSpPr/>
          <p:nvPr/>
        </p:nvSpPr>
        <p:spPr>
          <a:xfrm>
            <a:off x="6377007" y="1737263"/>
            <a:ext cx="1375573" cy="1477328"/>
          </a:xfrm>
          <a:prstGeom prst="rect">
            <a:avLst/>
          </a:prstGeom>
        </p:spPr>
        <p:txBody>
          <a:bodyPr wrap="square" lIns="91440" tIns="45720" rIns="91440" bIns="45720" anchor="t">
            <a:spAutoFit/>
          </a:bodyPr>
          <a:lstStyle/>
          <a:p>
            <a:pPr marL="171450" indent="-171450">
              <a:buFont typeface="Arial"/>
              <a:buChar char="•"/>
            </a:pPr>
            <a:r>
              <a:rPr lang="en-US" sz="900" dirty="0">
                <a:solidFill>
                  <a:schemeClr val="tx2"/>
                </a:solidFill>
                <a:latin typeface="Lato"/>
                <a:ea typeface="Lato"/>
                <a:cs typeface="Lato"/>
              </a:rPr>
              <a:t>Stand by your morals and values</a:t>
            </a:r>
          </a:p>
          <a:p>
            <a:pPr marL="171450" indent="-171450">
              <a:buFont typeface="Arial"/>
              <a:buChar char="•"/>
            </a:pPr>
            <a:r>
              <a:rPr lang="en-US" sz="900" dirty="0">
                <a:solidFill>
                  <a:schemeClr val="tx2"/>
                </a:solidFill>
                <a:latin typeface="Lato"/>
                <a:ea typeface="Lato"/>
                <a:cs typeface="Lato"/>
              </a:rPr>
              <a:t>Follow rules and policies</a:t>
            </a:r>
          </a:p>
          <a:p>
            <a:pPr marL="171450" indent="-171450">
              <a:buFont typeface="Arial"/>
              <a:buChar char="•"/>
            </a:pPr>
            <a:r>
              <a:rPr lang="en-US" sz="900" dirty="0">
                <a:solidFill>
                  <a:schemeClr val="tx2"/>
                </a:solidFill>
                <a:latin typeface="Lato"/>
                <a:ea typeface="Lato"/>
                <a:cs typeface="Lato"/>
              </a:rPr>
              <a:t>Maintain transparency</a:t>
            </a:r>
          </a:p>
          <a:p>
            <a:pPr marL="171450" indent="-171450">
              <a:buFont typeface="Arial"/>
              <a:buChar char="•"/>
            </a:pPr>
            <a:r>
              <a:rPr lang="en-US" sz="900" dirty="0">
                <a:solidFill>
                  <a:schemeClr val="tx2"/>
                </a:solidFill>
                <a:latin typeface="Lato"/>
                <a:ea typeface="Lato"/>
                <a:cs typeface="Lato"/>
              </a:rPr>
              <a:t>Don’t take advantage of others</a:t>
            </a:r>
          </a:p>
          <a:p>
            <a:pPr marL="171450" indent="-171450">
              <a:buFont typeface="Arial"/>
              <a:buChar char="•"/>
            </a:pPr>
            <a:r>
              <a:rPr lang="en-US" sz="900" dirty="0">
                <a:solidFill>
                  <a:schemeClr val="tx2"/>
                </a:solidFill>
                <a:latin typeface="Lato"/>
                <a:ea typeface="Lato"/>
                <a:cs typeface="Lato"/>
              </a:rPr>
              <a:t>Keep your word</a:t>
            </a:r>
          </a:p>
          <a:p>
            <a:endParaRPr lang="en-US" sz="900" dirty="0">
              <a:solidFill>
                <a:schemeClr val="tx2"/>
              </a:solidFill>
              <a:latin typeface="Lato"/>
              <a:ea typeface="Lato"/>
              <a:cs typeface="Lato"/>
            </a:endParaRPr>
          </a:p>
        </p:txBody>
      </p:sp>
      <p:sp>
        <p:nvSpPr>
          <p:cNvPr id="25" name="TextBox 24">
            <a:extLst>
              <a:ext uri="{FF2B5EF4-FFF2-40B4-BE49-F238E27FC236}">
                <a16:creationId xmlns:a16="http://schemas.microsoft.com/office/drawing/2014/main" id="{79830E88-20AB-4285-7C86-E28220A12D8D}"/>
              </a:ext>
            </a:extLst>
          </p:cNvPr>
          <p:cNvSpPr txBox="1"/>
          <p:nvPr/>
        </p:nvSpPr>
        <p:spPr>
          <a:xfrm>
            <a:off x="4688799" y="1730187"/>
            <a:ext cx="1359461" cy="1754326"/>
          </a:xfrm>
          <a:prstGeom prst="rect">
            <a:avLst/>
          </a:prstGeom>
          <a:noFill/>
        </p:spPr>
        <p:txBody>
          <a:bodyPr wrap="square" lIns="91440" tIns="45720" rIns="91440" bIns="45720" rtlCol="0" anchor="t">
            <a:spAutoFit/>
          </a:bodyPr>
          <a:lstStyle/>
          <a:p>
            <a:pPr marL="171450" indent="-171450">
              <a:buFont typeface="Arial"/>
              <a:buChar char="•"/>
            </a:pPr>
            <a:r>
              <a:rPr lang="en-US" sz="900" dirty="0">
                <a:solidFill>
                  <a:schemeClr val="tx2"/>
                </a:solidFill>
                <a:latin typeface="Lato"/>
                <a:ea typeface="Lato"/>
                <a:cs typeface="Lato"/>
              </a:rPr>
              <a:t>Treat others with respect. </a:t>
            </a:r>
          </a:p>
          <a:p>
            <a:pPr marL="171450" indent="-171450">
              <a:buFont typeface="Arial"/>
              <a:buChar char="•"/>
            </a:pPr>
            <a:r>
              <a:rPr lang="en-US" sz="900" dirty="0">
                <a:solidFill>
                  <a:schemeClr val="tx2"/>
                </a:solidFill>
                <a:latin typeface="Lato"/>
                <a:ea typeface="Lato"/>
                <a:cs typeface="Lato"/>
              </a:rPr>
              <a:t>Follow the Golden Rule.</a:t>
            </a:r>
          </a:p>
          <a:p>
            <a:pPr marL="171450" indent="-171450">
              <a:buFont typeface="Arial"/>
              <a:buChar char="•"/>
            </a:pPr>
            <a:r>
              <a:rPr lang="en-US" sz="900" dirty="0">
                <a:solidFill>
                  <a:schemeClr val="tx2"/>
                </a:solidFill>
                <a:latin typeface="Lato"/>
                <a:ea typeface="Lato"/>
                <a:cs typeface="Lato"/>
              </a:rPr>
              <a:t>Be considerate of others’ feelings</a:t>
            </a:r>
          </a:p>
          <a:p>
            <a:pPr marL="171450" indent="-171450">
              <a:buFont typeface="Arial"/>
              <a:buChar char="•"/>
            </a:pPr>
            <a:r>
              <a:rPr lang="en-US" sz="900" dirty="0">
                <a:solidFill>
                  <a:schemeClr val="tx2"/>
                </a:solidFill>
                <a:latin typeface="Lato"/>
                <a:ea typeface="Lato"/>
                <a:cs typeface="Lato"/>
              </a:rPr>
              <a:t>Practice active listening</a:t>
            </a:r>
          </a:p>
          <a:p>
            <a:pPr marL="171450" indent="-171450">
              <a:buFont typeface="Arial"/>
              <a:buChar char="•"/>
            </a:pPr>
            <a:r>
              <a:rPr lang="en-US" sz="900" dirty="0">
                <a:solidFill>
                  <a:schemeClr val="tx2"/>
                </a:solidFill>
                <a:latin typeface="Lato"/>
                <a:ea typeface="Lato"/>
                <a:cs typeface="Lato"/>
              </a:rPr>
              <a:t>Deal peacefully with anger, insults and disagreements</a:t>
            </a:r>
          </a:p>
          <a:p>
            <a:pPr marL="171450" indent="-171450">
              <a:buFont typeface="Arial"/>
              <a:buChar char="•"/>
            </a:pPr>
            <a:endParaRPr lang="en-US" sz="900" dirty="0">
              <a:solidFill>
                <a:schemeClr val="tx2"/>
              </a:solidFill>
              <a:latin typeface="Lato"/>
              <a:ea typeface="Lato"/>
              <a:cs typeface="Lato"/>
            </a:endParaRPr>
          </a:p>
        </p:txBody>
      </p:sp>
      <p:pic>
        <p:nvPicPr>
          <p:cNvPr id="18" name="Graphic 17">
            <a:extLst>
              <a:ext uri="{FF2B5EF4-FFF2-40B4-BE49-F238E27FC236}">
                <a16:creationId xmlns:a16="http://schemas.microsoft.com/office/drawing/2014/main" id="{C55ACEFA-80C6-BD05-C700-6981866AB41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767243" y="756506"/>
            <a:ext cx="370786" cy="370786"/>
          </a:xfrm>
          <a:prstGeom prst="rect">
            <a:avLst/>
          </a:prstGeom>
        </p:spPr>
      </p:pic>
      <p:pic>
        <p:nvPicPr>
          <p:cNvPr id="21" name="Graphic 20">
            <a:extLst>
              <a:ext uri="{FF2B5EF4-FFF2-40B4-BE49-F238E27FC236}">
                <a16:creationId xmlns:a16="http://schemas.microsoft.com/office/drawing/2014/main" id="{4E3D9C2D-57E5-D0C7-799B-62C45D02A91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866982" y="794077"/>
            <a:ext cx="342526" cy="342526"/>
          </a:xfrm>
          <a:prstGeom prst="rect">
            <a:avLst/>
          </a:prstGeom>
        </p:spPr>
      </p:pic>
      <p:pic>
        <p:nvPicPr>
          <p:cNvPr id="22" name="Graphic 21">
            <a:extLst>
              <a:ext uri="{FF2B5EF4-FFF2-40B4-BE49-F238E27FC236}">
                <a16:creationId xmlns:a16="http://schemas.microsoft.com/office/drawing/2014/main" id="{AF4DA5F2-FD57-6411-499B-C8222F30C2B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176667" y="815402"/>
            <a:ext cx="343184" cy="343184"/>
          </a:xfrm>
          <a:prstGeom prst="rect">
            <a:avLst/>
          </a:prstGeom>
        </p:spPr>
      </p:pic>
      <p:pic>
        <p:nvPicPr>
          <p:cNvPr id="24" name="Graphic 23">
            <a:extLst>
              <a:ext uri="{FF2B5EF4-FFF2-40B4-BE49-F238E27FC236}">
                <a16:creationId xmlns:a16="http://schemas.microsoft.com/office/drawing/2014/main" id="{96A14BB2-0A0D-E4D6-5649-5632AF379CD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477162" y="794077"/>
            <a:ext cx="356625" cy="356625"/>
          </a:xfrm>
          <a:prstGeom prst="rect">
            <a:avLst/>
          </a:prstGeom>
        </p:spPr>
      </p:pic>
      <p:sp>
        <p:nvSpPr>
          <p:cNvPr id="4" name="Rectangle 3">
            <a:extLst>
              <a:ext uri="{FF2B5EF4-FFF2-40B4-BE49-F238E27FC236}">
                <a16:creationId xmlns:a16="http://schemas.microsoft.com/office/drawing/2014/main" id="{83785E54-EF2B-1F88-0D3F-D5BF6FDFE213}"/>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E0F3C81-CDF7-ED19-FA0F-61256CCAF5B8}"/>
              </a:ext>
            </a:extLst>
          </p:cNvPr>
          <p:cNvSpPr txBox="1"/>
          <p:nvPr/>
        </p:nvSpPr>
        <p:spPr>
          <a:xfrm>
            <a:off x="239784" y="4849257"/>
            <a:ext cx="524503"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7</a:t>
            </a:r>
          </a:p>
        </p:txBody>
      </p:sp>
    </p:spTree>
    <p:extLst>
      <p:ext uri="{BB962C8B-B14F-4D97-AF65-F5344CB8AC3E}">
        <p14:creationId xmlns:p14="http://schemas.microsoft.com/office/powerpoint/2010/main" val="357718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B68FC9-7ECA-A14E-F763-AB40CB7860E4}"/>
              </a:ext>
            </a:extLst>
          </p:cNvPr>
          <p:cNvSpPr/>
          <p:nvPr/>
        </p:nvSpPr>
        <p:spPr>
          <a:xfrm>
            <a:off x="3481137" y="0"/>
            <a:ext cx="5662863"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Placeholder 3">
            <a:extLst>
              <a:ext uri="{FF2B5EF4-FFF2-40B4-BE49-F238E27FC236}">
                <a16:creationId xmlns:a16="http://schemas.microsoft.com/office/drawing/2014/main" id="{344A71CA-68DF-6816-A7DD-0E6CED89CFA9}"/>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flipH="1">
            <a:off x="6836638" y="1"/>
            <a:ext cx="2307362" cy="5143499"/>
          </a:xfrm>
          <a:prstGeom prst="rect">
            <a:avLst/>
          </a:prstGeom>
        </p:spPr>
      </p:pic>
      <p:sp>
        <p:nvSpPr>
          <p:cNvPr id="3" name="TextBox 2">
            <a:extLst>
              <a:ext uri="{FF2B5EF4-FFF2-40B4-BE49-F238E27FC236}">
                <a16:creationId xmlns:a16="http://schemas.microsoft.com/office/drawing/2014/main" id="{D5ECAA01-3780-A531-82CE-111CE4AC5256}"/>
              </a:ext>
            </a:extLst>
          </p:cNvPr>
          <p:cNvSpPr txBox="1"/>
          <p:nvPr/>
        </p:nvSpPr>
        <p:spPr>
          <a:xfrm>
            <a:off x="1910671" y="2883181"/>
            <a:ext cx="2259863" cy="307777"/>
          </a:xfrm>
          <a:prstGeom prst="rect">
            <a:avLst/>
          </a:prstGeom>
          <a:noFill/>
        </p:spPr>
        <p:txBody>
          <a:bodyPr wrap="square" rtlCol="0">
            <a:spAutoFit/>
          </a:bodyPr>
          <a:lstStyle/>
          <a:p>
            <a:pPr algn="ctr" defTabSz="514350"/>
            <a:r>
              <a:rPr lang="en-US" sz="1400" spc="-150" dirty="0">
                <a:solidFill>
                  <a:schemeClr val="bg1"/>
                </a:solidFill>
                <a:latin typeface="Lato" panose="020F0502020204030203" pitchFamily="34" charset="0"/>
                <a:ea typeface="Lato Medium" panose="020F0502020204030203" pitchFamily="34" charset="0"/>
                <a:cs typeface="Lato Medium" panose="020F0502020204030203" pitchFamily="34" charset="0"/>
              </a:rPr>
              <a:t>C H A R A C T E R</a:t>
            </a:r>
          </a:p>
        </p:txBody>
      </p:sp>
      <p:sp>
        <p:nvSpPr>
          <p:cNvPr id="5" name="Rectangle 4">
            <a:extLst>
              <a:ext uri="{FF2B5EF4-FFF2-40B4-BE49-F238E27FC236}">
                <a16:creationId xmlns:a16="http://schemas.microsoft.com/office/drawing/2014/main" id="{D9D5FF91-5F72-4CEC-5BA0-48DD6E63F34E}"/>
              </a:ext>
            </a:extLst>
          </p:cNvPr>
          <p:cNvSpPr/>
          <p:nvPr/>
        </p:nvSpPr>
        <p:spPr>
          <a:xfrm>
            <a:off x="473242" y="200526"/>
            <a:ext cx="1437429" cy="3769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lose up of a logo&#10;&#10;Description automatically generated">
            <a:extLst>
              <a:ext uri="{FF2B5EF4-FFF2-40B4-BE49-F238E27FC236}">
                <a16:creationId xmlns:a16="http://schemas.microsoft.com/office/drawing/2014/main" id="{2765EE40-FC21-B40D-6627-F502B2FFD8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5772" y="0"/>
            <a:ext cx="8055428" cy="5143500"/>
          </a:xfrm>
          <a:prstGeom prst="rect">
            <a:avLst/>
          </a:prstGeom>
        </p:spPr>
      </p:pic>
      <p:pic>
        <p:nvPicPr>
          <p:cNvPr id="7" name="Picture 6" descr="A picture containing text, sign, clipart&#10;&#10;Description automatically generated">
            <a:extLst>
              <a:ext uri="{FF2B5EF4-FFF2-40B4-BE49-F238E27FC236}">
                <a16:creationId xmlns:a16="http://schemas.microsoft.com/office/drawing/2014/main" id="{C012A189-B78D-2A5D-72B0-2C122BBDCC37}"/>
              </a:ext>
            </a:extLst>
          </p:cNvPr>
          <p:cNvPicPr>
            <a:picLocks noChangeAspect="1"/>
          </p:cNvPicPr>
          <p:nvPr/>
        </p:nvPicPr>
        <p:blipFill rotWithShape="1">
          <a:blip r:embed="rId5">
            <a:extLst>
              <a:ext uri="{28A0092B-C50C-407E-A947-70E740481C1C}">
                <a14:useLocalDpi xmlns:a14="http://schemas.microsoft.com/office/drawing/2010/main" val="0"/>
              </a:ext>
            </a:extLst>
          </a:blip>
          <a:srcRect b="15817"/>
          <a:stretch/>
        </p:blipFill>
        <p:spPr>
          <a:xfrm>
            <a:off x="424207" y="178174"/>
            <a:ext cx="1170741" cy="167459"/>
          </a:xfrm>
          <a:prstGeom prst="rect">
            <a:avLst/>
          </a:prstGeom>
        </p:spPr>
      </p:pic>
      <p:sp>
        <p:nvSpPr>
          <p:cNvPr id="6" name="Title 1">
            <a:extLst>
              <a:ext uri="{FF2B5EF4-FFF2-40B4-BE49-F238E27FC236}">
                <a16:creationId xmlns:a16="http://schemas.microsoft.com/office/drawing/2014/main" id="{BCBCAC25-0137-9148-EEDB-9DAC2B19BA48}"/>
              </a:ext>
            </a:extLst>
          </p:cNvPr>
          <p:cNvSpPr txBox="1">
            <a:spLocks/>
          </p:cNvSpPr>
          <p:nvPr/>
        </p:nvSpPr>
        <p:spPr>
          <a:xfrm>
            <a:off x="455962" y="422989"/>
            <a:ext cx="6334248" cy="653808"/>
          </a:xfrm>
          <a:prstGeom prst="rect">
            <a:avLst/>
          </a:prstGeom>
        </p:spPr>
        <p:txBody>
          <a:bodyPr vert="horz" lIns="0" tIns="0" rIns="0" bIns="0" rtlCol="0" anchor="b" anchorCtr="0">
            <a:normAutofit/>
          </a:bodyPr>
          <a:lstStyle>
            <a:lvl1pPr algn="l" defTabSz="685800" rtl="0" eaLnBrk="1" latinLnBrk="0" hangingPunct="1">
              <a:lnSpc>
                <a:spcPct val="90000"/>
              </a:lnSpc>
              <a:spcBef>
                <a:spcPct val="0"/>
              </a:spcBef>
              <a:buNone/>
              <a:defRPr sz="2800" kern="1200">
                <a:solidFill>
                  <a:srgbClr val="232526"/>
                </a:solidFill>
                <a:latin typeface="Lato" panose="020F0502020204030203" pitchFamily="34" charset="0"/>
                <a:ea typeface="Lato" panose="020F0502020204030203" pitchFamily="34" charset="0"/>
                <a:cs typeface="Lato" panose="020F0502020204030203" pitchFamily="34" charset="0"/>
              </a:defRPr>
            </a:lvl1pPr>
          </a:lstStyle>
          <a:p>
            <a:r>
              <a:rPr lang="en-US" sz="2000" dirty="0">
                <a:latin typeface="Lato"/>
                <a:ea typeface="Lato"/>
                <a:cs typeface="Lato"/>
              </a:rPr>
              <a:t>Case Study 1</a:t>
            </a:r>
          </a:p>
          <a:p>
            <a:endParaRPr lang="en-US" sz="1400" dirty="0">
              <a:solidFill>
                <a:srgbClr val="212526"/>
              </a:solidFill>
            </a:endParaRPr>
          </a:p>
        </p:txBody>
      </p:sp>
      <p:sp>
        <p:nvSpPr>
          <p:cNvPr id="8" name="TextBox 7">
            <a:extLst>
              <a:ext uri="{FF2B5EF4-FFF2-40B4-BE49-F238E27FC236}">
                <a16:creationId xmlns:a16="http://schemas.microsoft.com/office/drawing/2014/main" id="{D2EC90C0-5C5A-A4E5-FD81-E907421A7B60}"/>
              </a:ext>
            </a:extLst>
          </p:cNvPr>
          <p:cNvSpPr txBox="1"/>
          <p:nvPr/>
        </p:nvSpPr>
        <p:spPr>
          <a:xfrm>
            <a:off x="346815" y="1027032"/>
            <a:ext cx="5480238" cy="3712298"/>
          </a:xfrm>
          <a:prstGeom prst="rect">
            <a:avLst/>
          </a:prstGeom>
          <a:noFill/>
        </p:spPr>
        <p:txBody>
          <a:bodyPr wrap="square" lIns="91440" tIns="45720" rIns="91440" bIns="45720" rtlCol="0" anchor="t">
            <a:spAutoFit/>
          </a:bodyPr>
          <a:lstStyle/>
          <a:p>
            <a:pPr defTabSz="685800"/>
            <a:r>
              <a:rPr lang="en-US" sz="1400" dirty="0">
                <a:latin typeface="Lato"/>
                <a:ea typeface="Lato"/>
                <a:cs typeface="Lato"/>
              </a:rPr>
              <a:t>A new employee  who has been with the organization for six months mentioned one of his senior coworkers has the habit of shouting and making demeaning remarks to other employees in the office. When employees would ask him for advice on topics in his area of expertise, he would tell them to use their common sense. Other times he would demand rudely to drop whatever they were working on and help him with his projects. The new employee attempted to speak with his supervisor about the situation but was told not to make a mountain out of a molehill. </a:t>
            </a:r>
          </a:p>
          <a:p>
            <a:pPr defTabSz="685800"/>
            <a:endParaRPr lang="en-US" sz="1400" dirty="0">
              <a:latin typeface="Lato"/>
              <a:ea typeface="Lato"/>
              <a:cs typeface="Lato"/>
            </a:endParaRPr>
          </a:p>
          <a:p>
            <a:pPr defTabSz="685800"/>
            <a:endParaRPr lang="en-US" sz="1400" dirty="0">
              <a:latin typeface="Lato" panose="020F0502020204030203" pitchFamily="34" charset="77"/>
              <a:ea typeface="Lato"/>
              <a:cs typeface="Lato"/>
            </a:endParaRPr>
          </a:p>
          <a:p>
            <a:pPr defTabSz="685800">
              <a:lnSpc>
                <a:spcPct val="150000"/>
              </a:lnSpc>
            </a:pPr>
            <a:r>
              <a:rPr lang="en-US" sz="1400" dirty="0">
                <a:latin typeface="Lato" panose="020F0502020204030203" pitchFamily="34" charset="77"/>
                <a:ea typeface="Lato"/>
                <a:cs typeface="Lato"/>
              </a:rPr>
              <a:t>Question: List behaviors of the senior coworker that you noticed. </a:t>
            </a:r>
          </a:p>
          <a:p>
            <a:pPr defTabSz="685800">
              <a:lnSpc>
                <a:spcPct val="150000"/>
              </a:lnSpc>
            </a:pPr>
            <a:r>
              <a:rPr lang="en-US" sz="1400" dirty="0">
                <a:latin typeface="Lato"/>
                <a:ea typeface="Lato"/>
                <a:cs typeface="Lato"/>
              </a:rPr>
              <a:t>Question: What can you say about the supervisor’s reaction?</a:t>
            </a:r>
          </a:p>
          <a:p>
            <a:pPr defTabSz="685800">
              <a:lnSpc>
                <a:spcPct val="150000"/>
              </a:lnSpc>
            </a:pPr>
            <a:r>
              <a:rPr lang="en-US" sz="1400" dirty="0">
                <a:latin typeface="Lato" panose="020F0502020204030203" pitchFamily="34" charset="77"/>
                <a:ea typeface="Lato"/>
                <a:cs typeface="Lato"/>
              </a:rPr>
              <a:t>Question: As a leader, how would you handle the situation differently? </a:t>
            </a:r>
          </a:p>
        </p:txBody>
      </p:sp>
      <p:pic>
        <p:nvPicPr>
          <p:cNvPr id="9" name="Picture 8">
            <a:extLst>
              <a:ext uri="{FF2B5EF4-FFF2-40B4-BE49-F238E27FC236}">
                <a16:creationId xmlns:a16="http://schemas.microsoft.com/office/drawing/2014/main" id="{9D87D1DF-8BB2-C940-DD4A-06E121D28DF0}"/>
              </a:ext>
            </a:extLst>
          </p:cNvPr>
          <p:cNvPicPr>
            <a:picLocks noChangeAspect="1"/>
          </p:cNvPicPr>
          <p:nvPr/>
        </p:nvPicPr>
        <p:blipFill>
          <a:blip r:embed="rId6"/>
          <a:stretch>
            <a:fillRect/>
          </a:stretch>
        </p:blipFill>
        <p:spPr>
          <a:xfrm>
            <a:off x="8051504" y="4242246"/>
            <a:ext cx="901996" cy="750258"/>
          </a:xfrm>
          <a:prstGeom prst="rect">
            <a:avLst/>
          </a:prstGeom>
        </p:spPr>
      </p:pic>
      <p:sp>
        <p:nvSpPr>
          <p:cNvPr id="11" name="Rectangle 10">
            <a:extLst>
              <a:ext uri="{FF2B5EF4-FFF2-40B4-BE49-F238E27FC236}">
                <a16:creationId xmlns:a16="http://schemas.microsoft.com/office/drawing/2014/main" id="{EE2B4846-AFAF-72FC-D55A-5164CB170DC3}"/>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7C81F47-A0BE-B231-81B0-9072A35636E9}"/>
              </a:ext>
            </a:extLst>
          </p:cNvPr>
          <p:cNvSpPr txBox="1"/>
          <p:nvPr/>
        </p:nvSpPr>
        <p:spPr>
          <a:xfrm>
            <a:off x="239784" y="4849257"/>
            <a:ext cx="524503"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8</a:t>
            </a:r>
          </a:p>
        </p:txBody>
      </p:sp>
    </p:spTree>
    <p:extLst>
      <p:ext uri="{BB962C8B-B14F-4D97-AF65-F5344CB8AC3E}">
        <p14:creationId xmlns:p14="http://schemas.microsoft.com/office/powerpoint/2010/main" val="14253145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B68FC9-7ECA-A14E-F763-AB40CB7860E4}"/>
              </a:ext>
            </a:extLst>
          </p:cNvPr>
          <p:cNvSpPr/>
          <p:nvPr/>
        </p:nvSpPr>
        <p:spPr>
          <a:xfrm>
            <a:off x="3481137" y="0"/>
            <a:ext cx="5662863"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F574C4BB-8A24-33CF-D0EE-E9B7998EF476}"/>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b="38114"/>
          <a:stretch/>
        </p:blipFill>
        <p:spPr>
          <a:xfrm flipH="1">
            <a:off x="7096402" y="-1"/>
            <a:ext cx="2047591" cy="5143501"/>
          </a:xfrm>
          <a:prstGeom prst="rect">
            <a:avLst/>
          </a:prstGeom>
        </p:spPr>
      </p:pic>
      <p:sp>
        <p:nvSpPr>
          <p:cNvPr id="3" name="TextBox 2">
            <a:extLst>
              <a:ext uri="{FF2B5EF4-FFF2-40B4-BE49-F238E27FC236}">
                <a16:creationId xmlns:a16="http://schemas.microsoft.com/office/drawing/2014/main" id="{D5ECAA01-3780-A531-82CE-111CE4AC5256}"/>
              </a:ext>
            </a:extLst>
          </p:cNvPr>
          <p:cNvSpPr txBox="1"/>
          <p:nvPr/>
        </p:nvSpPr>
        <p:spPr>
          <a:xfrm>
            <a:off x="1910671" y="2883181"/>
            <a:ext cx="2259863" cy="307777"/>
          </a:xfrm>
          <a:prstGeom prst="rect">
            <a:avLst/>
          </a:prstGeom>
          <a:noFill/>
        </p:spPr>
        <p:txBody>
          <a:bodyPr wrap="square" rtlCol="0">
            <a:spAutoFit/>
          </a:bodyPr>
          <a:lstStyle/>
          <a:p>
            <a:pPr algn="ctr" defTabSz="514350"/>
            <a:r>
              <a:rPr lang="en-US" sz="1400" spc="-150" dirty="0">
                <a:solidFill>
                  <a:schemeClr val="bg1"/>
                </a:solidFill>
                <a:latin typeface="Lato" panose="020F0502020204030203" pitchFamily="34" charset="0"/>
                <a:ea typeface="Lato Medium" panose="020F0502020204030203" pitchFamily="34" charset="0"/>
                <a:cs typeface="Lato Medium" panose="020F0502020204030203" pitchFamily="34" charset="0"/>
              </a:rPr>
              <a:t>C H A R A C T E R</a:t>
            </a:r>
          </a:p>
        </p:txBody>
      </p:sp>
      <p:sp>
        <p:nvSpPr>
          <p:cNvPr id="5" name="Rectangle 4">
            <a:extLst>
              <a:ext uri="{FF2B5EF4-FFF2-40B4-BE49-F238E27FC236}">
                <a16:creationId xmlns:a16="http://schemas.microsoft.com/office/drawing/2014/main" id="{D9D5FF91-5F72-4CEC-5BA0-48DD6E63F34E}"/>
              </a:ext>
            </a:extLst>
          </p:cNvPr>
          <p:cNvSpPr/>
          <p:nvPr/>
        </p:nvSpPr>
        <p:spPr>
          <a:xfrm>
            <a:off x="473242" y="200526"/>
            <a:ext cx="1437429" cy="3769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lose up of a logo&#10;&#10;Description automatically generated">
            <a:extLst>
              <a:ext uri="{FF2B5EF4-FFF2-40B4-BE49-F238E27FC236}">
                <a16:creationId xmlns:a16="http://schemas.microsoft.com/office/drawing/2014/main" id="{2765EE40-FC21-B40D-6627-F502B2FFD8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5772" y="0"/>
            <a:ext cx="8055428" cy="5143500"/>
          </a:xfrm>
          <a:prstGeom prst="rect">
            <a:avLst/>
          </a:prstGeom>
        </p:spPr>
      </p:pic>
      <p:pic>
        <p:nvPicPr>
          <p:cNvPr id="7" name="Picture 6" descr="A picture containing text, sign, clipart&#10;&#10;Description automatically generated">
            <a:extLst>
              <a:ext uri="{FF2B5EF4-FFF2-40B4-BE49-F238E27FC236}">
                <a16:creationId xmlns:a16="http://schemas.microsoft.com/office/drawing/2014/main" id="{C012A189-B78D-2A5D-72B0-2C122BBDCC37}"/>
              </a:ext>
            </a:extLst>
          </p:cNvPr>
          <p:cNvPicPr>
            <a:picLocks noChangeAspect="1"/>
          </p:cNvPicPr>
          <p:nvPr/>
        </p:nvPicPr>
        <p:blipFill rotWithShape="1">
          <a:blip r:embed="rId5">
            <a:extLst>
              <a:ext uri="{28A0092B-C50C-407E-A947-70E740481C1C}">
                <a14:useLocalDpi xmlns:a14="http://schemas.microsoft.com/office/drawing/2010/main" val="0"/>
              </a:ext>
            </a:extLst>
          </a:blip>
          <a:srcRect b="15817"/>
          <a:stretch/>
        </p:blipFill>
        <p:spPr>
          <a:xfrm>
            <a:off x="424207" y="178174"/>
            <a:ext cx="1170741" cy="167459"/>
          </a:xfrm>
          <a:prstGeom prst="rect">
            <a:avLst/>
          </a:prstGeom>
        </p:spPr>
      </p:pic>
      <p:sp>
        <p:nvSpPr>
          <p:cNvPr id="6" name="Title 1">
            <a:extLst>
              <a:ext uri="{FF2B5EF4-FFF2-40B4-BE49-F238E27FC236}">
                <a16:creationId xmlns:a16="http://schemas.microsoft.com/office/drawing/2014/main" id="{BCBCAC25-0137-9148-EEDB-9DAC2B19BA48}"/>
              </a:ext>
            </a:extLst>
          </p:cNvPr>
          <p:cNvSpPr txBox="1">
            <a:spLocks/>
          </p:cNvSpPr>
          <p:nvPr/>
        </p:nvSpPr>
        <p:spPr>
          <a:xfrm>
            <a:off x="518964" y="649634"/>
            <a:ext cx="6334248" cy="653808"/>
          </a:xfrm>
          <a:prstGeom prst="rect">
            <a:avLst/>
          </a:prstGeom>
        </p:spPr>
        <p:txBody>
          <a:bodyPr vert="horz" lIns="0" tIns="0" rIns="0" bIns="0" rtlCol="0" anchor="b" anchorCtr="0">
            <a:normAutofit/>
          </a:bodyPr>
          <a:lstStyle>
            <a:lvl1pPr algn="l" defTabSz="685800" rtl="0" eaLnBrk="1" latinLnBrk="0" hangingPunct="1">
              <a:lnSpc>
                <a:spcPct val="90000"/>
              </a:lnSpc>
              <a:spcBef>
                <a:spcPct val="0"/>
              </a:spcBef>
              <a:buNone/>
              <a:defRPr sz="2800" kern="1200">
                <a:solidFill>
                  <a:srgbClr val="232526"/>
                </a:solidFill>
                <a:latin typeface="Lato" panose="020F0502020204030203" pitchFamily="34" charset="0"/>
                <a:ea typeface="Lato" panose="020F0502020204030203" pitchFamily="34" charset="0"/>
                <a:cs typeface="Lato" panose="020F0502020204030203" pitchFamily="34" charset="0"/>
              </a:defRPr>
            </a:lvl1pPr>
          </a:lstStyle>
          <a:p>
            <a:r>
              <a:rPr lang="en-US" sz="2000" dirty="0">
                <a:latin typeface="Lato"/>
                <a:ea typeface="Lato"/>
                <a:cs typeface="Lato"/>
              </a:rPr>
              <a:t>Case Study 2</a:t>
            </a:r>
          </a:p>
          <a:p>
            <a:endParaRPr lang="en-US" sz="1400" dirty="0">
              <a:solidFill>
                <a:srgbClr val="212526"/>
              </a:solidFill>
            </a:endParaRPr>
          </a:p>
        </p:txBody>
      </p:sp>
      <p:sp>
        <p:nvSpPr>
          <p:cNvPr id="9" name="TextBox 8">
            <a:extLst>
              <a:ext uri="{FF2B5EF4-FFF2-40B4-BE49-F238E27FC236}">
                <a16:creationId xmlns:a16="http://schemas.microsoft.com/office/drawing/2014/main" id="{808B93D5-BE58-741D-6EBF-3AA6C3CC4BBD}"/>
              </a:ext>
            </a:extLst>
          </p:cNvPr>
          <p:cNvSpPr txBox="1"/>
          <p:nvPr/>
        </p:nvSpPr>
        <p:spPr>
          <a:xfrm>
            <a:off x="415981" y="1159633"/>
            <a:ext cx="5800555" cy="2031325"/>
          </a:xfrm>
          <a:prstGeom prst="rect">
            <a:avLst/>
          </a:prstGeom>
          <a:noFill/>
        </p:spPr>
        <p:txBody>
          <a:bodyPr wrap="square" lIns="91440" tIns="45720" rIns="91440" bIns="45720" rtlCol="0" anchor="t">
            <a:spAutoFit/>
          </a:bodyPr>
          <a:lstStyle/>
          <a:p>
            <a:pPr defTabSz="685800"/>
            <a:r>
              <a:rPr lang="en-US" sz="1400" dirty="0">
                <a:latin typeface="Lato"/>
                <a:ea typeface="Lato"/>
                <a:cs typeface="Lato"/>
              </a:rPr>
              <a:t>Susan had a major calibration call  scheduled with a client’s team today. Due to lack of time, she did not check the tool in advance and proceeded with the meeting. At the beginning of the calibration call, an unexpected error stopped the tool from working. Susan tried to manage the situation by mentioning  she checked and confirmed that the tool was working right before the meeting. Despite this, the clients were unhappy and shared their feedback that they could have been informed in advance and this meeting could have been rescheduled so that they could invest their time on other important deliverables.  </a:t>
            </a:r>
          </a:p>
        </p:txBody>
      </p:sp>
      <p:sp>
        <p:nvSpPr>
          <p:cNvPr id="10" name="TextBox 9">
            <a:extLst>
              <a:ext uri="{FF2B5EF4-FFF2-40B4-BE49-F238E27FC236}">
                <a16:creationId xmlns:a16="http://schemas.microsoft.com/office/drawing/2014/main" id="{4CD738DC-83C8-8AEB-75F9-6A721BB2F94D}"/>
              </a:ext>
            </a:extLst>
          </p:cNvPr>
          <p:cNvSpPr txBox="1"/>
          <p:nvPr/>
        </p:nvSpPr>
        <p:spPr>
          <a:xfrm>
            <a:off x="415980" y="3386871"/>
            <a:ext cx="5800555" cy="1342419"/>
          </a:xfrm>
          <a:prstGeom prst="rect">
            <a:avLst/>
          </a:prstGeom>
          <a:noFill/>
        </p:spPr>
        <p:txBody>
          <a:bodyPr wrap="square" lIns="91440" tIns="45720" rIns="91440" bIns="45720" rtlCol="0" anchor="t">
            <a:spAutoFit/>
          </a:bodyPr>
          <a:lstStyle/>
          <a:p>
            <a:pPr defTabSz="685800">
              <a:lnSpc>
                <a:spcPct val="150000"/>
              </a:lnSpc>
            </a:pPr>
            <a:r>
              <a:rPr lang="en-US" sz="1400" dirty="0">
                <a:latin typeface="Lato"/>
                <a:ea typeface="Lato"/>
                <a:cs typeface="Lato"/>
              </a:rPr>
              <a:t>Question: What character did Susan demonstrate here?</a:t>
            </a:r>
          </a:p>
          <a:p>
            <a:pPr defTabSz="685800">
              <a:lnSpc>
                <a:spcPct val="150000"/>
              </a:lnSpc>
            </a:pPr>
            <a:r>
              <a:rPr lang="en-US" sz="1400" dirty="0">
                <a:latin typeface="Lato"/>
                <a:ea typeface="Lato"/>
                <a:cs typeface="Lato"/>
              </a:rPr>
              <a:t>Question: How differently could have Susan approached the issue?</a:t>
            </a:r>
          </a:p>
          <a:p>
            <a:pPr defTabSz="685800">
              <a:lnSpc>
                <a:spcPct val="150000"/>
              </a:lnSpc>
            </a:pPr>
            <a:r>
              <a:rPr lang="en-US" sz="1400" dirty="0">
                <a:latin typeface="Lato"/>
                <a:ea typeface="Lato"/>
                <a:cs typeface="Lato"/>
              </a:rPr>
              <a:t>Question: How do you think Susan’s behavior impacted the clients’ impression on the organization?</a:t>
            </a:r>
          </a:p>
        </p:txBody>
      </p:sp>
      <p:pic>
        <p:nvPicPr>
          <p:cNvPr id="11" name="Picture 10">
            <a:extLst>
              <a:ext uri="{FF2B5EF4-FFF2-40B4-BE49-F238E27FC236}">
                <a16:creationId xmlns:a16="http://schemas.microsoft.com/office/drawing/2014/main" id="{80F5D439-F8F1-9AAF-CE8D-02B3BF84DAC2}"/>
              </a:ext>
            </a:extLst>
          </p:cNvPr>
          <p:cNvPicPr>
            <a:picLocks noChangeAspect="1"/>
          </p:cNvPicPr>
          <p:nvPr/>
        </p:nvPicPr>
        <p:blipFill>
          <a:blip r:embed="rId6"/>
          <a:stretch>
            <a:fillRect/>
          </a:stretch>
        </p:blipFill>
        <p:spPr>
          <a:xfrm>
            <a:off x="8051504" y="4242246"/>
            <a:ext cx="901996" cy="750258"/>
          </a:xfrm>
          <a:prstGeom prst="rect">
            <a:avLst/>
          </a:prstGeom>
        </p:spPr>
      </p:pic>
      <p:sp>
        <p:nvSpPr>
          <p:cNvPr id="12" name="Rectangle 11">
            <a:extLst>
              <a:ext uri="{FF2B5EF4-FFF2-40B4-BE49-F238E27FC236}">
                <a16:creationId xmlns:a16="http://schemas.microsoft.com/office/drawing/2014/main" id="{EE1A7A62-DBC9-3BAD-17F7-299C55605256}"/>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D3B6F05-BDAD-C949-3333-5E58F5D1AD87}"/>
              </a:ext>
            </a:extLst>
          </p:cNvPr>
          <p:cNvSpPr txBox="1"/>
          <p:nvPr/>
        </p:nvSpPr>
        <p:spPr>
          <a:xfrm>
            <a:off x="239784" y="4849257"/>
            <a:ext cx="524503"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9</a:t>
            </a:r>
          </a:p>
        </p:txBody>
      </p:sp>
    </p:spTree>
    <p:extLst>
      <p:ext uri="{BB962C8B-B14F-4D97-AF65-F5344CB8AC3E}">
        <p14:creationId xmlns:p14="http://schemas.microsoft.com/office/powerpoint/2010/main" val="2309147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ECAA01-3780-A531-82CE-111CE4AC5256}"/>
              </a:ext>
            </a:extLst>
          </p:cNvPr>
          <p:cNvSpPr txBox="1"/>
          <p:nvPr/>
        </p:nvSpPr>
        <p:spPr>
          <a:xfrm>
            <a:off x="1910671" y="2883181"/>
            <a:ext cx="2259863" cy="307777"/>
          </a:xfrm>
          <a:prstGeom prst="rect">
            <a:avLst/>
          </a:prstGeom>
          <a:noFill/>
        </p:spPr>
        <p:txBody>
          <a:bodyPr wrap="square" rtlCol="0">
            <a:spAutoFit/>
          </a:bodyPr>
          <a:lstStyle/>
          <a:p>
            <a:pPr algn="ctr" defTabSz="514350"/>
            <a:r>
              <a:rPr lang="en-US" sz="1400" spc="-150" dirty="0">
                <a:solidFill>
                  <a:schemeClr val="bg1"/>
                </a:solidFill>
                <a:latin typeface="Lato" panose="020F0502020204030203" pitchFamily="34" charset="0"/>
                <a:ea typeface="Lato Medium" panose="020F0502020204030203" pitchFamily="34" charset="0"/>
                <a:cs typeface="Lato Medium" panose="020F0502020204030203" pitchFamily="34" charset="0"/>
              </a:rPr>
              <a:t>C H A R A C T E R</a:t>
            </a:r>
          </a:p>
        </p:txBody>
      </p:sp>
      <p:sp>
        <p:nvSpPr>
          <p:cNvPr id="2" name="Rectangle 1">
            <a:extLst>
              <a:ext uri="{FF2B5EF4-FFF2-40B4-BE49-F238E27FC236}">
                <a16:creationId xmlns:a16="http://schemas.microsoft.com/office/drawing/2014/main" id="{00B68FC9-7ECA-A14E-F763-AB40CB7860E4}"/>
              </a:ext>
            </a:extLst>
          </p:cNvPr>
          <p:cNvSpPr/>
          <p:nvPr/>
        </p:nvSpPr>
        <p:spPr>
          <a:xfrm>
            <a:off x="3477342" y="0"/>
            <a:ext cx="5662863"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9D5FF91-5F72-4CEC-5BA0-48DD6E63F34E}"/>
              </a:ext>
            </a:extLst>
          </p:cNvPr>
          <p:cNvSpPr/>
          <p:nvPr/>
        </p:nvSpPr>
        <p:spPr>
          <a:xfrm>
            <a:off x="473242" y="200526"/>
            <a:ext cx="1437429" cy="3769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ubtitle 3">
            <a:extLst>
              <a:ext uri="{FF2B5EF4-FFF2-40B4-BE49-F238E27FC236}">
                <a16:creationId xmlns:a16="http://schemas.microsoft.com/office/drawing/2014/main" id="{372D81B0-D17F-9841-A81F-27688F879415}"/>
              </a:ext>
            </a:extLst>
          </p:cNvPr>
          <p:cNvSpPr>
            <a:spLocks noGrp="1"/>
          </p:cNvSpPr>
          <p:nvPr>
            <p:ph type="subTitle" idx="1"/>
          </p:nvPr>
        </p:nvSpPr>
        <p:spPr>
          <a:xfrm>
            <a:off x="2204684" y="1950839"/>
            <a:ext cx="5123215" cy="1241822"/>
          </a:xfrm>
        </p:spPr>
        <p:txBody>
          <a:bodyPr>
            <a:normAutofit/>
          </a:bodyPr>
          <a:lstStyle/>
          <a:p>
            <a:pPr algn="ctr"/>
            <a:r>
              <a:rPr lang="en-US" sz="2000" b="1" i="1" dirty="0"/>
              <a:t>Character</a:t>
            </a:r>
            <a:r>
              <a:rPr lang="en-US" sz="2000" i="1" dirty="0"/>
              <a:t> is like a tree and reputation is like its shadow. The shadow is what we think of it; the tree is the real thing.</a:t>
            </a:r>
          </a:p>
          <a:p>
            <a:pPr algn="ctr"/>
            <a:r>
              <a:rPr lang="en-US" sz="1600" i="1" dirty="0"/>
              <a:t>- Abraham Lincoln</a:t>
            </a:r>
          </a:p>
        </p:txBody>
      </p:sp>
      <p:pic>
        <p:nvPicPr>
          <p:cNvPr id="7" name="Picture 6" descr="A picture containing text, sign, clipart&#10;&#10;Description automatically generated">
            <a:extLst>
              <a:ext uri="{FF2B5EF4-FFF2-40B4-BE49-F238E27FC236}">
                <a16:creationId xmlns:a16="http://schemas.microsoft.com/office/drawing/2014/main" id="{C012A189-B78D-2A5D-72B0-2C122BBDCC37}"/>
              </a:ext>
            </a:extLst>
          </p:cNvPr>
          <p:cNvPicPr>
            <a:picLocks noChangeAspect="1"/>
          </p:cNvPicPr>
          <p:nvPr/>
        </p:nvPicPr>
        <p:blipFill rotWithShape="1">
          <a:blip r:embed="rId3">
            <a:extLst>
              <a:ext uri="{28A0092B-C50C-407E-A947-70E740481C1C}">
                <a14:useLocalDpi xmlns:a14="http://schemas.microsoft.com/office/drawing/2010/main" val="0"/>
              </a:ext>
            </a:extLst>
          </a:blip>
          <a:srcRect b="15817"/>
          <a:stretch/>
        </p:blipFill>
        <p:spPr>
          <a:xfrm>
            <a:off x="424207" y="178174"/>
            <a:ext cx="1170741" cy="167459"/>
          </a:xfrm>
          <a:prstGeom prst="rect">
            <a:avLst/>
          </a:prstGeom>
        </p:spPr>
      </p:pic>
      <p:pic>
        <p:nvPicPr>
          <p:cNvPr id="8" name="Picture 7">
            <a:extLst>
              <a:ext uri="{FF2B5EF4-FFF2-40B4-BE49-F238E27FC236}">
                <a16:creationId xmlns:a16="http://schemas.microsoft.com/office/drawing/2014/main" id="{2A0F0F40-7129-D907-1D77-A8C0CF6CEEF2}"/>
              </a:ext>
            </a:extLst>
          </p:cNvPr>
          <p:cNvPicPr>
            <a:picLocks noChangeAspect="1"/>
          </p:cNvPicPr>
          <p:nvPr/>
        </p:nvPicPr>
        <p:blipFill>
          <a:blip r:embed="rId4"/>
          <a:stretch>
            <a:fillRect/>
          </a:stretch>
        </p:blipFill>
        <p:spPr>
          <a:xfrm>
            <a:off x="4315293" y="3302446"/>
            <a:ext cx="901996" cy="750258"/>
          </a:xfrm>
          <a:prstGeom prst="rect">
            <a:avLst/>
          </a:prstGeom>
          <a:effectLst>
            <a:outerShdw blurRad="50800" dist="38100" dir="2700000" algn="tl" rotWithShape="0">
              <a:prstClr val="black">
                <a:alpha val="40000"/>
              </a:prstClr>
            </a:outerShdw>
          </a:effectLst>
        </p:spPr>
      </p:pic>
      <p:sp>
        <p:nvSpPr>
          <p:cNvPr id="4" name="Rectangle 3">
            <a:extLst>
              <a:ext uri="{FF2B5EF4-FFF2-40B4-BE49-F238E27FC236}">
                <a16:creationId xmlns:a16="http://schemas.microsoft.com/office/drawing/2014/main" id="{9E54E1BE-268C-D33E-6402-0371AB4129AE}"/>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E4ACD8D-F176-660C-519C-7021F5987FC0}"/>
              </a:ext>
            </a:extLst>
          </p:cNvPr>
          <p:cNvSpPr txBox="1"/>
          <p:nvPr/>
        </p:nvSpPr>
        <p:spPr>
          <a:xfrm>
            <a:off x="206121" y="4849257"/>
            <a:ext cx="591830"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10</a:t>
            </a:r>
          </a:p>
        </p:txBody>
      </p:sp>
    </p:spTree>
    <p:extLst>
      <p:ext uri="{BB962C8B-B14F-4D97-AF65-F5344CB8AC3E}">
        <p14:creationId xmlns:p14="http://schemas.microsoft.com/office/powerpoint/2010/main" val="2282602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close up of a logo&#10;&#10;Description automatically generated">
            <a:extLst>
              <a:ext uri="{FF2B5EF4-FFF2-40B4-BE49-F238E27FC236}">
                <a16:creationId xmlns:a16="http://schemas.microsoft.com/office/drawing/2014/main" id="{34FD364F-B6D4-4A6B-CBCC-54E958C1FE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3675" y="0"/>
            <a:ext cx="7315200" cy="5143500"/>
          </a:xfrm>
          <a:prstGeom prst="rect">
            <a:avLst/>
          </a:prstGeom>
        </p:spPr>
      </p:pic>
      <p:pic>
        <p:nvPicPr>
          <p:cNvPr id="12" name="Picture 11" descr="A picture containing text, sign, clipart&#10;&#10;Description automatically generated">
            <a:extLst>
              <a:ext uri="{FF2B5EF4-FFF2-40B4-BE49-F238E27FC236}">
                <a16:creationId xmlns:a16="http://schemas.microsoft.com/office/drawing/2014/main" id="{0CF78E8A-7A6A-86C5-2AFF-504904BA3F61}"/>
              </a:ext>
            </a:extLst>
          </p:cNvPr>
          <p:cNvPicPr>
            <a:picLocks noChangeAspect="1"/>
          </p:cNvPicPr>
          <p:nvPr/>
        </p:nvPicPr>
        <p:blipFill rotWithShape="1">
          <a:blip r:embed="rId4">
            <a:extLst>
              <a:ext uri="{28A0092B-C50C-407E-A947-70E740481C1C}">
                <a14:useLocalDpi xmlns:a14="http://schemas.microsoft.com/office/drawing/2010/main" val="0"/>
              </a:ext>
            </a:extLst>
          </a:blip>
          <a:srcRect b="15817"/>
          <a:stretch/>
        </p:blipFill>
        <p:spPr>
          <a:xfrm>
            <a:off x="332635" y="106862"/>
            <a:ext cx="1170741" cy="167459"/>
          </a:xfrm>
          <a:prstGeom prst="rect">
            <a:avLst/>
          </a:prstGeom>
        </p:spPr>
      </p:pic>
      <p:sp>
        <p:nvSpPr>
          <p:cNvPr id="6" name="TextBox 5">
            <a:extLst>
              <a:ext uri="{FF2B5EF4-FFF2-40B4-BE49-F238E27FC236}">
                <a16:creationId xmlns:a16="http://schemas.microsoft.com/office/drawing/2014/main" id="{D49B614A-165D-0FAD-5101-EAC28DFA117F}"/>
              </a:ext>
            </a:extLst>
          </p:cNvPr>
          <p:cNvSpPr txBox="1"/>
          <p:nvPr/>
        </p:nvSpPr>
        <p:spPr>
          <a:xfrm>
            <a:off x="504825" y="533129"/>
            <a:ext cx="5619750" cy="954107"/>
          </a:xfrm>
          <a:prstGeom prst="rect">
            <a:avLst/>
          </a:prstGeom>
          <a:noFill/>
        </p:spPr>
        <p:txBody>
          <a:bodyPr wrap="square">
            <a:spAutoFit/>
          </a:bodyPr>
          <a:lstStyle/>
          <a:p>
            <a:pPr defTabSz="457189"/>
            <a:r>
              <a:rPr lang="en-US" sz="1400" dirty="0">
                <a:solidFill>
                  <a:srgbClr val="212526"/>
                </a:solidFill>
                <a:latin typeface="Lato" panose="020F0502020204030203" pitchFamily="34" charset="0"/>
              </a:rPr>
              <a:t>Thank you for using this material! Let us know if this material is helpful. </a:t>
            </a:r>
          </a:p>
          <a:p>
            <a:pPr defTabSz="457189"/>
            <a:r>
              <a:rPr lang="en-US" sz="1400" dirty="0">
                <a:solidFill>
                  <a:srgbClr val="212526"/>
                </a:solidFill>
                <a:latin typeface="Lato" panose="020F0502020204030203" pitchFamily="34" charset="0"/>
              </a:rPr>
              <a:t> </a:t>
            </a:r>
          </a:p>
          <a:p>
            <a:pPr defTabSz="457189"/>
            <a:r>
              <a:rPr lang="en-US" sz="1400" dirty="0">
                <a:solidFill>
                  <a:srgbClr val="212526"/>
                </a:solidFill>
                <a:latin typeface="Lato" panose="020F0502020204030203" pitchFamily="34" charset="0"/>
              </a:rPr>
              <a:t>Feedback QR Code: </a:t>
            </a:r>
          </a:p>
        </p:txBody>
      </p:sp>
      <p:sp>
        <p:nvSpPr>
          <p:cNvPr id="2" name="Rectangle 1">
            <a:extLst>
              <a:ext uri="{FF2B5EF4-FFF2-40B4-BE49-F238E27FC236}">
                <a16:creationId xmlns:a16="http://schemas.microsoft.com/office/drawing/2014/main" id="{6AA33C5A-A062-9F4D-C45B-73DADAE8E229}"/>
              </a:ext>
            </a:extLst>
          </p:cNvPr>
          <p:cNvSpPr/>
          <p:nvPr/>
        </p:nvSpPr>
        <p:spPr>
          <a:xfrm>
            <a:off x="313769"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en-US">
              <a:solidFill>
                <a:srgbClr val="FFFFFF"/>
              </a:solidFill>
              <a:latin typeface="Arial" panose="020B0604020202020204"/>
            </a:endParaRPr>
          </a:p>
        </p:txBody>
      </p:sp>
      <p:sp>
        <p:nvSpPr>
          <p:cNvPr id="3" name="TextBox 2">
            <a:extLst>
              <a:ext uri="{FF2B5EF4-FFF2-40B4-BE49-F238E27FC236}">
                <a16:creationId xmlns:a16="http://schemas.microsoft.com/office/drawing/2014/main" id="{07144F5D-2C6C-39A4-3846-992F1DAF87A6}"/>
              </a:ext>
            </a:extLst>
          </p:cNvPr>
          <p:cNvSpPr txBox="1"/>
          <p:nvPr/>
        </p:nvSpPr>
        <p:spPr>
          <a:xfrm>
            <a:off x="204519" y="4849258"/>
            <a:ext cx="595036" cy="230832"/>
          </a:xfrm>
          <a:prstGeom prst="rect">
            <a:avLst/>
          </a:prstGeom>
          <a:noFill/>
        </p:spPr>
        <p:txBody>
          <a:bodyPr wrap="none" rtlCol="0">
            <a:spAutoFit/>
          </a:bodyPr>
          <a:lstStyle/>
          <a:p>
            <a:pPr algn="ctr" defTabSz="685783"/>
            <a:r>
              <a:rPr lang="en-US" sz="900" dirty="0">
                <a:solidFill>
                  <a:srgbClr val="13314E"/>
                </a:solidFill>
                <a:latin typeface="Lato" panose="020F0502020204030203" pitchFamily="34" charset="0"/>
                <a:ea typeface="Lato Medium" panose="020F0502020204030203" pitchFamily="34" charset="0"/>
                <a:cs typeface="Lato Medium" panose="020F0502020204030203" pitchFamily="34" charset="0"/>
              </a:rPr>
              <a:t>Page 11</a:t>
            </a:r>
          </a:p>
        </p:txBody>
      </p:sp>
      <p:sp>
        <p:nvSpPr>
          <p:cNvPr id="5" name="TextBox 4">
            <a:extLst>
              <a:ext uri="{FF2B5EF4-FFF2-40B4-BE49-F238E27FC236}">
                <a16:creationId xmlns:a16="http://schemas.microsoft.com/office/drawing/2014/main" id="{21FD4294-C874-1790-E59B-1DC9BD560729}"/>
              </a:ext>
            </a:extLst>
          </p:cNvPr>
          <p:cNvSpPr txBox="1"/>
          <p:nvPr/>
        </p:nvSpPr>
        <p:spPr>
          <a:xfrm>
            <a:off x="651010" y="4241803"/>
            <a:ext cx="4572000" cy="1169551"/>
          </a:xfrm>
          <a:prstGeom prst="rect">
            <a:avLst/>
          </a:prstGeom>
          <a:noFill/>
        </p:spPr>
        <p:txBody>
          <a:bodyPr wrap="square">
            <a:spAutoFit/>
          </a:bodyPr>
          <a:lstStyle/>
          <a:p>
            <a:pPr defTabSz="457189"/>
            <a:r>
              <a:rPr lang="en-US" sz="1400" dirty="0">
                <a:solidFill>
                  <a:srgbClr val="4D5456">
                    <a:lumMod val="75000"/>
                  </a:srgbClr>
                </a:solidFill>
                <a:latin typeface="Lato" panose="020F0502020204030203" pitchFamily="34" charset="0"/>
              </a:rPr>
              <a:t>Material Feedback link: </a:t>
            </a:r>
            <a:r>
              <a:rPr lang="en-US" sz="1400" dirty="0">
                <a:solidFill>
                  <a:srgbClr val="0070C0"/>
                </a:solidFill>
                <a:latin typeface="Lato" panose="020F0502020204030203" pitchFamily="34" charset="0"/>
                <a:hlinkClick r:id="rId5">
                  <a:extLst>
                    <a:ext uri="{A12FA001-AC4F-418D-AE19-62706E023703}">
                      <ahyp:hlinkClr xmlns:ahyp="http://schemas.microsoft.com/office/drawing/2018/hyperlinkcolor" val="tx"/>
                    </a:ext>
                  </a:extLst>
                </a:hlinkClick>
              </a:rPr>
              <a:t>https://forms.office.com/r/p1UepZ5W1F</a:t>
            </a:r>
            <a:endParaRPr lang="en-US" sz="1400" dirty="0">
              <a:solidFill>
                <a:srgbClr val="0070C0"/>
              </a:solidFill>
              <a:latin typeface="Lato" panose="020F0502020204030203" pitchFamily="34" charset="0"/>
            </a:endParaRPr>
          </a:p>
          <a:p>
            <a:pPr defTabSz="457189"/>
            <a:endParaRPr lang="en-US" sz="1400" dirty="0">
              <a:solidFill>
                <a:srgbClr val="4D5456">
                  <a:lumMod val="75000"/>
                </a:srgbClr>
              </a:solidFill>
              <a:latin typeface="Lato" panose="020F0502020204030203" pitchFamily="34" charset="0"/>
            </a:endParaRPr>
          </a:p>
          <a:p>
            <a:pPr defTabSz="457189"/>
            <a:endParaRPr lang="en-US" sz="1400" dirty="0">
              <a:solidFill>
                <a:srgbClr val="4D5456">
                  <a:lumMod val="75000"/>
                </a:srgbClr>
              </a:solidFill>
              <a:latin typeface="Lato" panose="020F0502020204030203" pitchFamily="34" charset="0"/>
            </a:endParaRPr>
          </a:p>
          <a:p>
            <a:pPr defTabSz="457189"/>
            <a:endParaRPr lang="en-US" sz="1400" dirty="0">
              <a:solidFill>
                <a:srgbClr val="4D5456">
                  <a:lumMod val="75000"/>
                </a:srgbClr>
              </a:solidFill>
              <a:latin typeface="Arial" panose="020B0604020202020204"/>
            </a:endParaRPr>
          </a:p>
        </p:txBody>
      </p:sp>
      <p:pic>
        <p:nvPicPr>
          <p:cNvPr id="8" name="Picture 7">
            <a:extLst>
              <a:ext uri="{FF2B5EF4-FFF2-40B4-BE49-F238E27FC236}">
                <a16:creationId xmlns:a16="http://schemas.microsoft.com/office/drawing/2014/main" id="{AAE5CAAD-1FD9-3CD1-A65A-7DAD8D10DD2E}"/>
              </a:ext>
            </a:extLst>
          </p:cNvPr>
          <p:cNvPicPr>
            <a:picLocks noChangeAspect="1"/>
          </p:cNvPicPr>
          <p:nvPr/>
        </p:nvPicPr>
        <p:blipFill>
          <a:blip r:embed="rId6"/>
          <a:stretch>
            <a:fillRect/>
          </a:stretch>
        </p:blipFill>
        <p:spPr>
          <a:xfrm>
            <a:off x="1664139" y="1585684"/>
            <a:ext cx="2545744" cy="2557668"/>
          </a:xfrm>
          <a:prstGeom prst="rect">
            <a:avLst/>
          </a:prstGeom>
        </p:spPr>
      </p:pic>
    </p:spTree>
    <p:extLst>
      <p:ext uri="{BB962C8B-B14F-4D97-AF65-F5344CB8AC3E}">
        <p14:creationId xmlns:p14="http://schemas.microsoft.com/office/powerpoint/2010/main" val="1250076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ECAA01-3780-A531-82CE-111CE4AC5256}"/>
              </a:ext>
            </a:extLst>
          </p:cNvPr>
          <p:cNvSpPr txBox="1"/>
          <p:nvPr/>
        </p:nvSpPr>
        <p:spPr>
          <a:xfrm>
            <a:off x="1910671" y="2883181"/>
            <a:ext cx="2259863" cy="307777"/>
          </a:xfrm>
          <a:prstGeom prst="rect">
            <a:avLst/>
          </a:prstGeom>
          <a:noFill/>
        </p:spPr>
        <p:txBody>
          <a:bodyPr wrap="square" rtlCol="0">
            <a:spAutoFit/>
          </a:bodyPr>
          <a:lstStyle/>
          <a:p>
            <a:pPr algn="ctr" defTabSz="514350"/>
            <a:r>
              <a:rPr lang="en-US" sz="1400" spc="-150" dirty="0">
                <a:solidFill>
                  <a:schemeClr val="bg1"/>
                </a:solidFill>
                <a:latin typeface="Lato" panose="020F0502020204030203" pitchFamily="34" charset="0"/>
                <a:ea typeface="Lato Medium" panose="020F0502020204030203" pitchFamily="34" charset="0"/>
                <a:cs typeface="Lato Medium" panose="020F0502020204030203" pitchFamily="34" charset="0"/>
              </a:rPr>
              <a:t>C H A R A C T E R</a:t>
            </a:r>
          </a:p>
        </p:txBody>
      </p:sp>
      <p:sp>
        <p:nvSpPr>
          <p:cNvPr id="2" name="Rectangle 1">
            <a:extLst>
              <a:ext uri="{FF2B5EF4-FFF2-40B4-BE49-F238E27FC236}">
                <a16:creationId xmlns:a16="http://schemas.microsoft.com/office/drawing/2014/main" id="{00B68FC9-7ECA-A14E-F763-AB40CB7860E4}"/>
              </a:ext>
            </a:extLst>
          </p:cNvPr>
          <p:cNvSpPr/>
          <p:nvPr/>
        </p:nvSpPr>
        <p:spPr>
          <a:xfrm>
            <a:off x="3481137" y="0"/>
            <a:ext cx="5662863"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9D5FF91-5F72-4CEC-5BA0-48DD6E63F34E}"/>
              </a:ext>
            </a:extLst>
          </p:cNvPr>
          <p:cNvSpPr/>
          <p:nvPr/>
        </p:nvSpPr>
        <p:spPr>
          <a:xfrm>
            <a:off x="473242" y="200526"/>
            <a:ext cx="1437429" cy="3769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icture containing text, sign, clipart&#10;&#10;Description automatically generated">
            <a:extLst>
              <a:ext uri="{FF2B5EF4-FFF2-40B4-BE49-F238E27FC236}">
                <a16:creationId xmlns:a16="http://schemas.microsoft.com/office/drawing/2014/main" id="{C012A189-B78D-2A5D-72B0-2C122BBDCC37}"/>
              </a:ext>
            </a:extLst>
          </p:cNvPr>
          <p:cNvPicPr>
            <a:picLocks noChangeAspect="1"/>
          </p:cNvPicPr>
          <p:nvPr/>
        </p:nvPicPr>
        <p:blipFill rotWithShape="1">
          <a:blip r:embed="rId3">
            <a:extLst>
              <a:ext uri="{28A0092B-C50C-407E-A947-70E740481C1C}">
                <a14:useLocalDpi xmlns:a14="http://schemas.microsoft.com/office/drawing/2010/main" val="0"/>
              </a:ext>
            </a:extLst>
          </a:blip>
          <a:srcRect b="15817"/>
          <a:stretch/>
        </p:blipFill>
        <p:spPr>
          <a:xfrm>
            <a:off x="424207" y="178174"/>
            <a:ext cx="1170741" cy="167459"/>
          </a:xfrm>
          <a:prstGeom prst="rect">
            <a:avLst/>
          </a:prstGeom>
        </p:spPr>
      </p:pic>
      <p:sp>
        <p:nvSpPr>
          <p:cNvPr id="4" name="Subtitle 3">
            <a:extLst>
              <a:ext uri="{FF2B5EF4-FFF2-40B4-BE49-F238E27FC236}">
                <a16:creationId xmlns:a16="http://schemas.microsoft.com/office/drawing/2014/main" id="{9FD05A3C-C199-4CE0-21DC-94C2AC1111B2}"/>
              </a:ext>
            </a:extLst>
          </p:cNvPr>
          <p:cNvSpPr>
            <a:spLocks noGrp="1"/>
          </p:cNvSpPr>
          <p:nvPr>
            <p:ph type="subTitle" idx="1"/>
          </p:nvPr>
        </p:nvSpPr>
        <p:spPr>
          <a:xfrm>
            <a:off x="2204683" y="2052439"/>
            <a:ext cx="5123215" cy="1241822"/>
          </a:xfrm>
        </p:spPr>
        <p:txBody>
          <a:bodyPr>
            <a:normAutofit/>
          </a:bodyPr>
          <a:lstStyle/>
          <a:p>
            <a:pPr algn="ctr"/>
            <a:r>
              <a:rPr lang="en-US" sz="2000" b="1" i="1" dirty="0"/>
              <a:t>Thank you. </a:t>
            </a:r>
            <a:endParaRPr lang="en-US" sz="1600" i="1" dirty="0"/>
          </a:p>
        </p:txBody>
      </p:sp>
      <p:pic>
        <p:nvPicPr>
          <p:cNvPr id="6" name="Picture 5">
            <a:extLst>
              <a:ext uri="{FF2B5EF4-FFF2-40B4-BE49-F238E27FC236}">
                <a16:creationId xmlns:a16="http://schemas.microsoft.com/office/drawing/2014/main" id="{9FEC63E5-738B-0886-ABFD-E8E682F9C14E}"/>
              </a:ext>
            </a:extLst>
          </p:cNvPr>
          <p:cNvPicPr>
            <a:picLocks noChangeAspect="1"/>
          </p:cNvPicPr>
          <p:nvPr/>
        </p:nvPicPr>
        <p:blipFill>
          <a:blip r:embed="rId4"/>
          <a:stretch>
            <a:fillRect/>
          </a:stretch>
        </p:blipFill>
        <p:spPr>
          <a:xfrm>
            <a:off x="4315293" y="2440700"/>
            <a:ext cx="901996" cy="750258"/>
          </a:xfrm>
          <a:prstGeom prst="rect">
            <a:avLst/>
          </a:prstGeom>
          <a:effectLst>
            <a:outerShdw blurRad="50800" dist="38100" dir="2700000" algn="tl" rotWithShape="0">
              <a:prstClr val="black">
                <a:alpha val="40000"/>
              </a:prstClr>
            </a:outerShdw>
          </a:effectLst>
        </p:spPr>
      </p:pic>
      <p:sp>
        <p:nvSpPr>
          <p:cNvPr id="8" name="Rectangle 7">
            <a:extLst>
              <a:ext uri="{FF2B5EF4-FFF2-40B4-BE49-F238E27FC236}">
                <a16:creationId xmlns:a16="http://schemas.microsoft.com/office/drawing/2014/main" id="{01BBCE52-6F7A-A73F-6769-2227E9FDB52B}"/>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2A1A8CA-82C9-0E00-3039-0BE91D9C6F23}"/>
              </a:ext>
            </a:extLst>
          </p:cNvPr>
          <p:cNvSpPr txBox="1"/>
          <p:nvPr/>
        </p:nvSpPr>
        <p:spPr>
          <a:xfrm>
            <a:off x="206121" y="4849257"/>
            <a:ext cx="591830"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12</a:t>
            </a:r>
          </a:p>
        </p:txBody>
      </p:sp>
    </p:spTree>
    <p:extLst>
      <p:ext uri="{BB962C8B-B14F-4D97-AF65-F5344CB8AC3E}">
        <p14:creationId xmlns:p14="http://schemas.microsoft.com/office/powerpoint/2010/main" val="2856519611"/>
      </p:ext>
    </p:extLst>
  </p:cSld>
  <p:clrMapOvr>
    <a:masterClrMapping/>
  </p:clrMapOvr>
</p:sld>
</file>

<file path=ppt/theme/theme1.xml><?xml version="1.0" encoding="utf-8"?>
<a:theme xmlns:a="http://schemas.openxmlformats.org/drawingml/2006/main" name="Office Theme">
  <a:themeElements>
    <a:clrScheme name="RealPage_2022">
      <a:dk1>
        <a:srgbClr val="212526"/>
      </a:dk1>
      <a:lt1>
        <a:srgbClr val="FFFFFF"/>
      </a:lt1>
      <a:dk2>
        <a:srgbClr val="4D5456"/>
      </a:dk2>
      <a:lt2>
        <a:srgbClr val="4AB79C"/>
      </a:lt2>
      <a:accent1>
        <a:srgbClr val="42ADA0"/>
      </a:accent1>
      <a:accent2>
        <a:srgbClr val="35A6A1"/>
      </a:accent2>
      <a:accent3>
        <a:srgbClr val="2B9DA4"/>
      </a:accent3>
      <a:accent4>
        <a:srgbClr val="247888"/>
      </a:accent4>
      <a:accent5>
        <a:srgbClr val="1D546B"/>
      </a:accent5>
      <a:accent6>
        <a:srgbClr val="13314E"/>
      </a:accent6>
      <a:hlink>
        <a:srgbClr val="F3F4F3"/>
      </a:hlink>
      <a:folHlink>
        <a:srgbClr val="86939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ctr" defTabSz="685800">
          <a:defRPr dirty="0" smtClean="0">
            <a:solidFill>
              <a:schemeClr val="accent6"/>
            </a:solidFill>
            <a:latin typeface="Lato Medium" panose="020F0502020204030203" pitchFamily="34" charset="0"/>
            <a:ea typeface="Lato Medium" panose="020F0502020204030203" pitchFamily="34" charset="0"/>
            <a:cs typeface="Lato Medium" panose="020F0502020204030203" pitchFamily="34" charset="0"/>
          </a:defRPr>
        </a:defPPr>
      </a:lstStyle>
    </a:txDef>
  </a:objectDefaults>
  <a:extraClrSchemeLst/>
  <a:extLst>
    <a:ext uri="{05A4C25C-085E-4340-85A3-A5531E510DB2}">
      <thm15:themeFamily xmlns:thm15="http://schemas.microsoft.com/office/thememl/2012/main" name="RealPageStarter" id="{D42A2886-2857-4FC6-9F6F-AFEED83569EF}" vid="{09691F58-D08E-4905-BB8B-1D605285907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811A7D7C6AF7C4B84849BBC7AECD042" ma:contentTypeVersion="7" ma:contentTypeDescription="Create a new document." ma:contentTypeScope="" ma:versionID="d1a1c2fab4bc054141fc059f64628e6a">
  <xsd:schema xmlns:xsd="http://www.w3.org/2001/XMLSchema" xmlns:xs="http://www.w3.org/2001/XMLSchema" xmlns:p="http://schemas.microsoft.com/office/2006/metadata/properties" xmlns:ns2="09f0d035-db3a-41e2-9c9f-cd4fb346005c" targetNamespace="http://schemas.microsoft.com/office/2006/metadata/properties" ma:root="true" ma:fieldsID="79197425f45961dcb975a55f67a80289" ns2:_="">
    <xsd:import namespace="09f0d035-db3a-41e2-9c9f-cd4fb346005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f0d035-db3a-41e2-9c9f-cd4fb346005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59FAFFA-6B97-4984-9F94-617358853AEC}">
  <ds:schemaRefs>
    <ds:schemaRef ds:uri="6c262fc0-bc1f-48e4-9a5d-f7dab1d27bbb"/>
    <ds:schemaRef ds:uri="http://schemas.microsoft.com/office/infopath/2007/PartnerControls"/>
    <ds:schemaRef ds:uri="http://www.w3.org/XML/1998/namespace"/>
    <ds:schemaRef ds:uri="a8c3cf06-7ea6-4d6c-8e13-9057bcf6491c"/>
    <ds:schemaRef ds:uri="http://purl.org/dc/terms/"/>
    <ds:schemaRef ds:uri="http://schemas.microsoft.com/office/2006/documentManagement/types"/>
    <ds:schemaRef ds:uri="http://schemas.microsoft.com/office/2006/metadata/properties"/>
    <ds:schemaRef ds:uri="http://schemas.openxmlformats.org/package/2006/metadata/core-properties"/>
    <ds:schemaRef ds:uri="http://purl.org/dc/dcmitype/"/>
    <ds:schemaRef ds:uri="http://purl.org/dc/elements/1.1/"/>
  </ds:schemaRefs>
</ds:datastoreItem>
</file>

<file path=customXml/itemProps2.xml><?xml version="1.0" encoding="utf-8"?>
<ds:datastoreItem xmlns:ds="http://schemas.openxmlformats.org/officeDocument/2006/customXml" ds:itemID="{702927E3-FB24-4210-AD4B-CECD8496E2DE}">
  <ds:schemaRefs>
    <ds:schemaRef ds:uri="http://schemas.microsoft.com/sharepoint/v3/contenttype/forms"/>
  </ds:schemaRefs>
</ds:datastoreItem>
</file>

<file path=customXml/itemProps3.xml><?xml version="1.0" encoding="utf-8"?>
<ds:datastoreItem xmlns:ds="http://schemas.openxmlformats.org/officeDocument/2006/customXml" ds:itemID="{6B6A9562-756D-40DC-96FC-28D9FF64DFD4}"/>
</file>

<file path=docMetadata/LabelInfo.xml><?xml version="1.0" encoding="utf-8"?>
<clbl:labelList xmlns:clbl="http://schemas.microsoft.com/office/2020/mipLabelMetadata">
  <clbl:label id="{36970c53-fc97-4c45-87e9-80615808800c}" enabled="1" method="Standard" siteId="{2c94bed6-d675-4d3d-a53b-7b461fd6acc2}" removed="0"/>
</clbl:labelList>
</file>

<file path=docProps/app.xml><?xml version="1.0" encoding="utf-8"?>
<Properties xmlns="http://schemas.openxmlformats.org/officeDocument/2006/extended-properties" xmlns:vt="http://schemas.openxmlformats.org/officeDocument/2006/docPropsVTypes">
  <Template>{2D8F2F84-3B37-DF4C-B106-3760A94DDBCF}tf16401378</Template>
  <TotalTime>0</TotalTime>
  <Words>2466</Words>
  <Application>Microsoft Office PowerPoint</Application>
  <PresentationFormat>On-screen Show (16:9)</PresentationFormat>
  <Paragraphs>231</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RealPage Data &amp; Analytics 2021 Strategy Session</dc:title>
  <dc:creator/>
  <cp:lastModifiedBy/>
  <cp:revision>794</cp:revision>
  <dcterms:created xsi:type="dcterms:W3CDTF">2021-10-11T13:29:26Z</dcterms:created>
  <dcterms:modified xsi:type="dcterms:W3CDTF">2023-04-17T16:15:24Z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0x010100B811A7D7C6AF7C4B84849BBC7AECD042</vt:lpwstr>
  </property>
  <property fmtid="{D5CDD505-2E9C-101B-9397-08002B2CF9AE}" pid="3" name="MSIP_Label_36970c53-fc97-4c45-87e9-80615808800c_Enabled">
    <vt:lpwstr>true</vt:lpwstr>
  </property>
  <property fmtid="{D5CDD505-2E9C-101B-9397-08002B2CF9AE}" pid="4" name="MSIP_Label_36970c53-fc97-4c45-87e9-80615808800c_SetDate">
    <vt:lpwstr>2021-12-06T03:15:15Z</vt:lpwstr>
  </property>
  <property fmtid="{D5CDD505-2E9C-101B-9397-08002B2CF9AE}" pid="5" name="MSIP_Label_36970c53-fc97-4c45-87e9-80615808800c_Method">
    <vt:lpwstr>Standard</vt:lpwstr>
  </property>
  <property fmtid="{D5CDD505-2E9C-101B-9397-08002B2CF9AE}" pid="6" name="MSIP_Label_36970c53-fc97-4c45-87e9-80615808800c_Name">
    <vt:lpwstr>Sensitive</vt:lpwstr>
  </property>
  <property fmtid="{D5CDD505-2E9C-101B-9397-08002B2CF9AE}" pid="7" name="MSIP_Label_36970c53-fc97-4c45-87e9-80615808800c_SiteId">
    <vt:lpwstr>2c94bed6-d675-4d3d-a53b-7b461fd6acc2</vt:lpwstr>
  </property>
  <property fmtid="{D5CDD505-2E9C-101B-9397-08002B2CF9AE}" pid="8" name="MSIP_Label_36970c53-fc97-4c45-87e9-80615808800c_ActionId">
    <vt:lpwstr>20a07c41-d574-4be9-b019-d3fdb2ee37b2</vt:lpwstr>
  </property>
  <property fmtid="{D5CDD505-2E9C-101B-9397-08002B2CF9AE}" pid="9" name="MSIP_Label_36970c53-fc97-4c45-87e9-80615808800c_ContentBits">
    <vt:lpwstr>3</vt:lpwstr>
  </property>
  <property fmtid="{D5CDD505-2E9C-101B-9397-08002B2CF9AE}" pid="10" name="MediaServiceImageTags">
    <vt:lpwstr/>
  </property>
</Properties>
</file>