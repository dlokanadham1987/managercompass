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865" r:id="rId4"/>
  </p:sldMasterIdLst>
  <p:notesMasterIdLst>
    <p:notesMasterId r:id="rId17"/>
  </p:notesMasterIdLst>
  <p:handoutMasterIdLst>
    <p:handoutMasterId r:id="rId18"/>
  </p:handoutMasterIdLst>
  <p:sldIdLst>
    <p:sldId id="4840" r:id="rId5"/>
    <p:sldId id="2146846863" r:id="rId6"/>
    <p:sldId id="4801" r:id="rId7"/>
    <p:sldId id="2146846861" r:id="rId8"/>
    <p:sldId id="4888" r:id="rId9"/>
    <p:sldId id="2146846854" r:id="rId10"/>
    <p:sldId id="2146846855" r:id="rId11"/>
    <p:sldId id="2146846856" r:id="rId12"/>
    <p:sldId id="2146846857" r:id="rId13"/>
    <p:sldId id="2146846858" r:id="rId14"/>
    <p:sldId id="2146846862" r:id="rId15"/>
    <p:sldId id="2146846859"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4116BC-A11D-4485-BE55-143E64F0CEA4}">
          <p14:sldIdLst>
            <p14:sldId id="4840"/>
            <p14:sldId id="2146846863"/>
            <p14:sldId id="4801"/>
            <p14:sldId id="2146846861"/>
            <p14:sldId id="4888"/>
            <p14:sldId id="2146846854"/>
            <p14:sldId id="2146846855"/>
            <p14:sldId id="2146846856"/>
            <p14:sldId id="2146846857"/>
            <p14:sldId id="2146846858"/>
            <p14:sldId id="2146846862"/>
            <p14:sldId id="2146846859"/>
          </p14:sldIdLst>
        </p14:section>
      </p14:sectionLst>
    </p:ext>
    <p:ext uri="{EFAFB233-063F-42B5-8137-9DF3F51BA10A}">
      <p15:sldGuideLst xmlns:p15="http://schemas.microsoft.com/office/powerpoint/2012/main">
        <p15:guide id="1" pos="1044" userDrawn="1">
          <p15:clr>
            <a:srgbClr val="A4A3A4"/>
          </p15:clr>
        </p15:guide>
        <p15:guide id="2" pos="1824" userDrawn="1">
          <p15:clr>
            <a:srgbClr val="A4A3A4"/>
          </p15:clr>
        </p15:guide>
        <p15:guide id="3" orient="horz" pos="2940" userDrawn="1">
          <p15:clr>
            <a:srgbClr val="A4A3A4"/>
          </p15:clr>
        </p15:guide>
        <p15:guide id="5" pos="5544" userDrawn="1">
          <p15:clr>
            <a:srgbClr val="A4A3A4"/>
          </p15:clr>
        </p15:guide>
        <p15:guide id="6" userDrawn="1">
          <p15:clr>
            <a:srgbClr val="A4A3A4"/>
          </p15:clr>
        </p15:guide>
        <p15:guide id="7" pos="3072" userDrawn="1">
          <p15:clr>
            <a:srgbClr val="A4A3A4"/>
          </p15:clr>
        </p15:guide>
        <p15:guide id="8" pos="360" userDrawn="1">
          <p15:clr>
            <a:srgbClr val="A4A3A4"/>
          </p15:clr>
        </p15:guide>
        <p15:guide id="9" pos="2256" userDrawn="1">
          <p15:clr>
            <a:srgbClr val="A4A3A4"/>
          </p15:clr>
        </p15:guide>
        <p15:guide id="10" orient="horz" pos="99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6" name="Author" initials="A"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7888"/>
    <a:srgbClr val="40AFA0"/>
    <a:srgbClr val="2B9DA4"/>
    <a:srgbClr val="4AB89D"/>
    <a:srgbClr val="35A6A2"/>
    <a:srgbClr val="13314E"/>
    <a:srgbClr val="2C9DA5"/>
    <a:srgbClr val="4BBA9F"/>
    <a:srgbClr val="2C9FA7"/>
    <a:srgbClr val="FF6F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89315" autoAdjust="0"/>
  </p:normalViewPr>
  <p:slideViewPr>
    <p:cSldViewPr snapToGrid="0">
      <p:cViewPr varScale="1">
        <p:scale>
          <a:sx n="151" d="100"/>
          <a:sy n="151" d="100"/>
        </p:scale>
        <p:origin x="1064" y="176"/>
      </p:cViewPr>
      <p:guideLst>
        <p:guide pos="1044"/>
        <p:guide pos="1824"/>
        <p:guide orient="horz" pos="2940"/>
        <p:guide pos="5544"/>
        <p:guide/>
        <p:guide pos="3072"/>
        <p:guide pos="360"/>
        <p:guide pos="2256"/>
        <p:guide orient="horz" pos="996"/>
      </p:guideLst>
    </p:cSldViewPr>
  </p:slideViewPr>
  <p:notesTextViewPr>
    <p:cViewPr>
      <p:scale>
        <a:sx n="1" d="1"/>
        <a:sy n="1" d="1"/>
      </p:scale>
      <p:origin x="0" y="0"/>
    </p:cViewPr>
  </p:notesTextViewPr>
  <p:notesViewPr>
    <p:cSldViewPr snapToGrid="0">
      <p:cViewPr>
        <p:scale>
          <a:sx n="1" d="2"/>
          <a:sy n="1" d="2"/>
        </p:scale>
        <p:origin x="5880" y="17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am Mohammed" userId="5f680b94-0392-4e4c-983c-3b503d05db46" providerId="ADAL" clId="{0FA48718-483E-5BA1-A0E4-BCD86DC0BB08}"/>
    <pc:docChg chg="addSld modSection">
      <pc:chgData name="Akram Mohammed" userId="5f680b94-0392-4e4c-983c-3b503d05db46" providerId="ADAL" clId="{0FA48718-483E-5BA1-A0E4-BCD86DC0BB08}" dt="2026-04-29T19:42:15.903" v="0" actId="680"/>
      <pc:docMkLst>
        <pc:docMk/>
      </pc:docMkLst>
      <pc:sldChg chg="new">
        <pc:chgData name="Akram Mohammed" userId="5f680b94-0392-4e4c-983c-3b503d05db46" providerId="ADAL" clId="{0FA48718-483E-5BA1-A0E4-BCD86DC0BB08}" dt="2026-04-29T19:42:15.903" v="0" actId="680"/>
        <pc:sldMkLst>
          <pc:docMk/>
          <pc:sldMk cId="2684455836" sldId="214684686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5BCB613-1B88-4273-BF0F-0BF889EC09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5574DBCF-C14A-4217-890B-3E6A60BAE4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9C2DE1-F31D-4CA1-92AD-E3713F12C7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CAD36D-F99F-4B9F-A3B1-443AADA40415}" type="slidenum">
              <a:rPr lang="en-US" smtClean="0"/>
              <a:t>‹#›</a:t>
            </a:fld>
            <a:endParaRPr lang="en-US" dirty="0"/>
          </a:p>
        </p:txBody>
      </p:sp>
    </p:spTree>
    <p:extLst>
      <p:ext uri="{BB962C8B-B14F-4D97-AF65-F5344CB8AC3E}">
        <p14:creationId xmlns:p14="http://schemas.microsoft.com/office/powerpoint/2010/main" val="28906178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B0451-EC03-4447-B2EF-43FC4D41DDC5}" type="datetimeFigureOut">
              <a:rPr lang="en-US" smtClean="0"/>
              <a:t>4/30/26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4D1586-BDFF-9440-96F8-F0DE4E4562D4}" type="slidenum">
              <a:rPr lang="en-US" smtClean="0"/>
              <a:t>‹#›</a:t>
            </a:fld>
            <a:endParaRPr lang="en-US" dirty="0"/>
          </a:p>
        </p:txBody>
      </p:sp>
    </p:spTree>
    <p:extLst>
      <p:ext uri="{BB962C8B-B14F-4D97-AF65-F5344CB8AC3E}">
        <p14:creationId xmlns:p14="http://schemas.microsoft.com/office/powerpoint/2010/main" val="172138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a:t>
            </a:fld>
            <a:endParaRPr lang="en-US"/>
          </a:p>
        </p:txBody>
      </p:sp>
    </p:spTree>
    <p:extLst>
      <p:ext uri="{BB962C8B-B14F-4D97-AF65-F5344CB8AC3E}">
        <p14:creationId xmlns:p14="http://schemas.microsoft.com/office/powerpoint/2010/main" val="262921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a typeface="Calibri"/>
                <a:cs typeface="Calibri"/>
              </a:rPr>
              <a:t>Do:</a:t>
            </a:r>
            <a:r>
              <a:rPr lang="en-US" dirty="0">
                <a:ea typeface="Calibri"/>
                <a:cs typeface="Calibri"/>
              </a:rPr>
              <a:t> Conduct introductions as needed.</a:t>
            </a:r>
          </a:p>
          <a:p>
            <a:endParaRPr lang="en-US" dirty="0">
              <a:ea typeface="Calibri"/>
              <a:cs typeface="Calibri"/>
            </a:endParaRPr>
          </a:p>
          <a:p>
            <a:r>
              <a:rPr lang="en-US" b="1" dirty="0">
                <a:ea typeface="Calibri"/>
                <a:cs typeface="Calibri"/>
              </a:rPr>
              <a:t>Say:</a:t>
            </a:r>
            <a:r>
              <a:rPr lang="en-US" dirty="0">
                <a:ea typeface="Calibri"/>
                <a:cs typeface="Calibri"/>
              </a:rPr>
              <a:t> Welcome to the session for one of our core values, Character. The purpose of this meeting is to explore the importance of character and find areas where we can improve.</a:t>
            </a:r>
          </a:p>
          <a:p>
            <a:endParaRPr lang="en-US" dirty="0">
              <a:ea typeface="Calibri"/>
              <a:cs typeface="Calibri"/>
            </a:endParaRPr>
          </a:p>
          <a:p>
            <a:r>
              <a:rPr lang="en-US" b="1" dirty="0">
                <a:ea typeface="Calibri"/>
                <a:cs typeface="Calibri"/>
              </a:rPr>
              <a:t>Do:</a:t>
            </a:r>
            <a:r>
              <a:rPr lang="en-US" dirty="0">
                <a:ea typeface="Calibri"/>
                <a:cs typeface="Calibri"/>
              </a:rPr>
              <a:t> Show next slide.</a:t>
            </a:r>
          </a:p>
        </p:txBody>
      </p:sp>
      <p:sp>
        <p:nvSpPr>
          <p:cNvPr id="4" name="Slide Number Placeholder 3"/>
          <p:cNvSpPr>
            <a:spLocks noGrp="1"/>
          </p:cNvSpPr>
          <p:nvPr>
            <p:ph type="sldNum" sz="quarter" idx="5"/>
          </p:nvPr>
        </p:nvSpPr>
        <p:spPr/>
        <p:txBody>
          <a:bodyPr/>
          <a:lstStyle/>
          <a:p>
            <a:fld id="{C64D1586-BDFF-9440-96F8-F0DE4E4562D4}" type="slidenum">
              <a:rPr lang="en-US" smtClean="0"/>
              <a:t>3</a:t>
            </a:fld>
            <a:endParaRPr lang="en-US" dirty="0"/>
          </a:p>
        </p:txBody>
      </p:sp>
    </p:spTree>
    <p:extLst>
      <p:ext uri="{BB962C8B-B14F-4D97-AF65-F5344CB8AC3E}">
        <p14:creationId xmlns:p14="http://schemas.microsoft.com/office/powerpoint/2010/main" val="740505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solidFill>
                <a:srgbClr val="252525"/>
              </a:solidFill>
              <a:effectLst/>
            </a:endParaRPr>
          </a:p>
          <a:p>
            <a:endParaRPr lang="en-US">
              <a:solidFill>
                <a:srgbClr val="252525"/>
              </a:solidFill>
              <a:effectLst/>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4</a:t>
            </a:fld>
            <a:endParaRPr lang="en-US"/>
          </a:p>
        </p:txBody>
      </p:sp>
    </p:spTree>
    <p:extLst>
      <p:ext uri="{BB962C8B-B14F-4D97-AF65-F5344CB8AC3E}">
        <p14:creationId xmlns:p14="http://schemas.microsoft.com/office/powerpoint/2010/main" val="431761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1" kern="1200" dirty="0">
                <a:solidFill>
                  <a:schemeClr val="tx1"/>
                </a:solidFill>
                <a:effectLst/>
                <a:latin typeface="+mn-lt"/>
                <a:ea typeface="+mn-ea"/>
                <a:cs typeface="+mn-cs"/>
              </a:rPr>
              <a:t>Say: </a:t>
            </a:r>
            <a:r>
              <a:rPr lang="en-US" sz="1200" b="0" kern="1200" dirty="0">
                <a:solidFill>
                  <a:schemeClr val="tx1"/>
                </a:solidFill>
                <a:effectLst/>
                <a:latin typeface="+mn-lt"/>
                <a:ea typeface="+mn-ea"/>
                <a:cs typeface="+mn-cs"/>
              </a:rPr>
              <a:t>To start, let’s review the key actions of Character! I’ll give you a few seconds to read through the slide.</a:t>
            </a:r>
          </a:p>
          <a:p>
            <a:pPr>
              <a:defRPr/>
            </a:pPr>
            <a:endParaRPr lang="en-US" sz="1200" b="1" kern="1200" dirty="0">
              <a:solidFill>
                <a:schemeClr val="tx1"/>
              </a:solidFill>
              <a:effectLst/>
              <a:latin typeface="+mn-lt"/>
              <a:ea typeface="+mn-ea"/>
              <a:cs typeface="+mn-cs"/>
            </a:endParaRPr>
          </a:p>
          <a:p>
            <a:pPr>
              <a:defRPr/>
            </a:pPr>
            <a:r>
              <a:rPr lang="en-US" sz="1200" b="1" kern="1200" dirty="0">
                <a:solidFill>
                  <a:schemeClr val="tx1"/>
                </a:solidFill>
                <a:effectLst/>
                <a:latin typeface="+mn-lt"/>
                <a:ea typeface="+mn-ea"/>
                <a:cs typeface="+mn-cs"/>
              </a:rPr>
              <a:t>Say:</a:t>
            </a:r>
            <a:r>
              <a:rPr lang="en-US" b="1" dirty="0"/>
              <a:t> </a:t>
            </a:r>
            <a:r>
              <a:rPr lang="en-US" sz="1200" b="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Plainly said, character is about showing respect for one another.</a:t>
            </a:r>
            <a:r>
              <a:rPr lang="en-US" dirty="0"/>
              <a:t> </a:t>
            </a:r>
            <a:r>
              <a:rPr lang="en-US" sz="1200" kern="1200" dirty="0">
                <a:solidFill>
                  <a:schemeClr val="tx1"/>
                </a:solidFill>
                <a:effectLst/>
                <a:latin typeface="+mn-lt"/>
                <a:ea typeface="+mn-ea"/>
                <a:cs typeface="+mn-cs"/>
              </a:rPr>
              <a:t>It’s also being inclusive in the workplace and respecting what everyone brings to the table. Moreover, it’s about making decisions with utmost integrity, and leading with our hearts as we serve the communities where we live and work.</a:t>
            </a:r>
            <a:r>
              <a:rPr lang="en-US" dirty="0"/>
              <a:t> </a:t>
            </a:r>
            <a:r>
              <a:rPr lang="en-US" sz="1200" kern="1200" dirty="0">
                <a:solidFill>
                  <a:schemeClr val="tx1"/>
                </a:solidFill>
                <a:effectLst/>
                <a:latin typeface="+mn-lt"/>
                <a:ea typeface="+mn-ea"/>
                <a:cs typeface="+mn-cs"/>
              </a:rPr>
              <a:t>That is how we </a:t>
            </a:r>
            <a:r>
              <a:rPr lang="en-US" sz="1200" b="1" kern="1200" dirty="0">
                <a:solidFill>
                  <a:schemeClr val="tx1"/>
                </a:solidFill>
                <a:effectLst/>
                <a:latin typeface="+mn-lt"/>
                <a:ea typeface="+mn-ea"/>
                <a:cs typeface="+mn-cs"/>
              </a:rPr>
              <a:t>LEAD WITH CHARACTER.</a:t>
            </a:r>
            <a:endParaRPr lang="en-US" sz="1200" kern="1200" dirty="0">
              <a:solidFill>
                <a:schemeClr val="tx1"/>
              </a:solidFill>
              <a:effectLst/>
              <a:latin typeface="+mn-lt"/>
              <a:ea typeface="+mn-ea"/>
              <a:cs typeface="+mn-cs"/>
            </a:endParaRPr>
          </a:p>
          <a:p>
            <a:endParaRPr lang="en-US" sz="2000" b="0" strike="noStrike" spc="-1" dirty="0">
              <a:latin typeface="Arial"/>
            </a:endParaRPr>
          </a:p>
          <a:p>
            <a:r>
              <a:rPr lang="en-US" b="1" dirty="0"/>
              <a:t>Transition</a:t>
            </a:r>
            <a:r>
              <a:rPr lang="en-US" dirty="0"/>
              <a:t>: Let's look at the objectives of today’s session. </a:t>
            </a:r>
          </a:p>
          <a:p>
            <a:endParaRPr lang="en-US" dirty="0">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5</a:t>
            </a:fld>
            <a:endParaRPr lang="en-US"/>
          </a:p>
        </p:txBody>
      </p:sp>
    </p:spTree>
    <p:extLst>
      <p:ext uri="{BB962C8B-B14F-4D97-AF65-F5344CB8AC3E}">
        <p14:creationId xmlns:p14="http://schemas.microsoft.com/office/powerpoint/2010/main" val="3872011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685800"/>
            <a:r>
              <a:rPr lang="en-US" b="1" dirty="0">
                <a:ea typeface="Lato Medium"/>
                <a:cs typeface="Calibri"/>
              </a:rPr>
              <a:t>Say: </a:t>
            </a:r>
            <a:r>
              <a:rPr lang="en-US" b="0" dirty="0">
                <a:ea typeface="Lato Medium"/>
                <a:cs typeface="Calibri"/>
              </a:rPr>
              <a:t>In this session, you will take a  short self-assessment to determine improvement areas for character. We will also explore the impact of character to employees, leaders and organizations. Let’s start with the self-assessment.</a:t>
            </a:r>
          </a:p>
          <a:p>
            <a:pPr defTabSz="685800"/>
            <a:endParaRPr lang="en-US" b="0" dirty="0">
              <a:ea typeface="Lato Medium"/>
              <a:cs typeface="Calibri"/>
            </a:endParaRPr>
          </a:p>
          <a:p>
            <a:pPr defTabSz="685800"/>
            <a:r>
              <a:rPr lang="en-US" b="1" dirty="0">
                <a:ea typeface="Lato Medium"/>
                <a:cs typeface="Calibri"/>
              </a:rPr>
              <a:t>Do:</a:t>
            </a:r>
            <a:r>
              <a:rPr lang="en-US" b="0" dirty="0">
                <a:ea typeface="Lato Medium"/>
                <a:cs typeface="Calibri"/>
              </a:rPr>
              <a:t> Show next slide.</a:t>
            </a:r>
            <a:endParaRPr lang="en-US" dirty="0">
              <a:ea typeface="Lato Medium" panose="020F0502020204030203" pitchFamily="34" charset="0"/>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6</a:t>
            </a:fld>
            <a:endParaRPr lang="en-US" dirty="0"/>
          </a:p>
        </p:txBody>
      </p:sp>
    </p:spTree>
    <p:extLst>
      <p:ext uri="{BB962C8B-B14F-4D97-AF65-F5344CB8AC3E}">
        <p14:creationId xmlns:p14="http://schemas.microsoft.com/office/powerpoint/2010/main" val="3140936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685800"/>
            <a:r>
              <a:rPr lang="en-US" b="1" dirty="0">
                <a:ea typeface="Lato Medium"/>
                <a:cs typeface="Calibri"/>
              </a:rPr>
              <a:t>Duration: 5 minutes</a:t>
            </a:r>
          </a:p>
          <a:p>
            <a:pPr defTabSz="685800"/>
            <a:endParaRPr lang="en-US" b="1" dirty="0">
              <a:ea typeface="Lato Medium"/>
              <a:cs typeface="Calibri"/>
            </a:endParaRPr>
          </a:p>
          <a:p>
            <a:pPr defTabSz="685800"/>
            <a:r>
              <a:rPr lang="en-US" b="1" dirty="0">
                <a:ea typeface="Lato Medium"/>
                <a:cs typeface="Calibri"/>
              </a:rPr>
              <a:t>Say:</a:t>
            </a:r>
            <a:r>
              <a:rPr lang="en-US" b="1" dirty="0">
                <a:ea typeface="+mn-ea"/>
                <a:cs typeface="+mn-cs"/>
              </a:rPr>
              <a:t> </a:t>
            </a:r>
            <a:r>
              <a:rPr lang="en-US" dirty="0">
                <a:ea typeface="Lato Medium"/>
                <a:cs typeface="Calibri"/>
              </a:rPr>
              <a:t>Here are 10 questions that will help you be more self-aware of your character and help you identify areas for improvement. Don’t worry, there’s no need to reveal your answers so you can be very candid. I’ll give you 2-3 minutes to answer the questions. You may use a pen and paper to take note of your answers. Let’s begin.</a:t>
            </a:r>
          </a:p>
          <a:p>
            <a:pPr defTabSz="685800"/>
            <a:endParaRPr lang="en-US" dirty="0">
              <a:ea typeface="Lato Medium"/>
              <a:cs typeface="Calibri"/>
            </a:endParaRPr>
          </a:p>
          <a:p>
            <a:pPr defTabSz="685800"/>
            <a:r>
              <a:rPr lang="en-US" dirty="0">
                <a:ea typeface="Lato Medium"/>
                <a:cs typeface="Calibri"/>
              </a:rPr>
              <a:t>After 2-3 minutes: </a:t>
            </a:r>
          </a:p>
          <a:p>
            <a:pPr defTabSz="685800"/>
            <a:endParaRPr lang="en-US" dirty="0">
              <a:ea typeface="Lato Medium" panose="020F0502020204030203" pitchFamily="34" charset="0"/>
              <a:cs typeface="Lato Medium" panose="020F0502020204030203" pitchFamily="34" charset="0"/>
            </a:endParaRPr>
          </a:p>
          <a:p>
            <a:pPr defTabSz="685800"/>
            <a:r>
              <a:rPr lang="en-US" b="1" dirty="0">
                <a:ea typeface="Lato Medium"/>
                <a:cs typeface="Calibri"/>
              </a:rPr>
              <a:t>Ask: </a:t>
            </a:r>
            <a:r>
              <a:rPr lang="en-US" dirty="0">
                <a:ea typeface="Lato Medium"/>
                <a:cs typeface="Calibri"/>
              </a:rPr>
              <a:t>What did you realize upon answering these questions? Would anyone like to share?</a:t>
            </a:r>
          </a:p>
          <a:p>
            <a:pPr defTabSz="685800"/>
            <a:endParaRPr lang="en-US" dirty="0">
              <a:ea typeface="Lato Medium"/>
              <a:cs typeface="Calibri"/>
            </a:endParaRPr>
          </a:p>
          <a:p>
            <a:pPr defTabSz="685800"/>
            <a:r>
              <a:rPr lang="en-US" b="1" dirty="0">
                <a:ea typeface="Lato Medium"/>
                <a:cs typeface="Calibri"/>
              </a:rPr>
              <a:t>Do:</a:t>
            </a:r>
            <a:r>
              <a:rPr lang="en-US" dirty="0">
                <a:ea typeface="Lato Medium"/>
                <a:cs typeface="Calibri"/>
              </a:rPr>
              <a:t> Call one or two participants to respond if no one volunteers. Acknowledge, redirect or ask follow up questions, as necessary.</a:t>
            </a:r>
          </a:p>
          <a:p>
            <a:pPr defTabSz="685800"/>
            <a:endParaRPr lang="en-US" dirty="0">
              <a:ea typeface="Lato Medium"/>
              <a:cs typeface="Calibri"/>
            </a:endParaRPr>
          </a:p>
          <a:p>
            <a:pPr defTabSz="685800"/>
            <a:r>
              <a:rPr lang="en-US" b="1" dirty="0">
                <a:ea typeface="Lato Medium"/>
                <a:cs typeface="Calibri"/>
              </a:rPr>
              <a:t>Say: </a:t>
            </a:r>
            <a:r>
              <a:rPr lang="en-US" b="0" dirty="0">
                <a:ea typeface="Lato Medium"/>
                <a:cs typeface="Calibri"/>
              </a:rPr>
              <a:t>Most of these questions are mundane but even small incidents may jeopardize your character.</a:t>
            </a:r>
            <a:r>
              <a:rPr lang="en-US" dirty="0">
                <a:ea typeface="Lato Medium"/>
                <a:cs typeface="Calibri"/>
              </a:rPr>
              <a:t> I’d like to use a quote from William James, an American philosopher, to emphasize this. He said, </a:t>
            </a:r>
            <a:r>
              <a:rPr lang="en-US" b="1" i="1" dirty="0">
                <a:latin typeface="Lato"/>
                <a:ea typeface="Lato"/>
                <a:cs typeface="Lato"/>
              </a:rPr>
              <a:t>“Act as if what you do makes a difference. It does.” </a:t>
            </a:r>
            <a:r>
              <a:rPr lang="en-US" b="0" i="0" dirty="0">
                <a:latin typeface="Lato"/>
                <a:ea typeface="Lato Medium"/>
                <a:cs typeface="Calibri"/>
              </a:rPr>
              <a:t>I</a:t>
            </a:r>
            <a:r>
              <a:rPr lang="en-US" dirty="0">
                <a:ea typeface="Lato Medium"/>
                <a:cs typeface="Calibri"/>
              </a:rPr>
              <a:t>rrespective of how small or insignificant a situation may seem, we should always act with integrity for character is best shown when no one is watching.</a:t>
            </a:r>
            <a:endParaRPr lang="en-US" b="1" i="1" dirty="0">
              <a:latin typeface="Lato"/>
              <a:ea typeface="Lato"/>
              <a:cs typeface="Lato"/>
            </a:endParaRPr>
          </a:p>
          <a:p>
            <a:pPr defTabSz="685800"/>
            <a:endParaRPr lang="en-US" b="0" i="0" dirty="0">
              <a:solidFill>
                <a:srgbClr val="000000"/>
              </a:solidFill>
              <a:effectLst/>
              <a:latin typeface="Open Sans" panose="020B0606030504020204" pitchFamily="34" charset="0"/>
              <a:ea typeface="Lato Medium" panose="020F0502020204030203" pitchFamily="34" charset="0"/>
              <a:cs typeface="Lato Medium" panose="020F0502020204030203" pitchFamily="34" charset="0"/>
            </a:endParaRPr>
          </a:p>
          <a:p>
            <a:pPr defTabSz="685800"/>
            <a:r>
              <a:rPr lang="en-US" b="1" dirty="0">
                <a:ea typeface="Lato Medium" panose="020F0502020204030203" pitchFamily="34" charset="0"/>
                <a:cs typeface="Lato Medium" panose="020F0502020204030203" pitchFamily="34" charset="0"/>
              </a:rPr>
              <a:t>T</a:t>
            </a:r>
            <a:r>
              <a:rPr lang="en-US" b="1" dirty="0">
                <a:ea typeface="Lato Medium"/>
                <a:cs typeface="Calibri"/>
              </a:rPr>
              <a:t>ransition:</a:t>
            </a:r>
          </a:p>
          <a:p>
            <a:pPr defTabSz="685800"/>
            <a:r>
              <a:rPr lang="en-US" dirty="0">
                <a:ea typeface="Lato Medium"/>
                <a:cs typeface="Calibri"/>
              </a:rPr>
              <a:t>The reason character is so important is because it’s a non-negotiable part of who you are. It tells people how you approach things. Let’s further explore its importance.</a:t>
            </a:r>
          </a:p>
          <a:p>
            <a:endParaRPr lang="en-US" dirty="0">
              <a:ea typeface="Calibri"/>
              <a:cs typeface="Calibri"/>
            </a:endParaRPr>
          </a:p>
          <a:p>
            <a:r>
              <a:rPr lang="en-US" b="1" dirty="0">
                <a:ea typeface="Calibri"/>
                <a:cs typeface="Calibri"/>
              </a:rPr>
              <a:t>Do:</a:t>
            </a:r>
            <a:r>
              <a:rPr lang="en-US" dirty="0">
                <a:ea typeface="Calibri"/>
                <a:cs typeface="Calibri"/>
              </a:rPr>
              <a:t> Show next slide.</a:t>
            </a:r>
          </a:p>
        </p:txBody>
      </p:sp>
      <p:sp>
        <p:nvSpPr>
          <p:cNvPr id="4" name="Slide Number Placeholder 3"/>
          <p:cNvSpPr>
            <a:spLocks noGrp="1"/>
          </p:cNvSpPr>
          <p:nvPr>
            <p:ph type="sldNum" sz="quarter" idx="5"/>
          </p:nvPr>
        </p:nvSpPr>
        <p:spPr/>
        <p:txBody>
          <a:bodyPr/>
          <a:lstStyle/>
          <a:p>
            <a:fld id="{C64D1586-BDFF-9440-96F8-F0DE4E4562D4}" type="slidenum">
              <a:rPr lang="en-US" smtClean="0"/>
              <a:t>7</a:t>
            </a:fld>
            <a:endParaRPr lang="en-US" dirty="0"/>
          </a:p>
        </p:txBody>
      </p:sp>
    </p:spTree>
    <p:extLst>
      <p:ext uri="{BB962C8B-B14F-4D97-AF65-F5344CB8AC3E}">
        <p14:creationId xmlns:p14="http://schemas.microsoft.com/office/powerpoint/2010/main" val="1351290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i="1" dirty="0">
                <a:solidFill>
                  <a:srgbClr val="000000"/>
                </a:solidFill>
                <a:effectLst/>
                <a:latin typeface="montserrat"/>
              </a:rPr>
              <a:t>Duration: 7 minutes</a:t>
            </a:r>
          </a:p>
          <a:p>
            <a:pPr>
              <a:defRPr/>
            </a:pPr>
            <a:endParaRPr lang="en-US" i="1" dirty="0">
              <a:solidFill>
                <a:srgbClr val="FF0000"/>
              </a:solidFill>
              <a:latin typeface="Lato"/>
              <a:ea typeface="Lato"/>
              <a:cs typeface="Lato"/>
            </a:endParaRPr>
          </a:p>
          <a:p>
            <a:r>
              <a:rPr lang="en-US" b="1" dirty="0">
                <a:ea typeface="Lato Medium"/>
                <a:cs typeface="Calibri"/>
              </a:rPr>
              <a:t>Say: </a:t>
            </a:r>
            <a:r>
              <a:rPr lang="en-US" b="0" dirty="0">
                <a:ea typeface="Lato Medium"/>
                <a:cs typeface="Calibri"/>
              </a:rPr>
              <a:t>Character is important for </a:t>
            </a:r>
            <a:r>
              <a:rPr lang="en-US" dirty="0">
                <a:ea typeface="Lato Medium"/>
                <a:cs typeface="Calibri"/>
              </a:rPr>
              <a:t>employees, leaders and organizations. </a:t>
            </a:r>
            <a:r>
              <a:rPr lang="en-US" b="0" dirty="0">
                <a:ea typeface="Lato Medium"/>
                <a:cs typeface="Calibri"/>
              </a:rPr>
              <a:t>As </a:t>
            </a:r>
            <a:r>
              <a:rPr lang="en-US" dirty="0">
                <a:ea typeface="Lato Medium"/>
                <a:cs typeface="Calibri"/>
              </a:rPr>
              <a:t>an employee, why does it matter to you? </a:t>
            </a:r>
          </a:p>
          <a:p>
            <a:endParaRPr lang="en-US" dirty="0">
              <a:ea typeface="Lato Medium"/>
              <a:cs typeface="Calibri"/>
            </a:endParaRPr>
          </a:p>
          <a:p>
            <a:r>
              <a:rPr lang="en-US" b="1" dirty="0">
                <a:ea typeface="Lato Medium"/>
                <a:cs typeface="Calibri"/>
              </a:rPr>
              <a:t>Do:</a:t>
            </a:r>
            <a:r>
              <a:rPr lang="en-US" dirty="0">
                <a:ea typeface="Lato Medium"/>
                <a:cs typeface="Calibri"/>
              </a:rPr>
              <a:t> Acknowledge, redirect or ask follow up questions as needed.</a:t>
            </a:r>
          </a:p>
          <a:p>
            <a:endParaRPr lang="en-US" b="1" dirty="0">
              <a:ea typeface="Lato Medium"/>
              <a:cs typeface="Calibri"/>
            </a:endParaRPr>
          </a:p>
          <a:p>
            <a:r>
              <a:rPr lang="en-US" b="1" dirty="0">
                <a:ea typeface="Lato Medium"/>
                <a:cs typeface="Calibri"/>
              </a:rPr>
              <a:t>Say: </a:t>
            </a:r>
            <a:r>
              <a:rPr lang="en-US" b="0" dirty="0">
                <a:ea typeface="Lato Medium"/>
                <a:cs typeface="Calibri"/>
              </a:rPr>
              <a:t>Having good character is important as an employee because it builds the trust needed for success. What you do in situations such as being trusted with confidential information, being in heated conversations, knowing someone is being taken advantage of, etc. speak volumes about you. Hiring managers look for employees with ethical strength because they are reliable and trustworthy.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ea typeface="Lato Medium" panose="020F0502020204030203" pitchFamily="34" charset="0"/>
              <a:cs typeface="Calibri"/>
            </a:endParaRPr>
          </a:p>
          <a:p>
            <a:r>
              <a:rPr lang="en-US" dirty="0">
                <a:ea typeface="Lato Medium" panose="020F0502020204030203" pitchFamily="34" charset="0"/>
                <a:cs typeface="Calibri"/>
              </a:rPr>
              <a:t>Good character also affects your relationship with other people. In general, people like to work with others who are honest, dependable and inclusive. </a:t>
            </a:r>
          </a:p>
          <a:p>
            <a:endParaRPr lang="en-US" dirty="0">
              <a:ea typeface="Lato Medium" panose="020F0502020204030203" pitchFamily="34" charset="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Ask: </a:t>
            </a:r>
            <a:r>
              <a:rPr lang="en-US" b="0" dirty="0">
                <a:ea typeface="Lato Medium"/>
                <a:cs typeface="Calibri"/>
              </a:rPr>
              <a:t>Now, let’s talk about the importance of </a:t>
            </a:r>
            <a:r>
              <a:rPr lang="en-US" dirty="0">
                <a:ea typeface="Lato Medium"/>
                <a:cs typeface="Calibri"/>
              </a:rPr>
              <a:t>character to leaders. Any thoughts?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Do:</a:t>
            </a:r>
            <a:r>
              <a:rPr lang="en-US" dirty="0">
                <a:ea typeface="Lato Medium"/>
                <a:cs typeface="Calibri"/>
              </a:rPr>
              <a:t> Acknowledge, redirect or ask follow up questions as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Say: </a:t>
            </a:r>
            <a:r>
              <a:rPr lang="en-US" dirty="0">
                <a:ea typeface="Lato Medium"/>
                <a:cs typeface="Calibri"/>
              </a:rPr>
              <a:t>As people managers, having good character can mean being respected by employees in your department. When they know that you will do what’s fair and when they see that you walk the talk and uphold high standards, they will trust you, follow your vision and strive for excellence. </a:t>
            </a:r>
          </a:p>
          <a:p>
            <a:endParaRPr lang="en-US" dirty="0">
              <a:ea typeface="Lato Medium" panose="020F0502020204030203" pitchFamily="34" charset="0"/>
              <a:cs typeface="Lato Medium"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Ask: </a:t>
            </a:r>
            <a:r>
              <a:rPr lang="en-US" b="0" dirty="0">
                <a:ea typeface="Lato Medium"/>
                <a:cs typeface="Calibri"/>
              </a:rPr>
              <a:t>Now, let’s widen our horizon and discuss w</a:t>
            </a:r>
            <a:r>
              <a:rPr lang="en-US" dirty="0">
                <a:ea typeface="Lato Medium"/>
                <a:cs typeface="Calibri"/>
              </a:rPr>
              <a:t>hy character is important to organizations. Please share your thoughts.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Acknowledge their answers and then say: </a:t>
            </a:r>
            <a:endParaRPr lang="en-US" b="1" dirty="0">
              <a:ea typeface="Lato Medium" panose="020F0502020204030203" pitchFamily="34" charset="0"/>
              <a:cs typeface="Lato Medium" panose="020F0502020204030203" pitchFamily="34" charset="0"/>
            </a:endParaRPr>
          </a:p>
          <a:p>
            <a:r>
              <a:rPr lang="en-US" dirty="0">
                <a:ea typeface="Lato Medium" panose="020F0502020204030203" pitchFamily="34" charset="0"/>
                <a:cs typeface="Lato Medium" panose="020F0502020204030203" pitchFamily="34" charset="0"/>
              </a:rPr>
              <a:t>Per research, companies and organizations that emphasize integrity and respect in the workplace see an uptick in job satisfaction, loyalty, and productivity, and </a:t>
            </a:r>
            <a:r>
              <a:rPr lang="en-US" dirty="0">
                <a:ea typeface="Lato Medium"/>
                <a:cs typeface="Calibri"/>
              </a:rPr>
              <a:t>ensures high employee morale. Clients always look forward to working with organizations where these things exist. This results in consistent revenue generation and a strong position amongst competitors. This also attracts good investors and talents. </a:t>
            </a:r>
          </a:p>
          <a:p>
            <a:endParaRPr lang="en-US" dirty="0">
              <a:ea typeface="Lato Medium"/>
              <a:cs typeface="Calibri"/>
            </a:endParaRPr>
          </a:p>
          <a:p>
            <a:r>
              <a:rPr lang="en-US" b="1" dirty="0">
                <a:ea typeface="Lato Medium"/>
                <a:cs typeface="Calibri"/>
              </a:rPr>
              <a:t>Do:</a:t>
            </a:r>
            <a:r>
              <a:rPr lang="en-US" dirty="0">
                <a:ea typeface="Lato Medium"/>
                <a:cs typeface="Calibri"/>
              </a:rPr>
              <a:t> Show next slide.</a:t>
            </a:r>
          </a:p>
          <a:p>
            <a:endParaRPr lang="en-US" dirty="0">
              <a:cs typeface="Calibri" panose="020F0502020204030204"/>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8</a:t>
            </a:fld>
            <a:endParaRPr lang="en-US" dirty="0"/>
          </a:p>
        </p:txBody>
      </p:sp>
    </p:spTree>
    <p:extLst>
      <p:ext uri="{BB962C8B-B14F-4D97-AF65-F5344CB8AC3E}">
        <p14:creationId xmlns:p14="http://schemas.microsoft.com/office/powerpoint/2010/main" val="531716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Say:</a:t>
            </a:r>
            <a:r>
              <a:rPr lang="en-US" dirty="0"/>
              <a:t> </a:t>
            </a:r>
            <a:r>
              <a:rPr lang="en-US" b="0" dirty="0"/>
              <a:t>Demonstrating good character makes a difference around you.</a:t>
            </a:r>
            <a:r>
              <a:rPr lang="en-US" b="1" dirty="0"/>
              <a:t> </a:t>
            </a:r>
            <a:r>
              <a:rPr lang="en-US" b="0" dirty="0"/>
              <a:t>We naturally gravitate and look up to people who inspire us to make a difference in the little and big ways. </a:t>
            </a:r>
            <a:r>
              <a:rPr lang="en-US" dirty="0"/>
              <a:t>Can you give some examples of how would you make a difference by demonstrating character?</a:t>
            </a:r>
          </a:p>
          <a:p>
            <a:endParaRPr lang="en-US" dirty="0"/>
          </a:p>
          <a:p>
            <a:r>
              <a:rPr lang="en-US" b="1" dirty="0"/>
              <a:t>Do:</a:t>
            </a:r>
            <a:r>
              <a:rPr lang="en-US" dirty="0"/>
              <a:t> Acknowledge, redirect or ask follow up questions, as necessary.</a:t>
            </a:r>
          </a:p>
          <a:p>
            <a:endParaRPr lang="en-US" dirty="0"/>
          </a:p>
          <a:p>
            <a:r>
              <a:rPr lang="en-US" dirty="0"/>
              <a:t>Sample answers: </a:t>
            </a:r>
          </a:p>
          <a:p>
            <a:r>
              <a:rPr lang="en-US" dirty="0"/>
              <a:t>At home: </a:t>
            </a:r>
          </a:p>
          <a:p>
            <a:pPr marL="171450" indent="-171450">
              <a:buFont typeface="Arial" panose="020B0604020202020204" pitchFamily="34" charset="0"/>
              <a:buChar char="•"/>
            </a:pPr>
            <a:r>
              <a:rPr lang="en-US" dirty="0"/>
              <a:t>Treat everyone with respect no matter their age. </a:t>
            </a:r>
          </a:p>
          <a:p>
            <a:pPr marL="171450" indent="-171450">
              <a:buFont typeface="Arial" panose="020B0604020202020204" pitchFamily="34" charset="0"/>
              <a:buChar char="•"/>
            </a:pPr>
            <a:r>
              <a:rPr lang="en-US" dirty="0"/>
              <a:t>Don’t distinguish who will do household work by gender, offer help and take responsibility. </a:t>
            </a:r>
          </a:p>
          <a:p>
            <a:r>
              <a:rPr lang="en-US" dirty="0"/>
              <a:t>At work: </a:t>
            </a:r>
          </a:p>
          <a:p>
            <a:pPr marL="171450" indent="-171450">
              <a:buFont typeface="Arial" panose="020B0604020202020204" pitchFamily="34" charset="0"/>
              <a:buChar char="•"/>
            </a:pPr>
            <a:r>
              <a:rPr lang="en-US" dirty="0"/>
              <a:t>Don’t discriminate people because of differences in language, color, abilities, etc.</a:t>
            </a:r>
          </a:p>
          <a:p>
            <a:pPr marL="171450" indent="-171450">
              <a:buFont typeface="Arial" panose="020B0604020202020204" pitchFamily="34" charset="0"/>
              <a:buChar char="•"/>
            </a:pPr>
            <a:r>
              <a:rPr lang="en-US" dirty="0"/>
              <a:t>Appreciate and listen to people with different thoughts, ideas, and ways of working.</a:t>
            </a:r>
          </a:p>
          <a:p>
            <a:pPr marL="0" indent="0">
              <a:buFont typeface="Arial" panose="020B0604020202020204" pitchFamily="34" charset="0"/>
              <a:buNone/>
            </a:pPr>
            <a:r>
              <a:rPr lang="en-US" dirty="0"/>
              <a:t>In </a:t>
            </a:r>
            <a:r>
              <a:rPr lang="en-US"/>
              <a:t>your </a:t>
            </a:r>
            <a:r>
              <a:rPr lang="en-US" dirty="0"/>
              <a:t>community:</a:t>
            </a:r>
          </a:p>
          <a:p>
            <a:pPr marL="171450" indent="-171450">
              <a:buFont typeface="Arial" panose="020B0604020202020204" pitchFamily="34" charset="0"/>
              <a:buChar char="•"/>
            </a:pPr>
            <a:r>
              <a:rPr lang="en-US" dirty="0"/>
              <a:t>Support the cause in your society and be part of a group or community.</a:t>
            </a:r>
          </a:p>
          <a:p>
            <a:pPr marL="171450" indent="-171450">
              <a:buFont typeface="Arial" panose="020B0604020202020204" pitchFamily="34" charset="0"/>
              <a:buChar char="•"/>
            </a:pPr>
            <a:r>
              <a:rPr lang="en-US" dirty="0"/>
              <a:t>Practice sustainability and encourage others to keep environment clean and safe.</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Say:</a:t>
            </a:r>
            <a:r>
              <a:rPr lang="en-US" dirty="0"/>
              <a:t> Thank you everyone for sharing your thoughts. I’d like to conclude today’s session with a quote.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Do:</a:t>
            </a:r>
            <a:r>
              <a:rPr lang="en-US" dirty="0"/>
              <a:t> Show next slide.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9</a:t>
            </a:fld>
            <a:endParaRPr lang="en-US" dirty="0"/>
          </a:p>
        </p:txBody>
      </p:sp>
    </p:spTree>
    <p:extLst>
      <p:ext uri="{BB962C8B-B14F-4D97-AF65-F5344CB8AC3E}">
        <p14:creationId xmlns:p14="http://schemas.microsoft.com/office/powerpoint/2010/main" val="1650918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Summarize: </a:t>
            </a:r>
            <a:r>
              <a:rPr lang="en-US" b="0" dirty="0">
                <a:ea typeface="Lato Medium"/>
                <a:cs typeface="Calibri"/>
              </a:rPr>
              <a:t>As we aim to inspire amazing experiences and deliver exceptional value, we have to make sure that individually we develop our character. According to Plutarch, “Character is simply habit long continued.” </a:t>
            </a:r>
            <a:r>
              <a:rPr lang="en-US" dirty="0">
                <a:ea typeface="Lato Medium"/>
                <a:cs typeface="Calibri"/>
              </a:rPr>
              <a:t>This means that if you want to change or strengthen your character, you can start by changing your habits. Start by looking at the mundane things that we usually overlook. Be thoughtful about the small decisions you make. As you start with the small things, you will develop good habits that will reap amazing results in the long run.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Do:</a:t>
            </a:r>
            <a:r>
              <a:rPr lang="en-US" dirty="0">
                <a:ea typeface="Lato Medium"/>
                <a:cs typeface="Calibri"/>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Lato Medium"/>
                <a:cs typeface="Calibri"/>
              </a:rPr>
              <a:t>- Ask the participants what questions they have and answer the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ea typeface="Lato Medium"/>
                <a:cs typeface="Calibri"/>
              </a:rPr>
              <a:t>- Ask </a:t>
            </a:r>
            <a:r>
              <a:rPr lang="en-US" dirty="0">
                <a:ea typeface="Lato Medium"/>
                <a:cs typeface="Calibri"/>
              </a:rPr>
              <a:t>for one takeaway from each participant. This can be sent via chat if you need to save time. Acknowledge the takeaways.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ea typeface="Lato Medium"/>
                <a:cs typeface="Calibri"/>
              </a:rPr>
              <a:t>Do:</a:t>
            </a:r>
            <a:r>
              <a:rPr lang="en-US" dirty="0">
                <a:ea typeface="Lato Medium"/>
                <a:cs typeface="Calibri"/>
              </a:rPr>
              <a:t> Thank everyone for joining the session and highlight some or summarize the takeaways. Let the participants know that you are looking forward to their application in the workplace.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Lato Medium"/>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10</a:t>
            </a:fld>
            <a:endParaRPr lang="en-US" dirty="0"/>
          </a:p>
        </p:txBody>
      </p:sp>
    </p:spTree>
    <p:extLst>
      <p:ext uri="{BB962C8B-B14F-4D97-AF65-F5344CB8AC3E}">
        <p14:creationId xmlns:p14="http://schemas.microsoft.com/office/powerpoint/2010/main" val="2601980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4D1586-BDFF-9440-96F8-F0DE4E4562D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3764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C64D1586-BDFF-9440-96F8-F0DE4E4562D4}" type="slidenum">
              <a:rPr lang="en-US" smtClean="0"/>
              <a:t>12</a:t>
            </a:fld>
            <a:endParaRPr lang="en-US" dirty="0"/>
          </a:p>
        </p:txBody>
      </p:sp>
    </p:spTree>
    <p:extLst>
      <p:ext uri="{BB962C8B-B14F-4D97-AF65-F5344CB8AC3E}">
        <p14:creationId xmlns:p14="http://schemas.microsoft.com/office/powerpoint/2010/main" val="1024240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07033397-15D1-3546-A61B-B7A7E0DEB28F}"/>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3824BCA6-6E63-3D48-A63F-8A94F3EFC9D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8201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50D3E59F-C36D-E242-B8ED-247E6D3F32A0}"/>
              </a:ext>
            </a:extLst>
          </p:cNvPr>
          <p:cNvSpPr>
            <a:spLocks noGrp="1"/>
          </p:cNvSpPr>
          <p:nvPr>
            <p:ph type="sldNum" sz="quarter" idx="12"/>
          </p:nvPr>
        </p:nvSpPr>
        <p:spPr>
          <a:xfrm>
            <a:off x="0" y="4813602"/>
            <a:ext cx="280781" cy="273844"/>
          </a:xfrm>
          <a:prstGeom prst="rect">
            <a:avLst/>
          </a:prstGeom>
        </p:spPr>
        <p:txBody>
          <a:bodyPr/>
          <a:lstStyle>
            <a:lvl1pPr>
              <a:defRPr sz="600" b="0" i="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stStyle>
          <a:p>
            <a:fld id="{3DE1F0DE-FBD3-414B-9485-E78F73017EBF}" type="slidenum">
              <a:rPr lang="en-US" smtClean="0"/>
              <a:pPr/>
              <a:t>‹#›</a:t>
            </a:fld>
            <a:endParaRPr lang="en-US" dirty="0"/>
          </a:p>
        </p:txBody>
      </p:sp>
      <p:sp>
        <p:nvSpPr>
          <p:cNvPr id="4" name="Title Placeholder 1">
            <a:extLst>
              <a:ext uri="{FF2B5EF4-FFF2-40B4-BE49-F238E27FC236}">
                <a16:creationId xmlns:a16="http://schemas.microsoft.com/office/drawing/2014/main" id="{CF9C64AC-9ECC-1547-91E0-BCFAD28424B3}"/>
              </a:ext>
            </a:extLst>
          </p:cNvPr>
          <p:cNvSpPr>
            <a:spLocks noGrp="1"/>
          </p:cNvSpPr>
          <p:nvPr>
            <p:ph type="title" hasCustomPrompt="1"/>
          </p:nvPr>
        </p:nvSpPr>
        <p:spPr>
          <a:xfrm>
            <a:off x="481392" y="260592"/>
            <a:ext cx="8181216"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33706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8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695897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9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6906721"/>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11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8406498"/>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10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85160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12_Title Slide">
    <p:bg>
      <p:bgPr>
        <a:blipFill dpi="0" rotWithShape="1">
          <a:blip r:embed="rId2" cstate="hq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51801" y="817058"/>
            <a:ext cx="4664665" cy="1790700"/>
          </a:xfrm>
        </p:spPr>
        <p:txBody>
          <a:bodyPr anchor="b">
            <a:normAutofit/>
          </a:bodyPr>
          <a:lstStyle>
            <a:lvl1pPr algn="l">
              <a:defRPr sz="2800">
                <a:solidFill>
                  <a:srgbClr val="232526"/>
                </a:solidFill>
              </a:defRPr>
            </a:lvl1pPr>
          </a:lstStyle>
          <a:p>
            <a:r>
              <a:rPr lang="en-US" sz="2800" dirty="0" err="1">
                <a:latin typeface="Lato" panose="020F0502020204030203" pitchFamily="34" charset="77"/>
              </a:rPr>
              <a:t>Voluptatem</a:t>
            </a:r>
            <a:r>
              <a:rPr lang="en-US" sz="2800" dirty="0">
                <a:latin typeface="Lato" panose="020F0502020204030203" pitchFamily="34" charset="77"/>
              </a:rPr>
              <a:t> </a:t>
            </a:r>
            <a:r>
              <a:rPr lang="en-US" sz="2800" dirty="0" err="1">
                <a:latin typeface="Lato" panose="020F0502020204030203" pitchFamily="34" charset="77"/>
              </a:rPr>
              <a:t>accusantium</a:t>
            </a:r>
            <a:r>
              <a:rPr lang="en-US" sz="2800" dirty="0">
                <a:latin typeface="Lato" panose="020F0502020204030203" pitchFamily="34" charset="77"/>
              </a:rPr>
              <a:t> </a:t>
            </a:r>
            <a:r>
              <a:rPr lang="en-US" sz="2800" dirty="0" err="1">
                <a:latin typeface="Lato" panose="020F0502020204030203" pitchFamily="34" charset="77"/>
              </a:rPr>
              <a:t>doloremque</a:t>
            </a:r>
            <a:r>
              <a:rPr lang="en-US" sz="2800" dirty="0">
                <a:latin typeface="Lato" panose="020F0502020204030203" pitchFamily="34" charset="77"/>
              </a:rPr>
              <a:t> </a:t>
            </a:r>
            <a:r>
              <a:rPr lang="en-US" sz="2800" dirty="0" err="1">
                <a:latin typeface="Lato" panose="020F0502020204030203" pitchFamily="34" charset="77"/>
              </a:rPr>
              <a:t>laudantium</a:t>
            </a:r>
            <a:endParaRPr lang="en-US" dirty="0"/>
          </a:p>
        </p:txBody>
      </p:sp>
      <p:sp>
        <p:nvSpPr>
          <p:cNvPr id="3" name="Subtitle 2"/>
          <p:cNvSpPr>
            <a:spLocks noGrp="1"/>
          </p:cNvSpPr>
          <p:nvPr>
            <p:ph type="subTitle" idx="1" hasCustomPrompt="1"/>
          </p:nvPr>
        </p:nvSpPr>
        <p:spPr>
          <a:xfrm>
            <a:off x="651802" y="2803905"/>
            <a:ext cx="4452582" cy="1241822"/>
          </a:xfrm>
        </p:spPr>
        <p:txBody>
          <a:bodyPr>
            <a:normAutofit/>
          </a:bodyPr>
          <a:lstStyle>
            <a:lvl1pPr marL="0" indent="0" algn="l">
              <a:buNone/>
              <a:defRPr sz="1400">
                <a:solidFill>
                  <a:srgbClr val="23252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z="1400" dirty="0" err="1">
                <a:latin typeface="Lato" panose="020F0502020204030203" pitchFamily="34" charset="77"/>
              </a:rPr>
              <a:t>Quis</a:t>
            </a:r>
            <a:r>
              <a:rPr lang="en-US" sz="1400" dirty="0">
                <a:latin typeface="Lato" panose="020F0502020204030203" pitchFamily="34" charset="77"/>
              </a:rPr>
              <a:t> </a:t>
            </a:r>
            <a:r>
              <a:rPr lang="en-US" sz="1400" dirty="0" err="1">
                <a:latin typeface="Lato" panose="020F0502020204030203" pitchFamily="34" charset="77"/>
              </a:rPr>
              <a:t>autem</a:t>
            </a:r>
            <a:r>
              <a:rPr lang="en-US" sz="1400" dirty="0">
                <a:latin typeface="Lato" panose="020F0502020204030203" pitchFamily="34" charset="77"/>
              </a:rPr>
              <a:t> vel </a:t>
            </a:r>
            <a:r>
              <a:rPr lang="en-US" sz="1400" dirty="0" err="1">
                <a:latin typeface="Lato" panose="020F0502020204030203" pitchFamily="34" charset="77"/>
              </a:rPr>
              <a:t>eum</a:t>
            </a:r>
            <a:r>
              <a:rPr lang="en-US" sz="1400" dirty="0">
                <a:latin typeface="Lato" panose="020F0502020204030203" pitchFamily="34" charset="77"/>
              </a:rPr>
              <a:t> </a:t>
            </a:r>
            <a:r>
              <a:rPr lang="en-US" sz="1400" dirty="0" err="1">
                <a:latin typeface="Lato" panose="020F0502020204030203" pitchFamily="34" charset="77"/>
              </a:rPr>
              <a:t>iure</a:t>
            </a:r>
            <a:r>
              <a:rPr lang="en-US" sz="1400" dirty="0">
                <a:latin typeface="Lato" panose="020F0502020204030203" pitchFamily="34" charset="77"/>
              </a:rPr>
              <a:t> </a:t>
            </a:r>
            <a:r>
              <a:rPr lang="en-US" sz="1400" dirty="0" err="1">
                <a:latin typeface="Lato" panose="020F0502020204030203" pitchFamily="34" charset="77"/>
              </a:rPr>
              <a:t>reprehenderit</a:t>
            </a:r>
            <a:r>
              <a:rPr lang="en-US" sz="1400" dirty="0">
                <a:latin typeface="Lato" panose="020F0502020204030203" pitchFamily="34" charset="77"/>
              </a:rPr>
              <a:t> qui in </a:t>
            </a:r>
            <a:r>
              <a:rPr lang="en-US" sz="1400" dirty="0" err="1">
                <a:latin typeface="Lato" panose="020F0502020204030203" pitchFamily="34" charset="77"/>
              </a:rPr>
              <a:t>ea</a:t>
            </a:r>
            <a:r>
              <a:rPr lang="en-US" sz="1400" dirty="0">
                <a:latin typeface="Lato" panose="020F0502020204030203" pitchFamily="34" charset="77"/>
              </a:rPr>
              <a:t> </a:t>
            </a:r>
            <a:r>
              <a:rPr lang="en-US" sz="1400" dirty="0" err="1">
                <a:latin typeface="Lato" panose="020F0502020204030203" pitchFamily="34" charset="77"/>
              </a:rPr>
              <a:t>voluptate</a:t>
            </a:r>
            <a:r>
              <a:rPr lang="en-US" sz="1400" dirty="0">
                <a:latin typeface="Lato" panose="020F0502020204030203" pitchFamily="34" charset="77"/>
              </a:rPr>
              <a:t> </a:t>
            </a:r>
            <a:r>
              <a:rPr lang="en-US" sz="1400" dirty="0" err="1">
                <a:latin typeface="Lato" panose="020F0502020204030203" pitchFamily="34" charset="77"/>
              </a:rPr>
              <a:t>velit</a:t>
            </a:r>
            <a:r>
              <a:rPr lang="en-US" sz="1400" dirty="0">
                <a:latin typeface="Lato" panose="020F0502020204030203" pitchFamily="34" charset="77"/>
              </a:rPr>
              <a:t> </a:t>
            </a:r>
            <a:r>
              <a:rPr lang="en-US" sz="1400" dirty="0" err="1">
                <a:latin typeface="Lato" panose="020F0502020204030203" pitchFamily="34" charset="77"/>
              </a:rPr>
              <a:t>esse</a:t>
            </a:r>
            <a:r>
              <a:rPr lang="en-US" sz="1400" dirty="0">
                <a:latin typeface="Lato" panose="020F0502020204030203" pitchFamily="34" charset="77"/>
              </a:rPr>
              <a:t> </a:t>
            </a:r>
            <a:r>
              <a:rPr lang="en-US" sz="1400" dirty="0" err="1">
                <a:latin typeface="Lato" panose="020F0502020204030203" pitchFamily="34" charset="77"/>
              </a:rPr>
              <a:t>quam</a:t>
            </a:r>
            <a:endParaRPr lang="en-US" dirty="0"/>
          </a:p>
        </p:txBody>
      </p:sp>
      <p:pic>
        <p:nvPicPr>
          <p:cNvPr id="10" name="Picture 9">
            <a:extLst>
              <a:ext uri="{FF2B5EF4-FFF2-40B4-BE49-F238E27FC236}">
                <a16:creationId xmlns:a16="http://schemas.microsoft.com/office/drawing/2014/main" id="{FA7EB968-0F16-F642-B469-F37CE4FFB527}"/>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651801" y="255328"/>
            <a:ext cx="1060622" cy="129631"/>
          </a:xfrm>
          <a:prstGeom prst="rect">
            <a:avLst/>
          </a:prstGeom>
        </p:spPr>
      </p:pic>
      <p:sp>
        <p:nvSpPr>
          <p:cNvPr id="7" name="Rectangle 6">
            <a:extLst>
              <a:ext uri="{FF2B5EF4-FFF2-40B4-BE49-F238E27FC236}">
                <a16:creationId xmlns:a16="http://schemas.microsoft.com/office/drawing/2014/main" id="{E67EDC92-B1D3-C843-AE97-9BFF8CA480F3}"/>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2617385"/>
      </p:ext>
    </p:extLst>
  </p:cSld>
  <p:clrMapOvr>
    <a:masterClrMapping/>
  </p:clrMapOvr>
  <p:extLst>
    <p:ext uri="{DCECCB84-F9BA-43D5-87BE-67443E8EF086}">
      <p15:sldGuideLst xmlns:p15="http://schemas.microsoft.com/office/powerpoint/2012/main">
        <p15:guide id="1" orient="horz" pos="300">
          <p15:clr>
            <a:srgbClr val="FBAE40"/>
          </p15:clr>
        </p15:guide>
        <p15:guide id="2" orient="horz" pos="29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F05B05E7-0F6D-FB40-BB9F-CB79996B1239}"/>
              </a:ext>
            </a:extLst>
          </p:cNvPr>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8" name="Text Placeholder 2">
            <a:extLst>
              <a:ext uri="{FF2B5EF4-FFF2-40B4-BE49-F238E27FC236}">
                <a16:creationId xmlns:a16="http://schemas.microsoft.com/office/drawing/2014/main" id="{C0008436-80D9-7E43-B513-C504214E05A0}"/>
              </a:ext>
            </a:extLst>
          </p:cNvPr>
          <p:cNvSpPr>
            <a:spLocks noGrp="1"/>
          </p:cNvSpPr>
          <p:nvPr>
            <p:ph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383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E184FC86-3DB7-F04B-BCD8-29B80CC1AEAE}"/>
              </a:ext>
            </a:extLst>
          </p:cNvPr>
          <p:cNvSpPr>
            <a:spLocks noGrp="1"/>
          </p:cNvSpPr>
          <p:nvPr>
            <p:ph type="title" hasCustomPrompt="1"/>
          </p:nvPr>
        </p:nvSpPr>
        <p:spPr>
          <a:xfrm>
            <a:off x="1182032" y="260591"/>
            <a:ext cx="6779936" cy="2566653"/>
          </a:xfrm>
          <a:prstGeom prst="rect">
            <a:avLst/>
          </a:prstGeom>
        </p:spPr>
        <p:txBody>
          <a:bodyPr vert="horz" lIns="0" tIns="0" rIns="0" bIns="0" rtlCol="0" anchor="b" anchorCtr="0">
            <a:normAutofit/>
          </a:bodyPr>
          <a:lstStyle>
            <a:lvl1pPr algn="ctr">
              <a:defRPr sz="5400" b="0" i="0">
                <a:latin typeface="Lato Light" panose="020F0302020204030203" pitchFamily="34" charset="77"/>
              </a:defRPr>
            </a:lvl1pPr>
          </a:lstStyle>
          <a:p>
            <a:r>
              <a:rPr lang="en-US" dirty="0"/>
              <a:t>Click to edit master title style</a:t>
            </a:r>
          </a:p>
        </p:txBody>
      </p:sp>
      <p:pic>
        <p:nvPicPr>
          <p:cNvPr id="8" name="Picture 7">
            <a:extLst>
              <a:ext uri="{FF2B5EF4-FFF2-40B4-BE49-F238E27FC236}">
                <a16:creationId xmlns:a16="http://schemas.microsoft.com/office/drawing/2014/main" id="{8E07CD1B-0A8C-AC4C-AC52-4BF21D7248FC}"/>
              </a:ext>
            </a:extLst>
          </p:cNvPr>
          <p:cNvPicPr>
            <a:picLocks noChangeAspect="1"/>
          </p:cNvPicPr>
          <p:nvPr userDrawn="1"/>
        </p:nvPicPr>
        <p:blipFill>
          <a:blip r:embed="rId2"/>
          <a:stretch>
            <a:fillRect/>
          </a:stretch>
        </p:blipFill>
        <p:spPr>
          <a:xfrm>
            <a:off x="4141539" y="3008403"/>
            <a:ext cx="860921" cy="218152"/>
          </a:xfrm>
          <a:prstGeom prst="rect">
            <a:avLst/>
          </a:prstGeom>
        </p:spPr>
      </p:pic>
      <p:sp>
        <p:nvSpPr>
          <p:cNvPr id="9" name="Rectangle 8">
            <a:extLst>
              <a:ext uri="{FF2B5EF4-FFF2-40B4-BE49-F238E27FC236}">
                <a16:creationId xmlns:a16="http://schemas.microsoft.com/office/drawing/2014/main" id="{83BE81A0-262A-E24E-824C-C6B27104AA1F}"/>
              </a:ext>
            </a:extLst>
          </p:cNvPr>
          <p:cNvSpPr/>
          <p:nvPr userDrawn="1"/>
        </p:nvSpPr>
        <p:spPr>
          <a:xfrm rot="5400000">
            <a:off x="-2474664" y="2472659"/>
            <a:ext cx="5141532" cy="196214"/>
          </a:xfrm>
          <a:prstGeom prst="rect">
            <a:avLst/>
          </a:prstGeom>
          <a:gradFill>
            <a:gsLst>
              <a:gs pos="0">
                <a:schemeClr val="bg2"/>
              </a:gs>
              <a:gs pos="51000">
                <a:srgbClr val="2C9FA7"/>
              </a:gs>
              <a:gs pos="100000">
                <a:srgbClr val="13314E"/>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829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pic>
        <p:nvPicPr>
          <p:cNvPr id="9" name="Picture 8">
            <a:extLst>
              <a:ext uri="{FF2B5EF4-FFF2-40B4-BE49-F238E27FC236}">
                <a16:creationId xmlns:a16="http://schemas.microsoft.com/office/drawing/2014/main" id="{BC6DCAFA-70C1-574B-879E-1E7A02306CEF}"/>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6605997" y="4871465"/>
            <a:ext cx="1060622" cy="129631"/>
          </a:xfrm>
          <a:prstGeom prst="rect">
            <a:avLst/>
          </a:prstGeom>
        </p:spPr>
      </p:pic>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2743812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2EDEA5C-AB16-F848-A72C-84CE46BC004D}"/>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6" y="1"/>
            <a:ext cx="1267184"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996176" y="260592"/>
            <a:ext cx="5884464"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5" name="Text Placeholder 2">
            <a:extLst>
              <a:ext uri="{FF2B5EF4-FFF2-40B4-BE49-F238E27FC236}">
                <a16:creationId xmlns:a16="http://schemas.microsoft.com/office/drawing/2014/main" id="{B1D6D7D7-74C9-A14D-AE90-9DBF82C49B18}"/>
              </a:ext>
            </a:extLst>
          </p:cNvPr>
          <p:cNvSpPr>
            <a:spLocks noGrp="1"/>
          </p:cNvSpPr>
          <p:nvPr>
            <p:ph type="body" sz="quarter" idx="11"/>
          </p:nvPr>
        </p:nvSpPr>
        <p:spPr>
          <a:xfrm>
            <a:off x="996176"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6" name="Text Placeholder 2">
            <a:extLst>
              <a:ext uri="{FF2B5EF4-FFF2-40B4-BE49-F238E27FC236}">
                <a16:creationId xmlns:a16="http://schemas.microsoft.com/office/drawing/2014/main" id="{70BA7FDA-2C89-684B-9DE0-043C8B0020BB}"/>
              </a:ext>
            </a:extLst>
          </p:cNvPr>
          <p:cNvSpPr>
            <a:spLocks noGrp="1"/>
          </p:cNvSpPr>
          <p:nvPr>
            <p:ph type="body" sz="quarter" idx="12"/>
          </p:nvPr>
        </p:nvSpPr>
        <p:spPr>
          <a:xfrm>
            <a:off x="4307198" y="1210479"/>
            <a:ext cx="2573442"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Tree>
    <p:extLst>
      <p:ext uri="{BB962C8B-B14F-4D97-AF65-F5344CB8AC3E}">
        <p14:creationId xmlns:p14="http://schemas.microsoft.com/office/powerpoint/2010/main" val="3675517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24207" y="260592"/>
            <a:ext cx="702840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420930"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853485"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286039" y="1210479"/>
            <a:ext cx="2166570" cy="3169446"/>
          </a:xfrm>
        </p:spPr>
        <p:txBody>
          <a:bodyPr>
            <a:normAutofit/>
          </a:bodyPr>
          <a:lstStyle>
            <a:lvl1pPr>
              <a:defRPr sz="1000"/>
            </a:lvl1pPr>
            <a:lvl2pPr>
              <a:defRPr sz="1000"/>
            </a:lvl2pPr>
            <a:lvl3pPr>
              <a:defRPr sz="900"/>
            </a:lvl3pPr>
            <a:lvl4pPr>
              <a:defRPr sz="800"/>
            </a:lvl4pPr>
            <a:lvl5pPr>
              <a:defRPr sz="800"/>
            </a:lvl5pPr>
          </a:lstStyle>
          <a:p>
            <a:pPr lvl="0"/>
            <a:r>
              <a:rPr lang="en-US" dirty="0"/>
              <a:t>Click to edit Master text styles</a:t>
            </a:r>
          </a:p>
        </p:txBody>
      </p:sp>
      <p:pic>
        <p:nvPicPr>
          <p:cNvPr id="8" name="Picture 7">
            <a:extLst>
              <a:ext uri="{FF2B5EF4-FFF2-40B4-BE49-F238E27FC236}">
                <a16:creationId xmlns:a16="http://schemas.microsoft.com/office/drawing/2014/main" id="{D02AA945-A7FB-D744-9483-98C5B721719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3612665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3F54A2F-276D-5640-BD52-E25941AE719A}"/>
              </a:ext>
            </a:extLst>
          </p:cNvPr>
          <p:cNvSpPr>
            <a:spLocks noGrp="1"/>
          </p:cNvSpPr>
          <p:nvPr>
            <p:ph type="pic" sz="quarter" idx="10"/>
          </p:nvPr>
        </p:nvSpPr>
        <p:spPr>
          <a:xfrm>
            <a:off x="7876814" y="0"/>
            <a:ext cx="1267186"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49" y="260592"/>
            <a:ext cx="7333317"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0" name="Text Placeholder 2">
            <a:extLst>
              <a:ext uri="{FF2B5EF4-FFF2-40B4-BE49-F238E27FC236}">
                <a16:creationId xmlns:a16="http://schemas.microsoft.com/office/drawing/2014/main" id="{6163D182-5886-004D-A24D-8E72ED1E9F57}"/>
              </a:ext>
            </a:extLst>
          </p:cNvPr>
          <p:cNvSpPr>
            <a:spLocks noGrp="1"/>
          </p:cNvSpPr>
          <p:nvPr>
            <p:ph type="body" sz="quarter" idx="11"/>
          </p:nvPr>
        </p:nvSpPr>
        <p:spPr>
          <a:xfrm>
            <a:off x="271463"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23F82091-5211-1D49-991E-155FC6BDCD20}"/>
              </a:ext>
            </a:extLst>
          </p:cNvPr>
          <p:cNvSpPr>
            <a:spLocks noGrp="1"/>
          </p:cNvSpPr>
          <p:nvPr>
            <p:ph type="body" sz="quarter" idx="12"/>
          </p:nvPr>
        </p:nvSpPr>
        <p:spPr>
          <a:xfrm>
            <a:off x="2799601"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2">
            <a:extLst>
              <a:ext uri="{FF2B5EF4-FFF2-40B4-BE49-F238E27FC236}">
                <a16:creationId xmlns:a16="http://schemas.microsoft.com/office/drawing/2014/main" id="{83A5EDCF-AA8C-144B-8416-815DB8250D1F}"/>
              </a:ext>
            </a:extLst>
          </p:cNvPr>
          <p:cNvSpPr>
            <a:spLocks noGrp="1"/>
          </p:cNvSpPr>
          <p:nvPr>
            <p:ph type="body" sz="quarter" idx="13"/>
          </p:nvPr>
        </p:nvSpPr>
        <p:spPr>
          <a:xfrm>
            <a:off x="5327739" y="1188239"/>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2">
            <a:extLst>
              <a:ext uri="{FF2B5EF4-FFF2-40B4-BE49-F238E27FC236}">
                <a16:creationId xmlns:a16="http://schemas.microsoft.com/office/drawing/2014/main" id="{6E99B2E3-78F0-5441-9901-F3B36091FAED}"/>
              </a:ext>
            </a:extLst>
          </p:cNvPr>
          <p:cNvSpPr>
            <a:spLocks noGrp="1"/>
          </p:cNvSpPr>
          <p:nvPr>
            <p:ph type="body" sz="quarter" idx="14"/>
          </p:nvPr>
        </p:nvSpPr>
        <p:spPr>
          <a:xfrm>
            <a:off x="271463"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a:extLst>
              <a:ext uri="{FF2B5EF4-FFF2-40B4-BE49-F238E27FC236}">
                <a16:creationId xmlns:a16="http://schemas.microsoft.com/office/drawing/2014/main" id="{E81DA71F-9B6E-8941-B179-A1EBF95008FB}"/>
              </a:ext>
            </a:extLst>
          </p:cNvPr>
          <p:cNvSpPr>
            <a:spLocks noGrp="1"/>
          </p:cNvSpPr>
          <p:nvPr>
            <p:ph type="body" sz="quarter" idx="15"/>
          </p:nvPr>
        </p:nvSpPr>
        <p:spPr>
          <a:xfrm>
            <a:off x="2799601"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DE9775C0-DA53-4843-A194-1FB768811EFF}"/>
              </a:ext>
            </a:extLst>
          </p:cNvPr>
          <p:cNvSpPr>
            <a:spLocks noGrp="1"/>
          </p:cNvSpPr>
          <p:nvPr>
            <p:ph type="body" sz="quarter" idx="16"/>
          </p:nvPr>
        </p:nvSpPr>
        <p:spPr>
          <a:xfrm>
            <a:off x="5327739" y="3029852"/>
            <a:ext cx="2277327" cy="16220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15">
            <a:extLst>
              <a:ext uri="{FF2B5EF4-FFF2-40B4-BE49-F238E27FC236}">
                <a16:creationId xmlns:a16="http://schemas.microsoft.com/office/drawing/2014/main" id="{BA0D1FB2-4723-114D-A8EC-4B0545569F3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6605997" y="4871465"/>
            <a:ext cx="1060622" cy="130743"/>
          </a:xfrm>
          <a:prstGeom prst="rect">
            <a:avLst/>
          </a:prstGeom>
        </p:spPr>
      </p:pic>
    </p:spTree>
    <p:extLst>
      <p:ext uri="{BB962C8B-B14F-4D97-AF65-F5344CB8AC3E}">
        <p14:creationId xmlns:p14="http://schemas.microsoft.com/office/powerpoint/2010/main" val="25483952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3013241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4007870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367644"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367644" y="260592"/>
            <a:ext cx="6142460"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643509" y="1229333"/>
            <a:ext cx="2866595"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290758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C7567FFE-AEA4-C640-8220-768C1A9361CB}"/>
              </a:ext>
            </a:extLst>
          </p:cNvPr>
          <p:cNvSpPr>
            <a:spLocks noGrp="1"/>
          </p:cNvSpPr>
          <p:nvPr>
            <p:ph type="pic" sz="quarter" idx="10"/>
          </p:nvPr>
        </p:nvSpPr>
        <p:spPr>
          <a:xfrm>
            <a:off x="6836638" y="1"/>
            <a:ext cx="2307362" cy="5143499"/>
          </a:xfrm>
          <a:solidFill>
            <a:schemeClr val="bg2">
              <a:alpha val="40000"/>
            </a:schemeClr>
          </a:solidFill>
        </p:spPr>
        <p:txBody>
          <a:bodyPr/>
          <a:lstStyle/>
          <a:p>
            <a:endParaRPr lang="en-US"/>
          </a:p>
        </p:txBody>
      </p:sp>
      <p:sp>
        <p:nvSpPr>
          <p:cNvPr id="3" name="Text Placeholder 2">
            <a:extLst>
              <a:ext uri="{FF2B5EF4-FFF2-40B4-BE49-F238E27FC236}">
                <a16:creationId xmlns:a16="http://schemas.microsoft.com/office/drawing/2014/main" id="{18836FFE-76D6-1E43-9F4A-BE9DDF963D03}"/>
              </a:ext>
            </a:extLst>
          </p:cNvPr>
          <p:cNvSpPr>
            <a:spLocks noGrp="1"/>
          </p:cNvSpPr>
          <p:nvPr>
            <p:ph type="body" sz="quarter" idx="11"/>
          </p:nvPr>
        </p:nvSpPr>
        <p:spPr>
          <a:xfrm>
            <a:off x="271463"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6334248"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2" name="Text Placeholder 2">
            <a:extLst>
              <a:ext uri="{FF2B5EF4-FFF2-40B4-BE49-F238E27FC236}">
                <a16:creationId xmlns:a16="http://schemas.microsoft.com/office/drawing/2014/main" id="{7FFC6D62-8CD2-4448-AC7E-CC5463251332}"/>
              </a:ext>
            </a:extLst>
          </p:cNvPr>
          <p:cNvSpPr>
            <a:spLocks noGrp="1"/>
          </p:cNvSpPr>
          <p:nvPr>
            <p:ph type="body" sz="quarter" idx="12"/>
          </p:nvPr>
        </p:nvSpPr>
        <p:spPr>
          <a:xfrm>
            <a:off x="3539526" y="1135065"/>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476529A1-C181-4040-8D2B-F29F43595966}"/>
              </a:ext>
            </a:extLst>
          </p:cNvPr>
          <p:cNvSpPr>
            <a:spLocks noGrp="1"/>
          </p:cNvSpPr>
          <p:nvPr>
            <p:ph type="body" sz="quarter" idx="13"/>
          </p:nvPr>
        </p:nvSpPr>
        <p:spPr>
          <a:xfrm>
            <a:off x="271463"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a:extLst>
              <a:ext uri="{FF2B5EF4-FFF2-40B4-BE49-F238E27FC236}">
                <a16:creationId xmlns:a16="http://schemas.microsoft.com/office/drawing/2014/main" id="{3A0D3EF7-05BD-F643-BC38-C02A4D141E83}"/>
              </a:ext>
            </a:extLst>
          </p:cNvPr>
          <p:cNvSpPr>
            <a:spLocks noGrp="1"/>
          </p:cNvSpPr>
          <p:nvPr>
            <p:ph type="body" sz="quarter" idx="14"/>
          </p:nvPr>
        </p:nvSpPr>
        <p:spPr>
          <a:xfrm>
            <a:off x="3539526" y="2992146"/>
            <a:ext cx="3066472" cy="163641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80521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471340" y="260592"/>
            <a:ext cx="364245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
        <p:nvSpPr>
          <p:cNvPr id="14" name="Text Placeholder 2">
            <a:extLst>
              <a:ext uri="{FF2B5EF4-FFF2-40B4-BE49-F238E27FC236}">
                <a16:creationId xmlns:a16="http://schemas.microsoft.com/office/drawing/2014/main" id="{BB2E91BB-1601-C24C-9085-5EACD3F64A22}"/>
              </a:ext>
            </a:extLst>
          </p:cNvPr>
          <p:cNvSpPr>
            <a:spLocks noGrp="1"/>
          </p:cNvSpPr>
          <p:nvPr>
            <p:ph type="body" sz="quarter" idx="12"/>
          </p:nvPr>
        </p:nvSpPr>
        <p:spPr>
          <a:xfrm>
            <a:off x="471339" y="1135064"/>
            <a:ext cx="3642449" cy="316944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4593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252696B7-0D9C-6D44-9D98-F7707C3E5E4A}"/>
              </a:ext>
            </a:extLst>
          </p:cNvPr>
          <p:cNvSpPr>
            <a:spLocks noGrp="1"/>
          </p:cNvSpPr>
          <p:nvPr>
            <p:ph type="pic" sz="quarter" idx="10"/>
          </p:nvPr>
        </p:nvSpPr>
        <p:spPr>
          <a:xfrm>
            <a:off x="4572000" y="1"/>
            <a:ext cx="4572000" cy="5143499"/>
          </a:xfrm>
          <a:solidFill>
            <a:schemeClr val="bg2">
              <a:alpha val="40000"/>
            </a:schemeClr>
          </a:solidFill>
        </p:spPr>
        <p:txBody>
          <a:bodyPr/>
          <a:lstStyle/>
          <a:p>
            <a:endParaRPr lang="en-US"/>
          </a:p>
        </p:txBody>
      </p:sp>
      <p:grpSp>
        <p:nvGrpSpPr>
          <p:cNvPr id="4" name="Group 3">
            <a:extLst>
              <a:ext uri="{FF2B5EF4-FFF2-40B4-BE49-F238E27FC236}">
                <a16:creationId xmlns:a16="http://schemas.microsoft.com/office/drawing/2014/main" id="{AB6402E2-51C6-B643-8346-E6A750C125A7}"/>
              </a:ext>
            </a:extLst>
          </p:cNvPr>
          <p:cNvGrpSpPr>
            <a:grpSpLocks noChangeAspect="1"/>
          </p:cNvGrpSpPr>
          <p:nvPr userDrawn="1"/>
        </p:nvGrpSpPr>
        <p:grpSpPr>
          <a:xfrm>
            <a:off x="2899143" y="1837677"/>
            <a:ext cx="182880" cy="2814224"/>
            <a:chOff x="792480" y="2316480"/>
            <a:chExt cx="198814" cy="3059419"/>
          </a:xfrm>
        </p:grpSpPr>
        <p:cxnSp>
          <p:nvCxnSpPr>
            <p:cNvPr id="5" name="Straight Connector 4">
              <a:extLst>
                <a:ext uri="{FF2B5EF4-FFF2-40B4-BE49-F238E27FC236}">
                  <a16:creationId xmlns:a16="http://schemas.microsoft.com/office/drawing/2014/main" id="{B9ADEA07-8891-984A-9750-3FF9A1489F14}"/>
                </a:ext>
              </a:extLst>
            </p:cNvPr>
            <p:cNvCxnSpPr>
              <a:cxnSpLocks/>
            </p:cNvCxnSpPr>
            <p:nvPr userDrawn="1"/>
          </p:nvCxnSpPr>
          <p:spPr>
            <a:xfrm flipV="1">
              <a:off x="891887" y="2517553"/>
              <a:ext cx="0" cy="2858346"/>
            </a:xfrm>
            <a:prstGeom prst="line">
              <a:avLst/>
            </a:prstGeom>
            <a:ln w="9525">
              <a:solidFill>
                <a:schemeClr val="bg1"/>
              </a:solidFill>
            </a:ln>
          </p:spPr>
          <p:style>
            <a:lnRef idx="1">
              <a:schemeClr val="accent6"/>
            </a:lnRef>
            <a:fillRef idx="0">
              <a:schemeClr val="accent6"/>
            </a:fillRef>
            <a:effectRef idx="0">
              <a:schemeClr val="accent6"/>
            </a:effectRef>
            <a:fontRef idx="minor">
              <a:schemeClr val="tx1"/>
            </a:fontRef>
          </p:style>
        </p:cxnSp>
        <p:sp>
          <p:nvSpPr>
            <p:cNvPr id="6" name="Oval 5">
              <a:extLst>
                <a:ext uri="{FF2B5EF4-FFF2-40B4-BE49-F238E27FC236}">
                  <a16:creationId xmlns:a16="http://schemas.microsoft.com/office/drawing/2014/main" id="{1BB4A413-A99C-C74B-A58C-0FEA700832B7}"/>
                </a:ext>
              </a:extLst>
            </p:cNvPr>
            <p:cNvSpPr/>
            <p:nvPr userDrawn="1"/>
          </p:nvSpPr>
          <p:spPr>
            <a:xfrm rot="10800000">
              <a:off x="792480" y="2316480"/>
              <a:ext cx="198814" cy="20107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sp>
        <p:nvSpPr>
          <p:cNvPr id="32" name="Title Placeholder 1">
            <a:extLst>
              <a:ext uri="{FF2B5EF4-FFF2-40B4-BE49-F238E27FC236}">
                <a16:creationId xmlns:a16="http://schemas.microsoft.com/office/drawing/2014/main" id="{0AE1B403-79AC-5646-9A8B-9E969BF06899}"/>
              </a:ext>
            </a:extLst>
          </p:cNvPr>
          <p:cNvSpPr>
            <a:spLocks noGrp="1"/>
          </p:cNvSpPr>
          <p:nvPr>
            <p:ph type="title" hasCustomPrompt="1"/>
          </p:nvPr>
        </p:nvSpPr>
        <p:spPr>
          <a:xfrm>
            <a:off x="271750" y="260592"/>
            <a:ext cx="4041632" cy="653808"/>
          </a:xfrm>
          <a:prstGeom prst="rect">
            <a:avLst/>
          </a:prstGeom>
        </p:spPr>
        <p:txBody>
          <a:bodyPr vert="horz" lIns="0" tIns="0" rIns="0" bIns="0" rtlCol="0" anchor="b" anchorCtr="0">
            <a:normAutofit/>
          </a:bodyPr>
          <a:lstStyle>
            <a:lvl1pPr algn="ctr">
              <a:defRPr sz="1800"/>
            </a:lvl1pPr>
          </a:lstStyle>
          <a:p>
            <a:r>
              <a:rPr lang="en-US" dirty="0"/>
              <a:t>Click to edit master title style</a:t>
            </a:r>
          </a:p>
        </p:txBody>
      </p:sp>
    </p:spTree>
    <p:extLst>
      <p:ext uri="{BB962C8B-B14F-4D97-AF65-F5344CB8AC3E}">
        <p14:creationId xmlns:p14="http://schemas.microsoft.com/office/powerpoint/2010/main" val="1797036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Sub, 1 Content">
    <p:spTree>
      <p:nvGrpSpPr>
        <p:cNvPr id="1" name=""/>
        <p:cNvGrpSpPr/>
        <p:nvPr/>
      </p:nvGrpSpPr>
      <p:grpSpPr>
        <a:xfrm>
          <a:off x="0" y="0"/>
          <a:ext cx="0" cy="0"/>
          <a:chOff x="0" y="0"/>
          <a:chExt cx="0" cy="0"/>
        </a:xfrm>
      </p:grpSpPr>
      <p:sp>
        <p:nvSpPr>
          <p:cNvPr id="35" name="Text Placeholder 34">
            <a:extLst>
              <a:ext uri="{FF2B5EF4-FFF2-40B4-BE49-F238E27FC236}">
                <a16:creationId xmlns:a16="http://schemas.microsoft.com/office/drawing/2014/main" id="{F9DA520C-D204-0248-A17A-2D6767FB42DF}"/>
              </a:ext>
            </a:extLst>
          </p:cNvPr>
          <p:cNvSpPr>
            <a:spLocks noGrp="1"/>
          </p:cNvSpPr>
          <p:nvPr>
            <p:ph type="body" sz="quarter" idx="15" hasCustomPrompt="1"/>
          </p:nvPr>
        </p:nvSpPr>
        <p:spPr>
          <a:xfrm>
            <a:off x="1069975" y="97155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10" name="Picture Placeholder 9">
            <a:extLst>
              <a:ext uri="{FF2B5EF4-FFF2-40B4-BE49-F238E27FC236}">
                <a16:creationId xmlns:a16="http://schemas.microsoft.com/office/drawing/2014/main" id="{560BE08C-8E9C-984B-833F-BC81E0B746FF}"/>
              </a:ext>
            </a:extLst>
          </p:cNvPr>
          <p:cNvSpPr>
            <a:spLocks noGrp="1"/>
          </p:cNvSpPr>
          <p:nvPr>
            <p:ph type="pic" sz="quarter" idx="14"/>
          </p:nvPr>
        </p:nvSpPr>
        <p:spPr>
          <a:xfrm>
            <a:off x="5554103" y="0"/>
            <a:ext cx="3589897" cy="5141913"/>
          </a:xfrm>
          <a:solidFill>
            <a:schemeClr val="bg2">
              <a:alpha val="40000"/>
            </a:schemeClr>
          </a:solidFill>
        </p:spPr>
        <p:txBody>
          <a:bodyPr/>
          <a:lstStyle/>
          <a:p>
            <a:endParaRPr lang="en-US"/>
          </a:p>
        </p:txBody>
      </p:sp>
      <p:sp>
        <p:nvSpPr>
          <p:cNvPr id="4" name="Text Placeholder 8">
            <a:extLst>
              <a:ext uri="{FF2B5EF4-FFF2-40B4-BE49-F238E27FC236}">
                <a16:creationId xmlns:a16="http://schemas.microsoft.com/office/drawing/2014/main" id="{61FFA38F-50EE-9148-9541-A200CB5D0474}"/>
              </a:ext>
            </a:extLst>
          </p:cNvPr>
          <p:cNvSpPr>
            <a:spLocks noGrp="1"/>
          </p:cNvSpPr>
          <p:nvPr>
            <p:ph type="body" sz="quarter" idx="13"/>
          </p:nvPr>
        </p:nvSpPr>
        <p:spPr>
          <a:xfrm>
            <a:off x="604544" y="650520"/>
            <a:ext cx="2735497" cy="139892"/>
          </a:xfrm>
        </p:spPr>
        <p:txBody>
          <a:bodyPr>
            <a:noAutofit/>
          </a:bodyPr>
          <a:lstStyle>
            <a:lvl1pPr>
              <a:defRPr sz="1200">
                <a:solidFill>
                  <a:schemeClr val="tx2"/>
                </a:solidFill>
              </a:defRPr>
            </a:lvl1pPr>
          </a:lstStyle>
          <a:p>
            <a:endParaRPr lang="en-US" dirty="0">
              <a:solidFill>
                <a:schemeClr val="tx2"/>
              </a:solidFill>
            </a:endParaRPr>
          </a:p>
        </p:txBody>
      </p:sp>
      <p:sp>
        <p:nvSpPr>
          <p:cNvPr id="5" name="Title 5">
            <a:extLst>
              <a:ext uri="{FF2B5EF4-FFF2-40B4-BE49-F238E27FC236}">
                <a16:creationId xmlns:a16="http://schemas.microsoft.com/office/drawing/2014/main" id="{3C3012E6-B195-C04F-A1BB-93D852E44D4E}"/>
              </a:ext>
            </a:extLst>
          </p:cNvPr>
          <p:cNvSpPr>
            <a:spLocks noGrp="1"/>
          </p:cNvSpPr>
          <p:nvPr>
            <p:ph type="title"/>
          </p:nvPr>
        </p:nvSpPr>
        <p:spPr>
          <a:xfrm>
            <a:off x="599014" y="204608"/>
            <a:ext cx="4436588" cy="378857"/>
          </a:xfrm>
        </p:spPr>
        <p:txBody>
          <a:bodyPr/>
          <a:lstStyle>
            <a:lvl1pPr algn="l">
              <a:defRPr>
                <a:solidFill>
                  <a:schemeClr val="tx1"/>
                </a:solidFill>
              </a:defRPr>
            </a:lvl1pPr>
          </a:lstStyle>
          <a:p>
            <a:endParaRPr lang="en-US" dirty="0">
              <a:solidFill>
                <a:srgbClr val="000102"/>
              </a:solidFill>
            </a:endParaRPr>
          </a:p>
        </p:txBody>
      </p:sp>
      <p:sp>
        <p:nvSpPr>
          <p:cNvPr id="8" name="Rectangle 7">
            <a:extLst>
              <a:ext uri="{FF2B5EF4-FFF2-40B4-BE49-F238E27FC236}">
                <a16:creationId xmlns:a16="http://schemas.microsoft.com/office/drawing/2014/main" id="{544D4649-B8ED-7D4A-A07D-4DD359D8422F}"/>
              </a:ext>
            </a:extLst>
          </p:cNvPr>
          <p:cNvSpPr/>
          <p:nvPr userDrawn="1"/>
        </p:nvSpPr>
        <p:spPr>
          <a:xfrm rot="5400000">
            <a:off x="-2530510" y="2530508"/>
            <a:ext cx="5141532" cy="80515"/>
          </a:xfrm>
          <a:prstGeom prst="rect">
            <a:avLst/>
          </a:prstGeom>
          <a:gradFill>
            <a:gsLst>
              <a:gs pos="0">
                <a:schemeClr val="bg2"/>
              </a:gs>
              <a:gs pos="51000">
                <a:schemeClr val="accent3"/>
              </a:gs>
              <a:gs pos="99000">
                <a:schemeClr val="accent6"/>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34">
            <a:extLst>
              <a:ext uri="{FF2B5EF4-FFF2-40B4-BE49-F238E27FC236}">
                <a16:creationId xmlns:a16="http://schemas.microsoft.com/office/drawing/2014/main" id="{DD3E69E3-3B05-6041-8ED1-93F76E87FC18}"/>
              </a:ext>
            </a:extLst>
          </p:cNvPr>
          <p:cNvSpPr>
            <a:spLocks noGrp="1"/>
          </p:cNvSpPr>
          <p:nvPr>
            <p:ph type="body" sz="quarter" idx="16" hasCustomPrompt="1"/>
          </p:nvPr>
        </p:nvSpPr>
        <p:spPr>
          <a:xfrm>
            <a:off x="1069975" y="145591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7" name="Text Placeholder 34">
            <a:extLst>
              <a:ext uri="{FF2B5EF4-FFF2-40B4-BE49-F238E27FC236}">
                <a16:creationId xmlns:a16="http://schemas.microsoft.com/office/drawing/2014/main" id="{BA894395-971F-A746-94EE-9819865F22B2}"/>
              </a:ext>
            </a:extLst>
          </p:cNvPr>
          <p:cNvSpPr>
            <a:spLocks noGrp="1"/>
          </p:cNvSpPr>
          <p:nvPr>
            <p:ph type="body" sz="quarter" idx="17" hasCustomPrompt="1"/>
          </p:nvPr>
        </p:nvSpPr>
        <p:spPr>
          <a:xfrm>
            <a:off x="1069975" y="1940282"/>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8" name="Text Placeholder 34">
            <a:extLst>
              <a:ext uri="{FF2B5EF4-FFF2-40B4-BE49-F238E27FC236}">
                <a16:creationId xmlns:a16="http://schemas.microsoft.com/office/drawing/2014/main" id="{DE61E558-540D-7E42-ABBE-0020ED954E7D}"/>
              </a:ext>
            </a:extLst>
          </p:cNvPr>
          <p:cNvSpPr>
            <a:spLocks noGrp="1"/>
          </p:cNvSpPr>
          <p:nvPr>
            <p:ph type="body" sz="quarter" idx="18" hasCustomPrompt="1"/>
          </p:nvPr>
        </p:nvSpPr>
        <p:spPr>
          <a:xfrm>
            <a:off x="1069975" y="2424648"/>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39" name="Text Placeholder 34">
            <a:extLst>
              <a:ext uri="{FF2B5EF4-FFF2-40B4-BE49-F238E27FC236}">
                <a16:creationId xmlns:a16="http://schemas.microsoft.com/office/drawing/2014/main" id="{D8630EAC-2CE0-0F46-B9F6-92ED91592A6D}"/>
              </a:ext>
            </a:extLst>
          </p:cNvPr>
          <p:cNvSpPr>
            <a:spLocks noGrp="1"/>
          </p:cNvSpPr>
          <p:nvPr>
            <p:ph type="body" sz="quarter" idx="19" hasCustomPrompt="1"/>
          </p:nvPr>
        </p:nvSpPr>
        <p:spPr>
          <a:xfrm>
            <a:off x="1069975" y="2909014"/>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0" name="Text Placeholder 34">
            <a:extLst>
              <a:ext uri="{FF2B5EF4-FFF2-40B4-BE49-F238E27FC236}">
                <a16:creationId xmlns:a16="http://schemas.microsoft.com/office/drawing/2014/main" id="{E736CBB9-EBD2-B643-A795-113A6DEC562A}"/>
              </a:ext>
            </a:extLst>
          </p:cNvPr>
          <p:cNvSpPr>
            <a:spLocks noGrp="1"/>
          </p:cNvSpPr>
          <p:nvPr>
            <p:ph type="body" sz="quarter" idx="20" hasCustomPrompt="1"/>
          </p:nvPr>
        </p:nvSpPr>
        <p:spPr>
          <a:xfrm>
            <a:off x="1069975" y="3393380"/>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1" name="Text Placeholder 34">
            <a:extLst>
              <a:ext uri="{FF2B5EF4-FFF2-40B4-BE49-F238E27FC236}">
                <a16:creationId xmlns:a16="http://schemas.microsoft.com/office/drawing/2014/main" id="{FA195DA4-ED50-6746-AE32-1DD691DA03CB}"/>
              </a:ext>
            </a:extLst>
          </p:cNvPr>
          <p:cNvSpPr>
            <a:spLocks noGrp="1"/>
          </p:cNvSpPr>
          <p:nvPr>
            <p:ph type="body" sz="quarter" idx="21" hasCustomPrompt="1"/>
          </p:nvPr>
        </p:nvSpPr>
        <p:spPr>
          <a:xfrm>
            <a:off x="1069975" y="3877746"/>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
        <p:nvSpPr>
          <p:cNvPr id="42" name="Text Placeholder 34">
            <a:extLst>
              <a:ext uri="{FF2B5EF4-FFF2-40B4-BE49-F238E27FC236}">
                <a16:creationId xmlns:a16="http://schemas.microsoft.com/office/drawing/2014/main" id="{2524B38A-F2EF-9A48-8804-2037A195F2FE}"/>
              </a:ext>
            </a:extLst>
          </p:cNvPr>
          <p:cNvSpPr>
            <a:spLocks noGrp="1"/>
          </p:cNvSpPr>
          <p:nvPr>
            <p:ph type="body" sz="quarter" idx="22" hasCustomPrompt="1"/>
          </p:nvPr>
        </p:nvSpPr>
        <p:spPr>
          <a:xfrm>
            <a:off x="1069975" y="4362113"/>
            <a:ext cx="3965575" cy="387350"/>
          </a:xfrm>
        </p:spPr>
        <p:txBody>
          <a:bodyPr anchor="ctr">
            <a:noAutofit/>
          </a:bodyPr>
          <a:lstStyle>
            <a:lvl1pPr>
              <a:defRPr sz="1000" b="0" i="0">
                <a:latin typeface="Lato" panose="020F0502020204030203" pitchFamily="34" charset="77"/>
              </a:defRPr>
            </a:lvl1pPr>
            <a:lvl2pPr>
              <a:defRPr sz="1000" b="0" i="0">
                <a:latin typeface="Lato" panose="020F0502020204030203" pitchFamily="34" charset="77"/>
              </a:defRPr>
            </a:lvl2pPr>
            <a:lvl3pPr>
              <a:defRPr sz="1000" b="0" i="0">
                <a:latin typeface="Lato" panose="020F0502020204030203" pitchFamily="34" charset="77"/>
              </a:defRPr>
            </a:lvl3pPr>
            <a:lvl4pPr>
              <a:defRPr sz="1000" b="0" i="0">
                <a:latin typeface="Lato" panose="020F0502020204030203" pitchFamily="34" charset="77"/>
              </a:defRPr>
            </a:lvl4pPr>
            <a:lvl5pPr>
              <a:defRPr sz="1000" b="0" i="0">
                <a:latin typeface="Lato" panose="020F0502020204030203" pitchFamily="34" charset="77"/>
              </a:defRPr>
            </a:lvl5pPr>
          </a:lstStyle>
          <a:p>
            <a:pPr lvl="0"/>
            <a:r>
              <a:rPr lang="en-US" dirty="0"/>
              <a:t>Click to add text</a:t>
            </a:r>
          </a:p>
        </p:txBody>
      </p:sp>
    </p:spTree>
    <p:extLst>
      <p:ext uri="{BB962C8B-B14F-4D97-AF65-F5344CB8AC3E}">
        <p14:creationId xmlns:p14="http://schemas.microsoft.com/office/powerpoint/2010/main" val="658503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60592"/>
            <a:ext cx="7886700" cy="653808"/>
          </a:xfrm>
          <a:prstGeom prst="rect">
            <a:avLst/>
          </a:prstGeom>
        </p:spPr>
        <p:txBody>
          <a:bodyPr vert="horz" lIns="0" tIns="0" rIns="0" bIns="0" rtlCol="0" anchor="b" anchorCtr="0">
            <a:normAutofit/>
          </a:bodyPr>
          <a:lstStyle/>
          <a:p>
            <a:r>
              <a:rPr lang="en-US" dirty="0"/>
              <a:t>Click to edit Master title style</a:t>
            </a:r>
          </a:p>
        </p:txBody>
      </p:sp>
      <p:sp>
        <p:nvSpPr>
          <p:cNvPr id="3" name="Text Placeholder 2"/>
          <p:cNvSpPr>
            <a:spLocks noGrp="1"/>
          </p:cNvSpPr>
          <p:nvPr>
            <p:ph type="body" idx="1"/>
          </p:nvPr>
        </p:nvSpPr>
        <p:spPr>
          <a:xfrm>
            <a:off x="628650" y="1254543"/>
            <a:ext cx="7886700" cy="3263504"/>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C7F6D12C-BFBC-5C4C-87F1-81F07E204465}"/>
              </a:ext>
            </a:extLst>
          </p:cNvPr>
          <p:cNvSpPr txBox="1"/>
          <p:nvPr userDrawn="1"/>
        </p:nvSpPr>
        <p:spPr>
          <a:xfrm>
            <a:off x="392597" y="4858191"/>
            <a:ext cx="2588895" cy="184666"/>
          </a:xfrm>
          <a:prstGeom prst="rect">
            <a:avLst/>
          </a:prstGeom>
          <a:noFill/>
        </p:spPr>
        <p:txBody>
          <a:bodyPr wrap="square" rtlCol="0">
            <a:spAutoFit/>
          </a:bodyPr>
          <a:lstStyle/>
          <a:p>
            <a:r>
              <a:rPr lang="en-US" sz="600" b="0" i="0" dirty="0">
                <a:solidFill>
                  <a:schemeClr val="tx2"/>
                </a:solidFill>
                <a:latin typeface="Lato Light" panose="020F0502020204030203" pitchFamily="34" charset="0"/>
                <a:ea typeface="Lato Light" panose="020F0502020204030203" pitchFamily="34" charset="0"/>
                <a:cs typeface="Lato Light" panose="020F0502020204030203" pitchFamily="34" charset="0"/>
              </a:rPr>
              <a:t>©2022 RealPage Inc.</a:t>
            </a:r>
          </a:p>
        </p:txBody>
      </p:sp>
      <p:sp>
        <p:nvSpPr>
          <p:cNvPr id="8" name="Slide Number Placeholder 5">
            <a:extLst>
              <a:ext uri="{FF2B5EF4-FFF2-40B4-BE49-F238E27FC236}">
                <a16:creationId xmlns:a16="http://schemas.microsoft.com/office/drawing/2014/main" id="{36DF9E3C-65D0-5A41-8EF5-6BF5853E1CFE}"/>
              </a:ext>
            </a:extLst>
          </p:cNvPr>
          <p:cNvSpPr txBox="1">
            <a:spLocks/>
          </p:cNvSpPr>
          <p:nvPr userDrawn="1"/>
        </p:nvSpPr>
        <p:spPr>
          <a:xfrm>
            <a:off x="223606" y="4853464"/>
            <a:ext cx="280781" cy="273844"/>
          </a:xfrm>
          <a:prstGeom prst="rect">
            <a:avLst/>
          </a:prstGeom>
        </p:spPr>
        <p:txBody>
          <a:bodyPr/>
          <a:lstStyle>
            <a:defPPr>
              <a:defRPr lang="en-US"/>
            </a:defPPr>
            <a:lvl1pPr marL="0" algn="l" defTabSz="457200" rtl="0" eaLnBrk="1" latinLnBrk="0" hangingPunct="1">
              <a:defRPr sz="600" b="0" i="0" kern="1200">
                <a:solidFill>
                  <a:schemeClr val="accent6">
                    <a:lumMod val="40000"/>
                    <a:lumOff val="60000"/>
                  </a:schemeClr>
                </a:solidFill>
                <a:latin typeface="Lato Light" panose="020F0502020204030203" pitchFamily="34" charset="0"/>
                <a:ea typeface="Lato Light" panose="020F0502020204030203" pitchFamily="34" charset="0"/>
                <a:cs typeface="Lato Light" panose="020F0502020204030203"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DE1F0DE-FBD3-414B-9485-E78F73017EBF}" type="slidenum">
              <a:rPr lang="en-US" smtClean="0">
                <a:solidFill>
                  <a:schemeClr val="tx2"/>
                </a:solidFill>
              </a:rPr>
              <a:pPr/>
              <a:t>‹#›</a:t>
            </a:fld>
            <a:endParaRPr lang="en-US" dirty="0">
              <a:solidFill>
                <a:schemeClr val="tx2"/>
              </a:solidFill>
            </a:endParaRPr>
          </a:p>
        </p:txBody>
      </p:sp>
      <p:pic>
        <p:nvPicPr>
          <p:cNvPr id="6" name="Picture 5">
            <a:extLst>
              <a:ext uri="{FF2B5EF4-FFF2-40B4-BE49-F238E27FC236}">
                <a16:creationId xmlns:a16="http://schemas.microsoft.com/office/drawing/2014/main" id="{1DD81F71-DCBE-E341-8582-597921162F09}"/>
              </a:ext>
            </a:extLst>
          </p:cNvPr>
          <p:cNvPicPr>
            <a:picLocks noChangeAspect="1"/>
          </p:cNvPicPr>
          <p:nvPr userDrawn="1"/>
        </p:nvPicPr>
        <p:blipFill>
          <a:blip r:embed="rId22" cstate="hqprint">
            <a:extLst>
              <a:ext uri="{28A0092B-C50C-407E-A947-70E740481C1C}">
                <a14:useLocalDpi xmlns:a14="http://schemas.microsoft.com/office/drawing/2010/main"/>
              </a:ext>
            </a:extLst>
          </a:blip>
          <a:stretch>
            <a:fillRect/>
          </a:stretch>
        </p:blipFill>
        <p:spPr>
          <a:xfrm>
            <a:off x="7908323" y="4871465"/>
            <a:ext cx="1060622" cy="130743"/>
          </a:xfrm>
          <a:prstGeom prst="rect">
            <a:avLst/>
          </a:prstGeom>
        </p:spPr>
      </p:pic>
    </p:spTree>
    <p:extLst>
      <p:ext uri="{BB962C8B-B14F-4D97-AF65-F5344CB8AC3E}">
        <p14:creationId xmlns:p14="http://schemas.microsoft.com/office/powerpoint/2010/main" val="1354122535"/>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43" r:id="rId3"/>
    <p:sldLayoutId id="2147483844" r:id="rId4"/>
    <p:sldLayoutId id="2147483850" r:id="rId5"/>
    <p:sldLayoutId id="2147483849" r:id="rId6"/>
    <p:sldLayoutId id="2147483847" r:id="rId7"/>
    <p:sldLayoutId id="2147483838" r:id="rId8"/>
    <p:sldLayoutId id="2147483857" r:id="rId9"/>
    <p:sldLayoutId id="2147483854" r:id="rId10"/>
    <p:sldLayoutId id="2147483863" r:id="rId11"/>
    <p:sldLayoutId id="2147483859" r:id="rId12"/>
    <p:sldLayoutId id="2147483860" r:id="rId13"/>
    <p:sldLayoutId id="2147483855" r:id="rId14"/>
    <p:sldLayoutId id="2147483864" r:id="rId15"/>
    <p:sldLayoutId id="2147483858" r:id="rId16"/>
    <p:sldLayoutId id="2147483861" r:id="rId17"/>
    <p:sldLayoutId id="2147483856" r:id="rId18"/>
    <p:sldLayoutId id="2147483862" r:id="rId19"/>
    <p:sldLayoutId id="2147483840" r:id="rId20"/>
  </p:sldLayoutIdLst>
  <p:txStyles>
    <p:titleStyle>
      <a:lvl1pPr algn="ctr" defTabSz="685800" rtl="0" eaLnBrk="1" latinLnBrk="0" hangingPunct="1">
        <a:lnSpc>
          <a:spcPct val="90000"/>
        </a:lnSpc>
        <a:spcBef>
          <a:spcPct val="0"/>
        </a:spcBef>
        <a:buNone/>
        <a:defRPr sz="1800" kern="1200">
          <a:solidFill>
            <a:schemeClr val="tx1"/>
          </a:solidFill>
          <a:latin typeface="Lato" panose="020F0502020204030203" pitchFamily="34" charset="0"/>
          <a:ea typeface="Lato" panose="020F0502020204030203" pitchFamily="34" charset="0"/>
          <a:cs typeface="Lato" panose="020F0502020204030203"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32">
          <p15:clr>
            <a:srgbClr val="F26B43"/>
          </p15:clr>
        </p15:guide>
        <p15:guide id="2" pos="2880">
          <p15:clr>
            <a:srgbClr val="F26B43"/>
          </p15:clr>
        </p15:guide>
        <p15:guide id="3" orient="horz" pos="1740">
          <p15:clr>
            <a:srgbClr val="F26B43"/>
          </p15:clr>
        </p15:guide>
        <p15:guide id="4" pos="392">
          <p15:clr>
            <a:srgbClr val="F26B43"/>
          </p15:clr>
        </p15:guide>
        <p15:guide id="5" orient="horz" pos="161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7.emf"/><Relationship Id="rId5" Type="http://schemas.openxmlformats.org/officeDocument/2006/relationships/image" Target="../media/image1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3.png"/><Relationship Id="rId7"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0.png"/><Relationship Id="rId9" Type="http://schemas.openxmlformats.org/officeDocument/2006/relationships/image" Target="../media/image17.emf"/></Relationships>
</file>

<file path=ppt/slides/_rels/slide9.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0.png"/><Relationship Id="rId7" Type="http://schemas.openxmlformats.org/officeDocument/2006/relationships/image" Target="../media/image25.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13.png"/><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7.emf"/><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hyperlink" Target="https://forms.office.com/r/p1UepZ5W1F"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usiness people discussing a strategy and working together in of -  Instituto ILEN">
            <a:extLst>
              <a:ext uri="{FF2B5EF4-FFF2-40B4-BE49-F238E27FC236}">
                <a16:creationId xmlns:a16="http://schemas.microsoft.com/office/drawing/2014/main" id="{237F2650-850C-D262-8457-1681DA569E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4893"/>
          <a:stretch/>
        </p:blipFill>
        <p:spPr bwMode="auto">
          <a:xfrm>
            <a:off x="2577795" y="0"/>
            <a:ext cx="656620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BCADEDD-3035-C390-E64C-E6A8C5B0604B}"/>
              </a:ext>
            </a:extLst>
          </p:cNvPr>
          <p:cNvSpPr txBox="1"/>
          <p:nvPr/>
        </p:nvSpPr>
        <p:spPr>
          <a:xfrm>
            <a:off x="373142" y="584079"/>
            <a:ext cx="3791664" cy="369332"/>
          </a:xfrm>
          <a:prstGeom prst="rect">
            <a:avLst/>
          </a:prstGeom>
          <a:noFill/>
        </p:spPr>
        <p:txBody>
          <a:bodyPr wrap="square" rtlCol="0">
            <a:spAutoFit/>
          </a:bodyPr>
          <a:lstStyle/>
          <a:p>
            <a:pPr defTabSz="685783"/>
            <a:r>
              <a:rPr lang="en-US" b="1">
                <a:latin typeface="Lato" panose="020F0502020204030203" pitchFamily="34" charset="0"/>
                <a:ea typeface="Lato Medium" panose="020F0502020204030203" pitchFamily="34" charset="0"/>
                <a:cs typeface="Lato Medium" panose="020F0502020204030203" pitchFamily="34" charset="0"/>
              </a:rPr>
              <a:t>Character</a:t>
            </a:r>
          </a:p>
        </p:txBody>
      </p:sp>
      <p:sp>
        <p:nvSpPr>
          <p:cNvPr id="3" name="TextBox 2">
            <a:extLst>
              <a:ext uri="{FF2B5EF4-FFF2-40B4-BE49-F238E27FC236}">
                <a16:creationId xmlns:a16="http://schemas.microsoft.com/office/drawing/2014/main" id="{6880E4D4-4F17-F482-0C2F-244CB4E22E5C}"/>
              </a:ext>
            </a:extLst>
          </p:cNvPr>
          <p:cNvSpPr txBox="1"/>
          <p:nvPr/>
        </p:nvSpPr>
        <p:spPr>
          <a:xfrm>
            <a:off x="393315" y="956950"/>
            <a:ext cx="1694695" cy="276999"/>
          </a:xfrm>
          <a:prstGeom prst="rect">
            <a:avLst/>
          </a:prstGeom>
          <a:noFill/>
        </p:spPr>
        <p:txBody>
          <a:bodyPr wrap="none" rtlCol="0">
            <a:spAutoFit/>
          </a:bodyPr>
          <a:lstStyle/>
          <a:p>
            <a:r>
              <a:rPr lang="en-US" sz="1200"/>
              <a:t>Character Key actions</a:t>
            </a:r>
          </a:p>
        </p:txBody>
      </p:sp>
      <p:sp>
        <p:nvSpPr>
          <p:cNvPr id="4" name="TextBox 3">
            <a:extLst>
              <a:ext uri="{FF2B5EF4-FFF2-40B4-BE49-F238E27FC236}">
                <a16:creationId xmlns:a16="http://schemas.microsoft.com/office/drawing/2014/main" id="{A2515962-9B86-8EB4-2337-0DDDB2020F54}"/>
              </a:ext>
            </a:extLst>
          </p:cNvPr>
          <p:cNvSpPr txBox="1"/>
          <p:nvPr/>
        </p:nvSpPr>
        <p:spPr>
          <a:xfrm>
            <a:off x="402677" y="1275964"/>
            <a:ext cx="2884123" cy="276999"/>
          </a:xfrm>
          <a:prstGeom prst="rect">
            <a:avLst/>
          </a:prstGeom>
          <a:noFill/>
        </p:spPr>
        <p:txBody>
          <a:bodyPr wrap="none" rtlCol="0">
            <a:spAutoFit/>
          </a:bodyPr>
          <a:lstStyle/>
          <a:p>
            <a:r>
              <a:rPr lang="en-US" sz="1200" dirty="0">
                <a:latin typeface="Lato" panose="020F0502020204030203" pitchFamily="34" charset="0"/>
              </a:rPr>
              <a:t>Module I: </a:t>
            </a:r>
            <a:r>
              <a:rPr lang="en-US" sz="1200" b="1" dirty="0">
                <a:latin typeface="Lato" panose="020F0502020204030203" pitchFamily="34" charset="0"/>
              </a:rPr>
              <a:t>Impact of Character </a:t>
            </a:r>
            <a:r>
              <a:rPr lang="en-US" sz="900" dirty="0">
                <a:latin typeface="Lato" panose="020F0502020204030203" pitchFamily="34" charset="0"/>
              </a:rPr>
              <a:t>(30 minutes)</a:t>
            </a:r>
            <a:endParaRPr lang="en-US" sz="1200" dirty="0">
              <a:latin typeface="Lato" panose="020F0502020204030203" pitchFamily="34" charset="0"/>
            </a:endParaRPr>
          </a:p>
        </p:txBody>
      </p:sp>
      <p:sp>
        <p:nvSpPr>
          <p:cNvPr id="5" name="TextBox 4">
            <a:extLst>
              <a:ext uri="{FF2B5EF4-FFF2-40B4-BE49-F238E27FC236}">
                <a16:creationId xmlns:a16="http://schemas.microsoft.com/office/drawing/2014/main" id="{63651DA3-C4EE-9C87-A633-5F9919DAEF3C}"/>
              </a:ext>
            </a:extLst>
          </p:cNvPr>
          <p:cNvSpPr txBox="1"/>
          <p:nvPr/>
        </p:nvSpPr>
        <p:spPr>
          <a:xfrm>
            <a:off x="1003059" y="1485860"/>
            <a:ext cx="5917975" cy="923330"/>
          </a:xfrm>
          <a:prstGeom prst="rect">
            <a:avLst/>
          </a:prstGeom>
          <a:noFill/>
        </p:spPr>
        <p:txBody>
          <a:bodyPr wrap="square" rtlCol="0">
            <a:spAutoFit/>
          </a:bodyPr>
          <a:lstStyle/>
          <a:p>
            <a:pPr marL="214313" indent="-214313">
              <a:buFontTx/>
              <a:buChar char="-"/>
            </a:pPr>
            <a:r>
              <a:rPr lang="en-US" sz="900">
                <a:latin typeface="Lato" panose="020F0502020204030203" pitchFamily="34" charset="0"/>
              </a:rPr>
              <a:t>Objectives</a:t>
            </a:r>
          </a:p>
          <a:p>
            <a:pPr marL="214313" indent="-214313">
              <a:buFontTx/>
              <a:buChar char="-"/>
            </a:pPr>
            <a:r>
              <a:rPr lang="en-US" sz="900">
                <a:latin typeface="Lato" panose="020F0502020204030203" pitchFamily="34" charset="0"/>
              </a:rPr>
              <a:t>Self-Assessment – Say Yes or No</a:t>
            </a:r>
          </a:p>
          <a:p>
            <a:pPr marL="214313" indent="-214313">
              <a:buFontTx/>
              <a:buChar char="-"/>
            </a:pPr>
            <a:r>
              <a:rPr lang="en-US" sz="900">
                <a:latin typeface="Lato" panose="020F0502020204030203" pitchFamily="34" charset="0"/>
                <a:ea typeface="Calibri" panose="020F0502020204030204" pitchFamily="34" charset="0"/>
                <a:cs typeface="Times New Roman" panose="02020603050405020304" pitchFamily="18" charset="0"/>
              </a:rPr>
              <a:t>Importance of Character: </a:t>
            </a:r>
            <a:r>
              <a:rPr lang="en-US" sz="900">
                <a:latin typeface="Lato" panose="020F0502020204030203" pitchFamily="34" charset="0"/>
              </a:rPr>
              <a:t>Employee, Leader and Organization</a:t>
            </a:r>
          </a:p>
          <a:p>
            <a:pPr marL="214313" indent="-214313">
              <a:buFontTx/>
              <a:buChar char="-"/>
            </a:pPr>
            <a:r>
              <a:rPr lang="en-US" sz="900">
                <a:latin typeface="Lato" panose="020F0502020204030203" pitchFamily="34" charset="0"/>
              </a:rPr>
              <a:t>Demonstrate Character - </a:t>
            </a:r>
            <a:r>
              <a:rPr lang="en-US" sz="900" dirty="0">
                <a:latin typeface="Lato" panose="020F0502020204030203" pitchFamily="34" charset="0"/>
                <a:ea typeface="Lato Medium" panose="020F0502020204030203" pitchFamily="34" charset="0"/>
                <a:cs typeface="Lato Medium" panose="020F0502020204030203" pitchFamily="34" charset="0"/>
              </a:rPr>
              <a:t>at home, at work, and in your community</a:t>
            </a:r>
            <a:endParaRPr lang="en-US" sz="825">
              <a:latin typeface="Lato" panose="020F0502020204030203" pitchFamily="34" charset="0"/>
              <a:ea typeface="Lato Medium" panose="020F0502020204030203" pitchFamily="34" charset="0"/>
              <a:cs typeface="Lato Medium" panose="020F0502020204030203" pitchFamily="34" charset="0"/>
            </a:endParaRPr>
          </a:p>
          <a:p>
            <a:pPr marL="214313" indent="-214313">
              <a:buFontTx/>
              <a:buChar char="-"/>
            </a:pPr>
            <a:r>
              <a:rPr lang="en-US" sz="900">
                <a:latin typeface="Lato" panose="020F0502020204030203" pitchFamily="34" charset="0"/>
              </a:rPr>
              <a:t>Quote to </a:t>
            </a:r>
            <a:r>
              <a:rPr lang="en-US" sz="900" dirty="0">
                <a:latin typeface="Lato" panose="020F0502020204030203" pitchFamily="34" charset="0"/>
              </a:rPr>
              <a:t>Ponder</a:t>
            </a:r>
            <a:r>
              <a:rPr lang="en-US" sz="900">
                <a:latin typeface="Lato" panose="020F0502020204030203" pitchFamily="34" charset="0"/>
              </a:rPr>
              <a:t> </a:t>
            </a:r>
          </a:p>
          <a:p>
            <a:pPr marL="214313" indent="-214313">
              <a:buFontTx/>
              <a:buChar char="-"/>
            </a:pPr>
            <a:endParaRPr lang="en-US" sz="900">
              <a:latin typeface="Lato" panose="020F0502020204030203" pitchFamily="34" charset="0"/>
            </a:endParaRPr>
          </a:p>
        </p:txBody>
      </p:sp>
      <p:sp>
        <p:nvSpPr>
          <p:cNvPr id="7" name="TextBox 6">
            <a:extLst>
              <a:ext uri="{FF2B5EF4-FFF2-40B4-BE49-F238E27FC236}">
                <a16:creationId xmlns:a16="http://schemas.microsoft.com/office/drawing/2014/main" id="{7945ABF8-06C7-2FBF-C3E2-1A7CFD4D233D}"/>
              </a:ext>
            </a:extLst>
          </p:cNvPr>
          <p:cNvSpPr txBox="1"/>
          <p:nvPr/>
        </p:nvSpPr>
        <p:spPr>
          <a:xfrm>
            <a:off x="393315" y="2409191"/>
            <a:ext cx="3518674" cy="461665"/>
          </a:xfrm>
          <a:prstGeom prst="rect">
            <a:avLst/>
          </a:prstGeom>
          <a:noFill/>
        </p:spPr>
        <p:txBody>
          <a:bodyPr wrap="square" rtlCol="0">
            <a:spAutoFit/>
          </a:bodyPr>
          <a:lstStyle/>
          <a:p>
            <a:r>
              <a:rPr lang="en-US" sz="1200" dirty="0">
                <a:latin typeface="Lato" panose="020F0502020204030203" pitchFamily="34" charset="0"/>
              </a:rPr>
              <a:t>Module II: </a:t>
            </a:r>
            <a:r>
              <a:rPr lang="en-US" sz="1200" b="1" dirty="0">
                <a:latin typeface="Lato" panose="020F0502020204030203" pitchFamily="34" charset="0"/>
              </a:rPr>
              <a:t>Pillars of Character </a:t>
            </a:r>
            <a:r>
              <a:rPr lang="en-US" sz="900" dirty="0">
                <a:latin typeface="Lato" panose="020F0502020204030203" pitchFamily="34" charset="0"/>
              </a:rPr>
              <a:t>(30 minutes)</a:t>
            </a:r>
          </a:p>
          <a:p>
            <a:endParaRPr lang="en-US" sz="1200" b="1" dirty="0">
              <a:latin typeface="Lato" panose="020F0502020204030203" pitchFamily="34" charset="0"/>
            </a:endParaRPr>
          </a:p>
        </p:txBody>
      </p:sp>
      <p:sp>
        <p:nvSpPr>
          <p:cNvPr id="2" name="TextBox 1">
            <a:extLst>
              <a:ext uri="{FF2B5EF4-FFF2-40B4-BE49-F238E27FC236}">
                <a16:creationId xmlns:a16="http://schemas.microsoft.com/office/drawing/2014/main" id="{F5C05D1C-7058-A278-585E-C878096241CB}"/>
              </a:ext>
            </a:extLst>
          </p:cNvPr>
          <p:cNvSpPr txBox="1"/>
          <p:nvPr/>
        </p:nvSpPr>
        <p:spPr>
          <a:xfrm>
            <a:off x="373143" y="3607516"/>
            <a:ext cx="4125245" cy="461665"/>
          </a:xfrm>
          <a:prstGeom prst="rect">
            <a:avLst/>
          </a:prstGeom>
          <a:noFill/>
        </p:spPr>
        <p:txBody>
          <a:bodyPr wrap="square" lIns="91440" tIns="45720" rIns="91440" bIns="45720" rtlCol="0" anchor="t">
            <a:spAutoFit/>
          </a:bodyPr>
          <a:lstStyle/>
          <a:p>
            <a:r>
              <a:rPr lang="en-US" sz="1200" dirty="0">
                <a:latin typeface="Lato"/>
                <a:ea typeface="Lato"/>
                <a:cs typeface="Lato"/>
              </a:rPr>
              <a:t>Module III: </a:t>
            </a:r>
            <a:r>
              <a:rPr lang="en-US" sz="1200" b="1" dirty="0">
                <a:latin typeface="Lato"/>
                <a:ea typeface="Lato"/>
                <a:cs typeface="Lato"/>
              </a:rPr>
              <a:t>Build Your Character </a:t>
            </a:r>
            <a:r>
              <a:rPr lang="en-US" sz="900" dirty="0">
                <a:latin typeface="Lato"/>
                <a:ea typeface="Lato"/>
                <a:cs typeface="Lato"/>
              </a:rPr>
              <a:t>(30 minutes)</a:t>
            </a:r>
          </a:p>
          <a:p>
            <a:endParaRPr lang="en-US" sz="1200" b="1" dirty="0">
              <a:latin typeface="Lato" panose="020F0502020204030203" pitchFamily="34" charset="0"/>
            </a:endParaRPr>
          </a:p>
        </p:txBody>
      </p:sp>
      <p:sp>
        <p:nvSpPr>
          <p:cNvPr id="6" name="TextBox 5">
            <a:extLst>
              <a:ext uri="{FF2B5EF4-FFF2-40B4-BE49-F238E27FC236}">
                <a16:creationId xmlns:a16="http://schemas.microsoft.com/office/drawing/2014/main" id="{FEBE4ADA-2E9A-092C-67BC-A7161086591A}"/>
              </a:ext>
            </a:extLst>
          </p:cNvPr>
          <p:cNvSpPr txBox="1"/>
          <p:nvPr/>
        </p:nvSpPr>
        <p:spPr>
          <a:xfrm>
            <a:off x="982887" y="3830709"/>
            <a:ext cx="5082157" cy="784830"/>
          </a:xfrm>
          <a:prstGeom prst="rect">
            <a:avLst/>
          </a:prstGeom>
          <a:noFill/>
        </p:spPr>
        <p:txBody>
          <a:bodyPr wrap="square" rtlCol="0">
            <a:spAutoFit/>
          </a:bodyPr>
          <a:lstStyle/>
          <a:p>
            <a:pPr marL="214313" indent="-214313">
              <a:buFontTx/>
              <a:buChar char="-"/>
            </a:pPr>
            <a:r>
              <a:rPr lang="en-US" sz="900">
                <a:latin typeface="Lato" panose="020F0502020204030203" pitchFamily="34" charset="0"/>
              </a:rPr>
              <a:t>Objectives</a:t>
            </a:r>
          </a:p>
          <a:p>
            <a:pPr marL="214313" indent="-214313">
              <a:buFontTx/>
              <a:buChar char="-"/>
            </a:pPr>
            <a:r>
              <a:rPr lang="en-US" sz="900">
                <a:latin typeface="Lato" panose="020F0502020204030203" pitchFamily="34" charset="0"/>
              </a:rPr>
              <a:t>Discussion – Culture &amp; Diversity, Conflict and Unethical behavior</a:t>
            </a:r>
          </a:p>
          <a:p>
            <a:pPr marL="214313" indent="-214313">
              <a:buFontTx/>
              <a:buChar char="-"/>
            </a:pPr>
            <a:r>
              <a:rPr lang="en-US" sz="900">
                <a:latin typeface="Lato" panose="020F0502020204030203" pitchFamily="34" charset="0"/>
              </a:rPr>
              <a:t>Build </a:t>
            </a:r>
            <a:r>
              <a:rPr lang="en-US" sz="900" dirty="0">
                <a:latin typeface="Lato" panose="020F0502020204030203" pitchFamily="34" charset="0"/>
              </a:rPr>
              <a:t>Your </a:t>
            </a:r>
            <a:r>
              <a:rPr lang="en-US" sz="900">
                <a:latin typeface="Lato" panose="020F0502020204030203" pitchFamily="34" charset="0"/>
              </a:rPr>
              <a:t>character – Having, Doing and Being</a:t>
            </a:r>
          </a:p>
          <a:p>
            <a:pPr marL="214313" indent="-214313">
              <a:buFontTx/>
              <a:buChar char="-"/>
            </a:pPr>
            <a:r>
              <a:rPr lang="en-US" sz="900">
                <a:latin typeface="Lato" panose="020F0502020204030203" pitchFamily="34" charset="0"/>
              </a:rPr>
              <a:t>Character Vocabulary in Communication</a:t>
            </a:r>
          </a:p>
          <a:p>
            <a:pPr marL="214313" indent="-214313">
              <a:buFontTx/>
              <a:buChar char="-"/>
            </a:pPr>
            <a:r>
              <a:rPr lang="en-US" sz="900">
                <a:latin typeface="Lato" panose="020F0502020204030203" pitchFamily="34" charset="0"/>
              </a:rPr>
              <a:t>Quote to </a:t>
            </a:r>
            <a:r>
              <a:rPr lang="en-US" sz="900" dirty="0">
                <a:latin typeface="Lato" panose="020F0502020204030203" pitchFamily="34" charset="0"/>
              </a:rPr>
              <a:t>Ponder</a:t>
            </a:r>
            <a:endParaRPr lang="en-US" sz="900" i="1">
              <a:latin typeface="Lato" panose="020F0502020204030203" pitchFamily="34" charset="0"/>
              <a:ea typeface="Lato Medium" panose="020F0502020204030203" pitchFamily="34" charset="0"/>
              <a:cs typeface="Lato Medium" panose="020F0502020204030203" pitchFamily="34" charset="0"/>
            </a:endParaRPr>
          </a:p>
        </p:txBody>
      </p:sp>
      <p:sp>
        <p:nvSpPr>
          <p:cNvPr id="9" name="Rectangle 8">
            <a:extLst>
              <a:ext uri="{FF2B5EF4-FFF2-40B4-BE49-F238E27FC236}">
                <a16:creationId xmlns:a16="http://schemas.microsoft.com/office/drawing/2014/main" id="{861862BE-BF84-1DF7-0CB9-088C81FAA440}"/>
              </a:ext>
            </a:extLst>
          </p:cNvPr>
          <p:cNvSpPr/>
          <p:nvPr/>
        </p:nvSpPr>
        <p:spPr>
          <a:xfrm>
            <a:off x="4021091" y="2733949"/>
            <a:ext cx="1243013"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extBox 7">
            <a:extLst>
              <a:ext uri="{FF2B5EF4-FFF2-40B4-BE49-F238E27FC236}">
                <a16:creationId xmlns:a16="http://schemas.microsoft.com/office/drawing/2014/main" id="{D7C233DE-074E-84E9-B875-115B3492BBF4}"/>
              </a:ext>
            </a:extLst>
          </p:cNvPr>
          <p:cNvSpPr txBox="1"/>
          <p:nvPr/>
        </p:nvSpPr>
        <p:spPr>
          <a:xfrm>
            <a:off x="1003059" y="2628481"/>
            <a:ext cx="5082156" cy="1188787"/>
          </a:xfrm>
          <a:prstGeom prst="rect">
            <a:avLst/>
          </a:prstGeom>
          <a:noFill/>
        </p:spPr>
        <p:txBody>
          <a:bodyPr wrap="square" rtlCol="0">
            <a:spAutoFit/>
          </a:bodyPr>
          <a:lstStyle/>
          <a:p>
            <a:pPr marL="214313" indent="-214313">
              <a:buFontTx/>
              <a:buChar char="-"/>
            </a:pPr>
            <a:r>
              <a:rPr lang="en-US" sz="900">
                <a:latin typeface="Lato" panose="020F0502020204030203" pitchFamily="34" charset="0"/>
              </a:rPr>
              <a:t>Objectives</a:t>
            </a:r>
          </a:p>
          <a:p>
            <a:pPr marL="214313" indent="-214313">
              <a:buFontTx/>
              <a:buChar char="-"/>
            </a:pPr>
            <a:r>
              <a:rPr lang="en-US" sz="900">
                <a:latin typeface="Lato" panose="020F0502020204030203" pitchFamily="34" charset="0"/>
              </a:rPr>
              <a:t>Pillars of Character </a:t>
            </a:r>
          </a:p>
          <a:p>
            <a:pPr marL="214313" indent="-214313">
              <a:buFontTx/>
              <a:buChar char="-"/>
            </a:pPr>
            <a:r>
              <a:rPr lang="en-US" sz="900">
                <a:latin typeface="Lato" panose="020F0502020204030203" pitchFamily="34" charset="0"/>
              </a:rPr>
              <a:t>Case </a:t>
            </a:r>
            <a:r>
              <a:rPr lang="en-US" sz="900" dirty="0">
                <a:latin typeface="Lato" panose="020F0502020204030203" pitchFamily="34" charset="0"/>
              </a:rPr>
              <a:t>Study Mindset </a:t>
            </a:r>
            <a:r>
              <a:rPr lang="en-US" sz="900">
                <a:latin typeface="Lato" panose="020F0502020204030203" pitchFamily="34" charset="0"/>
              </a:rPr>
              <a:t>- Treat every person you encounter with dignity and respect</a:t>
            </a:r>
          </a:p>
          <a:p>
            <a:pPr marL="214313" indent="-214313">
              <a:buFontTx/>
              <a:buChar char="-"/>
            </a:pPr>
            <a:r>
              <a:rPr lang="en-US" sz="900">
                <a:latin typeface="Lato" panose="020F0502020204030203" pitchFamily="34" charset="0"/>
              </a:rPr>
              <a:t>Case </a:t>
            </a:r>
            <a:r>
              <a:rPr lang="en-US" sz="900" dirty="0">
                <a:latin typeface="Lato" panose="020F0502020204030203" pitchFamily="34" charset="0"/>
              </a:rPr>
              <a:t>Study Mindset </a:t>
            </a:r>
            <a:r>
              <a:rPr lang="en-US" sz="900">
                <a:latin typeface="Lato" panose="020F0502020204030203" pitchFamily="34" charset="0"/>
              </a:rPr>
              <a:t>- What we think, we become</a:t>
            </a:r>
          </a:p>
          <a:p>
            <a:pPr marL="214313" indent="-214313">
              <a:buFontTx/>
              <a:buChar char="-"/>
            </a:pPr>
            <a:r>
              <a:rPr lang="en-US" sz="900">
                <a:latin typeface="Lato" panose="020F0502020204030203" pitchFamily="34" charset="0"/>
              </a:rPr>
              <a:t>Quote to </a:t>
            </a:r>
            <a:r>
              <a:rPr lang="en-US" sz="900" dirty="0">
                <a:latin typeface="Lato" panose="020F0502020204030203" pitchFamily="34" charset="0"/>
              </a:rPr>
              <a:t>Ponder</a:t>
            </a:r>
            <a:endParaRPr lang="en-US" sz="825" i="1">
              <a:latin typeface="Lato" panose="020F0502020204030203" pitchFamily="34" charset="0"/>
              <a:ea typeface="Lato Medium" panose="020F0502020204030203" pitchFamily="34" charset="0"/>
              <a:cs typeface="Lato Medium" panose="020F0502020204030203" pitchFamily="34" charset="0"/>
            </a:endParaRPr>
          </a:p>
          <a:p>
            <a:r>
              <a:rPr lang="en-US" sz="825" i="1">
                <a:latin typeface="Lato" panose="020F0502020204030203" pitchFamily="34" charset="0"/>
                <a:ea typeface="Lato Medium" panose="020F0502020204030203" pitchFamily="34" charset="0"/>
                <a:cs typeface="Lato Medium" panose="020F0502020204030203" pitchFamily="34" charset="0"/>
              </a:rPr>
              <a:t> </a:t>
            </a:r>
          </a:p>
          <a:p>
            <a:r>
              <a:rPr lang="en-US" sz="900" b="1" i="1">
                <a:latin typeface="Lato" panose="020F0502020204030203" pitchFamily="34" charset="0"/>
              </a:rPr>
              <a:t> </a:t>
            </a:r>
          </a:p>
          <a:p>
            <a:pPr marL="214313" indent="-214313">
              <a:buFontTx/>
              <a:buChar char="-"/>
            </a:pPr>
            <a:endParaRPr lang="en-US" sz="900">
              <a:latin typeface="Lato" panose="020F0502020204030203" pitchFamily="34" charset="0"/>
            </a:endParaRPr>
          </a:p>
        </p:txBody>
      </p:sp>
      <p:sp>
        <p:nvSpPr>
          <p:cNvPr id="10" name="Rectangle 9">
            <a:extLst>
              <a:ext uri="{FF2B5EF4-FFF2-40B4-BE49-F238E27FC236}">
                <a16:creationId xmlns:a16="http://schemas.microsoft.com/office/drawing/2014/main" id="{2ECA57AE-146A-AAE5-8C46-D0841D464D8F}"/>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4747B29-A377-8D61-D779-BCBC22A757E6}"/>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a:t>
            </a:r>
          </a:p>
        </p:txBody>
      </p:sp>
    </p:spTree>
    <p:extLst>
      <p:ext uri="{BB962C8B-B14F-4D97-AF65-F5344CB8AC3E}">
        <p14:creationId xmlns:p14="http://schemas.microsoft.com/office/powerpoint/2010/main" val="377621705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3DBB3-517F-43AB-9E22-2E0BAF7DF7C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84455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spect Of People In Business And The Economy">
            <a:extLst>
              <a:ext uri="{FF2B5EF4-FFF2-40B4-BE49-F238E27FC236}">
                <a16:creationId xmlns:a16="http://schemas.microsoft.com/office/drawing/2014/main" id="{5C4F6E90-3690-5EFB-887C-99B0982821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085"/>
          <a:stretch/>
        </p:blipFill>
        <p:spPr bwMode="auto">
          <a:xfrm>
            <a:off x="3128975" y="0"/>
            <a:ext cx="6015025" cy="51435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200" y="0"/>
            <a:ext cx="7315200" cy="5143500"/>
          </a:xfrm>
          <a:prstGeom prst="rect">
            <a:avLst/>
          </a:prstGeom>
        </p:spPr>
      </p:pic>
      <p:sp>
        <p:nvSpPr>
          <p:cNvPr id="5" name="TextBox 1">
            <a:extLst>
              <a:ext uri="{FF2B5EF4-FFF2-40B4-BE49-F238E27FC236}">
                <a16:creationId xmlns:a16="http://schemas.microsoft.com/office/drawing/2014/main" id="{3E6D4D2D-5515-3E45-96F4-A7726B36F432}"/>
              </a:ext>
            </a:extLst>
          </p:cNvPr>
          <p:cNvSpPr txBox="1"/>
          <p:nvPr/>
        </p:nvSpPr>
        <p:spPr>
          <a:xfrm>
            <a:off x="424665" y="2308800"/>
            <a:ext cx="3188693" cy="461665"/>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685800"/>
            <a:r>
              <a:rPr lang="en-US" sz="2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Core Value: Character</a:t>
            </a:r>
          </a:p>
        </p:txBody>
      </p:sp>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32634" y="106861"/>
            <a:ext cx="1170741" cy="167459"/>
          </a:xfrm>
          <a:prstGeom prst="rect">
            <a:avLst/>
          </a:prstGeom>
        </p:spPr>
      </p:pic>
      <p:sp>
        <p:nvSpPr>
          <p:cNvPr id="2" name="Rectangle 1">
            <a:extLst>
              <a:ext uri="{FF2B5EF4-FFF2-40B4-BE49-F238E27FC236}">
                <a16:creationId xmlns:a16="http://schemas.microsoft.com/office/drawing/2014/main" id="{ECBE5706-3739-64E2-B269-7D9EE9B8FC7D}"/>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48F7CAA-C792-4547-2D50-0E547C561698}"/>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2</a:t>
            </a:r>
          </a:p>
        </p:txBody>
      </p:sp>
    </p:spTree>
    <p:extLst>
      <p:ext uri="{BB962C8B-B14F-4D97-AF65-F5344CB8AC3E}">
        <p14:creationId xmlns:p14="http://schemas.microsoft.com/office/powerpoint/2010/main" val="1348738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5640F7C5-6F67-2E11-B0B9-19C1E12D6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4471" y="0"/>
            <a:ext cx="5698973" cy="5143500"/>
          </a:xfrm>
          <a:prstGeom prst="rect">
            <a:avLst/>
          </a:prstGeom>
        </p:spPr>
      </p:pic>
      <p:pic>
        <p:nvPicPr>
          <p:cNvPr id="4098" name="Picture 2" descr="Real Estate and Property Management Software | RealPage">
            <a:extLst>
              <a:ext uri="{FF2B5EF4-FFF2-40B4-BE49-F238E27FC236}">
                <a16:creationId xmlns:a16="http://schemas.microsoft.com/office/drawing/2014/main" id="{8F13AD12-4335-967E-CDB8-A3513D6BED5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606" y="217489"/>
            <a:ext cx="1277109" cy="15538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26D41FA-B604-864B-90AF-5EB11BB36B76}"/>
              </a:ext>
            </a:extLst>
          </p:cNvPr>
          <p:cNvSpPr txBox="1"/>
          <p:nvPr/>
        </p:nvSpPr>
        <p:spPr>
          <a:xfrm>
            <a:off x="464606" y="675742"/>
            <a:ext cx="8344599" cy="738664"/>
          </a:xfrm>
          <a:prstGeom prst="rect">
            <a:avLst/>
          </a:prstGeom>
          <a:noFill/>
        </p:spPr>
        <p:txBody>
          <a:bodyPr wrap="square">
            <a:spAutoFit/>
          </a:bodyPr>
          <a:lstStyle/>
          <a:p>
            <a:r>
              <a:rPr lang="en-US" sz="1050" b="1" dirty="0">
                <a:latin typeface="Lato" panose="020F0502020204030203" pitchFamily="34" charset="0"/>
              </a:rPr>
              <a:t>Overview</a:t>
            </a:r>
          </a:p>
          <a:p>
            <a:r>
              <a:rPr lang="en-US" sz="1050" dirty="0">
                <a:latin typeface="Lato" panose="020F0502020204030203" pitchFamily="34" charset="0"/>
              </a:rPr>
              <a:t>The RealPage Core Values - Manager Learning Resources aim to help ensure alignment of the core values’ definition throughout RealPage. RealPage leaders and teammates will have thoughtful conversations and engage in helpful activities that will help them embody the core values’ key actions. </a:t>
            </a:r>
          </a:p>
        </p:txBody>
      </p:sp>
      <p:sp>
        <p:nvSpPr>
          <p:cNvPr id="14" name="TextBox 13">
            <a:extLst>
              <a:ext uri="{FF2B5EF4-FFF2-40B4-BE49-F238E27FC236}">
                <a16:creationId xmlns:a16="http://schemas.microsoft.com/office/drawing/2014/main" id="{17CF3AD5-66AB-5530-9D5B-A71FF54614BA}"/>
              </a:ext>
            </a:extLst>
          </p:cNvPr>
          <p:cNvSpPr txBox="1"/>
          <p:nvPr/>
        </p:nvSpPr>
        <p:spPr>
          <a:xfrm>
            <a:off x="581673" y="1801525"/>
            <a:ext cx="7980654" cy="2834622"/>
          </a:xfrm>
          <a:prstGeom prst="rect">
            <a:avLst/>
          </a:prstGeom>
          <a:noFill/>
        </p:spPr>
        <p:txBody>
          <a:bodyPr wrap="square" lIns="91440" tIns="45720" rIns="91440" bIns="45720" anchor="t">
            <a:spAutoFit/>
          </a:bodyPr>
          <a:lstStyle/>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Good character builds the trust needed for success. These learning resources aim to help participants develop their character by creating awareness of the areas they can improve on, exploring the importance and pillars of character and providing tools to build character.</a:t>
            </a:r>
          </a:p>
          <a:p>
            <a:pPr marL="0" marR="0">
              <a:lnSpc>
                <a:spcPct val="107000"/>
              </a:lnSpc>
              <a:spcBef>
                <a:spcPts val="0"/>
              </a:spcBef>
              <a:spcAft>
                <a:spcPts val="800"/>
              </a:spcAft>
            </a:pPr>
            <a:r>
              <a:rPr lang="en-US" sz="1000" b="1" kern="100" dirty="0">
                <a:solidFill>
                  <a:srgbClr val="247888"/>
                </a:solidFill>
                <a:effectLst/>
                <a:latin typeface="Lato" panose="020F0502020204030203" pitchFamily="34" charset="0"/>
                <a:ea typeface="Calibri" panose="020F0502020204030204" pitchFamily="34" charset="0"/>
                <a:cs typeface="Times New Roman" panose="02020603050405020304" pitchFamily="18" charset="0"/>
              </a:rPr>
              <a:t>Module I: Impact of Character</a:t>
            </a:r>
          </a:p>
          <a:p>
            <a:pPr marL="0" marR="0">
              <a:lnSpc>
                <a:spcPct val="107000"/>
              </a:lnSpc>
              <a:spcBef>
                <a:spcPts val="0"/>
              </a:spcBef>
              <a:spcAft>
                <a:spcPts val="800"/>
              </a:spcAft>
            </a:pPr>
            <a:r>
              <a:rPr lang="en-US" sz="1000" b="1" kern="100" dirty="0">
                <a:solidFill>
                  <a:srgbClr val="247888"/>
                </a:solidFill>
                <a:effectLst/>
                <a:latin typeface="Lato" panose="020F0502020204030203" pitchFamily="34" charset="0"/>
                <a:ea typeface="Calibri" panose="020F0502020204030204" pitchFamily="34" charset="0"/>
                <a:cs typeface="Times New Roman" panose="02020603050405020304" pitchFamily="18" charset="0"/>
              </a:rPr>
              <a:t>Character is best shown when no one is watching. This first module aims to help participants take a close look at their actions to realize areas of character that they can or need to improve on. They will also explore the importance of good character as an employee or a leader and to the organization helping them move towards development.</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Module II: Pillars of Character Model</a:t>
            </a: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In this second module, participants will have a better understanding of what is considered ethical through the four pillars of character. They will also have an opportunity to discuss behavior that they want to improve and how they can do it. Then, through case studies they will determine actions that could improve character.</a:t>
            </a:r>
          </a:p>
          <a:p>
            <a:pPr>
              <a:lnSpc>
                <a:spcPct val="107000"/>
              </a:lnSpc>
              <a:spcAft>
                <a:spcPts val="800"/>
              </a:spcAft>
            </a:pPr>
            <a:r>
              <a:rPr lang="en-US" sz="1000" kern="100">
                <a:effectLst/>
                <a:latin typeface="Lato"/>
                <a:ea typeface="Calibri" panose="020F0502020204030204" pitchFamily="34" charset="0"/>
                <a:cs typeface="Times New Roman"/>
              </a:rPr>
              <a:t>Module III: </a:t>
            </a:r>
            <a:r>
              <a:rPr lang="en-US" sz="1000" kern="100">
                <a:latin typeface="Lato"/>
                <a:ea typeface="Calibri" panose="020F0502020204030204" pitchFamily="34" charset="0"/>
                <a:cs typeface="Times New Roman"/>
              </a:rPr>
              <a:t>Build Your Character</a:t>
            </a:r>
            <a:endParaRPr lang="en-US" sz="1000" kern="100">
              <a:effectLst/>
              <a:latin typeface="Lato" panose="020F0502020204030203"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kern="100" dirty="0">
                <a:effectLst/>
                <a:latin typeface="Lato" panose="020F0502020204030203" pitchFamily="34" charset="0"/>
                <a:ea typeface="Calibri" panose="020F0502020204030204" pitchFamily="34" charset="0"/>
                <a:cs typeface="Times New Roman" panose="02020603050405020304" pitchFamily="18" charset="0"/>
              </a:rPr>
              <a:t>The first two modules focus on self-awareness and understanding the behaviors that comprise good character. In this third module, learners will explore tools to help build their character and to promote good character when communicating with others. </a:t>
            </a:r>
          </a:p>
        </p:txBody>
      </p:sp>
      <p:sp>
        <p:nvSpPr>
          <p:cNvPr id="2" name="Rectangle 1">
            <a:extLst>
              <a:ext uri="{FF2B5EF4-FFF2-40B4-BE49-F238E27FC236}">
                <a16:creationId xmlns:a16="http://schemas.microsoft.com/office/drawing/2014/main" id="{027A1EB1-9505-ACD8-0FA5-9E4723A81F65}"/>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282DD78-EF9C-D0B9-07B3-9DBA259F4456}"/>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3</a:t>
            </a:r>
          </a:p>
        </p:txBody>
      </p:sp>
      <p:sp>
        <p:nvSpPr>
          <p:cNvPr id="4" name="Rectangle 3">
            <a:extLst>
              <a:ext uri="{FF2B5EF4-FFF2-40B4-BE49-F238E27FC236}">
                <a16:creationId xmlns:a16="http://schemas.microsoft.com/office/drawing/2014/main" id="{A8BB3819-5B8C-C732-637A-095AB8C9EF85}"/>
              </a:ext>
            </a:extLst>
          </p:cNvPr>
          <p:cNvSpPr/>
          <p:nvPr/>
        </p:nvSpPr>
        <p:spPr>
          <a:xfrm>
            <a:off x="7803444" y="4849257"/>
            <a:ext cx="1266215"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a:extLst>
              <a:ext uri="{FF2B5EF4-FFF2-40B4-BE49-F238E27FC236}">
                <a16:creationId xmlns:a16="http://schemas.microsoft.com/office/drawing/2014/main" id="{8212762E-88E6-AEC0-C5E3-6693026CFE26}"/>
              </a:ext>
            </a:extLst>
          </p:cNvPr>
          <p:cNvSpPr/>
          <p:nvPr/>
        </p:nvSpPr>
        <p:spPr>
          <a:xfrm>
            <a:off x="502034" y="1545158"/>
            <a:ext cx="8344599" cy="3220125"/>
          </a:xfrm>
          <a:prstGeom prst="roundRect">
            <a:avLst>
              <a:gd name="adj" fmla="val 3878"/>
            </a:avLst>
          </a:prstGeom>
          <a:noFill/>
          <a:ln w="6350">
            <a:solidFill>
              <a:srgbClr val="A9AEAF"/>
            </a:solidFill>
            <a:miter lim="400000"/>
          </a:ln>
        </p:spPr>
        <p:txBody>
          <a:bodyPr lIns="0" tIns="0" rIns="0" bIns="0" anchor="ctr"/>
          <a:lstStyle/>
          <a:p>
            <a:endParaRPr sz="900" dirty="0"/>
          </a:p>
        </p:txBody>
      </p:sp>
      <p:sp>
        <p:nvSpPr>
          <p:cNvPr id="6" name="Shape">
            <a:extLst>
              <a:ext uri="{FF2B5EF4-FFF2-40B4-BE49-F238E27FC236}">
                <a16:creationId xmlns:a16="http://schemas.microsoft.com/office/drawing/2014/main" id="{3543BFAF-8E95-F048-CE9E-35C08B4E0762}"/>
              </a:ext>
            </a:extLst>
          </p:cNvPr>
          <p:cNvSpPr/>
          <p:nvPr/>
        </p:nvSpPr>
        <p:spPr>
          <a:xfrm>
            <a:off x="503685" y="1526427"/>
            <a:ext cx="1358604" cy="239524"/>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chemeClr val="accent6"/>
          </a:solidFill>
          <a:ln w="12700">
            <a:miter lim="400000"/>
          </a:ln>
        </p:spPr>
        <p:txBody>
          <a:bodyPr lIns="0" tIns="0" rIns="0" bIns="0" anchor="ctr"/>
          <a:lstStyle/>
          <a:p>
            <a:endParaRPr sz="900"/>
          </a:p>
        </p:txBody>
      </p:sp>
      <p:sp>
        <p:nvSpPr>
          <p:cNvPr id="8" name="TextBox 7">
            <a:extLst>
              <a:ext uri="{FF2B5EF4-FFF2-40B4-BE49-F238E27FC236}">
                <a16:creationId xmlns:a16="http://schemas.microsoft.com/office/drawing/2014/main" id="{EF1A995D-C79A-224C-4943-53DE9D266655}"/>
              </a:ext>
            </a:extLst>
          </p:cNvPr>
          <p:cNvSpPr txBox="1"/>
          <p:nvPr/>
        </p:nvSpPr>
        <p:spPr>
          <a:xfrm>
            <a:off x="764287" y="1510372"/>
            <a:ext cx="4572000" cy="276999"/>
          </a:xfrm>
          <a:prstGeom prst="rect">
            <a:avLst/>
          </a:prstGeom>
          <a:noFill/>
        </p:spPr>
        <p:txBody>
          <a:bodyPr wrap="square">
            <a:spAutoFit/>
          </a:bodyPr>
          <a:lstStyle/>
          <a:p>
            <a:r>
              <a:rPr lang="en-US" sz="1200" dirty="0">
                <a:solidFill>
                  <a:schemeClr val="bg1"/>
                </a:solidFill>
                <a:latin typeface="Lato" panose="020F0502020204030203" pitchFamily="34" charset="0"/>
              </a:rPr>
              <a:t>Character</a:t>
            </a:r>
          </a:p>
        </p:txBody>
      </p:sp>
    </p:spTree>
    <p:extLst>
      <p:ext uri="{BB962C8B-B14F-4D97-AF65-F5344CB8AC3E}">
        <p14:creationId xmlns:p14="http://schemas.microsoft.com/office/powerpoint/2010/main" val="123087849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8CDB9F-4F35-2DE2-E2D3-009F3EC48931}"/>
              </a:ext>
            </a:extLst>
          </p:cNvPr>
          <p:cNvPicPr>
            <a:picLocks noChangeAspect="1"/>
          </p:cNvPicPr>
          <p:nvPr/>
        </p:nvPicPr>
        <p:blipFill rotWithShape="1">
          <a:blip r:embed="rId3"/>
          <a:srcRect l="5689" t="1289" r="16505" b="1191"/>
          <a:stretch/>
        </p:blipFill>
        <p:spPr>
          <a:xfrm>
            <a:off x="-16194" y="-260"/>
            <a:ext cx="204988" cy="5138528"/>
          </a:xfrm>
          <a:prstGeom prst="rect">
            <a:avLst/>
          </a:prstGeom>
        </p:spPr>
      </p:pic>
      <p:sp>
        <p:nvSpPr>
          <p:cNvPr id="4" name="Rectangle 3">
            <a:extLst>
              <a:ext uri="{FF2B5EF4-FFF2-40B4-BE49-F238E27FC236}">
                <a16:creationId xmlns:a16="http://schemas.microsoft.com/office/drawing/2014/main" id="{174F2F1F-3277-4C89-961E-3BEBAF06C7C6}"/>
              </a:ext>
            </a:extLst>
          </p:cNvPr>
          <p:cNvSpPr/>
          <p:nvPr/>
        </p:nvSpPr>
        <p:spPr>
          <a:xfrm>
            <a:off x="6299200" y="4771390"/>
            <a:ext cx="2753360" cy="2781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E2ACF75-6929-8354-1AE9-8066B7C41B8B}"/>
              </a:ext>
            </a:extLst>
          </p:cNvPr>
          <p:cNvPicPr>
            <a:picLocks noChangeAspect="1"/>
          </p:cNvPicPr>
          <p:nvPr/>
        </p:nvPicPr>
        <p:blipFill>
          <a:blip r:embed="rId4"/>
          <a:srcRect l="10502" t="21519" r="5467" b="2215"/>
          <a:stretch>
            <a:fillRect/>
          </a:stretch>
        </p:blipFill>
        <p:spPr>
          <a:xfrm>
            <a:off x="1428352" y="1192914"/>
            <a:ext cx="6561655" cy="3322371"/>
          </a:xfrm>
          <a:prstGeom prst="rect">
            <a:avLst/>
          </a:prstGeom>
        </p:spPr>
      </p:pic>
      <p:sp>
        <p:nvSpPr>
          <p:cNvPr id="3" name="Rectangle 2">
            <a:extLst>
              <a:ext uri="{FF2B5EF4-FFF2-40B4-BE49-F238E27FC236}">
                <a16:creationId xmlns:a16="http://schemas.microsoft.com/office/drawing/2014/main" id="{BCB09D13-9D09-D9CD-6596-3471883C07D5}"/>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C824602-6D10-392E-F407-697319F6FF3E}"/>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4</a:t>
            </a:r>
          </a:p>
        </p:txBody>
      </p:sp>
    </p:spTree>
    <p:extLst>
      <p:ext uri="{BB962C8B-B14F-4D97-AF65-F5344CB8AC3E}">
        <p14:creationId xmlns:p14="http://schemas.microsoft.com/office/powerpoint/2010/main" val="321054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Latest Release of Google's Dart Language Previews New Safety Features |  ITPro Today: IT News, How-Tos, Trends, Case Studies, Career Tips, More">
            <a:extLst>
              <a:ext uri="{FF2B5EF4-FFF2-40B4-BE49-F238E27FC236}">
                <a16:creationId xmlns:a16="http://schemas.microsoft.com/office/drawing/2014/main" id="{561F388D-16E4-A899-57E3-C2A1A638E8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007" r="60834"/>
          <a:stretch/>
        </p:blipFill>
        <p:spPr bwMode="auto">
          <a:xfrm flipH="1">
            <a:off x="6896099" y="0"/>
            <a:ext cx="2247899" cy="51249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 up of a logo&#10;&#10;Description automatically generated">
            <a:extLst>
              <a:ext uri="{FF2B5EF4-FFF2-40B4-BE49-F238E27FC236}">
                <a16:creationId xmlns:a16="http://schemas.microsoft.com/office/drawing/2014/main" id="{6B669995-5287-9222-F1E1-1665EAB409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200" y="0"/>
            <a:ext cx="6036416" cy="5143500"/>
          </a:xfrm>
          <a:prstGeom prst="rect">
            <a:avLst/>
          </a:prstGeom>
        </p:spPr>
      </p:pic>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385335" y="116796"/>
            <a:ext cx="1170741" cy="167459"/>
          </a:xfrm>
          <a:prstGeom prst="rect">
            <a:avLst/>
          </a:prstGeom>
        </p:spPr>
      </p:pic>
      <p:sp>
        <p:nvSpPr>
          <p:cNvPr id="7" name="Title 8">
            <a:extLst>
              <a:ext uri="{FF2B5EF4-FFF2-40B4-BE49-F238E27FC236}">
                <a16:creationId xmlns:a16="http://schemas.microsoft.com/office/drawing/2014/main" id="{522EC2A0-1658-C647-8A7F-FD465DAF153E}"/>
              </a:ext>
            </a:extLst>
          </p:cNvPr>
          <p:cNvSpPr txBox="1">
            <a:spLocks/>
          </p:cNvSpPr>
          <p:nvPr/>
        </p:nvSpPr>
        <p:spPr>
          <a:xfrm>
            <a:off x="528081" y="1339101"/>
            <a:ext cx="4583803"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400" dirty="0">
                <a:solidFill>
                  <a:schemeClr val="tx2">
                    <a:lumMod val="75000"/>
                  </a:schemeClr>
                </a:solidFill>
              </a:rPr>
              <a:t>Impact of Character: </a:t>
            </a:r>
            <a:r>
              <a:rPr lang="en-US" sz="2400" dirty="0">
                <a:solidFill>
                  <a:schemeClr val="tx2">
                    <a:lumMod val="75000"/>
                  </a:schemeClr>
                </a:solidFill>
                <a:latin typeface="Lato"/>
                <a:ea typeface="Lato"/>
                <a:cs typeface="Lato"/>
              </a:rPr>
              <a:t>Objectives</a:t>
            </a:r>
            <a:endParaRPr lang="en-US" sz="2400" dirty="0">
              <a:solidFill>
                <a:schemeClr val="tx2">
                  <a:lumMod val="75000"/>
                </a:schemeClr>
              </a:solidFill>
            </a:endParaRPr>
          </a:p>
        </p:txBody>
      </p:sp>
      <p:sp>
        <p:nvSpPr>
          <p:cNvPr id="8" name="TextBox 7">
            <a:extLst>
              <a:ext uri="{FF2B5EF4-FFF2-40B4-BE49-F238E27FC236}">
                <a16:creationId xmlns:a16="http://schemas.microsoft.com/office/drawing/2014/main" id="{432705C6-BC8C-404A-57E7-B6252136564E}"/>
              </a:ext>
            </a:extLst>
          </p:cNvPr>
          <p:cNvSpPr txBox="1"/>
          <p:nvPr/>
        </p:nvSpPr>
        <p:spPr>
          <a:xfrm>
            <a:off x="428927" y="2158447"/>
            <a:ext cx="468295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defTabSz="685800">
              <a:buFont typeface="Arial"/>
              <a:buChar char="•"/>
            </a:pPr>
            <a:r>
              <a:rPr lang="en-US" sz="1600" dirty="0">
                <a:solidFill>
                  <a:schemeClr val="accent6"/>
                </a:solidFill>
                <a:latin typeface="Lato" panose="020F0502020204030203" pitchFamily="34" charset="0"/>
                <a:ea typeface="Lato Medium"/>
                <a:cs typeface="Lato Medium"/>
              </a:rPr>
              <a:t>Self-assess on various parameters to determine character improvement areas</a:t>
            </a:r>
          </a:p>
          <a:p>
            <a:pPr marL="285750" indent="-285750" defTabSz="685800">
              <a:buFont typeface="Arial"/>
              <a:buChar char="•"/>
            </a:pPr>
            <a:endParaRPr lang="en-US" sz="1600" dirty="0">
              <a:solidFill>
                <a:schemeClr val="accent6"/>
              </a:solidFill>
              <a:latin typeface="Lato" panose="020F0502020204030203" pitchFamily="34" charset="0"/>
              <a:ea typeface="Lato Medium"/>
              <a:cs typeface="Lato Medium"/>
            </a:endParaRPr>
          </a:p>
          <a:p>
            <a:pPr marL="285750" indent="-285750" defTabSz="685800">
              <a:buFont typeface="Arial"/>
              <a:buChar char="•"/>
            </a:pPr>
            <a:r>
              <a:rPr lang="en-US" sz="1600" dirty="0">
                <a:solidFill>
                  <a:schemeClr val="accent6"/>
                </a:solidFill>
                <a:latin typeface="Lato" panose="020F0502020204030203" pitchFamily="34" charset="0"/>
                <a:ea typeface="Lato Medium"/>
                <a:cs typeface="Lato Medium"/>
              </a:rPr>
              <a:t>Understand the impact of the character core value on oneself,  leader and organization </a:t>
            </a:r>
          </a:p>
          <a:p>
            <a:pPr defTabSz="685800"/>
            <a:endParaRPr lang="en-US" sz="1600" dirty="0">
              <a:solidFill>
                <a:schemeClr val="accent6"/>
              </a:solidFill>
              <a:latin typeface="Lato" panose="020F0502020204030203" pitchFamily="34" charset="0"/>
              <a:ea typeface="Lato Medium"/>
              <a:cs typeface="Lato Medium"/>
            </a:endParaRPr>
          </a:p>
        </p:txBody>
      </p:sp>
      <p:pic>
        <p:nvPicPr>
          <p:cNvPr id="10" name="Picture 9">
            <a:extLst>
              <a:ext uri="{FF2B5EF4-FFF2-40B4-BE49-F238E27FC236}">
                <a16:creationId xmlns:a16="http://schemas.microsoft.com/office/drawing/2014/main" id="{1C879438-4031-A1BA-11E1-1FCDE1800140}"/>
              </a:ext>
            </a:extLst>
          </p:cNvPr>
          <p:cNvPicPr>
            <a:picLocks noChangeAspect="1"/>
          </p:cNvPicPr>
          <p:nvPr/>
        </p:nvPicPr>
        <p:blipFill>
          <a:blip r:embed="rId6"/>
          <a:stretch>
            <a:fillRect/>
          </a:stretch>
        </p:blipFill>
        <p:spPr>
          <a:xfrm>
            <a:off x="7977179" y="4140687"/>
            <a:ext cx="963621" cy="801516"/>
          </a:xfrm>
          <a:prstGeom prst="rect">
            <a:avLst/>
          </a:prstGeom>
        </p:spPr>
      </p:pic>
      <p:sp>
        <p:nvSpPr>
          <p:cNvPr id="9" name="Rectangle 8">
            <a:extLst>
              <a:ext uri="{FF2B5EF4-FFF2-40B4-BE49-F238E27FC236}">
                <a16:creationId xmlns:a16="http://schemas.microsoft.com/office/drawing/2014/main" id="{7E20CA0B-F55F-C4CF-336F-A8B2D91D1786}"/>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4E74578-A32D-21C1-7B80-B78CDC664EAD}"/>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5</a:t>
            </a:r>
          </a:p>
        </p:txBody>
      </p:sp>
      <p:sp>
        <p:nvSpPr>
          <p:cNvPr id="13" name="Title 8">
            <a:extLst>
              <a:ext uri="{FF2B5EF4-FFF2-40B4-BE49-F238E27FC236}">
                <a16:creationId xmlns:a16="http://schemas.microsoft.com/office/drawing/2014/main" id="{AC83657A-C191-D736-028C-1C9B6B9EBBA8}"/>
              </a:ext>
            </a:extLst>
          </p:cNvPr>
          <p:cNvSpPr txBox="1">
            <a:spLocks/>
          </p:cNvSpPr>
          <p:nvPr/>
        </p:nvSpPr>
        <p:spPr>
          <a:xfrm>
            <a:off x="520965" y="1236249"/>
            <a:ext cx="902134" cy="387107"/>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1200" dirty="0">
                <a:solidFill>
                  <a:schemeClr val="tx2">
                    <a:lumMod val="75000"/>
                  </a:schemeClr>
                </a:solidFill>
                <a:latin typeface="Lato"/>
                <a:ea typeface="Lato"/>
                <a:cs typeface="Lato"/>
              </a:rPr>
              <a:t>Module I</a:t>
            </a:r>
          </a:p>
        </p:txBody>
      </p:sp>
    </p:spTree>
    <p:extLst>
      <p:ext uri="{BB962C8B-B14F-4D97-AF65-F5344CB8AC3E}">
        <p14:creationId xmlns:p14="http://schemas.microsoft.com/office/powerpoint/2010/main" val="4044955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3">
            <a:extLst>
              <a:ext uri="{FF2B5EF4-FFF2-40B4-BE49-F238E27FC236}">
                <a16:creationId xmlns:a16="http://schemas.microsoft.com/office/drawing/2014/main" id="{FD169CED-47CA-21BE-4419-E75FC0AD7F48}"/>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flipH="1">
            <a:off x="6836638" y="1"/>
            <a:ext cx="2307362" cy="5143499"/>
          </a:xfrm>
          <a:prstGeom prst="rect">
            <a:avLst/>
          </a:prstGeom>
        </p:spPr>
      </p:pic>
      <p:pic>
        <p:nvPicPr>
          <p:cNvPr id="7" name="Picture 6" descr="A close up of a logo&#10;&#10;Description automatically generated">
            <a:extLst>
              <a:ext uri="{FF2B5EF4-FFF2-40B4-BE49-F238E27FC236}">
                <a16:creationId xmlns:a16="http://schemas.microsoft.com/office/drawing/2014/main" id="{DA1407F7-7AA3-DD36-55A2-FBC2A583BE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3200" y="0"/>
            <a:ext cx="5844674" cy="5143500"/>
          </a:xfrm>
          <a:prstGeom prst="rect">
            <a:avLst/>
          </a:prstGeom>
        </p:spPr>
      </p:pic>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34B9984A-D222-5EC2-7B9E-4C84CFBC2443}"/>
              </a:ext>
            </a:extLst>
          </p:cNvPr>
          <p:cNvSpPr txBox="1">
            <a:spLocks/>
          </p:cNvSpPr>
          <p:nvPr/>
        </p:nvSpPr>
        <p:spPr>
          <a:xfrm>
            <a:off x="473242" y="490741"/>
            <a:ext cx="7028402"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b="1" dirty="0">
                <a:solidFill>
                  <a:schemeClr val="tx2">
                    <a:lumMod val="75000"/>
                  </a:schemeClr>
                </a:solidFill>
              </a:rPr>
              <a:t>Self-Assessment</a:t>
            </a:r>
          </a:p>
        </p:txBody>
      </p:sp>
      <p:sp>
        <p:nvSpPr>
          <p:cNvPr id="6" name="Text Placeholder 5">
            <a:extLst>
              <a:ext uri="{FF2B5EF4-FFF2-40B4-BE49-F238E27FC236}">
                <a16:creationId xmlns:a16="http://schemas.microsoft.com/office/drawing/2014/main" id="{30F544C8-69FE-5ECD-CCEC-A6331E5ECC46}"/>
              </a:ext>
            </a:extLst>
          </p:cNvPr>
          <p:cNvSpPr txBox="1">
            <a:spLocks/>
          </p:cNvSpPr>
          <p:nvPr/>
        </p:nvSpPr>
        <p:spPr>
          <a:xfrm>
            <a:off x="424207" y="1395850"/>
            <a:ext cx="6560793" cy="3169446"/>
          </a:xfrm>
          <a:prstGeom prst="rect">
            <a:avLst/>
          </a:prstGeom>
        </p:spPr>
        <p:txBody>
          <a:bodyPr vert="horz" lIns="0" tIns="0" rIns="0" bIns="0" rtlCol="0" anchor="t">
            <a:normAutofit lnSpcReduction="10000"/>
          </a:bodyPr>
          <a:lst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228600" indent="-228600">
              <a:buFont typeface="Arial" panose="020B0604020202020204" pitchFamily="34" charset="0"/>
              <a:buAutoNum type="arabicPeriod"/>
            </a:pPr>
            <a:r>
              <a:rPr lang="en-US" sz="1400" dirty="0">
                <a:solidFill>
                  <a:schemeClr val="tx1"/>
                </a:solidFill>
              </a:rPr>
              <a:t>Have you used office supplies for personal use?</a:t>
            </a:r>
          </a:p>
          <a:p>
            <a:pPr marL="228600" indent="-228600">
              <a:buFont typeface="Arial" panose="020B0604020202020204" pitchFamily="34" charset="0"/>
              <a:buAutoNum type="arabicPeriod"/>
            </a:pPr>
            <a:r>
              <a:rPr lang="en-US" sz="1400" dirty="0">
                <a:solidFill>
                  <a:schemeClr val="tx1"/>
                </a:solidFill>
                <a:latin typeface="Lato"/>
                <a:ea typeface="Lato"/>
                <a:cs typeface="Lato"/>
              </a:rPr>
              <a:t>Have you ever utilized a leave claiming you were sick, but weren’t?</a:t>
            </a:r>
          </a:p>
          <a:p>
            <a:pPr marL="228600" indent="-228600">
              <a:buFont typeface="Arial" panose="020B0604020202020204" pitchFamily="34" charset="0"/>
              <a:buAutoNum type="arabicPeriod"/>
            </a:pPr>
            <a:r>
              <a:rPr lang="en-US" sz="1400" dirty="0">
                <a:solidFill>
                  <a:schemeClr val="tx1"/>
                </a:solidFill>
                <a:latin typeface="Lato"/>
                <a:ea typeface="Lato"/>
                <a:cs typeface="Lato"/>
              </a:rPr>
              <a:t>Do you proactively pitch-in to help meet deadlines of your co-worker?</a:t>
            </a:r>
            <a:endParaRPr lang="en-US" sz="1400" dirty="0">
              <a:solidFill>
                <a:schemeClr val="tx1"/>
              </a:solidFill>
            </a:endParaRPr>
          </a:p>
          <a:p>
            <a:pPr marL="228600" indent="-228600">
              <a:buFont typeface="Arial" panose="020B0604020202020204" pitchFamily="34" charset="0"/>
              <a:buAutoNum type="arabicPeriod"/>
            </a:pPr>
            <a:r>
              <a:rPr lang="en-US" sz="1400" dirty="0">
                <a:solidFill>
                  <a:schemeClr val="tx1"/>
                </a:solidFill>
              </a:rPr>
              <a:t>Do you discuss confidential work matters with friends or family at home? </a:t>
            </a:r>
          </a:p>
          <a:p>
            <a:pPr marL="228600" indent="-228600">
              <a:buFont typeface="Arial" panose="020B0604020202020204" pitchFamily="34" charset="0"/>
              <a:buAutoNum type="arabicPeriod"/>
            </a:pPr>
            <a:r>
              <a:rPr lang="en-US" sz="1400" dirty="0">
                <a:solidFill>
                  <a:schemeClr val="tx1"/>
                </a:solidFill>
              </a:rPr>
              <a:t>Have you ever initiated or become part of gossip at work?</a:t>
            </a:r>
          </a:p>
          <a:p>
            <a:pPr marL="228600" indent="-228600">
              <a:buFont typeface="Arial" panose="020B0604020202020204" pitchFamily="34" charset="0"/>
              <a:buAutoNum type="arabicPeriod"/>
            </a:pPr>
            <a:r>
              <a:rPr lang="en-US" sz="1400" dirty="0">
                <a:solidFill>
                  <a:schemeClr val="tx1"/>
                </a:solidFill>
                <a:latin typeface="Lato"/>
                <a:ea typeface="Lato"/>
                <a:cs typeface="Lato"/>
              </a:rPr>
              <a:t>Do you multitask during virtual meetings?</a:t>
            </a:r>
          </a:p>
          <a:p>
            <a:pPr marL="228600" indent="-228600">
              <a:buFont typeface="Arial" panose="020B0604020202020204" pitchFamily="34" charset="0"/>
              <a:buAutoNum type="arabicPeriod"/>
            </a:pPr>
            <a:r>
              <a:rPr lang="en-US" sz="1400" dirty="0">
                <a:solidFill>
                  <a:schemeClr val="tx1"/>
                </a:solidFill>
                <a:latin typeface="Lato"/>
                <a:ea typeface="Lato"/>
                <a:cs typeface="Lato"/>
              </a:rPr>
              <a:t>Have you ever disclosed information to team members without having complete knowledge on the same?</a:t>
            </a:r>
            <a:endParaRPr lang="en-US" sz="1400" dirty="0">
              <a:solidFill>
                <a:schemeClr val="tx1"/>
              </a:solidFill>
            </a:endParaRPr>
          </a:p>
          <a:p>
            <a:pPr marL="228600" indent="-228600">
              <a:buFont typeface="Arial" panose="020B0604020202020204" pitchFamily="34" charset="0"/>
              <a:buAutoNum type="arabicPeriod"/>
            </a:pPr>
            <a:r>
              <a:rPr lang="en-US" sz="1400" dirty="0">
                <a:solidFill>
                  <a:schemeClr val="tx1"/>
                </a:solidFill>
                <a:latin typeface="Lato"/>
                <a:ea typeface="Lato"/>
                <a:cs typeface="Lato"/>
              </a:rPr>
              <a:t>Do you often express gratitude to your team members or peers?</a:t>
            </a:r>
          </a:p>
          <a:p>
            <a:pPr marL="228600" indent="-228600">
              <a:buFont typeface="Arial" panose="020B0604020202020204" pitchFamily="34" charset="0"/>
              <a:buAutoNum type="arabicPeriod"/>
            </a:pPr>
            <a:r>
              <a:rPr lang="en-US" sz="1400" dirty="0">
                <a:solidFill>
                  <a:schemeClr val="tx1"/>
                </a:solidFill>
                <a:latin typeface="Lato"/>
                <a:ea typeface="Lato"/>
                <a:cs typeface="Lato"/>
              </a:rPr>
              <a:t>Do you interrupt your teammates’ ideas/suggestions without listening to the entire plan?</a:t>
            </a:r>
          </a:p>
          <a:p>
            <a:pPr marL="228600" indent="-228600">
              <a:buFont typeface="Arial" panose="020B0604020202020204" pitchFamily="34" charset="0"/>
              <a:buAutoNum type="arabicPeriod"/>
            </a:pPr>
            <a:r>
              <a:rPr lang="en-US" sz="1400" dirty="0">
                <a:solidFill>
                  <a:schemeClr val="tx1"/>
                </a:solidFill>
                <a:latin typeface="Lato"/>
                <a:ea typeface="Lato"/>
                <a:cs typeface="Lato"/>
              </a:rPr>
              <a:t>Does your work status show available when you are away?</a:t>
            </a:r>
          </a:p>
          <a:p>
            <a:pPr marL="228600" indent="-228600">
              <a:buFont typeface="Arial" panose="020B0604020202020204" pitchFamily="34" charset="0"/>
              <a:buAutoNum type="arabicPeriod"/>
            </a:pPr>
            <a:endParaRPr lang="en-US" sz="1400" dirty="0">
              <a:solidFill>
                <a:schemeClr val="tx1"/>
              </a:solidFill>
              <a:latin typeface="Lato"/>
              <a:ea typeface="Lato"/>
              <a:cs typeface="Lato"/>
            </a:endParaRPr>
          </a:p>
        </p:txBody>
      </p:sp>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9" name="Picture 8">
            <a:extLst>
              <a:ext uri="{FF2B5EF4-FFF2-40B4-BE49-F238E27FC236}">
                <a16:creationId xmlns:a16="http://schemas.microsoft.com/office/drawing/2014/main" id="{BE1C90D8-2564-DFA4-B477-18DC9FAF089B}"/>
              </a:ext>
            </a:extLst>
          </p:cNvPr>
          <p:cNvPicPr>
            <a:picLocks noChangeAspect="1"/>
          </p:cNvPicPr>
          <p:nvPr/>
        </p:nvPicPr>
        <p:blipFill>
          <a:blip r:embed="rId6"/>
          <a:stretch>
            <a:fillRect/>
          </a:stretch>
        </p:blipFill>
        <p:spPr>
          <a:xfrm>
            <a:off x="7977179" y="4140687"/>
            <a:ext cx="963621" cy="801516"/>
          </a:xfrm>
          <a:prstGeom prst="rect">
            <a:avLst/>
          </a:prstGeom>
        </p:spPr>
      </p:pic>
      <p:sp>
        <p:nvSpPr>
          <p:cNvPr id="10" name="Rectangle 9">
            <a:extLst>
              <a:ext uri="{FF2B5EF4-FFF2-40B4-BE49-F238E27FC236}">
                <a16:creationId xmlns:a16="http://schemas.microsoft.com/office/drawing/2014/main" id="{4F674CAB-9840-CFA5-3ADB-ECF0592E2BC9}"/>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567B252-2AE5-1887-577D-1B2A79ACC0AD}"/>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6</a:t>
            </a:r>
          </a:p>
        </p:txBody>
      </p:sp>
    </p:spTree>
    <p:extLst>
      <p:ext uri="{BB962C8B-B14F-4D97-AF65-F5344CB8AC3E}">
        <p14:creationId xmlns:p14="http://schemas.microsoft.com/office/powerpoint/2010/main" val="3411939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2304371" y="288927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6" name="Picture 5" descr="A close up of a logo&#10;&#10;Description automatically generated">
            <a:extLst>
              <a:ext uri="{FF2B5EF4-FFF2-40B4-BE49-F238E27FC236}">
                <a16:creationId xmlns:a16="http://schemas.microsoft.com/office/drawing/2014/main" id="{CAC3A9C1-CD62-10C6-F3EE-C5B70E5D0C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7892" y="0"/>
            <a:ext cx="6802866" cy="5143500"/>
          </a:xfrm>
          <a:prstGeom prst="rect">
            <a:avLst/>
          </a:prstGeom>
        </p:spPr>
      </p:pic>
      <p:sp>
        <p:nvSpPr>
          <p:cNvPr id="8" name="Title 1">
            <a:extLst>
              <a:ext uri="{FF2B5EF4-FFF2-40B4-BE49-F238E27FC236}">
                <a16:creationId xmlns:a16="http://schemas.microsoft.com/office/drawing/2014/main" id="{E86B1D9D-B1FC-9C04-120A-E69F26E46555}"/>
              </a:ext>
            </a:extLst>
          </p:cNvPr>
          <p:cNvSpPr txBox="1">
            <a:spLocks/>
          </p:cNvSpPr>
          <p:nvPr/>
        </p:nvSpPr>
        <p:spPr>
          <a:xfrm>
            <a:off x="2005665" y="577575"/>
            <a:ext cx="8181216"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000" dirty="0">
                <a:ea typeface="Calibri" panose="020F0502020204030204" pitchFamily="34" charset="0"/>
                <a:cs typeface="Times New Roman" panose="02020603050405020304" pitchFamily="18" charset="0"/>
              </a:rPr>
              <a:t>Importance of Character</a:t>
            </a:r>
            <a:endParaRPr lang="en-US" sz="2000" dirty="0">
              <a:solidFill>
                <a:srgbClr val="000102"/>
              </a:solidFill>
            </a:endParaRPr>
          </a:p>
        </p:txBody>
      </p:sp>
      <p:sp>
        <p:nvSpPr>
          <p:cNvPr id="9" name="Content Placeholder 2">
            <a:extLst>
              <a:ext uri="{FF2B5EF4-FFF2-40B4-BE49-F238E27FC236}">
                <a16:creationId xmlns:a16="http://schemas.microsoft.com/office/drawing/2014/main" id="{4C0916F0-8A3C-EF5C-8379-C24F05C1028C}"/>
              </a:ext>
            </a:extLst>
          </p:cNvPr>
          <p:cNvSpPr txBox="1">
            <a:spLocks/>
          </p:cNvSpPr>
          <p:nvPr/>
        </p:nvSpPr>
        <p:spPr>
          <a:xfrm>
            <a:off x="-225296" y="1490118"/>
            <a:ext cx="7334250" cy="653805"/>
          </a:xfrm>
          <a:prstGeom prst="rect">
            <a:avLst/>
          </a:prstGeom>
        </p:spPr>
        <p:txBody>
          <a:bodyPr vert="horz" lIns="0" tIns="0" rIns="0" bIns="0" rtlCol="0">
            <a:normAutofit/>
          </a:bodyPr>
          <a:lstStyle>
            <a:lvl1pPr marL="0" indent="0" algn="l" defTabSz="685800" rtl="0" eaLnBrk="1" latinLnBrk="0" hangingPunct="1">
              <a:lnSpc>
                <a:spcPct val="90000"/>
              </a:lnSpc>
              <a:spcBef>
                <a:spcPts val="750"/>
              </a:spcBef>
              <a:buFont typeface="Arial" panose="020B0604020202020204" pitchFamily="34" charset="0"/>
              <a:buNone/>
              <a:defRPr sz="1200" b="0" i="0" kern="1200" cap="none" baseline="0">
                <a:solidFill>
                  <a:schemeClr val="tx2"/>
                </a:solidFill>
                <a:latin typeface="Lato" panose="020F0502020204030203" pitchFamily="34" charset="0"/>
                <a:ea typeface="Lato" panose="020F0502020204030203" pitchFamily="34" charset="0"/>
                <a:cs typeface="Lato" panose="020F0502020204030203" pitchFamily="34" charset="0"/>
              </a:defRPr>
            </a:lvl1pPr>
            <a:lvl2pPr marL="236538" indent="-119063" algn="l" defTabSz="685800" rtl="0" eaLnBrk="1" latinLnBrk="0" hangingPunct="1">
              <a:lnSpc>
                <a:spcPct val="90000"/>
              </a:lnSpc>
              <a:spcBef>
                <a:spcPts val="375"/>
              </a:spcBef>
              <a:buFont typeface="Arial" panose="020B0604020202020204" pitchFamily="34" charset="0"/>
              <a:buChar char="•"/>
              <a:tabLst/>
              <a:defRPr sz="11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2pPr>
            <a:lvl3pPr marL="346075" indent="-111125" algn="l" defTabSz="685800" rtl="0" eaLnBrk="1" latinLnBrk="0" hangingPunct="1">
              <a:lnSpc>
                <a:spcPct val="90000"/>
              </a:lnSpc>
              <a:spcBef>
                <a:spcPts val="375"/>
              </a:spcBef>
              <a:buFont typeface="Arial" panose="020B0604020202020204" pitchFamily="34" charset="0"/>
              <a:buChar char="•"/>
              <a:tabLst/>
              <a:defRPr sz="105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3pPr>
            <a:lvl4pPr marL="465138" indent="-119063"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4pPr>
            <a:lvl5pPr marL="574675" indent="-111125" algn="l" defTabSz="685800" rtl="0" eaLnBrk="1" latinLnBrk="0" hangingPunct="1">
              <a:lnSpc>
                <a:spcPct val="90000"/>
              </a:lnSpc>
              <a:spcBef>
                <a:spcPts val="375"/>
              </a:spcBef>
              <a:buFont typeface="Arial" panose="020B0604020202020204" pitchFamily="34" charset="0"/>
              <a:buChar char="•"/>
              <a:tabLst/>
              <a:defRPr sz="1000" b="0" i="0" kern="1200">
                <a:solidFill>
                  <a:schemeClr val="tx2"/>
                </a:solidFill>
                <a:latin typeface="Lato Light" panose="020F0502020204030203" pitchFamily="34" charset="0"/>
                <a:ea typeface="Lato Light" panose="020F0502020204030203" pitchFamily="34" charset="0"/>
                <a:cs typeface="Lato Light" panose="020F0502020204030203"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ctr">
              <a:lnSpc>
                <a:spcPct val="100000"/>
              </a:lnSpc>
            </a:pPr>
            <a:r>
              <a:rPr lang="en-US" sz="1400" dirty="0">
                <a:ea typeface="Lato Medium" panose="020F0502020204030203" pitchFamily="34" charset="0"/>
                <a:cs typeface="Lato Medium" panose="020F0502020204030203" pitchFamily="34" charset="0"/>
              </a:rPr>
              <a:t>How is character important under each of the following criteria?</a:t>
            </a:r>
          </a:p>
        </p:txBody>
      </p:sp>
      <p:grpSp>
        <p:nvGrpSpPr>
          <p:cNvPr id="10" name="Group 9">
            <a:extLst>
              <a:ext uri="{FF2B5EF4-FFF2-40B4-BE49-F238E27FC236}">
                <a16:creationId xmlns:a16="http://schemas.microsoft.com/office/drawing/2014/main" id="{D766D381-99E4-BBBD-88A5-D29D568D2E00}"/>
              </a:ext>
            </a:extLst>
          </p:cNvPr>
          <p:cNvGrpSpPr/>
          <p:nvPr/>
        </p:nvGrpSpPr>
        <p:grpSpPr>
          <a:xfrm>
            <a:off x="834715" y="2007588"/>
            <a:ext cx="4941253" cy="1763366"/>
            <a:chOff x="2310743" y="1850648"/>
            <a:chExt cx="4878856" cy="1741099"/>
          </a:xfrm>
        </p:grpSpPr>
        <p:cxnSp>
          <p:nvCxnSpPr>
            <p:cNvPr id="11" name="Straight Connector 10">
              <a:extLst>
                <a:ext uri="{FF2B5EF4-FFF2-40B4-BE49-F238E27FC236}">
                  <a16:creationId xmlns:a16="http://schemas.microsoft.com/office/drawing/2014/main" id="{23823CC8-C950-FFB4-2E78-27AB72DAA456}"/>
                </a:ext>
              </a:extLst>
            </p:cNvPr>
            <p:cNvCxnSpPr/>
            <p:nvPr/>
          </p:nvCxnSpPr>
          <p:spPr>
            <a:xfrm>
              <a:off x="5602724" y="1963328"/>
              <a:ext cx="37861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Oval 6">
              <a:extLst>
                <a:ext uri="{FF2B5EF4-FFF2-40B4-BE49-F238E27FC236}">
                  <a16:creationId xmlns:a16="http://schemas.microsoft.com/office/drawing/2014/main" id="{261726DB-2D31-291E-FCBE-F43BA1D268B7}"/>
                </a:ext>
              </a:extLst>
            </p:cNvPr>
            <p:cNvSpPr>
              <a:spLocks noChangeArrowheads="1"/>
            </p:cNvSpPr>
            <p:nvPr/>
          </p:nvSpPr>
          <p:spPr bwMode="auto">
            <a:xfrm>
              <a:off x="2622963" y="2162868"/>
              <a:ext cx="1115548" cy="1115548"/>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ru-RU" dirty="0"/>
            </a:p>
          </p:txBody>
        </p:sp>
        <p:sp>
          <p:nvSpPr>
            <p:cNvPr id="13" name="Oval 7">
              <a:extLst>
                <a:ext uri="{FF2B5EF4-FFF2-40B4-BE49-F238E27FC236}">
                  <a16:creationId xmlns:a16="http://schemas.microsoft.com/office/drawing/2014/main" id="{456FB871-BF07-D45B-4B8E-6014E21D7A47}"/>
                </a:ext>
              </a:extLst>
            </p:cNvPr>
            <p:cNvSpPr>
              <a:spLocks noChangeArrowheads="1"/>
            </p:cNvSpPr>
            <p:nvPr/>
          </p:nvSpPr>
          <p:spPr bwMode="auto">
            <a:xfrm>
              <a:off x="4194064" y="2162868"/>
              <a:ext cx="1115548" cy="1115548"/>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ru-RU" dirty="0"/>
            </a:p>
          </p:txBody>
        </p:sp>
        <p:sp>
          <p:nvSpPr>
            <p:cNvPr id="14" name="Oval 8">
              <a:extLst>
                <a:ext uri="{FF2B5EF4-FFF2-40B4-BE49-F238E27FC236}">
                  <a16:creationId xmlns:a16="http://schemas.microsoft.com/office/drawing/2014/main" id="{43C2CCBB-4993-89A9-6602-CCD871610ECE}"/>
                </a:ext>
              </a:extLst>
            </p:cNvPr>
            <p:cNvSpPr>
              <a:spLocks noChangeArrowheads="1"/>
            </p:cNvSpPr>
            <p:nvPr/>
          </p:nvSpPr>
          <p:spPr bwMode="auto">
            <a:xfrm>
              <a:off x="5762943" y="2162868"/>
              <a:ext cx="1115548" cy="1115548"/>
            </a:xfrm>
            <a:prstGeom prst="ellipse">
              <a:avLst/>
            </a:prstGeom>
            <a:solidFill>
              <a:schemeClr val="bg2"/>
            </a:solidFill>
            <a:ln>
              <a:noFill/>
            </a:ln>
          </p:spPr>
          <p:txBody>
            <a:bodyPr vert="horz" wrap="square" lIns="91440" tIns="45720" rIns="91440" bIns="45720" numCol="1" anchor="t" anchorCtr="0" compatLnSpc="1">
              <a:prstTxWarp prst="textNoShape">
                <a:avLst/>
              </a:prstTxWarp>
            </a:bodyPr>
            <a:lstStyle/>
            <a:p>
              <a:endParaRPr lang="ru-RU" dirty="0"/>
            </a:p>
          </p:txBody>
        </p:sp>
        <p:sp>
          <p:nvSpPr>
            <p:cNvPr id="15" name="Freeform 10">
              <a:extLst>
                <a:ext uri="{FF2B5EF4-FFF2-40B4-BE49-F238E27FC236}">
                  <a16:creationId xmlns:a16="http://schemas.microsoft.com/office/drawing/2014/main" id="{2FBE4D39-7160-4D56-1CB1-1760BADDF798}"/>
                </a:ext>
              </a:extLst>
            </p:cNvPr>
            <p:cNvSpPr>
              <a:spLocks/>
            </p:cNvSpPr>
            <p:nvPr/>
          </p:nvSpPr>
          <p:spPr bwMode="auto">
            <a:xfrm>
              <a:off x="4028509" y="1850648"/>
              <a:ext cx="3161090" cy="1741099"/>
            </a:xfrm>
            <a:custGeom>
              <a:avLst/>
              <a:gdLst>
                <a:gd name="T0" fmla="*/ 533 w 1185"/>
                <a:gd name="T1" fmla="*/ 326 h 652"/>
                <a:gd name="T2" fmla="*/ 270 w 1185"/>
                <a:gd name="T3" fmla="*/ 588 h 652"/>
                <a:gd name="T4" fmla="*/ 32 w 1185"/>
                <a:gd name="T5" fmla="*/ 435 h 652"/>
                <a:gd name="T6" fmla="*/ 0 w 1185"/>
                <a:gd name="T7" fmla="*/ 508 h 652"/>
                <a:gd name="T8" fmla="*/ 270 w 1185"/>
                <a:gd name="T9" fmla="*/ 652 h 652"/>
                <a:gd name="T10" fmla="*/ 596 w 1185"/>
                <a:gd name="T11" fmla="*/ 326 h 652"/>
                <a:gd name="T12" fmla="*/ 859 w 1185"/>
                <a:gd name="T13" fmla="*/ 63 h 652"/>
                <a:gd name="T14" fmla="*/ 1121 w 1185"/>
                <a:gd name="T15" fmla="*/ 326 h 652"/>
                <a:gd name="T16" fmla="*/ 859 w 1185"/>
                <a:gd name="T17" fmla="*/ 588 h 652"/>
                <a:gd name="T18" fmla="*/ 620 w 1185"/>
                <a:gd name="T19" fmla="*/ 435 h 652"/>
                <a:gd name="T20" fmla="*/ 588 w 1185"/>
                <a:gd name="T21" fmla="*/ 508 h 652"/>
                <a:gd name="T22" fmla="*/ 859 w 1185"/>
                <a:gd name="T23" fmla="*/ 652 h 652"/>
                <a:gd name="T24" fmla="*/ 1185 w 1185"/>
                <a:gd name="T25" fmla="*/ 326 h 652"/>
                <a:gd name="T26" fmla="*/ 859 w 1185"/>
                <a:gd name="T27" fmla="*/ 0 h 652"/>
                <a:gd name="T28" fmla="*/ 533 w 1185"/>
                <a:gd name="T29" fmla="*/ 326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85" h="652">
                  <a:moveTo>
                    <a:pt x="533" y="326"/>
                  </a:moveTo>
                  <a:cubicBezTo>
                    <a:pt x="533" y="471"/>
                    <a:pt x="415" y="588"/>
                    <a:pt x="270" y="588"/>
                  </a:cubicBezTo>
                  <a:cubicBezTo>
                    <a:pt x="164" y="588"/>
                    <a:pt x="73" y="525"/>
                    <a:pt x="32" y="435"/>
                  </a:cubicBezTo>
                  <a:cubicBezTo>
                    <a:pt x="24" y="461"/>
                    <a:pt x="13" y="485"/>
                    <a:pt x="0" y="508"/>
                  </a:cubicBezTo>
                  <a:cubicBezTo>
                    <a:pt x="58" y="595"/>
                    <a:pt x="158" y="652"/>
                    <a:pt x="270" y="652"/>
                  </a:cubicBezTo>
                  <a:cubicBezTo>
                    <a:pt x="450" y="652"/>
                    <a:pt x="596" y="506"/>
                    <a:pt x="596" y="326"/>
                  </a:cubicBezTo>
                  <a:cubicBezTo>
                    <a:pt x="596" y="181"/>
                    <a:pt x="714" y="63"/>
                    <a:pt x="859" y="63"/>
                  </a:cubicBezTo>
                  <a:cubicBezTo>
                    <a:pt x="1003" y="63"/>
                    <a:pt x="1121" y="181"/>
                    <a:pt x="1121" y="326"/>
                  </a:cubicBezTo>
                  <a:cubicBezTo>
                    <a:pt x="1121" y="471"/>
                    <a:pt x="1003" y="588"/>
                    <a:pt x="859" y="588"/>
                  </a:cubicBezTo>
                  <a:cubicBezTo>
                    <a:pt x="753" y="588"/>
                    <a:pt x="662" y="525"/>
                    <a:pt x="620" y="435"/>
                  </a:cubicBezTo>
                  <a:cubicBezTo>
                    <a:pt x="612" y="461"/>
                    <a:pt x="601" y="485"/>
                    <a:pt x="588" y="508"/>
                  </a:cubicBezTo>
                  <a:cubicBezTo>
                    <a:pt x="647" y="595"/>
                    <a:pt x="746" y="652"/>
                    <a:pt x="859" y="652"/>
                  </a:cubicBezTo>
                  <a:cubicBezTo>
                    <a:pt x="1038" y="652"/>
                    <a:pt x="1185" y="506"/>
                    <a:pt x="1185" y="326"/>
                  </a:cubicBezTo>
                  <a:cubicBezTo>
                    <a:pt x="1185" y="146"/>
                    <a:pt x="1038" y="0"/>
                    <a:pt x="859" y="0"/>
                  </a:cubicBezTo>
                  <a:cubicBezTo>
                    <a:pt x="679" y="0"/>
                    <a:pt x="533" y="146"/>
                    <a:pt x="533" y="326"/>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dirty="0"/>
            </a:p>
          </p:txBody>
        </p:sp>
        <p:sp>
          <p:nvSpPr>
            <p:cNvPr id="16" name="Freeform 12">
              <a:extLst>
                <a:ext uri="{FF2B5EF4-FFF2-40B4-BE49-F238E27FC236}">
                  <a16:creationId xmlns:a16="http://schemas.microsoft.com/office/drawing/2014/main" id="{61AA071B-A8E1-89BC-ACF0-F2DAA01005C8}"/>
                </a:ext>
              </a:extLst>
            </p:cNvPr>
            <p:cNvSpPr>
              <a:spLocks/>
            </p:cNvSpPr>
            <p:nvPr/>
          </p:nvSpPr>
          <p:spPr bwMode="auto">
            <a:xfrm>
              <a:off x="2310743" y="1850648"/>
              <a:ext cx="3161090" cy="1741099"/>
            </a:xfrm>
            <a:custGeom>
              <a:avLst/>
              <a:gdLst>
                <a:gd name="T0" fmla="*/ 589 w 1185"/>
                <a:gd name="T1" fmla="*/ 326 h 652"/>
                <a:gd name="T2" fmla="*/ 326 w 1185"/>
                <a:gd name="T3" fmla="*/ 588 h 652"/>
                <a:gd name="T4" fmla="*/ 64 w 1185"/>
                <a:gd name="T5" fmla="*/ 326 h 652"/>
                <a:gd name="T6" fmla="*/ 326 w 1185"/>
                <a:gd name="T7" fmla="*/ 63 h 652"/>
                <a:gd name="T8" fmla="*/ 565 w 1185"/>
                <a:gd name="T9" fmla="*/ 217 h 652"/>
                <a:gd name="T10" fmla="*/ 597 w 1185"/>
                <a:gd name="T11" fmla="*/ 144 h 652"/>
                <a:gd name="T12" fmla="*/ 326 w 1185"/>
                <a:gd name="T13" fmla="*/ 0 h 652"/>
                <a:gd name="T14" fmla="*/ 0 w 1185"/>
                <a:gd name="T15" fmla="*/ 326 h 652"/>
                <a:gd name="T16" fmla="*/ 326 w 1185"/>
                <a:gd name="T17" fmla="*/ 652 h 652"/>
                <a:gd name="T18" fmla="*/ 652 w 1185"/>
                <a:gd name="T19" fmla="*/ 326 h 652"/>
                <a:gd name="T20" fmla="*/ 915 w 1185"/>
                <a:gd name="T21" fmla="*/ 63 h 652"/>
                <a:gd name="T22" fmla="*/ 1153 w 1185"/>
                <a:gd name="T23" fmla="*/ 217 h 652"/>
                <a:gd name="T24" fmla="*/ 1185 w 1185"/>
                <a:gd name="T25" fmla="*/ 144 h 652"/>
                <a:gd name="T26" fmla="*/ 915 w 1185"/>
                <a:gd name="T27" fmla="*/ 0 h 652"/>
                <a:gd name="T28" fmla="*/ 589 w 1185"/>
                <a:gd name="T29" fmla="*/ 326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85" h="652">
                  <a:moveTo>
                    <a:pt x="589" y="326"/>
                  </a:moveTo>
                  <a:cubicBezTo>
                    <a:pt x="589" y="471"/>
                    <a:pt x="471" y="588"/>
                    <a:pt x="326" y="588"/>
                  </a:cubicBezTo>
                  <a:cubicBezTo>
                    <a:pt x="182" y="588"/>
                    <a:pt x="64" y="471"/>
                    <a:pt x="64" y="326"/>
                  </a:cubicBezTo>
                  <a:cubicBezTo>
                    <a:pt x="64" y="181"/>
                    <a:pt x="182" y="63"/>
                    <a:pt x="326" y="63"/>
                  </a:cubicBezTo>
                  <a:cubicBezTo>
                    <a:pt x="432" y="63"/>
                    <a:pt x="523" y="126"/>
                    <a:pt x="565" y="217"/>
                  </a:cubicBezTo>
                  <a:cubicBezTo>
                    <a:pt x="573" y="191"/>
                    <a:pt x="584" y="167"/>
                    <a:pt x="597" y="144"/>
                  </a:cubicBezTo>
                  <a:cubicBezTo>
                    <a:pt x="538" y="57"/>
                    <a:pt x="439" y="0"/>
                    <a:pt x="326" y="0"/>
                  </a:cubicBezTo>
                  <a:cubicBezTo>
                    <a:pt x="147" y="0"/>
                    <a:pt x="0" y="146"/>
                    <a:pt x="0" y="326"/>
                  </a:cubicBezTo>
                  <a:cubicBezTo>
                    <a:pt x="0" y="506"/>
                    <a:pt x="147" y="652"/>
                    <a:pt x="326" y="652"/>
                  </a:cubicBezTo>
                  <a:cubicBezTo>
                    <a:pt x="506" y="652"/>
                    <a:pt x="652" y="506"/>
                    <a:pt x="652" y="326"/>
                  </a:cubicBezTo>
                  <a:cubicBezTo>
                    <a:pt x="652" y="181"/>
                    <a:pt x="770" y="63"/>
                    <a:pt x="915" y="63"/>
                  </a:cubicBezTo>
                  <a:cubicBezTo>
                    <a:pt x="1021" y="63"/>
                    <a:pt x="1112" y="126"/>
                    <a:pt x="1153" y="217"/>
                  </a:cubicBezTo>
                  <a:cubicBezTo>
                    <a:pt x="1161" y="191"/>
                    <a:pt x="1172" y="167"/>
                    <a:pt x="1185" y="144"/>
                  </a:cubicBezTo>
                  <a:cubicBezTo>
                    <a:pt x="1127" y="57"/>
                    <a:pt x="1027" y="0"/>
                    <a:pt x="915" y="0"/>
                  </a:cubicBezTo>
                  <a:cubicBezTo>
                    <a:pt x="735" y="0"/>
                    <a:pt x="589" y="146"/>
                    <a:pt x="589" y="326"/>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dirty="0"/>
            </a:p>
          </p:txBody>
        </p:sp>
        <p:sp>
          <p:nvSpPr>
            <p:cNvPr id="17" name="Rectangle 16">
              <a:extLst>
                <a:ext uri="{FF2B5EF4-FFF2-40B4-BE49-F238E27FC236}">
                  <a16:creationId xmlns:a16="http://schemas.microsoft.com/office/drawing/2014/main" id="{BAE7CFA9-7545-F5C9-177A-098D49649A13}"/>
                </a:ext>
              </a:extLst>
            </p:cNvPr>
            <p:cNvSpPr/>
            <p:nvPr/>
          </p:nvSpPr>
          <p:spPr>
            <a:xfrm>
              <a:off x="2634218" y="2551920"/>
              <a:ext cx="1083183" cy="276262"/>
            </a:xfrm>
            <a:prstGeom prst="rect">
              <a:avLst/>
            </a:prstGeom>
          </p:spPr>
          <p:txBody>
            <a:bodyPr wrap="square">
              <a:spAutoFit/>
            </a:bodyPr>
            <a:lstStyle/>
            <a:p>
              <a:pPr algn="ctr"/>
              <a:r>
                <a:rPr lang="en-US" altLang="en-US" sz="1000" b="1" dirty="0">
                  <a:solidFill>
                    <a:schemeClr val="bg1"/>
                  </a:solidFill>
                  <a:latin typeface="Lato" panose="020F0502020204030203" pitchFamily="34" charset="77"/>
                </a:rPr>
                <a:t>EMPLOYEE</a:t>
              </a:r>
              <a:endParaRPr lang="en-US" sz="1000" b="1" dirty="0">
                <a:solidFill>
                  <a:schemeClr val="bg1"/>
                </a:solidFill>
                <a:latin typeface="Lato" panose="020F0502020204030203" pitchFamily="34" charset="77"/>
                <a:ea typeface="Lato Medium" panose="020F0502020204030203" pitchFamily="34" charset="0"/>
                <a:cs typeface="Lato Medium" panose="020F0502020204030203" pitchFamily="34" charset="0"/>
              </a:endParaRPr>
            </a:p>
          </p:txBody>
        </p:sp>
        <p:sp>
          <p:nvSpPr>
            <p:cNvPr id="18" name="Rectangle 17">
              <a:extLst>
                <a:ext uri="{FF2B5EF4-FFF2-40B4-BE49-F238E27FC236}">
                  <a16:creationId xmlns:a16="http://schemas.microsoft.com/office/drawing/2014/main" id="{95E61894-A09F-003A-6835-9C06CB4A7F5D}"/>
                </a:ext>
              </a:extLst>
            </p:cNvPr>
            <p:cNvSpPr/>
            <p:nvPr/>
          </p:nvSpPr>
          <p:spPr>
            <a:xfrm>
              <a:off x="4210247" y="2551920"/>
              <a:ext cx="1083183" cy="276262"/>
            </a:xfrm>
            <a:prstGeom prst="rect">
              <a:avLst/>
            </a:prstGeom>
          </p:spPr>
          <p:txBody>
            <a:bodyPr wrap="square">
              <a:spAutoFit/>
            </a:bodyPr>
            <a:lstStyle/>
            <a:p>
              <a:pPr algn="ctr"/>
              <a:r>
                <a:rPr lang="en-US" altLang="en-US" sz="1000" b="1" dirty="0">
                  <a:solidFill>
                    <a:schemeClr val="bg1"/>
                  </a:solidFill>
                  <a:latin typeface="Lato" panose="020F0502020204030203" pitchFamily="34" charset="77"/>
                </a:rPr>
                <a:t>LEADER</a:t>
              </a:r>
              <a:endParaRPr lang="en-US" sz="1000" b="1" dirty="0">
                <a:solidFill>
                  <a:schemeClr val="bg1"/>
                </a:solidFill>
                <a:latin typeface="Lato" panose="020F0502020204030203" pitchFamily="34" charset="77"/>
                <a:ea typeface="Lato Medium" panose="020F0502020204030203" pitchFamily="34" charset="0"/>
                <a:cs typeface="Lato Medium" panose="020F0502020204030203" pitchFamily="34" charset="0"/>
              </a:endParaRPr>
            </a:p>
          </p:txBody>
        </p:sp>
        <p:sp>
          <p:nvSpPr>
            <p:cNvPr id="19" name="Rectangle 18">
              <a:extLst>
                <a:ext uri="{FF2B5EF4-FFF2-40B4-BE49-F238E27FC236}">
                  <a16:creationId xmlns:a16="http://schemas.microsoft.com/office/drawing/2014/main" id="{790F40A7-A048-B85C-C0F5-84619B469C5D}"/>
                </a:ext>
              </a:extLst>
            </p:cNvPr>
            <p:cNvSpPr/>
            <p:nvPr/>
          </p:nvSpPr>
          <p:spPr>
            <a:xfrm>
              <a:off x="5734547" y="2536696"/>
              <a:ext cx="1243342" cy="395058"/>
            </a:xfrm>
            <a:prstGeom prst="rect">
              <a:avLst/>
            </a:prstGeom>
          </p:spPr>
          <p:txBody>
            <a:bodyPr wrap="square">
              <a:spAutoFit/>
            </a:bodyPr>
            <a:lstStyle/>
            <a:p>
              <a:pPr algn="ctr"/>
              <a:r>
                <a:rPr lang="en-US" altLang="en-US" sz="1000" b="1" dirty="0">
                  <a:solidFill>
                    <a:schemeClr val="bg1"/>
                  </a:solidFill>
                  <a:latin typeface="Lato" panose="020F0502020204030203" pitchFamily="34" charset="77"/>
                </a:rPr>
                <a:t>ORGANI	ZATION</a:t>
              </a:r>
              <a:endParaRPr lang="en-US" sz="1000" b="1" dirty="0">
                <a:solidFill>
                  <a:schemeClr val="bg1"/>
                </a:solidFill>
                <a:latin typeface="Lato" panose="020F0502020204030203" pitchFamily="34" charset="77"/>
                <a:ea typeface="Lato Medium" panose="020F0502020204030203" pitchFamily="34" charset="0"/>
                <a:cs typeface="Lato Medium" panose="020F0502020204030203" pitchFamily="34" charset="0"/>
              </a:endParaRPr>
            </a:p>
          </p:txBody>
        </p:sp>
      </p:grpSp>
      <p:pic>
        <p:nvPicPr>
          <p:cNvPr id="24" name="Picture 23">
            <a:extLst>
              <a:ext uri="{FF2B5EF4-FFF2-40B4-BE49-F238E27FC236}">
                <a16:creationId xmlns:a16="http://schemas.microsoft.com/office/drawing/2014/main" id="{51DFBDA8-0253-DEEE-56D0-4B41CDFD903A}"/>
              </a:ext>
            </a:extLst>
          </p:cNvPr>
          <p:cNvPicPr>
            <a:picLocks noChangeAspect="1"/>
          </p:cNvPicPr>
          <p:nvPr/>
        </p:nvPicPr>
        <p:blipFill rotWithShape="1">
          <a:blip r:embed="rId5"/>
          <a:srcRect l="34018" t="2727" r="1153" b="9519"/>
          <a:stretch/>
        </p:blipFill>
        <p:spPr>
          <a:xfrm>
            <a:off x="4265284" y="2255406"/>
            <a:ext cx="1280097" cy="1244021"/>
          </a:xfrm>
          <a:prstGeom prst="flowChartConnector">
            <a:avLst/>
          </a:prstGeom>
        </p:spPr>
      </p:pic>
      <p:pic>
        <p:nvPicPr>
          <p:cNvPr id="10244" name="Picture 4" descr="10 Qualities Every Man Needs to Lead - The Good Men Project">
            <a:extLst>
              <a:ext uri="{FF2B5EF4-FFF2-40B4-BE49-F238E27FC236}">
                <a16:creationId xmlns:a16="http://schemas.microsoft.com/office/drawing/2014/main" id="{E48D90B7-E175-8F3B-6E0C-2166B69DAAC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008" t="-520" r="39240" b="520"/>
          <a:stretch/>
        </p:blipFill>
        <p:spPr bwMode="auto">
          <a:xfrm>
            <a:off x="2634345" y="2243905"/>
            <a:ext cx="1321520" cy="1290732"/>
          </a:xfrm>
          <a:prstGeom prst="flowChartConnector">
            <a:avLst/>
          </a:prstGeom>
          <a:noFill/>
          <a:extLst>
            <a:ext uri="{909E8E84-426E-40DD-AFC4-6F175D3DCCD1}">
              <a14:hiddenFill xmlns:a14="http://schemas.microsoft.com/office/drawing/2010/main">
                <a:solidFill>
                  <a:srgbClr val="FFFFFF"/>
                </a:solidFill>
              </a14:hiddenFill>
            </a:ext>
          </a:extLst>
        </p:spPr>
      </p:pic>
      <p:pic>
        <p:nvPicPr>
          <p:cNvPr id="10246" name="Picture 6" descr="What are the Top 10 Qualities a Call Center Agent Should Possess? - FWS">
            <a:extLst>
              <a:ext uri="{FF2B5EF4-FFF2-40B4-BE49-F238E27FC236}">
                <a16:creationId xmlns:a16="http://schemas.microsoft.com/office/drawing/2014/main" id="{8E9DDB1D-EAE5-C5BC-7383-E29FADB6291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34820"/>
          <a:stretch/>
        </p:blipFill>
        <p:spPr bwMode="auto">
          <a:xfrm>
            <a:off x="1085278" y="2235833"/>
            <a:ext cx="1274157" cy="1302216"/>
          </a:xfrm>
          <a:prstGeom prst="flowChartConnector">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53E3823C-9063-D558-719E-B1D933A2E37F}"/>
              </a:ext>
            </a:extLst>
          </p:cNvPr>
          <p:cNvSpPr txBox="1"/>
          <p:nvPr/>
        </p:nvSpPr>
        <p:spPr>
          <a:xfrm>
            <a:off x="1192374" y="3778188"/>
            <a:ext cx="962122" cy="307777"/>
          </a:xfrm>
          <a:prstGeom prst="rect">
            <a:avLst/>
          </a:prstGeom>
          <a:noFill/>
        </p:spPr>
        <p:txBody>
          <a:bodyPr wrap="none" rtlCol="0">
            <a:spAutoFit/>
          </a:bodyPr>
          <a:lstStyle/>
          <a:p>
            <a:pPr algn="ctr" defTabSz="685800"/>
            <a:r>
              <a:rPr lang="en-US" sz="1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Employee</a:t>
            </a:r>
          </a:p>
        </p:txBody>
      </p:sp>
      <p:sp>
        <p:nvSpPr>
          <p:cNvPr id="26" name="TextBox 25">
            <a:extLst>
              <a:ext uri="{FF2B5EF4-FFF2-40B4-BE49-F238E27FC236}">
                <a16:creationId xmlns:a16="http://schemas.microsoft.com/office/drawing/2014/main" id="{DB8A0756-F74E-0ADE-1CB5-792EA3CC955F}"/>
              </a:ext>
            </a:extLst>
          </p:cNvPr>
          <p:cNvSpPr txBox="1"/>
          <p:nvPr/>
        </p:nvSpPr>
        <p:spPr>
          <a:xfrm>
            <a:off x="2956240" y="3770954"/>
            <a:ext cx="731290" cy="307777"/>
          </a:xfrm>
          <a:prstGeom prst="rect">
            <a:avLst/>
          </a:prstGeom>
          <a:noFill/>
        </p:spPr>
        <p:txBody>
          <a:bodyPr wrap="none" rtlCol="0">
            <a:spAutoFit/>
          </a:bodyPr>
          <a:lstStyle/>
          <a:p>
            <a:pPr algn="ctr" defTabSz="685800"/>
            <a:r>
              <a:rPr lang="en-US" sz="1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Leader</a:t>
            </a:r>
          </a:p>
        </p:txBody>
      </p:sp>
      <p:sp>
        <p:nvSpPr>
          <p:cNvPr id="27" name="TextBox 26">
            <a:extLst>
              <a:ext uri="{FF2B5EF4-FFF2-40B4-BE49-F238E27FC236}">
                <a16:creationId xmlns:a16="http://schemas.microsoft.com/office/drawing/2014/main" id="{1A058BB3-3597-27D2-3E5F-B700233327E2}"/>
              </a:ext>
            </a:extLst>
          </p:cNvPr>
          <p:cNvSpPr txBox="1"/>
          <p:nvPr/>
        </p:nvSpPr>
        <p:spPr>
          <a:xfrm>
            <a:off x="4299802" y="3757120"/>
            <a:ext cx="1215397" cy="307777"/>
          </a:xfrm>
          <a:prstGeom prst="rect">
            <a:avLst/>
          </a:prstGeom>
          <a:noFill/>
        </p:spPr>
        <p:txBody>
          <a:bodyPr wrap="none" rtlCol="0">
            <a:spAutoFit/>
          </a:bodyPr>
          <a:lstStyle/>
          <a:p>
            <a:pPr algn="ctr" defTabSz="685800"/>
            <a:r>
              <a:rPr lang="en-US" sz="1400" dirty="0">
                <a:solidFill>
                  <a:schemeClr val="accent6"/>
                </a:solidFill>
                <a:latin typeface="Lato" panose="020F0502020204030203" pitchFamily="34" charset="0"/>
                <a:ea typeface="Lato Medium" panose="020F0502020204030203" pitchFamily="34" charset="0"/>
                <a:cs typeface="Lato Medium" panose="020F0502020204030203" pitchFamily="34" charset="0"/>
              </a:rPr>
              <a:t>Organization</a:t>
            </a:r>
          </a:p>
        </p:txBody>
      </p:sp>
      <p:pic>
        <p:nvPicPr>
          <p:cNvPr id="4" name="Picture 2" descr="The 7 Qualities of People Who Are Highly Respected">
            <a:extLst>
              <a:ext uri="{FF2B5EF4-FFF2-40B4-BE49-F238E27FC236}">
                <a16:creationId xmlns:a16="http://schemas.microsoft.com/office/drawing/2014/main" id="{126BD356-DB76-9B51-4AF4-55F7307080FF}"/>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2063" r="35875"/>
          <a:stretch/>
        </p:blipFill>
        <p:spPr bwMode="auto">
          <a:xfrm>
            <a:off x="6689459" y="0"/>
            <a:ext cx="2462625" cy="512255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4FF20159-B992-8BAC-C89B-21C85186C6BC}"/>
              </a:ext>
            </a:extLst>
          </p:cNvPr>
          <p:cNvPicPr>
            <a:picLocks noChangeAspect="1"/>
          </p:cNvPicPr>
          <p:nvPr/>
        </p:nvPicPr>
        <p:blipFill>
          <a:blip r:embed="rId9"/>
          <a:stretch>
            <a:fillRect/>
          </a:stretch>
        </p:blipFill>
        <p:spPr>
          <a:xfrm>
            <a:off x="8027685" y="4171257"/>
            <a:ext cx="963621" cy="801516"/>
          </a:xfrm>
          <a:prstGeom prst="rect">
            <a:avLst/>
          </a:prstGeom>
        </p:spPr>
      </p:pic>
      <p:sp>
        <p:nvSpPr>
          <p:cNvPr id="20" name="Rectangle 19">
            <a:extLst>
              <a:ext uri="{FF2B5EF4-FFF2-40B4-BE49-F238E27FC236}">
                <a16:creationId xmlns:a16="http://schemas.microsoft.com/office/drawing/2014/main" id="{70822CFD-7C49-936D-5F44-97748E46BEB1}"/>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E963FAC-802A-0BDC-0E0C-AD929CE93941}"/>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7</a:t>
            </a:r>
          </a:p>
        </p:txBody>
      </p:sp>
    </p:spTree>
    <p:extLst>
      <p:ext uri="{BB962C8B-B14F-4D97-AF65-F5344CB8AC3E}">
        <p14:creationId xmlns:p14="http://schemas.microsoft.com/office/powerpoint/2010/main" val="4243739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 up of a logo&#10;&#10;Description automatically generated">
            <a:extLst>
              <a:ext uri="{FF2B5EF4-FFF2-40B4-BE49-F238E27FC236}">
                <a16:creationId xmlns:a16="http://schemas.microsoft.com/office/drawing/2014/main" id="{9CE5E504-CD81-C998-B33E-4FA6E97EB7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715" y="0"/>
            <a:ext cx="3288478" cy="5143500"/>
          </a:xfrm>
          <a:prstGeom prst="rect">
            <a:avLst/>
          </a:prstGeom>
        </p:spPr>
      </p:pic>
      <p:pic>
        <p:nvPicPr>
          <p:cNvPr id="9224" name="Picture 8" descr="BELVEDERE COMMUNITY CLEANUP – Belvedere Community">
            <a:extLst>
              <a:ext uri="{FF2B5EF4-FFF2-40B4-BE49-F238E27FC236}">
                <a16:creationId xmlns:a16="http://schemas.microsoft.com/office/drawing/2014/main" id="{F09B9BE4-D57F-3ECB-5517-F900A35BA3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4472" y="2197350"/>
            <a:ext cx="2285124" cy="159913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F51B54DA-B74E-D763-4D02-725C28F9B101}"/>
              </a:ext>
            </a:extLst>
          </p:cNvPr>
          <p:cNvSpPr txBox="1">
            <a:spLocks/>
          </p:cNvSpPr>
          <p:nvPr/>
        </p:nvSpPr>
        <p:spPr>
          <a:xfrm>
            <a:off x="2998323" y="409351"/>
            <a:ext cx="3314245" cy="653808"/>
          </a:xfrm>
          <a:prstGeom prst="rect">
            <a:avLst/>
          </a:prstGeom>
        </p:spPr>
        <p:txBody>
          <a:bodyPr vert="horz" lIns="0" tIns="0" rIns="0" bIns="0" rtlCol="0" anchor="b" anchorCtr="0">
            <a:normAutofit/>
          </a:bodyPr>
          <a:lstStyle>
            <a:lvl1pPr algn="l" defTabSz="685800" rtl="0" eaLnBrk="1" latinLnBrk="0" hangingPunct="1">
              <a:lnSpc>
                <a:spcPct val="90000"/>
              </a:lnSpc>
              <a:spcBef>
                <a:spcPct val="0"/>
              </a:spcBef>
              <a:buNone/>
              <a:defRPr sz="2800" kern="1200">
                <a:solidFill>
                  <a:srgbClr val="232526"/>
                </a:solidFill>
                <a:latin typeface="Lato" panose="020F0502020204030203" pitchFamily="34" charset="0"/>
                <a:ea typeface="Lato" panose="020F0502020204030203" pitchFamily="34" charset="0"/>
                <a:cs typeface="Lato" panose="020F0502020204030203" pitchFamily="34" charset="0"/>
              </a:defRPr>
            </a:lvl1pPr>
          </a:lstStyle>
          <a:p>
            <a:r>
              <a:rPr lang="en-US" sz="2400" dirty="0">
                <a:solidFill>
                  <a:schemeClr val="tx2">
                    <a:lumMod val="75000"/>
                  </a:schemeClr>
                </a:solidFill>
                <a:ea typeface="Calibri" panose="020F0502020204030204" pitchFamily="34" charset="0"/>
                <a:cs typeface="Times New Roman" panose="02020603050405020304" pitchFamily="18" charset="0"/>
              </a:rPr>
              <a:t>Demonstrate Character </a:t>
            </a:r>
            <a:endParaRPr lang="en-US" sz="2400" dirty="0">
              <a:solidFill>
                <a:schemeClr val="tx2">
                  <a:lumMod val="75000"/>
                </a:schemeClr>
              </a:solidFill>
            </a:endParaRPr>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5">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13" name="Picture 12">
            <a:extLst>
              <a:ext uri="{FF2B5EF4-FFF2-40B4-BE49-F238E27FC236}">
                <a16:creationId xmlns:a16="http://schemas.microsoft.com/office/drawing/2014/main" id="{714E3A6D-E65E-3240-48D8-2647375A44B7}"/>
              </a:ext>
            </a:extLst>
          </p:cNvPr>
          <p:cNvPicPr>
            <a:picLocks noChangeAspect="1"/>
          </p:cNvPicPr>
          <p:nvPr/>
        </p:nvPicPr>
        <p:blipFill rotWithShape="1">
          <a:blip r:embed="rId6"/>
          <a:srcRect l="10365" t="1938" b="3563"/>
          <a:stretch/>
        </p:blipFill>
        <p:spPr>
          <a:xfrm>
            <a:off x="885114" y="2189112"/>
            <a:ext cx="2285125" cy="1607371"/>
          </a:xfrm>
          <a:prstGeom prst="rect">
            <a:avLst/>
          </a:prstGeom>
          <a:effectLst>
            <a:outerShdw blurRad="50800" dist="38100" dir="2700000" algn="tl" rotWithShape="0">
              <a:prstClr val="black">
                <a:alpha val="40000"/>
              </a:prstClr>
            </a:outerShdw>
          </a:effectLst>
        </p:spPr>
      </p:pic>
      <p:pic>
        <p:nvPicPr>
          <p:cNvPr id="9230" name="Picture 14" descr="Indian White Collar Male Worker In Wheelchair Having Cheerful Discussion  Conversation With His Female Asain Chinese Colleague Coworking At Walkway  Corridor Stock Photo - Download Image Now - iStock">
            <a:extLst>
              <a:ext uri="{FF2B5EF4-FFF2-40B4-BE49-F238E27FC236}">
                <a16:creationId xmlns:a16="http://schemas.microsoft.com/office/drawing/2014/main" id="{1994075B-1D61-F2FD-FD82-843077F5E94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 t="6587" r="18629" b="5678"/>
          <a:stretch/>
        </p:blipFill>
        <p:spPr bwMode="auto">
          <a:xfrm>
            <a:off x="3461036" y="2169781"/>
            <a:ext cx="2295604" cy="164603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2109A43C-7152-94FA-C755-6B85ED31583A}"/>
              </a:ext>
            </a:extLst>
          </p:cNvPr>
          <p:cNvPicPr>
            <a:picLocks noChangeAspect="1"/>
          </p:cNvPicPr>
          <p:nvPr/>
        </p:nvPicPr>
        <p:blipFill>
          <a:blip r:embed="rId8"/>
          <a:stretch>
            <a:fillRect/>
          </a:stretch>
        </p:blipFill>
        <p:spPr>
          <a:xfrm>
            <a:off x="7977179" y="4140687"/>
            <a:ext cx="963621" cy="801516"/>
          </a:xfrm>
          <a:prstGeom prst="rect">
            <a:avLst/>
          </a:prstGeom>
          <a:effectLst>
            <a:outerShdw blurRad="50800" dist="38100" dir="2700000" algn="tl" rotWithShape="0">
              <a:prstClr val="black">
                <a:alpha val="40000"/>
              </a:prstClr>
            </a:outerShdw>
          </a:effectLst>
        </p:spPr>
      </p:pic>
      <p:sp>
        <p:nvSpPr>
          <p:cNvPr id="14" name="Oval 13">
            <a:extLst>
              <a:ext uri="{FF2B5EF4-FFF2-40B4-BE49-F238E27FC236}">
                <a16:creationId xmlns:a16="http://schemas.microsoft.com/office/drawing/2014/main" id="{E9C0A5EA-5273-B5B0-CCDA-842D8F0D5139}"/>
              </a:ext>
            </a:extLst>
          </p:cNvPr>
          <p:cNvSpPr/>
          <p:nvPr/>
        </p:nvSpPr>
        <p:spPr>
          <a:xfrm>
            <a:off x="1482623" y="1303515"/>
            <a:ext cx="1010315" cy="84596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Shape">
            <a:extLst>
              <a:ext uri="{FF2B5EF4-FFF2-40B4-BE49-F238E27FC236}">
                <a16:creationId xmlns:a16="http://schemas.microsoft.com/office/drawing/2014/main" id="{252D8CAD-8E40-0380-004A-1FA0D0EAB279}"/>
              </a:ext>
            </a:extLst>
          </p:cNvPr>
          <p:cNvSpPr/>
          <p:nvPr/>
        </p:nvSpPr>
        <p:spPr>
          <a:xfrm>
            <a:off x="887501" y="1619202"/>
            <a:ext cx="2280038" cy="582636"/>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chemeClr val="accent6"/>
          </a:solidFill>
          <a:ln w="12700">
            <a:miter lim="400000"/>
          </a:ln>
        </p:spPr>
        <p:txBody>
          <a:bodyPr lIns="0" tIns="0" rIns="0" bIns="0" anchor="ctr"/>
          <a:lstStyle/>
          <a:p>
            <a:endParaRPr sz="675"/>
          </a:p>
        </p:txBody>
      </p:sp>
      <p:sp>
        <p:nvSpPr>
          <p:cNvPr id="8" name="TextBox 7">
            <a:extLst>
              <a:ext uri="{FF2B5EF4-FFF2-40B4-BE49-F238E27FC236}">
                <a16:creationId xmlns:a16="http://schemas.microsoft.com/office/drawing/2014/main" id="{47E56EF9-216B-6A3F-553F-4DB15E767303}"/>
              </a:ext>
            </a:extLst>
          </p:cNvPr>
          <p:cNvSpPr txBox="1"/>
          <p:nvPr/>
        </p:nvSpPr>
        <p:spPr>
          <a:xfrm>
            <a:off x="796201" y="1666160"/>
            <a:ext cx="2349500" cy="338554"/>
          </a:xfrm>
          <a:prstGeom prst="rect">
            <a:avLst/>
          </a:prstGeom>
          <a:noFill/>
        </p:spPr>
        <p:txBody>
          <a:bodyPr wrap="square" lIns="91440" tIns="45720" rIns="91440" bIns="45720" anchor="t">
            <a:spAutoFit/>
          </a:bodyPr>
          <a:lstStyle/>
          <a:p>
            <a:pPr algn="ctr" defTabSz="685800"/>
            <a:r>
              <a:rPr lang="en-US" sz="1600" b="1" dirty="0">
                <a:solidFill>
                  <a:schemeClr val="bg1"/>
                </a:solidFill>
                <a:latin typeface="Lato"/>
                <a:ea typeface="Lato Medium"/>
                <a:cs typeface="Lato Medium"/>
              </a:rPr>
              <a:t>At home</a:t>
            </a:r>
            <a:endParaRPr lang="en-US" b="1" dirty="0">
              <a:solidFill>
                <a:schemeClr val="bg1"/>
              </a:solidFill>
              <a:cs typeface="Arial" panose="020B0604020202020204"/>
            </a:endParaRPr>
          </a:p>
        </p:txBody>
      </p:sp>
      <p:sp>
        <p:nvSpPr>
          <p:cNvPr id="30" name="Oval 29">
            <a:extLst>
              <a:ext uri="{FF2B5EF4-FFF2-40B4-BE49-F238E27FC236}">
                <a16:creationId xmlns:a16="http://schemas.microsoft.com/office/drawing/2014/main" id="{A067E0C9-78FA-8B3D-69B8-C7C1283A5BFA}"/>
              </a:ext>
            </a:extLst>
          </p:cNvPr>
          <p:cNvSpPr/>
          <p:nvPr/>
        </p:nvSpPr>
        <p:spPr>
          <a:xfrm>
            <a:off x="4059731" y="1275369"/>
            <a:ext cx="1010315" cy="845967"/>
          </a:xfrm>
          <a:prstGeom prst="ellipse">
            <a:avLst/>
          </a:prstGeom>
          <a:solidFill>
            <a:srgbClr val="2B9D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Shape">
            <a:extLst>
              <a:ext uri="{FF2B5EF4-FFF2-40B4-BE49-F238E27FC236}">
                <a16:creationId xmlns:a16="http://schemas.microsoft.com/office/drawing/2014/main" id="{BD96E8BA-96C2-0A73-C398-8A9032E016F1}"/>
              </a:ext>
            </a:extLst>
          </p:cNvPr>
          <p:cNvSpPr/>
          <p:nvPr/>
        </p:nvSpPr>
        <p:spPr>
          <a:xfrm>
            <a:off x="3464609" y="1591056"/>
            <a:ext cx="2280038" cy="582636"/>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rgbClr val="2B9DA4"/>
          </a:solidFill>
          <a:ln w="12700">
            <a:miter lim="400000"/>
          </a:ln>
        </p:spPr>
        <p:txBody>
          <a:bodyPr lIns="0" tIns="0" rIns="0" bIns="0" anchor="ctr"/>
          <a:lstStyle/>
          <a:p>
            <a:endParaRPr sz="675"/>
          </a:p>
        </p:txBody>
      </p:sp>
      <p:sp>
        <p:nvSpPr>
          <p:cNvPr id="32" name="TextBox 31">
            <a:extLst>
              <a:ext uri="{FF2B5EF4-FFF2-40B4-BE49-F238E27FC236}">
                <a16:creationId xmlns:a16="http://schemas.microsoft.com/office/drawing/2014/main" id="{2B336D9F-6B2D-3F48-5071-8F9F42C16AD6}"/>
              </a:ext>
            </a:extLst>
          </p:cNvPr>
          <p:cNvSpPr txBox="1"/>
          <p:nvPr/>
        </p:nvSpPr>
        <p:spPr>
          <a:xfrm>
            <a:off x="3373309" y="1650714"/>
            <a:ext cx="2349500" cy="338554"/>
          </a:xfrm>
          <a:prstGeom prst="rect">
            <a:avLst/>
          </a:prstGeom>
          <a:noFill/>
        </p:spPr>
        <p:txBody>
          <a:bodyPr wrap="square" lIns="91440" tIns="45720" rIns="91440" bIns="45720" anchor="t">
            <a:spAutoFit/>
          </a:bodyPr>
          <a:lstStyle/>
          <a:p>
            <a:pPr algn="ctr" defTabSz="685800"/>
            <a:r>
              <a:rPr lang="en-US" sz="1600" b="1" dirty="0">
                <a:solidFill>
                  <a:schemeClr val="bg1"/>
                </a:solidFill>
                <a:latin typeface="Lato"/>
                <a:ea typeface="Lato Medium"/>
                <a:cs typeface="Lato Medium"/>
              </a:rPr>
              <a:t>At work</a:t>
            </a:r>
            <a:endParaRPr lang="en-US" b="1" dirty="0">
              <a:solidFill>
                <a:schemeClr val="bg1"/>
              </a:solidFill>
              <a:cs typeface="Arial" panose="020B0604020202020204"/>
            </a:endParaRPr>
          </a:p>
        </p:txBody>
      </p:sp>
      <p:sp>
        <p:nvSpPr>
          <p:cNvPr id="33" name="Oval 32">
            <a:extLst>
              <a:ext uri="{FF2B5EF4-FFF2-40B4-BE49-F238E27FC236}">
                <a16:creationId xmlns:a16="http://schemas.microsoft.com/office/drawing/2014/main" id="{1A33756B-29A5-53E8-992C-FB3EAC13FEB8}"/>
              </a:ext>
            </a:extLst>
          </p:cNvPr>
          <p:cNvSpPr/>
          <p:nvPr/>
        </p:nvSpPr>
        <p:spPr>
          <a:xfrm>
            <a:off x="6571419" y="1278534"/>
            <a:ext cx="1010315" cy="845967"/>
          </a:xfrm>
          <a:prstGeom prst="ellipse">
            <a:avLst/>
          </a:prstGeom>
          <a:solidFill>
            <a:srgbClr val="40AF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Shape">
            <a:extLst>
              <a:ext uri="{FF2B5EF4-FFF2-40B4-BE49-F238E27FC236}">
                <a16:creationId xmlns:a16="http://schemas.microsoft.com/office/drawing/2014/main" id="{B7A2A671-31DE-4491-81EF-9157B7959748}"/>
              </a:ext>
            </a:extLst>
          </p:cNvPr>
          <p:cNvSpPr/>
          <p:nvPr/>
        </p:nvSpPr>
        <p:spPr>
          <a:xfrm>
            <a:off x="5976297" y="1594221"/>
            <a:ext cx="2280038" cy="582636"/>
          </a:xfrm>
          <a:custGeom>
            <a:avLst/>
            <a:gdLst/>
            <a:ahLst/>
            <a:cxnLst>
              <a:cxn ang="0">
                <a:pos x="wd2" y="hd2"/>
              </a:cxn>
              <a:cxn ang="5400000">
                <a:pos x="wd2" y="hd2"/>
              </a:cxn>
              <a:cxn ang="10800000">
                <a:pos x="wd2" y="hd2"/>
              </a:cxn>
              <a:cxn ang="16200000">
                <a:pos x="wd2" y="hd2"/>
              </a:cxn>
            </a:cxnLst>
            <a:rect l="0" t="0" r="r" b="b"/>
            <a:pathLst>
              <a:path w="21600" h="21600" extrusionOk="0">
                <a:moveTo>
                  <a:pt x="1281" y="0"/>
                </a:moveTo>
                <a:cubicBezTo>
                  <a:pt x="905" y="0"/>
                  <a:pt x="679" y="0"/>
                  <a:pt x="529" y="177"/>
                </a:cubicBezTo>
                <a:cubicBezTo>
                  <a:pt x="312" y="399"/>
                  <a:pt x="142" y="878"/>
                  <a:pt x="63" y="1488"/>
                </a:cubicBezTo>
                <a:cubicBezTo>
                  <a:pt x="0" y="1911"/>
                  <a:pt x="0" y="2547"/>
                  <a:pt x="0" y="3604"/>
                </a:cubicBezTo>
                <a:lnTo>
                  <a:pt x="0" y="21600"/>
                </a:lnTo>
                <a:lnTo>
                  <a:pt x="21600" y="21600"/>
                </a:lnTo>
                <a:lnTo>
                  <a:pt x="21600" y="3604"/>
                </a:lnTo>
                <a:cubicBezTo>
                  <a:pt x="21600" y="2547"/>
                  <a:pt x="21600" y="1911"/>
                  <a:pt x="21537" y="1488"/>
                </a:cubicBezTo>
                <a:cubicBezTo>
                  <a:pt x="21458" y="878"/>
                  <a:pt x="21288" y="399"/>
                  <a:pt x="21071" y="177"/>
                </a:cubicBezTo>
                <a:cubicBezTo>
                  <a:pt x="20921" y="0"/>
                  <a:pt x="20695" y="0"/>
                  <a:pt x="20319" y="0"/>
                </a:cubicBezTo>
                <a:lnTo>
                  <a:pt x="1281" y="0"/>
                </a:lnTo>
                <a:close/>
              </a:path>
            </a:pathLst>
          </a:custGeom>
          <a:solidFill>
            <a:srgbClr val="40AFA0"/>
          </a:solidFill>
          <a:ln w="12700">
            <a:miter lim="400000"/>
          </a:ln>
        </p:spPr>
        <p:txBody>
          <a:bodyPr lIns="0" tIns="0" rIns="0" bIns="0" anchor="ctr"/>
          <a:lstStyle/>
          <a:p>
            <a:endParaRPr sz="675"/>
          </a:p>
        </p:txBody>
      </p:sp>
      <p:sp>
        <p:nvSpPr>
          <p:cNvPr id="35" name="TextBox 34">
            <a:extLst>
              <a:ext uri="{FF2B5EF4-FFF2-40B4-BE49-F238E27FC236}">
                <a16:creationId xmlns:a16="http://schemas.microsoft.com/office/drawing/2014/main" id="{D94DD644-3DCB-869C-FA71-520D710330F7}"/>
              </a:ext>
            </a:extLst>
          </p:cNvPr>
          <p:cNvSpPr txBox="1"/>
          <p:nvPr/>
        </p:nvSpPr>
        <p:spPr>
          <a:xfrm>
            <a:off x="5973897" y="1679279"/>
            <a:ext cx="2349500" cy="338554"/>
          </a:xfrm>
          <a:prstGeom prst="rect">
            <a:avLst/>
          </a:prstGeom>
          <a:noFill/>
        </p:spPr>
        <p:txBody>
          <a:bodyPr wrap="square" lIns="91440" tIns="45720" rIns="91440" bIns="45720" anchor="t">
            <a:spAutoFit/>
          </a:bodyPr>
          <a:lstStyle/>
          <a:p>
            <a:pPr algn="ctr" defTabSz="685800"/>
            <a:r>
              <a:rPr lang="en-US" sz="1600" b="1" dirty="0">
                <a:solidFill>
                  <a:schemeClr val="bg1"/>
                </a:solidFill>
                <a:latin typeface="Lato"/>
                <a:ea typeface="Lato Medium"/>
                <a:cs typeface="Lato Medium"/>
              </a:rPr>
              <a:t>In your community</a:t>
            </a:r>
            <a:endParaRPr lang="en-US" b="1" dirty="0">
              <a:solidFill>
                <a:schemeClr val="bg1"/>
              </a:solidFill>
              <a:cs typeface="Arial" panose="020B0604020202020204"/>
            </a:endParaRPr>
          </a:p>
        </p:txBody>
      </p:sp>
      <p:sp>
        <p:nvSpPr>
          <p:cNvPr id="3" name="Rectangle 2">
            <a:extLst>
              <a:ext uri="{FF2B5EF4-FFF2-40B4-BE49-F238E27FC236}">
                <a16:creationId xmlns:a16="http://schemas.microsoft.com/office/drawing/2014/main" id="{ED81A648-AE59-3BD7-99AA-BA5EE4906E9E}"/>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4506D36-412E-86DB-1D0D-A7C2CBD157A0}"/>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8</a:t>
            </a:r>
          </a:p>
        </p:txBody>
      </p:sp>
    </p:spTree>
    <p:extLst>
      <p:ext uri="{BB962C8B-B14F-4D97-AF65-F5344CB8AC3E}">
        <p14:creationId xmlns:p14="http://schemas.microsoft.com/office/powerpoint/2010/main" val="278387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086EB4-B5C8-6D99-3D94-782A81BD1DCF}"/>
              </a:ext>
            </a:extLst>
          </p:cNvPr>
          <p:cNvSpPr/>
          <p:nvPr/>
        </p:nvSpPr>
        <p:spPr>
          <a:xfrm>
            <a:off x="609600" y="165474"/>
            <a:ext cx="1790700" cy="4695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36907" y="165474"/>
            <a:ext cx="1170741" cy="167459"/>
          </a:xfrm>
          <a:prstGeom prst="rect">
            <a:avLst/>
          </a:prstGeom>
        </p:spPr>
      </p:pic>
      <p:pic>
        <p:nvPicPr>
          <p:cNvPr id="9" name="Picture 8" descr="A close up of a logo&#10;&#10;Description automatically generated">
            <a:extLst>
              <a:ext uri="{FF2B5EF4-FFF2-40B4-BE49-F238E27FC236}">
                <a16:creationId xmlns:a16="http://schemas.microsoft.com/office/drawing/2014/main" id="{A2ECC603-5FC4-5369-E9DA-AA02A25E9A34}"/>
              </a:ext>
            </a:extLst>
          </p:cNvPr>
          <p:cNvPicPr>
            <a:picLocks noChangeAspect="1"/>
          </p:cNvPicPr>
          <p:nvPr/>
        </p:nvPicPr>
        <p:blipFill rotWithShape="1">
          <a:blip r:embed="rId4">
            <a:extLst>
              <a:ext uri="{28A0092B-C50C-407E-A947-70E740481C1C}">
                <a14:useLocalDpi xmlns:a14="http://schemas.microsoft.com/office/drawing/2010/main" val="0"/>
              </a:ext>
            </a:extLst>
          </a:blip>
          <a:srcRect l="18551"/>
          <a:stretch/>
        </p:blipFill>
        <p:spPr>
          <a:xfrm rot="5400000">
            <a:off x="2762250" y="-2571750"/>
            <a:ext cx="3809999" cy="8953501"/>
          </a:xfrm>
          <a:prstGeom prst="rect">
            <a:avLst/>
          </a:prstGeom>
        </p:spPr>
      </p:pic>
      <p:sp>
        <p:nvSpPr>
          <p:cNvPr id="8" name="Subtitle 1">
            <a:extLst>
              <a:ext uri="{FF2B5EF4-FFF2-40B4-BE49-F238E27FC236}">
                <a16:creationId xmlns:a16="http://schemas.microsoft.com/office/drawing/2014/main" id="{A9F0746E-7B55-8017-7DFA-075E184DE8AE}"/>
              </a:ext>
            </a:extLst>
          </p:cNvPr>
          <p:cNvSpPr txBox="1">
            <a:spLocks noGrp="1"/>
          </p:cNvSpPr>
          <p:nvPr>
            <p:ph type="subTitle" idx="1"/>
          </p:nvPr>
        </p:nvSpPr>
        <p:spPr>
          <a:xfrm>
            <a:off x="1363662" y="1838805"/>
            <a:ext cx="6416675" cy="767390"/>
          </a:xfrm>
          <a:prstGeom prst="rect">
            <a:avLst/>
          </a:prstGeom>
          <a:noFill/>
        </p:spPr>
        <p:txBody>
          <a:bodyPr vert="horz" wrap="square" lIns="0" tIns="0" rIns="0" bIns="0" rtlCol="0" anchor="t">
            <a:spAutoFit/>
          </a:bodyPr>
          <a:lstStyle/>
          <a:p>
            <a:pPr algn="ctr" defTabSz="685800"/>
            <a:r>
              <a:rPr lang="en-US" sz="2800" i="1" dirty="0">
                <a:solidFill>
                  <a:schemeClr val="accent6"/>
                </a:solidFill>
                <a:latin typeface="Lato"/>
                <a:ea typeface="Lato Medium"/>
                <a:cs typeface="Lato Medium"/>
              </a:rPr>
              <a:t>Character is simply habit long continued.</a:t>
            </a:r>
          </a:p>
          <a:p>
            <a:pPr algn="ctr" defTabSz="685800"/>
            <a:r>
              <a:rPr lang="en-US" sz="2000" dirty="0">
                <a:solidFill>
                  <a:schemeClr val="accent6"/>
                </a:solidFill>
                <a:ea typeface="Lato Medium" panose="020F0502020204030203" pitchFamily="34" charset="0"/>
                <a:cs typeface="Lato Medium" panose="020F0502020204030203" pitchFamily="34" charset="0"/>
              </a:rPr>
              <a:t>– Plutarch</a:t>
            </a:r>
          </a:p>
        </p:txBody>
      </p:sp>
      <p:pic>
        <p:nvPicPr>
          <p:cNvPr id="10" name="Picture 9" descr="A picture containing text, sign, clipart&#10;&#10;Description automatically generated">
            <a:extLst>
              <a:ext uri="{FF2B5EF4-FFF2-40B4-BE49-F238E27FC236}">
                <a16:creationId xmlns:a16="http://schemas.microsoft.com/office/drawing/2014/main" id="{9F2BACA7-1034-9405-0C3D-8EBFC94AA925}"/>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pic>
        <p:nvPicPr>
          <p:cNvPr id="15" name="Picture 14">
            <a:extLst>
              <a:ext uri="{FF2B5EF4-FFF2-40B4-BE49-F238E27FC236}">
                <a16:creationId xmlns:a16="http://schemas.microsoft.com/office/drawing/2014/main" id="{584962BD-926C-4C14-8236-497DF087A02A}"/>
              </a:ext>
            </a:extLst>
          </p:cNvPr>
          <p:cNvPicPr>
            <a:picLocks noChangeAspect="1"/>
          </p:cNvPicPr>
          <p:nvPr/>
        </p:nvPicPr>
        <p:blipFill>
          <a:blip r:embed="rId5"/>
          <a:stretch>
            <a:fillRect/>
          </a:stretch>
        </p:blipFill>
        <p:spPr>
          <a:xfrm>
            <a:off x="4090188" y="2807339"/>
            <a:ext cx="963621" cy="801516"/>
          </a:xfrm>
          <a:prstGeom prst="rect">
            <a:avLst/>
          </a:prstGeom>
          <a:effectLst>
            <a:outerShdw blurRad="50800" dist="38100" dir="2700000" algn="tl" rotWithShape="0">
              <a:prstClr val="black">
                <a:alpha val="40000"/>
              </a:prstClr>
            </a:outerShdw>
          </a:effectLst>
        </p:spPr>
      </p:pic>
      <p:sp>
        <p:nvSpPr>
          <p:cNvPr id="3" name="Rectangle 2">
            <a:extLst>
              <a:ext uri="{FF2B5EF4-FFF2-40B4-BE49-F238E27FC236}">
                <a16:creationId xmlns:a16="http://schemas.microsoft.com/office/drawing/2014/main" id="{360AAD34-6BBF-959B-103C-9F1E7951BD09}"/>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63B7C77-C1D0-456F-23EA-5B3D9D1DE616}"/>
              </a:ext>
            </a:extLst>
          </p:cNvPr>
          <p:cNvSpPr txBox="1"/>
          <p:nvPr/>
        </p:nvSpPr>
        <p:spPr>
          <a:xfrm>
            <a:off x="239784" y="4849257"/>
            <a:ext cx="524503"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9</a:t>
            </a:r>
          </a:p>
        </p:txBody>
      </p:sp>
    </p:spTree>
    <p:extLst>
      <p:ext uri="{BB962C8B-B14F-4D97-AF65-F5344CB8AC3E}">
        <p14:creationId xmlns:p14="http://schemas.microsoft.com/office/powerpoint/2010/main" val="4056113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close up of a logo&#10;&#10;Description automatically generated">
            <a:extLst>
              <a:ext uri="{FF2B5EF4-FFF2-40B4-BE49-F238E27FC236}">
                <a16:creationId xmlns:a16="http://schemas.microsoft.com/office/drawing/2014/main" id="{34FD364F-B6D4-4A6B-CBCC-54E958C1FE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75" y="0"/>
            <a:ext cx="7315200" cy="5143500"/>
          </a:xfrm>
          <a:prstGeom prst="rect">
            <a:avLst/>
          </a:prstGeom>
        </p:spPr>
      </p:pic>
      <p:pic>
        <p:nvPicPr>
          <p:cNvPr id="12" name="Picture 11" descr="A picture containing text, sign, clipart&#10;&#10;Description automatically generated">
            <a:extLst>
              <a:ext uri="{FF2B5EF4-FFF2-40B4-BE49-F238E27FC236}">
                <a16:creationId xmlns:a16="http://schemas.microsoft.com/office/drawing/2014/main" id="{0CF78E8A-7A6A-86C5-2AFF-504904BA3F61}"/>
              </a:ext>
            </a:extLst>
          </p:cNvPr>
          <p:cNvPicPr>
            <a:picLocks noChangeAspect="1"/>
          </p:cNvPicPr>
          <p:nvPr/>
        </p:nvPicPr>
        <p:blipFill rotWithShape="1">
          <a:blip r:embed="rId4">
            <a:extLst>
              <a:ext uri="{28A0092B-C50C-407E-A947-70E740481C1C}">
                <a14:useLocalDpi xmlns:a14="http://schemas.microsoft.com/office/drawing/2010/main" val="0"/>
              </a:ext>
            </a:extLst>
          </a:blip>
          <a:srcRect b="15817"/>
          <a:stretch/>
        </p:blipFill>
        <p:spPr>
          <a:xfrm>
            <a:off x="332635" y="106862"/>
            <a:ext cx="1170741" cy="167459"/>
          </a:xfrm>
          <a:prstGeom prst="rect">
            <a:avLst/>
          </a:prstGeom>
        </p:spPr>
      </p:pic>
      <p:sp>
        <p:nvSpPr>
          <p:cNvPr id="6" name="TextBox 5">
            <a:extLst>
              <a:ext uri="{FF2B5EF4-FFF2-40B4-BE49-F238E27FC236}">
                <a16:creationId xmlns:a16="http://schemas.microsoft.com/office/drawing/2014/main" id="{D49B614A-165D-0FAD-5101-EAC28DFA117F}"/>
              </a:ext>
            </a:extLst>
          </p:cNvPr>
          <p:cNvSpPr txBox="1"/>
          <p:nvPr/>
        </p:nvSpPr>
        <p:spPr>
          <a:xfrm>
            <a:off x="504825" y="533129"/>
            <a:ext cx="5619750" cy="954107"/>
          </a:xfrm>
          <a:prstGeom prst="rect">
            <a:avLst/>
          </a:prstGeom>
          <a:noFill/>
        </p:spPr>
        <p:txBody>
          <a:bodyPr wrap="square">
            <a:spAutoFit/>
          </a:bodyPr>
          <a:lstStyle/>
          <a:p>
            <a:pPr defTabSz="457189"/>
            <a:r>
              <a:rPr lang="en-US" sz="1400" dirty="0">
                <a:solidFill>
                  <a:srgbClr val="212526"/>
                </a:solidFill>
                <a:latin typeface="Lato" panose="020F0502020204030203" pitchFamily="34" charset="0"/>
              </a:rPr>
              <a:t>Thank you for using this material! Let us know if this material is helpful. </a:t>
            </a:r>
          </a:p>
          <a:p>
            <a:pPr defTabSz="457189"/>
            <a:r>
              <a:rPr lang="en-US" sz="1400" dirty="0">
                <a:solidFill>
                  <a:srgbClr val="212526"/>
                </a:solidFill>
                <a:latin typeface="Lato" panose="020F0502020204030203" pitchFamily="34" charset="0"/>
              </a:rPr>
              <a:t> </a:t>
            </a:r>
          </a:p>
          <a:p>
            <a:pPr defTabSz="457189"/>
            <a:r>
              <a:rPr lang="en-US" sz="1400" dirty="0">
                <a:solidFill>
                  <a:srgbClr val="212526"/>
                </a:solidFill>
                <a:latin typeface="Lato" panose="020F0502020204030203" pitchFamily="34" charset="0"/>
              </a:rPr>
              <a:t>Feedback QR Code: </a:t>
            </a:r>
          </a:p>
        </p:txBody>
      </p:sp>
      <p:sp>
        <p:nvSpPr>
          <p:cNvPr id="2" name="Rectangle 1">
            <a:extLst>
              <a:ext uri="{FF2B5EF4-FFF2-40B4-BE49-F238E27FC236}">
                <a16:creationId xmlns:a16="http://schemas.microsoft.com/office/drawing/2014/main" id="{6AA33C5A-A062-9F4D-C45B-73DADAE8E229}"/>
              </a:ext>
            </a:extLst>
          </p:cNvPr>
          <p:cNvSpPr/>
          <p:nvPr/>
        </p:nvSpPr>
        <p:spPr>
          <a:xfrm>
            <a:off x="313769"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endParaRPr lang="en-US">
              <a:solidFill>
                <a:srgbClr val="FFFFFF"/>
              </a:solidFill>
              <a:latin typeface="Arial" panose="020B0604020202020204"/>
            </a:endParaRPr>
          </a:p>
        </p:txBody>
      </p:sp>
      <p:sp>
        <p:nvSpPr>
          <p:cNvPr id="3" name="TextBox 2">
            <a:extLst>
              <a:ext uri="{FF2B5EF4-FFF2-40B4-BE49-F238E27FC236}">
                <a16:creationId xmlns:a16="http://schemas.microsoft.com/office/drawing/2014/main" id="{07144F5D-2C6C-39A4-3846-992F1DAF87A6}"/>
              </a:ext>
            </a:extLst>
          </p:cNvPr>
          <p:cNvSpPr txBox="1"/>
          <p:nvPr/>
        </p:nvSpPr>
        <p:spPr>
          <a:xfrm>
            <a:off x="204519" y="4849258"/>
            <a:ext cx="595036" cy="230832"/>
          </a:xfrm>
          <a:prstGeom prst="rect">
            <a:avLst/>
          </a:prstGeom>
          <a:noFill/>
        </p:spPr>
        <p:txBody>
          <a:bodyPr wrap="none" rtlCol="0">
            <a:spAutoFit/>
          </a:bodyPr>
          <a:lstStyle/>
          <a:p>
            <a:pPr algn="ctr" defTabSz="685783"/>
            <a:r>
              <a:rPr lang="en-US" sz="900" dirty="0">
                <a:solidFill>
                  <a:srgbClr val="13314E"/>
                </a:solidFill>
                <a:latin typeface="Lato" panose="020F0502020204030203" pitchFamily="34" charset="0"/>
                <a:ea typeface="Lato Medium" panose="020F0502020204030203" pitchFamily="34" charset="0"/>
                <a:cs typeface="Lato Medium" panose="020F0502020204030203" pitchFamily="34" charset="0"/>
              </a:rPr>
              <a:t>Page 10</a:t>
            </a:r>
          </a:p>
        </p:txBody>
      </p:sp>
      <p:sp>
        <p:nvSpPr>
          <p:cNvPr id="5" name="TextBox 4">
            <a:extLst>
              <a:ext uri="{FF2B5EF4-FFF2-40B4-BE49-F238E27FC236}">
                <a16:creationId xmlns:a16="http://schemas.microsoft.com/office/drawing/2014/main" id="{21FD4294-C874-1790-E59B-1DC9BD560729}"/>
              </a:ext>
            </a:extLst>
          </p:cNvPr>
          <p:cNvSpPr txBox="1"/>
          <p:nvPr/>
        </p:nvSpPr>
        <p:spPr>
          <a:xfrm>
            <a:off x="651010" y="4241803"/>
            <a:ext cx="4572000" cy="1169551"/>
          </a:xfrm>
          <a:prstGeom prst="rect">
            <a:avLst/>
          </a:prstGeom>
          <a:noFill/>
        </p:spPr>
        <p:txBody>
          <a:bodyPr wrap="square">
            <a:spAutoFit/>
          </a:bodyPr>
          <a:lstStyle/>
          <a:p>
            <a:pPr defTabSz="457189"/>
            <a:r>
              <a:rPr lang="en-US" sz="1400" dirty="0">
                <a:solidFill>
                  <a:srgbClr val="4D5456">
                    <a:lumMod val="75000"/>
                  </a:srgbClr>
                </a:solidFill>
                <a:latin typeface="Lato" panose="020F0502020204030203" pitchFamily="34" charset="0"/>
              </a:rPr>
              <a:t>Material Feedback link: </a:t>
            </a:r>
            <a:r>
              <a:rPr lang="en-US" sz="1400" dirty="0">
                <a:solidFill>
                  <a:srgbClr val="0070C0"/>
                </a:solidFill>
                <a:latin typeface="Lato" panose="020F0502020204030203" pitchFamily="34" charset="0"/>
                <a:hlinkClick r:id="rId5">
                  <a:extLst>
                    <a:ext uri="{A12FA001-AC4F-418D-AE19-62706E023703}">
                      <ahyp:hlinkClr xmlns:ahyp="http://schemas.microsoft.com/office/drawing/2018/hyperlinkcolor" val="tx"/>
                    </a:ext>
                  </a:extLst>
                </a:hlinkClick>
              </a:rPr>
              <a:t>https://forms.office.com/r/p1UepZ5W1F</a:t>
            </a:r>
            <a:endParaRPr lang="en-US" sz="1400" dirty="0">
              <a:solidFill>
                <a:srgbClr val="0070C0"/>
              </a:solidFill>
              <a:latin typeface="Lato" panose="020F0502020204030203" pitchFamily="34" charset="0"/>
            </a:endParaRPr>
          </a:p>
          <a:p>
            <a:pPr defTabSz="457189"/>
            <a:endParaRPr lang="en-US" sz="1400" dirty="0">
              <a:solidFill>
                <a:srgbClr val="4D5456">
                  <a:lumMod val="75000"/>
                </a:srgbClr>
              </a:solidFill>
              <a:latin typeface="Lato" panose="020F0502020204030203" pitchFamily="34" charset="0"/>
            </a:endParaRPr>
          </a:p>
          <a:p>
            <a:pPr defTabSz="457189"/>
            <a:endParaRPr lang="en-US" sz="1400" dirty="0">
              <a:solidFill>
                <a:srgbClr val="4D5456">
                  <a:lumMod val="75000"/>
                </a:srgbClr>
              </a:solidFill>
              <a:latin typeface="Lato" panose="020F0502020204030203" pitchFamily="34" charset="0"/>
            </a:endParaRPr>
          </a:p>
          <a:p>
            <a:pPr defTabSz="457189"/>
            <a:endParaRPr lang="en-US" sz="1400" dirty="0">
              <a:solidFill>
                <a:srgbClr val="4D5456">
                  <a:lumMod val="75000"/>
                </a:srgbClr>
              </a:solidFill>
              <a:latin typeface="Arial" panose="020B0604020202020204"/>
            </a:endParaRPr>
          </a:p>
        </p:txBody>
      </p:sp>
      <p:pic>
        <p:nvPicPr>
          <p:cNvPr id="8" name="Picture 7">
            <a:extLst>
              <a:ext uri="{FF2B5EF4-FFF2-40B4-BE49-F238E27FC236}">
                <a16:creationId xmlns:a16="http://schemas.microsoft.com/office/drawing/2014/main" id="{AAE5CAAD-1FD9-3CD1-A65A-7DAD8D10DD2E}"/>
              </a:ext>
            </a:extLst>
          </p:cNvPr>
          <p:cNvPicPr>
            <a:picLocks noChangeAspect="1"/>
          </p:cNvPicPr>
          <p:nvPr/>
        </p:nvPicPr>
        <p:blipFill>
          <a:blip r:embed="rId6"/>
          <a:stretch>
            <a:fillRect/>
          </a:stretch>
        </p:blipFill>
        <p:spPr>
          <a:xfrm>
            <a:off x="1664139" y="1585684"/>
            <a:ext cx="2545744" cy="2557668"/>
          </a:xfrm>
          <a:prstGeom prst="rect">
            <a:avLst/>
          </a:prstGeom>
        </p:spPr>
      </p:pic>
    </p:spTree>
    <p:extLst>
      <p:ext uri="{BB962C8B-B14F-4D97-AF65-F5344CB8AC3E}">
        <p14:creationId xmlns:p14="http://schemas.microsoft.com/office/powerpoint/2010/main" val="2374694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ECAA01-3780-A531-82CE-111CE4AC5256}"/>
              </a:ext>
            </a:extLst>
          </p:cNvPr>
          <p:cNvSpPr txBox="1"/>
          <p:nvPr/>
        </p:nvSpPr>
        <p:spPr>
          <a:xfrm>
            <a:off x="1910671" y="2883181"/>
            <a:ext cx="2259863" cy="307777"/>
          </a:xfrm>
          <a:prstGeom prst="rect">
            <a:avLst/>
          </a:prstGeom>
          <a:noFill/>
        </p:spPr>
        <p:txBody>
          <a:bodyPr wrap="square" rtlCol="0">
            <a:spAutoFit/>
          </a:bodyPr>
          <a:lstStyle/>
          <a:p>
            <a:pPr algn="ctr" defTabSz="514350"/>
            <a:r>
              <a:rPr lang="en-US" sz="1400" spc="-150" dirty="0">
                <a:solidFill>
                  <a:schemeClr val="bg1"/>
                </a:solidFill>
                <a:latin typeface="Lato" panose="020F0502020204030203" pitchFamily="34" charset="0"/>
                <a:ea typeface="Lato Medium" panose="020F0502020204030203" pitchFamily="34" charset="0"/>
                <a:cs typeface="Lato Medium" panose="020F0502020204030203" pitchFamily="34" charset="0"/>
              </a:rPr>
              <a:t>C H A R A C T E R</a:t>
            </a:r>
          </a:p>
        </p:txBody>
      </p:sp>
      <p:sp>
        <p:nvSpPr>
          <p:cNvPr id="2" name="Rectangle 1">
            <a:extLst>
              <a:ext uri="{FF2B5EF4-FFF2-40B4-BE49-F238E27FC236}">
                <a16:creationId xmlns:a16="http://schemas.microsoft.com/office/drawing/2014/main" id="{00B68FC9-7ECA-A14E-F763-AB40CB7860E4}"/>
              </a:ext>
            </a:extLst>
          </p:cNvPr>
          <p:cNvSpPr/>
          <p:nvPr/>
        </p:nvSpPr>
        <p:spPr>
          <a:xfrm>
            <a:off x="3481137" y="0"/>
            <a:ext cx="5662863"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D5FF91-5F72-4CEC-5BA0-48DD6E63F34E}"/>
              </a:ext>
            </a:extLst>
          </p:cNvPr>
          <p:cNvSpPr/>
          <p:nvPr/>
        </p:nvSpPr>
        <p:spPr>
          <a:xfrm>
            <a:off x="473242" y="200526"/>
            <a:ext cx="1437429" cy="3769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icture containing text, sign, clipart&#10;&#10;Description automatically generated">
            <a:extLst>
              <a:ext uri="{FF2B5EF4-FFF2-40B4-BE49-F238E27FC236}">
                <a16:creationId xmlns:a16="http://schemas.microsoft.com/office/drawing/2014/main" id="{C012A189-B78D-2A5D-72B0-2C122BBDCC37}"/>
              </a:ext>
            </a:extLst>
          </p:cNvPr>
          <p:cNvPicPr>
            <a:picLocks noChangeAspect="1"/>
          </p:cNvPicPr>
          <p:nvPr/>
        </p:nvPicPr>
        <p:blipFill rotWithShape="1">
          <a:blip r:embed="rId3">
            <a:extLst>
              <a:ext uri="{28A0092B-C50C-407E-A947-70E740481C1C}">
                <a14:useLocalDpi xmlns:a14="http://schemas.microsoft.com/office/drawing/2010/main" val="0"/>
              </a:ext>
            </a:extLst>
          </a:blip>
          <a:srcRect b="15817"/>
          <a:stretch/>
        </p:blipFill>
        <p:spPr>
          <a:xfrm>
            <a:off x="424207" y="178174"/>
            <a:ext cx="1170741" cy="167459"/>
          </a:xfrm>
          <a:prstGeom prst="rect">
            <a:avLst/>
          </a:prstGeom>
        </p:spPr>
      </p:pic>
      <p:sp>
        <p:nvSpPr>
          <p:cNvPr id="4" name="Subtitle 3">
            <a:extLst>
              <a:ext uri="{FF2B5EF4-FFF2-40B4-BE49-F238E27FC236}">
                <a16:creationId xmlns:a16="http://schemas.microsoft.com/office/drawing/2014/main" id="{9FD05A3C-C199-4CE0-21DC-94C2AC1111B2}"/>
              </a:ext>
            </a:extLst>
          </p:cNvPr>
          <p:cNvSpPr>
            <a:spLocks noGrp="1"/>
          </p:cNvSpPr>
          <p:nvPr>
            <p:ph type="subTitle" idx="1"/>
          </p:nvPr>
        </p:nvSpPr>
        <p:spPr>
          <a:xfrm>
            <a:off x="2204683" y="2052439"/>
            <a:ext cx="5123215" cy="1241822"/>
          </a:xfrm>
        </p:spPr>
        <p:txBody>
          <a:bodyPr>
            <a:normAutofit/>
          </a:bodyPr>
          <a:lstStyle/>
          <a:p>
            <a:pPr algn="ctr"/>
            <a:r>
              <a:rPr lang="en-US" sz="2000" b="1" i="1" dirty="0"/>
              <a:t>Thank you. </a:t>
            </a:r>
            <a:endParaRPr lang="en-US" sz="1600" i="1" dirty="0"/>
          </a:p>
        </p:txBody>
      </p:sp>
      <p:pic>
        <p:nvPicPr>
          <p:cNvPr id="6" name="Picture 5">
            <a:extLst>
              <a:ext uri="{FF2B5EF4-FFF2-40B4-BE49-F238E27FC236}">
                <a16:creationId xmlns:a16="http://schemas.microsoft.com/office/drawing/2014/main" id="{9FEC63E5-738B-0886-ABFD-E8E682F9C14E}"/>
              </a:ext>
            </a:extLst>
          </p:cNvPr>
          <p:cNvPicPr>
            <a:picLocks noChangeAspect="1"/>
          </p:cNvPicPr>
          <p:nvPr/>
        </p:nvPicPr>
        <p:blipFill>
          <a:blip r:embed="rId4"/>
          <a:stretch>
            <a:fillRect/>
          </a:stretch>
        </p:blipFill>
        <p:spPr>
          <a:xfrm>
            <a:off x="4315293" y="2440700"/>
            <a:ext cx="901996" cy="750258"/>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A99E49DE-19AB-B81E-A719-348558736780}"/>
              </a:ext>
            </a:extLst>
          </p:cNvPr>
          <p:cNvSpPr/>
          <p:nvPr/>
        </p:nvSpPr>
        <p:spPr>
          <a:xfrm>
            <a:off x="313768" y="4849257"/>
            <a:ext cx="1116447" cy="230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D7BB7F8-7CA4-AF86-4422-C1116CC25398}"/>
              </a:ext>
            </a:extLst>
          </p:cNvPr>
          <p:cNvSpPr txBox="1"/>
          <p:nvPr/>
        </p:nvSpPr>
        <p:spPr>
          <a:xfrm>
            <a:off x="206121" y="4849257"/>
            <a:ext cx="591830" cy="230832"/>
          </a:xfrm>
          <a:prstGeom prst="rect">
            <a:avLst/>
          </a:prstGeom>
          <a:noFill/>
        </p:spPr>
        <p:txBody>
          <a:bodyPr wrap="none" rtlCol="0">
            <a:spAutoFit/>
          </a:bodyPr>
          <a:lstStyle/>
          <a:p>
            <a:pPr algn="ctr" defTabSz="685800"/>
            <a:r>
              <a:rPr lang="en-US" sz="900" dirty="0">
                <a:solidFill>
                  <a:schemeClr val="accent6"/>
                </a:solidFill>
                <a:latin typeface="Lato" panose="020F0502020204030203" pitchFamily="34" charset="0"/>
                <a:ea typeface="Lato Medium" panose="020F0502020204030203" pitchFamily="34" charset="0"/>
                <a:cs typeface="Lato Medium" panose="020F0502020204030203" pitchFamily="34" charset="0"/>
              </a:rPr>
              <a:t>Page 11</a:t>
            </a:r>
          </a:p>
        </p:txBody>
      </p:sp>
    </p:spTree>
    <p:extLst>
      <p:ext uri="{BB962C8B-B14F-4D97-AF65-F5344CB8AC3E}">
        <p14:creationId xmlns:p14="http://schemas.microsoft.com/office/powerpoint/2010/main" val="2856519611"/>
      </p:ext>
    </p:extLst>
  </p:cSld>
  <p:clrMapOvr>
    <a:masterClrMapping/>
  </p:clrMapOvr>
</p:sld>
</file>

<file path=ppt/theme/theme1.xml><?xml version="1.0" encoding="utf-8"?>
<a:theme xmlns:a="http://schemas.openxmlformats.org/drawingml/2006/main" name="Office Theme">
  <a:themeElements>
    <a:clrScheme name="RealPage_2022">
      <a:dk1>
        <a:srgbClr val="212526"/>
      </a:dk1>
      <a:lt1>
        <a:srgbClr val="FFFFFF"/>
      </a:lt1>
      <a:dk2>
        <a:srgbClr val="4D5456"/>
      </a:dk2>
      <a:lt2>
        <a:srgbClr val="4AB79C"/>
      </a:lt2>
      <a:accent1>
        <a:srgbClr val="42ADA0"/>
      </a:accent1>
      <a:accent2>
        <a:srgbClr val="35A6A1"/>
      </a:accent2>
      <a:accent3>
        <a:srgbClr val="2B9DA4"/>
      </a:accent3>
      <a:accent4>
        <a:srgbClr val="247888"/>
      </a:accent4>
      <a:accent5>
        <a:srgbClr val="1D546B"/>
      </a:accent5>
      <a:accent6>
        <a:srgbClr val="13314E"/>
      </a:accent6>
      <a:hlink>
        <a:srgbClr val="F3F4F3"/>
      </a:hlink>
      <a:folHlink>
        <a:srgbClr val="86939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defTabSz="685800">
          <a:defRPr dirty="0" smtClean="0">
            <a:solidFill>
              <a:schemeClr val="accent6"/>
            </a:solidFill>
            <a:latin typeface="Lato Medium" panose="020F0502020204030203" pitchFamily="34" charset="0"/>
            <a:ea typeface="Lato Medium" panose="020F0502020204030203" pitchFamily="34" charset="0"/>
            <a:cs typeface="Lato Medium" panose="020F0502020204030203" pitchFamily="34" charset="0"/>
          </a:defRPr>
        </a:defPPr>
      </a:lstStyle>
    </a:txDef>
  </a:objectDefaults>
  <a:extraClrSchemeLst/>
  <a:extLst>
    <a:ext uri="{05A4C25C-085E-4340-85A3-A5531E510DB2}">
      <thm15:themeFamily xmlns:thm15="http://schemas.microsoft.com/office/thememl/2012/main" name="RealPageStarter" id="{D42A2886-2857-4FC6-9F6F-AFEED83569EF}" vid="{09691F58-D08E-4905-BB8B-1D60528590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811A7D7C6AF7C4B84849BBC7AECD042" ma:contentTypeVersion="7" ma:contentTypeDescription="Create a new document." ma:contentTypeScope="" ma:versionID="d1a1c2fab4bc054141fc059f64628e6a">
  <xsd:schema xmlns:xsd="http://www.w3.org/2001/XMLSchema" xmlns:xs="http://www.w3.org/2001/XMLSchema" xmlns:p="http://schemas.microsoft.com/office/2006/metadata/properties" xmlns:ns2="09f0d035-db3a-41e2-9c9f-cd4fb346005c" targetNamespace="http://schemas.microsoft.com/office/2006/metadata/properties" ma:root="true" ma:fieldsID="79197425f45961dcb975a55f67a80289" ns2:_="">
    <xsd:import namespace="09f0d035-db3a-41e2-9c9f-cd4fb346005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f0d035-db3a-41e2-9c9f-cd4fb34600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BC4767-BBDC-450B-9588-F125CB22998C}"/>
</file>

<file path=customXml/itemProps2.xml><?xml version="1.0" encoding="utf-8"?>
<ds:datastoreItem xmlns:ds="http://schemas.openxmlformats.org/officeDocument/2006/customXml" ds:itemID="{702927E3-FB24-4210-AD4B-CECD8496E2DE}">
  <ds:schemaRefs>
    <ds:schemaRef ds:uri="http://schemas.microsoft.com/sharepoint/v3/contenttype/forms"/>
  </ds:schemaRefs>
</ds:datastoreItem>
</file>

<file path=customXml/itemProps3.xml><?xml version="1.0" encoding="utf-8"?>
<ds:datastoreItem xmlns:ds="http://schemas.openxmlformats.org/officeDocument/2006/customXml" ds:itemID="{E59FAFFA-6B97-4984-9F94-617358853AEC}">
  <ds:schemaRefs>
    <ds:schemaRef ds:uri="http://purl.org/dc/elements/1.1/"/>
    <ds:schemaRef ds:uri="6c262fc0-bc1f-48e4-9a5d-f7dab1d27bbb"/>
    <ds:schemaRef ds:uri="http://schemas.openxmlformats.org/package/2006/metadata/core-properties"/>
    <ds:schemaRef ds:uri="http://purl.org/dc/terms/"/>
    <ds:schemaRef ds:uri="http://schemas.microsoft.com/office/infopath/2007/PartnerControls"/>
    <ds:schemaRef ds:uri="http://www.w3.org/XML/1998/namespace"/>
    <ds:schemaRef ds:uri="http://schemas.microsoft.com/office/2006/documentManagement/types"/>
    <ds:schemaRef ds:uri="a8c3cf06-7ea6-4d6c-8e13-9057bcf6491c"/>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36970c53-fc97-4c45-87e9-80615808800c}" enabled="1" method="Standard" siteId="{2c94bed6-d675-4d3d-a53b-7b461fd6acc2}" removed="0"/>
</clbl:labelList>
</file>

<file path=docProps/app.xml><?xml version="1.0" encoding="utf-8"?>
<Properties xmlns="http://schemas.openxmlformats.org/officeDocument/2006/extended-properties" xmlns:vt="http://schemas.openxmlformats.org/officeDocument/2006/docPropsVTypes">
  <Template>{2D8F2F84-3B37-DF4C-B106-3760A94DDBCF}tf16401378</Template>
  <TotalTime>0</TotalTime>
  <Words>1816</Words>
  <Application>Microsoft Macintosh PowerPoint</Application>
  <PresentationFormat>On-screen Show (16:9)</PresentationFormat>
  <Paragraphs>175</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Lato</vt:lpstr>
      <vt:lpstr>Lato Light</vt:lpstr>
      <vt:lpstr>Lato Medium</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RealPage Data &amp; Analytics 2021 Strategy Session</dc:title>
  <dc:creator/>
  <cp:lastModifiedBy/>
  <cp:revision>805</cp:revision>
  <dcterms:created xsi:type="dcterms:W3CDTF">2021-10-11T13:29:26Z</dcterms:created>
  <dcterms:modified xsi:type="dcterms:W3CDTF">2026-04-29T19:42:25Z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0x010100B811A7D7C6AF7C4B84849BBC7AECD042</vt:lpwstr>
  </property>
  <property fmtid="{D5CDD505-2E9C-101B-9397-08002B2CF9AE}" pid="3" name="MSIP_Label_36970c53-fc97-4c45-87e9-80615808800c_Enabled">
    <vt:lpwstr>true</vt:lpwstr>
  </property>
  <property fmtid="{D5CDD505-2E9C-101B-9397-08002B2CF9AE}" pid="4" name="MSIP_Label_36970c53-fc97-4c45-87e9-80615808800c_SetDate">
    <vt:lpwstr>2021-12-06T03:15:15Z</vt:lpwstr>
  </property>
  <property fmtid="{D5CDD505-2E9C-101B-9397-08002B2CF9AE}" pid="5" name="MSIP_Label_36970c53-fc97-4c45-87e9-80615808800c_Method">
    <vt:lpwstr>Standard</vt:lpwstr>
  </property>
  <property fmtid="{D5CDD505-2E9C-101B-9397-08002B2CF9AE}" pid="6" name="MSIP_Label_36970c53-fc97-4c45-87e9-80615808800c_Name">
    <vt:lpwstr>Sensitive</vt:lpwstr>
  </property>
  <property fmtid="{D5CDD505-2E9C-101B-9397-08002B2CF9AE}" pid="7" name="MSIP_Label_36970c53-fc97-4c45-87e9-80615808800c_SiteId">
    <vt:lpwstr>2c94bed6-d675-4d3d-a53b-7b461fd6acc2</vt:lpwstr>
  </property>
  <property fmtid="{D5CDD505-2E9C-101B-9397-08002B2CF9AE}" pid="8" name="MSIP_Label_36970c53-fc97-4c45-87e9-80615808800c_ActionId">
    <vt:lpwstr>20a07c41-d574-4be9-b019-d3fdb2ee37b2</vt:lpwstr>
  </property>
  <property fmtid="{D5CDD505-2E9C-101B-9397-08002B2CF9AE}" pid="9" name="MSIP_Label_36970c53-fc97-4c45-87e9-80615808800c_ContentBits">
    <vt:lpwstr>3</vt:lpwstr>
  </property>
  <property fmtid="{D5CDD505-2E9C-101B-9397-08002B2CF9AE}" pid="10" name="MediaServiceImageTags">
    <vt:lpwstr/>
  </property>
</Properties>
</file>