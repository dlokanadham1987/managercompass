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18"/>
  </p:notesMasterIdLst>
  <p:handoutMasterIdLst>
    <p:handoutMasterId r:id="rId19"/>
  </p:handoutMasterIdLst>
  <p:sldIdLst>
    <p:sldId id="4840" r:id="rId5"/>
    <p:sldId id="2146846856" r:id="rId6"/>
    <p:sldId id="2146846864" r:id="rId7"/>
    <p:sldId id="4888" r:id="rId8"/>
    <p:sldId id="2146846858" r:id="rId9"/>
    <p:sldId id="2146846865" r:id="rId10"/>
    <p:sldId id="2146846860" r:id="rId11"/>
    <p:sldId id="2146846859" r:id="rId12"/>
    <p:sldId id="2146846866" r:id="rId13"/>
    <p:sldId id="2146846861" r:id="rId14"/>
    <p:sldId id="2146846862" r:id="rId15"/>
    <p:sldId id="2146846869" r:id="rId16"/>
    <p:sldId id="2146846867"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4116BC-A11D-4485-BE55-143E64F0CEA4}">
          <p14:sldIdLst>
            <p14:sldId id="4840"/>
            <p14:sldId id="2146846856"/>
            <p14:sldId id="2146846864"/>
            <p14:sldId id="4888"/>
            <p14:sldId id="2146846858"/>
            <p14:sldId id="2146846865"/>
            <p14:sldId id="2146846860"/>
            <p14:sldId id="2146846859"/>
            <p14:sldId id="2146846866"/>
            <p14:sldId id="2146846861"/>
            <p14:sldId id="2146846862"/>
            <p14:sldId id="2146846869"/>
            <p14:sldId id="2146846867"/>
          </p14:sldIdLst>
        </p14:section>
      </p14:sectionLst>
    </p:ext>
    <p:ext uri="{EFAFB233-063F-42B5-8137-9DF3F51BA10A}">
      <p15:sldGuideLst xmlns:p15="http://schemas.microsoft.com/office/powerpoint/2012/main">
        <p15:guide id="1" pos="1044" userDrawn="1">
          <p15:clr>
            <a:srgbClr val="A4A3A4"/>
          </p15:clr>
        </p15:guide>
        <p15:guide id="2" pos="1824" userDrawn="1">
          <p15:clr>
            <a:srgbClr val="A4A3A4"/>
          </p15:clr>
        </p15:guide>
        <p15:guide id="3" orient="horz" pos="2940" userDrawn="1">
          <p15:clr>
            <a:srgbClr val="A4A3A4"/>
          </p15:clr>
        </p15:guide>
        <p15:guide id="5" pos="5544" userDrawn="1">
          <p15:clr>
            <a:srgbClr val="A4A3A4"/>
          </p15:clr>
        </p15:guide>
        <p15:guide id="6" userDrawn="1">
          <p15:clr>
            <a:srgbClr val="A4A3A4"/>
          </p15:clr>
        </p15:guide>
        <p15:guide id="7" pos="3072" userDrawn="1">
          <p15:clr>
            <a:srgbClr val="A4A3A4"/>
          </p15:clr>
        </p15:guide>
        <p15:guide id="8" pos="360" userDrawn="1">
          <p15:clr>
            <a:srgbClr val="A4A3A4"/>
          </p15:clr>
        </p15:guide>
        <p15:guide id="9" pos="2256" userDrawn="1">
          <p15:clr>
            <a:srgbClr val="A4A3A4"/>
          </p15:clr>
        </p15:guide>
        <p15:guide id="10" orient="horz" pos="99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A6A2"/>
    <a:srgbClr val="247888"/>
    <a:srgbClr val="384950"/>
    <a:srgbClr val="4AB89D"/>
    <a:srgbClr val="13314E"/>
    <a:srgbClr val="2C9DA5"/>
    <a:srgbClr val="4BBA9F"/>
    <a:srgbClr val="2C9FA7"/>
    <a:srgbClr val="FF6F4A"/>
    <a:srgbClr val="1D5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27A524-D5F3-46DE-B1CE-4AB52B0D5EA6}" v="79" dt="2023-04-17T16:14:27.728"/>
    <p1510:client id="{6E3075F2-578A-4149-82F8-3F55DCEF8F83}" v="1" dt="2023-04-14T09:56:46.993"/>
    <p1510:client id="{B35350C3-9B7B-4436-B1B7-FE6E7424291F}" v="15" dt="2023-04-13T17:19:59.823"/>
    <p1510:client id="{F79E28FE-F11B-405F-82F3-DF6BCEA9D899}" v="1" dt="2023-04-14T10:25:38.0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3" autoAdjust="0"/>
    <p:restoredTop sz="81373" autoAdjust="0"/>
  </p:normalViewPr>
  <p:slideViewPr>
    <p:cSldViewPr snapToGrid="0">
      <p:cViewPr varScale="1">
        <p:scale>
          <a:sx n="117" d="100"/>
          <a:sy n="117" d="100"/>
        </p:scale>
        <p:origin x="1434" y="102"/>
      </p:cViewPr>
      <p:guideLst>
        <p:guide pos="1044"/>
        <p:guide pos="1824"/>
        <p:guide orient="horz" pos="2940"/>
        <p:guide pos="5544"/>
        <p:guide/>
        <p:guide pos="3072"/>
        <p:guide pos="360"/>
        <p:guide pos="2256"/>
        <p:guide orient="horz" pos="996"/>
      </p:guideLst>
    </p:cSldViewPr>
  </p:slideViewPr>
  <p:notesTextViewPr>
    <p:cViewPr>
      <p:scale>
        <a:sx n="1" d="1"/>
        <a:sy n="1" d="1"/>
      </p:scale>
      <p:origin x="0" y="0"/>
    </p:cViewPr>
  </p:notesTextViewPr>
  <p:notesViewPr>
    <p:cSldViewPr snapToGrid="0">
      <p:cViewPr>
        <p:scale>
          <a:sx n="1" d="2"/>
          <a:sy n="1" d="2"/>
        </p:scale>
        <p:origin x="5880" y="17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BCB613-1B88-4273-BF0F-0BF889EC09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5574DBCF-C14A-4217-890B-3E6A60BAE4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9C2DE1-F31D-4CA1-92AD-E3713F12C7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CAD36D-F99F-4B9F-A3B1-443AADA40415}" type="slidenum">
              <a:rPr lang="en-US" smtClean="0"/>
              <a:t>‹#›</a:t>
            </a:fld>
            <a:endParaRPr lang="en-US" dirty="0"/>
          </a:p>
        </p:txBody>
      </p:sp>
    </p:spTree>
    <p:extLst>
      <p:ext uri="{BB962C8B-B14F-4D97-AF65-F5344CB8AC3E}">
        <p14:creationId xmlns:p14="http://schemas.microsoft.com/office/powerpoint/2010/main" val="2890617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B0451-EC03-4447-B2EF-43FC4D41DDC5}" type="datetimeFigureOut">
              <a:rPr lang="en-US" smtClean="0"/>
              <a:t>4/17/2023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D1586-BDFF-9440-96F8-F0DE4E4562D4}" type="slidenum">
              <a:rPr lang="en-US" smtClean="0"/>
              <a:t>‹#›</a:t>
            </a:fld>
            <a:endParaRPr lang="en-US" dirty="0"/>
          </a:p>
        </p:txBody>
      </p:sp>
    </p:spTree>
    <p:extLst>
      <p:ext uri="{BB962C8B-B14F-4D97-AF65-F5344CB8AC3E}">
        <p14:creationId xmlns:p14="http://schemas.microsoft.com/office/powerpoint/2010/main" val="172138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solidFill>
                <a:srgbClr val="252525"/>
              </a:solidFill>
              <a:effectLst/>
            </a:endParaRPr>
          </a:p>
          <a:p>
            <a:endParaRPr lang="en-US">
              <a:solidFill>
                <a:srgbClr val="252525"/>
              </a:solidFill>
              <a:effectLst/>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a:t>
            </a:fld>
            <a:endParaRPr lang="en-US"/>
          </a:p>
        </p:txBody>
      </p:sp>
    </p:spTree>
    <p:extLst>
      <p:ext uri="{BB962C8B-B14F-4D97-AF65-F5344CB8AC3E}">
        <p14:creationId xmlns:p14="http://schemas.microsoft.com/office/powerpoint/2010/main" val="262921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1" i="0" u="none" strike="noStrike" dirty="0">
                <a:solidFill>
                  <a:srgbClr val="000000"/>
                </a:solidFill>
                <a:effectLst/>
                <a:latin typeface="Calibri" panose="020F0502020204030204" pitchFamily="34" charset="0"/>
              </a:rPr>
              <a:t>Do:</a:t>
            </a:r>
            <a:r>
              <a:rPr lang="en-US" sz="1800" b="0" i="0" u="none" strike="noStrike" dirty="0">
                <a:solidFill>
                  <a:srgbClr val="000000"/>
                </a:solidFill>
                <a:effectLst/>
                <a:latin typeface="Calibri" panose="020F0502020204030204" pitchFamily="34" charset="0"/>
              </a:rPr>
              <a:t> Conduct introductions as needed.</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1" i="0" u="none" strike="noStrike" dirty="0">
                <a:solidFill>
                  <a:srgbClr val="000000"/>
                </a:solidFill>
                <a:effectLst/>
                <a:latin typeface="Calibri" panose="020F0502020204030204" pitchFamily="34" charset="0"/>
              </a:rPr>
              <a:t>Say:</a:t>
            </a:r>
            <a:r>
              <a:rPr lang="en-US" sz="1800" b="0" i="0" u="none" strike="noStrike" dirty="0">
                <a:solidFill>
                  <a:srgbClr val="000000"/>
                </a:solidFill>
                <a:effectLst/>
                <a:latin typeface="Calibri" panose="020F0502020204030204" pitchFamily="34" charset="0"/>
              </a:rPr>
              <a:t> Welcome to the session for one of our core values, Character. </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1" i="0" u="none" strike="noStrike" dirty="0">
                <a:solidFill>
                  <a:srgbClr val="000000"/>
                </a:solidFill>
                <a:effectLst/>
                <a:latin typeface="Calibri" panose="020F0502020204030204" pitchFamily="34" charset="0"/>
              </a:rPr>
              <a:t>Do:</a:t>
            </a:r>
            <a:r>
              <a:rPr lang="en-US" sz="1800" b="0" i="0" u="none" strike="noStrike" dirty="0">
                <a:solidFill>
                  <a:srgbClr val="000000"/>
                </a:solidFill>
                <a:effectLst/>
                <a:latin typeface="Calibri" panose="020F0502020204030204" pitchFamily="34" charset="0"/>
              </a:rPr>
              <a:t> Show next slide.</a:t>
            </a:r>
            <a:endParaRPr lang="en-US" b="0" i="0" dirty="0">
              <a:solidFill>
                <a:srgbClr val="444444"/>
              </a:solidFill>
              <a:effectLst/>
              <a:latin typeface="Calibri" panose="020F0502020204030204" pitchFamily="34" charset="0"/>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2</a:t>
            </a:fld>
            <a:endParaRPr lang="en-US" dirty="0"/>
          </a:p>
        </p:txBody>
      </p:sp>
    </p:spTree>
    <p:extLst>
      <p:ext uri="{BB962C8B-B14F-4D97-AF65-F5344CB8AC3E}">
        <p14:creationId xmlns:p14="http://schemas.microsoft.com/office/powerpoint/2010/main" val="74050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solidFill>
                <a:srgbClr val="252525"/>
              </a:solidFill>
              <a:effectLst/>
            </a:endParaRPr>
          </a:p>
          <a:p>
            <a:endParaRPr lang="en-US">
              <a:solidFill>
                <a:srgbClr val="252525"/>
              </a:solidFill>
              <a:effectLst/>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3</a:t>
            </a:fld>
            <a:endParaRPr lang="en-US"/>
          </a:p>
        </p:txBody>
      </p:sp>
    </p:spTree>
    <p:extLst>
      <p:ext uri="{BB962C8B-B14F-4D97-AF65-F5344CB8AC3E}">
        <p14:creationId xmlns:p14="http://schemas.microsoft.com/office/powerpoint/2010/main" val="431761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rPr>
              <a:t>Say: </a:t>
            </a:r>
            <a:r>
              <a:rPr lang="en-US" sz="1200" b="0" i="0" u="none" strike="noStrike" dirty="0">
                <a:solidFill>
                  <a:srgbClr val="000000"/>
                </a:solidFill>
                <a:effectLst/>
                <a:latin typeface="Calibri" panose="020F0502020204030204" pitchFamily="34" charset="0"/>
              </a:rPr>
              <a:t>To start, let’s review the key actions of Character! I’ll give you a few seconds to read through the slide.</a:t>
            </a:r>
            <a:r>
              <a:rPr lang="en-US" sz="12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2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200" b="1" i="0" u="none" strike="noStrike" dirty="0">
                <a:solidFill>
                  <a:srgbClr val="000000"/>
                </a:solidFill>
                <a:effectLst/>
                <a:latin typeface="Calibri" panose="020F0502020204030204" pitchFamily="34" charset="0"/>
              </a:rPr>
              <a:t>Say:  </a:t>
            </a:r>
            <a:r>
              <a:rPr lang="en-US" sz="1200" b="0" i="0" u="none" strike="noStrike" dirty="0">
                <a:solidFill>
                  <a:srgbClr val="000000"/>
                </a:solidFill>
                <a:effectLst/>
                <a:latin typeface="Calibri" panose="020F0502020204030204" pitchFamily="34" charset="0"/>
              </a:rPr>
              <a:t>Plainly said, character is about showing respect for one another. It’s also being inclusive in the workplace, respecting what everyone brings to the table. Moreover, it’s about making decisions with utmost integrity, and leading with our hearts as we serve the communities where we live and work. This is how we </a:t>
            </a:r>
            <a:r>
              <a:rPr lang="en-US" sz="1200" b="1" i="0" u="none" strike="noStrike" dirty="0">
                <a:solidFill>
                  <a:srgbClr val="000000"/>
                </a:solidFill>
                <a:effectLst/>
                <a:latin typeface="Calibri" panose="020F0502020204030204" pitchFamily="34" charset="0"/>
              </a:rPr>
              <a:t>LEAD WITH CHARACTER.</a:t>
            </a:r>
            <a:r>
              <a:rPr lang="en-US" sz="12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200" b="0" i="0" dirty="0">
                <a:solidFill>
                  <a:srgbClr val="444444"/>
                </a:solidFill>
                <a:effectLst/>
                <a:latin typeface="Arial" panose="020B0604020202020204" pitchFamily="34" charset="0"/>
              </a:rPr>
              <a:t>​</a:t>
            </a:r>
            <a:endParaRPr lang="en-US" b="0" i="0" dirty="0">
              <a:solidFill>
                <a:srgbClr val="444444"/>
              </a:solidFill>
              <a:effectLst/>
              <a:latin typeface="Calibri" panose="020F0502020204030204" pitchFamily="34" charset="0"/>
            </a:endParaRPr>
          </a:p>
          <a:p>
            <a:pPr algn="l" rtl="0" fontAlgn="base"/>
            <a:r>
              <a:rPr lang="en-US" sz="1200" b="1" i="0" u="none" strike="noStrike" dirty="0">
                <a:solidFill>
                  <a:srgbClr val="000000"/>
                </a:solidFill>
                <a:effectLst/>
                <a:latin typeface="Calibri" panose="020F0502020204030204" pitchFamily="34" charset="0"/>
              </a:rPr>
              <a:t>Transition</a:t>
            </a:r>
            <a:r>
              <a:rPr lang="en-US" sz="1200" b="0" i="0" u="none" strike="noStrike" dirty="0">
                <a:solidFill>
                  <a:srgbClr val="000000"/>
                </a:solidFill>
                <a:effectLst/>
                <a:latin typeface="Calibri" panose="020F0502020204030204" pitchFamily="34" charset="0"/>
              </a:rPr>
              <a:t>: Let's look at the objective of today’s session. </a:t>
            </a:r>
            <a:endParaRPr lang="en-US" b="0" i="0" dirty="0">
              <a:solidFill>
                <a:srgbClr val="444444"/>
              </a:solidFill>
              <a:effectLst/>
              <a:latin typeface="Calibri" panose="020F0502020204030204" pitchFamily="34" charset="0"/>
            </a:endParaRPr>
          </a:p>
          <a:p>
            <a:endParaRPr lang="en-US" dirty="0">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4</a:t>
            </a:fld>
            <a:endParaRPr lang="en-US"/>
          </a:p>
        </p:txBody>
      </p:sp>
    </p:spTree>
    <p:extLst>
      <p:ext uri="{BB962C8B-B14F-4D97-AF65-F5344CB8AC3E}">
        <p14:creationId xmlns:p14="http://schemas.microsoft.com/office/powerpoint/2010/main" val="3872011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685800"/>
            <a:r>
              <a:rPr lang="en-US" b="1" dirty="0">
                <a:ea typeface="Lato Medium"/>
                <a:cs typeface="Calibri"/>
              </a:rPr>
              <a:t>Do:  </a:t>
            </a:r>
            <a:r>
              <a:rPr lang="en-US" dirty="0">
                <a:ea typeface="Lato Medium"/>
                <a:cs typeface="Calibri"/>
              </a:rPr>
              <a:t>Share the objective and transition to the next slide. </a:t>
            </a:r>
            <a:endParaRPr lang="en-US" dirty="0">
              <a:ea typeface="Lato Medium" panose="020F0502020204030203" pitchFamily="34" charset="0"/>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5</a:t>
            </a:fld>
            <a:endParaRPr lang="en-US" dirty="0"/>
          </a:p>
        </p:txBody>
      </p:sp>
    </p:spTree>
    <p:extLst>
      <p:ext uri="{BB962C8B-B14F-4D97-AF65-F5344CB8AC3E}">
        <p14:creationId xmlns:p14="http://schemas.microsoft.com/office/powerpoint/2010/main" val="2073682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i="0" dirty="0">
                <a:solidFill>
                  <a:srgbClr val="555353"/>
                </a:solidFill>
                <a:effectLst/>
                <a:latin typeface="Open Sans" panose="020B0606030504020204" pitchFamily="34" charset="0"/>
              </a:rPr>
              <a:t>Say: </a:t>
            </a:r>
            <a:r>
              <a:rPr lang="en-US" b="0" i="0" dirty="0">
                <a:solidFill>
                  <a:srgbClr val="555353"/>
                </a:solidFill>
                <a:effectLst/>
                <a:latin typeface="Open Sans" panose="020B0606030504020204" pitchFamily="34" charset="0"/>
              </a:rPr>
              <a:t>Here are a few lines I picked from the poem written by Gordon H. Taggart. I’ll give you some time to read it and afterwards, let me know what you think.</a:t>
            </a:r>
          </a:p>
          <a:p>
            <a:pPr marL="0" indent="0">
              <a:buFont typeface="Arial" panose="020B0604020202020204" pitchFamily="34" charset="0"/>
              <a:buNone/>
            </a:pPr>
            <a:endParaRPr lang="en-US" b="0" i="0" dirty="0">
              <a:solidFill>
                <a:srgbClr val="555353"/>
              </a:solidFill>
              <a:effectLst/>
              <a:latin typeface="Open Sans" panose="020B0606030504020204" pitchFamily="34" charset="0"/>
            </a:endParaRPr>
          </a:p>
          <a:p>
            <a:pPr marL="0" indent="0">
              <a:buFont typeface="Arial" panose="020B0604020202020204" pitchFamily="34" charset="0"/>
              <a:buNone/>
            </a:pPr>
            <a:r>
              <a:rPr lang="en-US" b="1" i="0" dirty="0">
                <a:solidFill>
                  <a:srgbClr val="555353"/>
                </a:solidFill>
                <a:effectLst/>
                <a:latin typeface="Open Sans" panose="020B0606030504020204" pitchFamily="34" charset="0"/>
              </a:rPr>
              <a:t>Do: </a:t>
            </a:r>
          </a:p>
          <a:p>
            <a:pPr marL="171450" indent="-171450">
              <a:buFontTx/>
              <a:buChar char="-"/>
            </a:pPr>
            <a:r>
              <a:rPr lang="en-US" b="0" i="0" dirty="0">
                <a:solidFill>
                  <a:srgbClr val="555353"/>
                </a:solidFill>
                <a:effectLst/>
                <a:latin typeface="Open Sans" panose="020B0606030504020204" pitchFamily="34" charset="0"/>
              </a:rPr>
              <a:t>Call one or two participants to share what they think of the poem.</a:t>
            </a:r>
          </a:p>
          <a:p>
            <a:pPr marL="171450" indent="-171450">
              <a:buFontTx/>
              <a:buChar char="-"/>
            </a:pPr>
            <a:r>
              <a:rPr lang="en-US" b="0" i="0" dirty="0">
                <a:solidFill>
                  <a:srgbClr val="555353"/>
                </a:solidFill>
                <a:effectLst/>
                <a:latin typeface="Open Sans" panose="020B0606030504020204" pitchFamily="34" charset="0"/>
              </a:rPr>
              <a:t>Acknowledge, ask follow up questions or redirect answers, as necessary.</a:t>
            </a:r>
          </a:p>
          <a:p>
            <a:pPr marL="171450" indent="-171450">
              <a:buFontTx/>
              <a:buChar char="-"/>
            </a:pPr>
            <a:endParaRPr lang="en-US" b="0" i="0" dirty="0">
              <a:solidFill>
                <a:srgbClr val="555353"/>
              </a:solidFill>
              <a:effectLst/>
              <a:latin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02124"/>
                </a:solidFill>
                <a:effectLst/>
                <a:latin typeface="arial" panose="020B0604020202020204" pitchFamily="34" charset="0"/>
              </a:rPr>
              <a:t>Ask:  </a:t>
            </a:r>
            <a:r>
              <a:rPr lang="en-US" b="0" i="0" dirty="0">
                <a:solidFill>
                  <a:srgbClr val="202124"/>
                </a:solidFill>
                <a:effectLst/>
                <a:latin typeface="arial" panose="020B0604020202020204" pitchFamily="34" charset="0"/>
              </a:rPr>
              <a:t>Say you were in place where you thought you were not being noticed and you did something horrific that became news. The next day, you are trending on social media, how would that make you feel? How would it make your loved ones feel if they knew you acted this way?</a:t>
            </a:r>
          </a:p>
          <a:p>
            <a:pPr marL="0" indent="0">
              <a:buFontTx/>
              <a:buNone/>
            </a:pPr>
            <a:endParaRPr lang="en-US" b="0" i="0" dirty="0">
              <a:solidFill>
                <a:srgbClr val="555353"/>
              </a:solidFill>
              <a:effectLst/>
              <a:latin typeface="Open Sans" panose="020B0606030504020204" pitchFamily="34" charset="0"/>
            </a:endParaRPr>
          </a:p>
          <a:p>
            <a:pPr marL="0" indent="0">
              <a:buFontTx/>
              <a:buNone/>
            </a:pPr>
            <a:r>
              <a:rPr lang="en-US" b="1" i="0" dirty="0">
                <a:solidFill>
                  <a:srgbClr val="555353"/>
                </a:solidFill>
                <a:effectLst/>
                <a:latin typeface="Open Sans" panose="020B0606030504020204" pitchFamily="34" charset="0"/>
              </a:rPr>
              <a:t>Say: </a:t>
            </a:r>
            <a:r>
              <a:rPr lang="en-US" b="0" i="0" dirty="0">
                <a:solidFill>
                  <a:srgbClr val="202124"/>
                </a:solidFill>
                <a:effectLst/>
                <a:latin typeface="arial" panose="020B0604020202020204" pitchFamily="34" charset="0"/>
              </a:rPr>
              <a:t>You've probably heard this quote by legendary college basketball coach, John Wooden: “</a:t>
            </a:r>
            <a:r>
              <a:rPr lang="en-US" b="1" i="0" dirty="0">
                <a:solidFill>
                  <a:srgbClr val="202124"/>
                </a:solidFill>
                <a:effectLst/>
                <a:latin typeface="arial" panose="020B0604020202020204" pitchFamily="34" charset="0"/>
              </a:rPr>
              <a:t>The true test of a man's character is what he does when no one is watching</a:t>
            </a:r>
            <a:r>
              <a:rPr lang="en-US" b="0" i="0" dirty="0">
                <a:solidFill>
                  <a:srgbClr val="202124"/>
                </a:solidFill>
                <a:effectLst/>
                <a:latin typeface="arial" panose="020B0604020202020204" pitchFamily="34" charset="0"/>
              </a:rPr>
              <a:t>.”</a:t>
            </a:r>
          </a:p>
          <a:p>
            <a:pPr marL="0" indent="0">
              <a:buFont typeface="Arial" panose="020B0604020202020204" pitchFamily="34" charset="0"/>
              <a:buNone/>
            </a:pPr>
            <a:endParaRPr lang="en-US" b="1" i="0" dirty="0">
              <a:solidFill>
                <a:srgbClr val="555353"/>
              </a:solidFill>
              <a:effectLst/>
              <a:latin typeface="Open Sans" panose="020B0606030504020204" pitchFamily="34" charset="0"/>
            </a:endParaRPr>
          </a:p>
          <a:p>
            <a:pPr marL="0" indent="0">
              <a:buFont typeface="Arial" panose="020B0604020202020204" pitchFamily="34" charset="0"/>
              <a:buNone/>
            </a:pPr>
            <a:r>
              <a:rPr lang="en-US" b="1" i="0" dirty="0">
                <a:solidFill>
                  <a:srgbClr val="000000"/>
                </a:solidFill>
                <a:effectLst/>
                <a:latin typeface="galano"/>
              </a:rPr>
              <a:t>Transition</a:t>
            </a:r>
            <a:r>
              <a:rPr lang="en-US" b="0" i="0" dirty="0">
                <a:solidFill>
                  <a:srgbClr val="000000"/>
                </a:solidFill>
                <a:effectLst/>
                <a:latin typeface="galano"/>
              </a:rPr>
              <a:t>: Let’s learn how we can build character.</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6</a:t>
            </a:fld>
            <a:endParaRPr lang="en-US" dirty="0"/>
          </a:p>
        </p:txBody>
      </p:sp>
    </p:spTree>
    <p:extLst>
      <p:ext uri="{BB962C8B-B14F-4D97-AF65-F5344CB8AC3E}">
        <p14:creationId xmlns:p14="http://schemas.microsoft.com/office/powerpoint/2010/main" val="3764285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Say:</a:t>
            </a:r>
            <a:r>
              <a:rPr lang="en-US" dirty="0"/>
              <a:t> As </a:t>
            </a:r>
            <a:r>
              <a:rPr lang="en-US" b="0" i="0" dirty="0">
                <a:solidFill>
                  <a:srgbClr val="000000"/>
                </a:solidFill>
                <a:effectLst/>
                <a:latin typeface="verdana" panose="020B0604030504040204" pitchFamily="34" charset="0"/>
              </a:rPr>
              <a:t>Robert Freeman puts it, </a:t>
            </a:r>
            <a:r>
              <a:rPr lang="en-US" b="0" i="1" dirty="0">
                <a:solidFill>
                  <a:srgbClr val="000000"/>
                </a:solidFill>
                <a:effectLst/>
                <a:latin typeface="verdana" panose="020B0604030504040204" pitchFamily="34" charset="0"/>
              </a:rPr>
              <a:t>"Character is not made in a crisis; it is only exhibited.“ </a:t>
            </a:r>
            <a:r>
              <a:rPr lang="en-US" b="0" i="0" dirty="0">
                <a:solidFill>
                  <a:srgbClr val="000000"/>
                </a:solidFill>
                <a:effectLst/>
                <a:latin typeface="verdana" panose="020B0604030504040204" pitchFamily="34" charset="0"/>
              </a:rPr>
              <a:t>Hard times reveal who we really are and what we are made of.</a:t>
            </a:r>
            <a:r>
              <a:rPr lang="en-US" b="0" i="1" dirty="0">
                <a:solidFill>
                  <a:srgbClr val="000000"/>
                </a:solidFill>
                <a:effectLst/>
                <a:latin typeface="verdana" panose="020B0604030504040204" pitchFamily="34" charset="0"/>
              </a:rPr>
              <a:t> </a:t>
            </a:r>
            <a:r>
              <a:rPr lang="en-US" b="0" i="0" dirty="0">
                <a:solidFill>
                  <a:srgbClr val="000000"/>
                </a:solidFill>
                <a:effectLst/>
                <a:latin typeface="verdana" panose="020B0604030504040204" pitchFamily="34" charset="0"/>
              </a:rPr>
              <a:t>So how do we build character?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verdana" panose="020B0604030504040204" pitchFamily="34" charset="0"/>
              </a:rPr>
              <a:t>It can be built by keeping three points in mind, “Having the right values, Doing the right thing and Being the right kind of people.”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verdana" panose="020B0604030504040204" pitchFamily="34" charset="0"/>
            </a:endParaRPr>
          </a:p>
          <a:p>
            <a:r>
              <a:rPr lang="en-US" b="1" i="0" dirty="0">
                <a:solidFill>
                  <a:srgbClr val="000000"/>
                </a:solidFill>
                <a:effectLst/>
                <a:latin typeface="verdana" panose="020B0604030504040204" pitchFamily="34" charset="0"/>
              </a:rPr>
              <a:t>Ask:</a:t>
            </a:r>
            <a:r>
              <a:rPr lang="en-US" b="0" i="0" dirty="0">
                <a:solidFill>
                  <a:srgbClr val="000000"/>
                </a:solidFill>
                <a:effectLst/>
                <a:latin typeface="verdana" panose="020B0604030504040204" pitchFamily="34" charset="0"/>
              </a:rPr>
              <a:t> Why is it important to have the right values?</a:t>
            </a:r>
          </a:p>
          <a:p>
            <a:endParaRPr lang="en-US" b="0" i="0" dirty="0">
              <a:solidFill>
                <a:srgbClr val="000000"/>
              </a:solidFill>
              <a:effectLst/>
              <a:latin typeface="verdana" panose="020B0604030504040204" pitchFamily="34" charset="0"/>
            </a:endParaRPr>
          </a:p>
          <a:p>
            <a:r>
              <a:rPr lang="en-US" b="1" i="0" dirty="0">
                <a:solidFill>
                  <a:srgbClr val="000000"/>
                </a:solidFill>
                <a:effectLst/>
                <a:latin typeface="verdana" panose="020B0604030504040204" pitchFamily="34" charset="0"/>
              </a:rPr>
              <a:t>Do:</a:t>
            </a:r>
            <a:r>
              <a:rPr lang="en-US" b="0" i="0" dirty="0">
                <a:solidFill>
                  <a:srgbClr val="000000"/>
                </a:solidFill>
                <a:effectLst/>
                <a:latin typeface="verdana" panose="020B0604030504040204" pitchFamily="34" charset="0"/>
              </a:rPr>
              <a:t> </a:t>
            </a:r>
          </a:p>
          <a:p>
            <a:pPr marL="171450" indent="-171450">
              <a:buFontTx/>
              <a:buChar char="-"/>
            </a:pPr>
            <a:r>
              <a:rPr lang="en-US" b="0" i="0" dirty="0">
                <a:solidFill>
                  <a:srgbClr val="000000"/>
                </a:solidFill>
                <a:effectLst/>
                <a:latin typeface="verdana" panose="020B0604030504040204" pitchFamily="34" charset="0"/>
              </a:rPr>
              <a:t>Call a participant if no one volunteers.</a:t>
            </a:r>
          </a:p>
          <a:p>
            <a:pPr marL="171450" indent="-171450">
              <a:buFontTx/>
              <a:buChar char="-"/>
            </a:pPr>
            <a:r>
              <a:rPr lang="en-US" b="0" i="0" dirty="0">
                <a:solidFill>
                  <a:srgbClr val="000000"/>
                </a:solidFill>
                <a:effectLst/>
                <a:latin typeface="verdana" panose="020B0604030504040204" pitchFamily="34" charset="0"/>
              </a:rPr>
              <a:t>Acknowledge, ask follow up questions or redirect, as necessary.</a:t>
            </a:r>
          </a:p>
          <a:p>
            <a:pPr marL="0" indent="0">
              <a:buFont typeface="Arial" panose="020B0604020202020204" pitchFamily="34" charset="0"/>
              <a:buNone/>
            </a:pPr>
            <a:endParaRPr lang="en-US" b="0" i="0" dirty="0">
              <a:solidFill>
                <a:srgbClr val="000000"/>
              </a:solidFill>
              <a:effectLst/>
              <a:latin typeface="verdana" panose="020B0604030504040204" pitchFamily="34" charset="0"/>
            </a:endParaRPr>
          </a:p>
          <a:p>
            <a:pPr marL="0" indent="0">
              <a:buFont typeface="Arial" panose="020B0604020202020204" pitchFamily="34" charset="0"/>
              <a:buNone/>
            </a:pPr>
            <a:r>
              <a:rPr lang="en-US" b="1" i="0" dirty="0">
                <a:solidFill>
                  <a:srgbClr val="000000"/>
                </a:solidFill>
                <a:effectLst/>
                <a:latin typeface="verdana" panose="020B0604030504040204" pitchFamily="34" charset="0"/>
              </a:rPr>
              <a:t>Say:</a:t>
            </a:r>
            <a:r>
              <a:rPr lang="en-US" b="0" i="0" dirty="0">
                <a:solidFill>
                  <a:srgbClr val="000000"/>
                </a:solidFill>
                <a:effectLst/>
                <a:latin typeface="verdana" panose="020B0604030504040204" pitchFamily="34" charset="0"/>
              </a:rPr>
              <a:t> </a:t>
            </a:r>
            <a:r>
              <a:rPr lang="en-US" b="1" i="0" dirty="0">
                <a:solidFill>
                  <a:srgbClr val="000000"/>
                </a:solidFill>
                <a:effectLst/>
                <a:latin typeface="verdana" panose="020B0604030504040204" pitchFamily="34" charset="0"/>
              </a:rPr>
              <a:t>HAVING the right values </a:t>
            </a:r>
            <a:r>
              <a:rPr lang="en-US" b="0" i="0" dirty="0">
                <a:solidFill>
                  <a:srgbClr val="000000"/>
                </a:solidFill>
                <a:effectLst/>
                <a:latin typeface="verdana" panose="020B0604030504040204" pitchFamily="34" charset="0"/>
              </a:rPr>
              <a:t>creates feelings of happiness, </a:t>
            </a:r>
            <a:r>
              <a:rPr lang="en-US" b="0" i="0" dirty="0">
                <a:solidFill>
                  <a:srgbClr val="000000"/>
                </a:solidFill>
                <a:effectLst/>
                <a:latin typeface="galano"/>
              </a:rPr>
              <a:t>satisfaction and fulfilment, and helps us develop healthy patterns of behavior. It also connects and helps us develop meaningful relationships.</a:t>
            </a:r>
          </a:p>
          <a:p>
            <a:pPr marL="0" indent="0">
              <a:buFont typeface="Arial" panose="020B0604020202020204" pitchFamily="34" charset="0"/>
              <a:buNone/>
            </a:pPr>
            <a:endParaRPr lang="en-US" b="0" i="0" dirty="0">
              <a:solidFill>
                <a:srgbClr val="000000"/>
              </a:solidFill>
              <a:effectLst/>
              <a:latin typeface="galano"/>
            </a:endParaRPr>
          </a:p>
          <a:p>
            <a:pPr marL="0" indent="0">
              <a:buFont typeface="Arial" panose="020B0604020202020204" pitchFamily="34" charset="0"/>
              <a:buNone/>
            </a:pPr>
            <a:r>
              <a:rPr lang="en-US" sz="1200" b="1" i="0" dirty="0">
                <a:solidFill>
                  <a:srgbClr val="000000"/>
                </a:solidFill>
                <a:effectLst/>
                <a:latin typeface="galano"/>
              </a:rPr>
              <a:t>Say:</a:t>
            </a:r>
            <a:r>
              <a:rPr lang="en-US" sz="1200" b="0" i="0" dirty="0">
                <a:solidFill>
                  <a:srgbClr val="000000"/>
                </a:solidFill>
                <a:effectLst/>
                <a:latin typeface="galano"/>
              </a:rPr>
              <a:t> The next thing to remember is to</a:t>
            </a:r>
            <a:r>
              <a:rPr lang="en-US" sz="1200" b="1" i="0" dirty="0">
                <a:solidFill>
                  <a:srgbClr val="000000"/>
                </a:solidFill>
                <a:effectLst/>
                <a:latin typeface="galano"/>
              </a:rPr>
              <a:t> DO</a:t>
            </a:r>
            <a:r>
              <a:rPr lang="en-US" sz="1200" b="1" dirty="0"/>
              <a:t> the right thing. </a:t>
            </a:r>
            <a:r>
              <a:rPr lang="en-US" sz="1200" b="0" dirty="0"/>
              <a:t>People with good character know that there’s never a wrong time to do the right thing. </a:t>
            </a:r>
            <a:r>
              <a:rPr lang="en-US" b="1" i="0" dirty="0">
                <a:solidFill>
                  <a:srgbClr val="555353"/>
                </a:solidFill>
                <a:effectLst/>
                <a:latin typeface="Open Sans" panose="020B0606030504020204" pitchFamily="34" charset="0"/>
              </a:rPr>
              <a:t>As William </a:t>
            </a:r>
            <a:r>
              <a:rPr lang="en-US" b="1" i="0" dirty="0" err="1">
                <a:solidFill>
                  <a:srgbClr val="555353"/>
                </a:solidFill>
                <a:effectLst/>
                <a:latin typeface="Open Sans" panose="020B0606030504020204" pitchFamily="34" charset="0"/>
              </a:rPr>
              <a:t>Bady</a:t>
            </a:r>
            <a:r>
              <a:rPr lang="en-US" b="1" i="0" dirty="0">
                <a:solidFill>
                  <a:srgbClr val="555353"/>
                </a:solidFill>
                <a:effectLst/>
                <a:latin typeface="Open Sans" panose="020B0606030504020204" pitchFamily="34" charset="0"/>
              </a:rPr>
              <a:t>, Jr., a builder and developer said, “Living a life is like constructing a building: If you start wrong, you’ll end wrong.” </a:t>
            </a:r>
          </a:p>
          <a:p>
            <a:pPr marL="0" indent="0">
              <a:buFont typeface="Arial" panose="020B0604020202020204" pitchFamily="34" charset="0"/>
              <a:buNone/>
            </a:pPr>
            <a:endParaRPr lang="en-US" b="1" i="0" dirty="0">
              <a:solidFill>
                <a:srgbClr val="555353"/>
              </a:solidFill>
              <a:effectLst/>
              <a:latin typeface="Open Sans" panose="020B0606030504020204" pitchFamily="34" charset="0"/>
            </a:endParaRPr>
          </a:p>
          <a:p>
            <a:pPr marL="0" indent="0">
              <a:buFont typeface="Arial" panose="020B0604020202020204" pitchFamily="34" charset="0"/>
              <a:buNone/>
            </a:pPr>
            <a:r>
              <a:rPr lang="en-US" b="1" i="0" dirty="0">
                <a:solidFill>
                  <a:srgbClr val="555353"/>
                </a:solidFill>
                <a:effectLst/>
                <a:latin typeface="Open Sans" panose="020B0606030504020204" pitchFamily="34" charset="0"/>
              </a:rPr>
              <a:t>Ask: </a:t>
            </a:r>
            <a:r>
              <a:rPr lang="en-US" b="0" i="0" dirty="0">
                <a:solidFill>
                  <a:srgbClr val="555353"/>
                </a:solidFill>
                <a:effectLst/>
                <a:latin typeface="Open Sans" panose="020B0606030504020204" pitchFamily="34" charset="0"/>
              </a:rPr>
              <a:t>What do you do when it’s hard to do the right thing?</a:t>
            </a:r>
          </a:p>
          <a:p>
            <a:pPr marL="0" indent="0">
              <a:buFont typeface="Arial" panose="020B0604020202020204" pitchFamily="34" charset="0"/>
              <a:buNone/>
            </a:pPr>
            <a:endParaRPr lang="en-US" b="0" i="0" dirty="0">
              <a:solidFill>
                <a:srgbClr val="555353"/>
              </a:solidFill>
              <a:effectLst/>
              <a:latin typeface="Open Sans" panose="020B0606030504020204" pitchFamily="34" charset="0"/>
            </a:endParaRPr>
          </a:p>
          <a:p>
            <a:r>
              <a:rPr lang="en-US" b="1" i="0" dirty="0">
                <a:solidFill>
                  <a:srgbClr val="000000"/>
                </a:solidFill>
                <a:effectLst/>
                <a:latin typeface="verdana" panose="020B0604030504040204" pitchFamily="34" charset="0"/>
              </a:rPr>
              <a:t>Do:</a:t>
            </a:r>
            <a:r>
              <a:rPr lang="en-US" b="0" i="0" dirty="0">
                <a:solidFill>
                  <a:srgbClr val="000000"/>
                </a:solidFill>
                <a:effectLst/>
                <a:latin typeface="verdana" panose="020B0604030504040204" pitchFamily="34" charset="0"/>
              </a:rPr>
              <a:t> </a:t>
            </a:r>
          </a:p>
          <a:p>
            <a:pPr marL="171450" indent="-171450">
              <a:buFontTx/>
              <a:buChar char="-"/>
            </a:pPr>
            <a:r>
              <a:rPr lang="en-US" b="0" i="0" dirty="0">
                <a:solidFill>
                  <a:srgbClr val="000000"/>
                </a:solidFill>
                <a:effectLst/>
                <a:latin typeface="verdana" panose="020B0604030504040204" pitchFamily="34" charset="0"/>
              </a:rPr>
              <a:t>Call a participant if no one volunteers.</a:t>
            </a:r>
          </a:p>
          <a:p>
            <a:pPr marL="171450" indent="-171450">
              <a:buFontTx/>
              <a:buChar char="-"/>
            </a:pPr>
            <a:r>
              <a:rPr lang="en-US" b="0" i="0" dirty="0">
                <a:solidFill>
                  <a:srgbClr val="000000"/>
                </a:solidFill>
                <a:effectLst/>
                <a:latin typeface="verdana" panose="020B0604030504040204" pitchFamily="34" charset="0"/>
              </a:rPr>
              <a:t>Acknowledge, ask follow up questions or redirect, as necessary.</a:t>
            </a:r>
            <a:endParaRPr lang="en-US" b="1" i="0" dirty="0">
              <a:solidFill>
                <a:srgbClr val="555353"/>
              </a:solidFill>
              <a:effectLst/>
              <a:latin typeface="Open Sans" panose="020B0606030504020204" pitchFamily="34" charset="0"/>
            </a:endParaRPr>
          </a:p>
          <a:p>
            <a:pPr marL="0" indent="0">
              <a:buFont typeface="Arial" panose="020B0604020202020204" pitchFamily="34" charset="0"/>
              <a:buNone/>
            </a:pPr>
            <a:r>
              <a:rPr lang="en-US" b="1" i="0" dirty="0">
                <a:solidFill>
                  <a:srgbClr val="555353"/>
                </a:solidFill>
                <a:effectLst/>
                <a:latin typeface="Open Sans" panose="020B0606030504020204" pitchFamily="34" charset="0"/>
              </a:rPr>
              <a:t>     </a:t>
            </a:r>
            <a:endParaRPr lang="en-US" b="0" i="0" dirty="0">
              <a:solidFill>
                <a:srgbClr val="555353"/>
              </a:solidFill>
              <a:effectLst/>
              <a:latin typeface="Open Sans" panose="020B0606030504020204" pitchFamily="34" charset="0"/>
            </a:endParaRPr>
          </a:p>
          <a:p>
            <a:pPr marL="0" indent="0">
              <a:buFont typeface="Arial" panose="020B0604020202020204" pitchFamily="34" charset="0"/>
              <a:buNone/>
            </a:pPr>
            <a:r>
              <a:rPr lang="en-US" b="1" i="0" dirty="0">
                <a:solidFill>
                  <a:srgbClr val="555353"/>
                </a:solidFill>
                <a:effectLst/>
                <a:latin typeface="Open Sans" panose="020B0606030504020204" pitchFamily="34" charset="0"/>
              </a:rPr>
              <a:t>Say:</a:t>
            </a:r>
            <a:r>
              <a:rPr lang="en-US" sz="1200" b="0" i="0" dirty="0">
                <a:solidFill>
                  <a:srgbClr val="555353"/>
                </a:solidFill>
                <a:effectLst/>
                <a:latin typeface="Open Sans" panose="020B0606030504020204" pitchFamily="34" charset="0"/>
              </a:rPr>
              <a:t> The last thing that will help build character is to </a:t>
            </a:r>
            <a:r>
              <a:rPr lang="en-US" sz="1200" b="1" dirty="0"/>
              <a:t>Be the right kind of person</a:t>
            </a:r>
            <a:r>
              <a:rPr lang="en-US" sz="1200" b="1" i="0" dirty="0">
                <a:solidFill>
                  <a:srgbClr val="000000"/>
                </a:solidFill>
                <a:effectLst/>
                <a:latin typeface="galano"/>
              </a:rPr>
              <a:t>. </a:t>
            </a:r>
            <a:r>
              <a:rPr lang="en-US" sz="1200" b="0" i="0" dirty="0">
                <a:solidFill>
                  <a:srgbClr val="000000"/>
                </a:solidFill>
                <a:effectLst/>
                <a:latin typeface="galano"/>
              </a:rPr>
              <a:t>T</a:t>
            </a:r>
            <a:r>
              <a:rPr lang="en-US" b="0" i="0" dirty="0">
                <a:solidFill>
                  <a:srgbClr val="000000"/>
                </a:solidFill>
                <a:effectLst/>
                <a:latin typeface="verdana" panose="020B0604030504040204" pitchFamily="34" charset="0"/>
              </a:rPr>
              <a:t>ake a look at how you behave in different situations to see where you need to grow your character. </a:t>
            </a:r>
            <a:r>
              <a:rPr lang="en-US" b="0" i="0" dirty="0">
                <a:solidFill>
                  <a:srgbClr val="2A2A2A"/>
                </a:solidFill>
                <a:effectLst/>
                <a:latin typeface="Georgia" panose="02040502050405020303" pitchFamily="18" charset="0"/>
              </a:rPr>
              <a:t>No matter where you stand currently, you can make the choice to change. Make choices that correspond with your beliefs and values. </a:t>
            </a:r>
            <a:endParaRPr lang="en-US" sz="1200" b="0" i="0" dirty="0">
              <a:solidFill>
                <a:srgbClr val="000000"/>
              </a:solidFill>
              <a:effectLst/>
              <a:latin typeface="galano"/>
            </a:endParaRPr>
          </a:p>
          <a:p>
            <a:pPr marL="0" indent="0">
              <a:buFont typeface="Arial" panose="020B0604020202020204" pitchFamily="34" charset="0"/>
              <a:buNone/>
            </a:pPr>
            <a:endParaRPr lang="en-US" b="0" i="0" dirty="0">
              <a:solidFill>
                <a:srgbClr val="000000"/>
              </a:solidFill>
              <a:effectLst/>
              <a:latin typeface="galano"/>
            </a:endParaRPr>
          </a:p>
          <a:p>
            <a:pPr marL="0" indent="0">
              <a:buFont typeface="Arial" panose="020B0604020202020204" pitchFamily="34" charset="0"/>
              <a:buNone/>
            </a:pPr>
            <a:r>
              <a:rPr lang="en-US" b="1" i="0" dirty="0">
                <a:solidFill>
                  <a:srgbClr val="000000"/>
                </a:solidFill>
                <a:effectLst/>
                <a:latin typeface="galano"/>
              </a:rPr>
              <a:t>Transition</a:t>
            </a:r>
            <a:r>
              <a:rPr lang="en-US" b="0" i="0" dirty="0">
                <a:solidFill>
                  <a:srgbClr val="000000"/>
                </a:solidFill>
                <a:effectLst/>
                <a:latin typeface="galano"/>
              </a:rPr>
              <a:t>: Now that we’ve talked about how we can build character, let’s have an activity.</a:t>
            </a:r>
            <a:endParaRPr lang="en-US" b="1" i="0" dirty="0">
              <a:solidFill>
                <a:srgbClr val="555353"/>
              </a:solidFill>
              <a:effectLst/>
              <a:latin typeface="Open Sans" panose="020B0606030504020204" pitchFamily="34" charset="0"/>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7</a:t>
            </a:fld>
            <a:endParaRPr lang="en-US" dirty="0"/>
          </a:p>
        </p:txBody>
      </p:sp>
    </p:spTree>
    <p:extLst>
      <p:ext uri="{BB962C8B-B14F-4D97-AF65-F5344CB8AC3E}">
        <p14:creationId xmlns:p14="http://schemas.microsoft.com/office/powerpoint/2010/main" val="1776988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Duration: 10 min</a:t>
            </a:r>
          </a:p>
          <a:p>
            <a:r>
              <a:rPr lang="en-US" b="1" dirty="0"/>
              <a:t>Facilitator notes:</a:t>
            </a:r>
            <a:r>
              <a:rPr lang="en-US" dirty="0"/>
              <a:t> </a:t>
            </a:r>
          </a:p>
          <a:p>
            <a:pPr marL="171450" indent="-171450">
              <a:buFontTx/>
              <a:buChar char="-"/>
            </a:pPr>
            <a:r>
              <a:rPr lang="en-US" dirty="0"/>
              <a:t>This can be a breakout room activity or general discussion in the session. </a:t>
            </a:r>
          </a:p>
          <a:p>
            <a:pPr marL="171450" indent="-171450">
              <a:buFontTx/>
              <a:buChar char="-"/>
            </a:pPr>
            <a:r>
              <a:rPr lang="en-US" dirty="0"/>
              <a:t>Give one question per team if this is a breakout session.</a:t>
            </a:r>
          </a:p>
          <a:p>
            <a:pPr marL="0" indent="0">
              <a:buFontTx/>
              <a:buNone/>
            </a:pPr>
            <a:endParaRPr lang="en-US" dirty="0"/>
          </a:p>
          <a:p>
            <a:r>
              <a:rPr lang="en-US" b="1" dirty="0">
                <a:ea typeface="Calibri" panose="020F0502020204030204"/>
                <a:cs typeface="Calibri" panose="020F0502020204030204"/>
              </a:rPr>
              <a:t>Ask: </a:t>
            </a:r>
            <a:r>
              <a:rPr lang="en-US" b="0" dirty="0">
                <a:ea typeface="Calibri" panose="020F0502020204030204"/>
                <a:cs typeface="Calibri" panose="020F0502020204030204"/>
              </a:rPr>
              <a:t>How do you promote a culture of inclusion and diversity in the workplace?</a:t>
            </a:r>
            <a:endParaRPr lang="en-US" b="1" dirty="0">
              <a:ea typeface="Calibri" panose="020F0502020204030204"/>
              <a:cs typeface="Calibri" panose="020F0502020204030204"/>
            </a:endParaRPr>
          </a:p>
          <a:p>
            <a:endParaRPr lang="en-US" dirty="0"/>
          </a:p>
          <a:p>
            <a:r>
              <a:rPr lang="en-US" b="1" dirty="0"/>
              <a:t>Sample Answer: </a:t>
            </a:r>
          </a:p>
          <a:p>
            <a:r>
              <a:rPr lang="en-US" dirty="0">
                <a:ea typeface="Calibri"/>
                <a:cs typeface="Calibri"/>
              </a:rPr>
              <a:t>Inclusion is acknowledging the strengths of each employee and the potential they bring to workplace. We need to value and respect differences, like language, race, color, gender, religion, disability, gender identity, and family structures, etc.</a:t>
            </a:r>
          </a:p>
          <a:p>
            <a:endParaRPr lang="en-US" dirty="0">
              <a:ea typeface="Calibri"/>
              <a:cs typeface="Calibri"/>
            </a:endParaRPr>
          </a:p>
          <a:p>
            <a:r>
              <a:rPr lang="en-US" b="1" dirty="0"/>
              <a:t>Ask: </a:t>
            </a:r>
            <a:r>
              <a:rPr lang="en-US" dirty="0"/>
              <a:t>When you have conflict in opinions during a project with the team member, how do you present it? </a:t>
            </a:r>
            <a:endParaRPr lang="en-US" dirty="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Sample Answer: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Build cooperative attitude. Focus and respect multiple viewpoints and insights, the end goal is to be </a:t>
            </a:r>
            <a:r>
              <a:rPr lang="en-US" b="0" i="0" dirty="0">
                <a:solidFill>
                  <a:srgbClr val="363636"/>
                </a:solidFill>
                <a:effectLst/>
                <a:latin typeface="Avenir"/>
              </a:rPr>
              <a:t>united, efficient, and happy in the workplace. </a:t>
            </a:r>
            <a:endParaRPr lang="en-US" dirty="0">
              <a:ea typeface="Calibri"/>
              <a:cs typeface="Calibri"/>
            </a:endParaRPr>
          </a:p>
          <a:p>
            <a:endParaRPr lang="en-US" dirty="0"/>
          </a:p>
          <a:p>
            <a:r>
              <a:rPr lang="en-US" b="1" dirty="0"/>
              <a:t>Ask: </a:t>
            </a:r>
            <a:r>
              <a:rPr lang="en-US" dirty="0"/>
              <a:t>Have you come across any unethical behavior from anyone at work. If yes, how did you deal with it?</a:t>
            </a:r>
          </a:p>
          <a:p>
            <a:endParaRPr lang="en-US" b="1" dirty="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Sample Answer: (Provide hotline number or email to address unethical behavior)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employee shared his innovative idea to his colleague. The colleague shared the same idea with their manager; however, did not give credit to the right person. When the idea was announced, the employee reached out to manager to know who proposed the same idea, and he was disappointed to know that his colleague stole his idea.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Calibri"/>
                <a:cs typeface="Calibri"/>
              </a:rPr>
              <a:t>The manager called them together to clarify and told them that it’s important to respect each other. To be fair, the manager arranged a team meeting and asked the employee to talk about the idea in details and gave him the credit. The manager portrayed the values like responsibility, trust and respect. </a:t>
            </a:r>
          </a:p>
          <a:p>
            <a:endParaRPr lang="en-US" dirty="0">
              <a:ea typeface="Calibri"/>
              <a:cs typeface="Calibri"/>
            </a:endParaRPr>
          </a:p>
          <a:p>
            <a:r>
              <a:rPr lang="en-US" b="1" dirty="0">
                <a:ea typeface="Calibri"/>
                <a:cs typeface="Calibri"/>
              </a:rPr>
              <a:t>Do: </a:t>
            </a:r>
            <a:r>
              <a:rPr lang="en-US" b="0" dirty="0">
                <a:ea typeface="Calibri"/>
                <a:cs typeface="Calibri"/>
              </a:rPr>
              <a:t>Show next slide.</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8</a:t>
            </a:fld>
            <a:endParaRPr lang="en-US" dirty="0"/>
          </a:p>
        </p:txBody>
      </p:sp>
    </p:spTree>
    <p:extLst>
      <p:ext uri="{BB962C8B-B14F-4D97-AF65-F5344CB8AC3E}">
        <p14:creationId xmlns:p14="http://schemas.microsoft.com/office/powerpoint/2010/main" val="2123212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Lato"/>
                <a:ea typeface="Lato"/>
                <a:cs typeface="Lato"/>
              </a:rPr>
              <a:t>Do:</a:t>
            </a:r>
          </a:p>
          <a:p>
            <a:r>
              <a:rPr lang="en-US" b="0" dirty="0">
                <a:latin typeface="Lato"/>
                <a:ea typeface="Lato"/>
                <a:cs typeface="Lato"/>
              </a:rPr>
              <a:t>- This can be done individually or in teams.  </a:t>
            </a:r>
            <a:endParaRPr lang="en-US" b="0" dirty="0"/>
          </a:p>
          <a:p>
            <a:r>
              <a:rPr lang="en-US" b="0" dirty="0">
                <a:latin typeface="Lato"/>
                <a:ea typeface="Lato"/>
                <a:cs typeface="Lato"/>
              </a:rPr>
              <a:t>- Allow 5 minutes to get responses. </a:t>
            </a:r>
            <a:endParaRPr lang="en-US" b="0" dirty="0"/>
          </a:p>
          <a:p>
            <a:endParaRPr lang="en-US" dirty="0"/>
          </a:p>
        </p:txBody>
      </p:sp>
      <p:sp>
        <p:nvSpPr>
          <p:cNvPr id="4" name="Slide Number Placeholder 3"/>
          <p:cNvSpPr>
            <a:spLocks noGrp="1"/>
          </p:cNvSpPr>
          <p:nvPr>
            <p:ph type="sldNum" sz="quarter" idx="5"/>
          </p:nvPr>
        </p:nvSpPr>
        <p:spPr/>
        <p:txBody>
          <a:bodyPr/>
          <a:lstStyle/>
          <a:p>
            <a:fld id="{C64D1586-BDFF-9440-96F8-F0DE4E4562D4}" type="slidenum">
              <a:rPr lang="en-US" smtClean="0"/>
              <a:t>9</a:t>
            </a:fld>
            <a:endParaRPr lang="en-US" dirty="0"/>
          </a:p>
        </p:txBody>
      </p:sp>
    </p:spTree>
    <p:extLst>
      <p:ext uri="{BB962C8B-B14F-4D97-AF65-F5344CB8AC3E}">
        <p14:creationId xmlns:p14="http://schemas.microsoft.com/office/powerpoint/2010/main" val="342902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Duration: 5 minutes</a:t>
            </a:r>
          </a:p>
          <a:p>
            <a:endParaRPr lang="en-US" dirty="0">
              <a:ea typeface="Calibri"/>
              <a:cs typeface="Calibri"/>
            </a:endParaRPr>
          </a:p>
          <a:p>
            <a:r>
              <a:rPr lang="en-US" b="1" dirty="0">
                <a:ea typeface="Calibri"/>
                <a:cs typeface="Calibri"/>
              </a:rPr>
              <a:t>Say</a:t>
            </a:r>
            <a:r>
              <a:rPr lang="en-US" dirty="0">
                <a:ea typeface="Calibri"/>
                <a:cs typeface="Calibri"/>
              </a:rPr>
              <a:t>: It’s said, </a:t>
            </a:r>
            <a:r>
              <a:rPr lang="en-US" i="1" dirty="0">
                <a:ea typeface="Calibri"/>
                <a:cs typeface="Calibri"/>
              </a:rPr>
              <a:t>"In words are seen the state of mind, character and disposition of the speaker"- Plutarch (Greek philosopher, historian, biographer</a:t>
            </a:r>
            <a:r>
              <a:rPr lang="en-US" dirty="0">
                <a:ea typeface="Calibri"/>
                <a:cs typeface="Calibri"/>
              </a:rPr>
              <a:t>)</a:t>
            </a:r>
          </a:p>
          <a:p>
            <a:r>
              <a:rPr lang="en-US" b="1" dirty="0">
                <a:ea typeface="Calibri"/>
                <a:cs typeface="Calibri"/>
              </a:rPr>
              <a:t>Facilitator notes: </a:t>
            </a:r>
            <a:r>
              <a:rPr lang="en-US" b="0" dirty="0">
                <a:ea typeface="Calibri"/>
                <a:cs typeface="Calibri"/>
              </a:rPr>
              <a:t>What you say reflect your state of mind and so, your character. </a:t>
            </a:r>
            <a:r>
              <a:rPr lang="en-US" dirty="0">
                <a:ea typeface="Calibri"/>
                <a:cs typeface="Calibri"/>
              </a:rPr>
              <a:t>Be mindful of the words you use every day when you interact with others. </a:t>
            </a:r>
            <a:r>
              <a:rPr lang="en-US" b="0" dirty="0">
                <a:ea typeface="Calibri"/>
                <a:cs typeface="Calibri"/>
              </a:rPr>
              <a:t> </a:t>
            </a:r>
          </a:p>
          <a:p>
            <a:endParaRPr lang="en-US" dirty="0">
              <a:ea typeface="Calibri"/>
              <a:cs typeface="Calibri"/>
            </a:endParaRPr>
          </a:p>
          <a:p>
            <a:r>
              <a:rPr lang="en-US" b="1" dirty="0">
                <a:ea typeface="Calibri"/>
                <a:cs typeface="Calibri"/>
              </a:rPr>
              <a:t>Say:</a:t>
            </a:r>
            <a:r>
              <a:rPr lang="en-US" dirty="0">
                <a:ea typeface="Calibri"/>
                <a:cs typeface="Calibri"/>
              </a:rPr>
              <a:t> Here are few words closely associated to promote character when communicating with others. You can use this character vocabulary during team meetings, emails, teams chat, meetings and  in huddles to help build people’s character.</a:t>
            </a:r>
          </a:p>
          <a:p>
            <a:endParaRPr lang="en-US" dirty="0">
              <a:ea typeface="Calibri"/>
              <a:cs typeface="Calibri"/>
            </a:endParaRPr>
          </a:p>
          <a:p>
            <a:r>
              <a:rPr lang="en-US" b="1" dirty="0">
                <a:ea typeface="Calibri"/>
                <a:cs typeface="Calibri"/>
              </a:rPr>
              <a:t>Examples – </a:t>
            </a:r>
          </a:p>
          <a:p>
            <a:r>
              <a:rPr lang="en-US" dirty="0">
                <a:ea typeface="Calibri"/>
                <a:cs typeface="Calibri"/>
              </a:rPr>
              <a:t>During interviews:  “Tell us about the time you portrayed accountability at your workplace or in your current role?”</a:t>
            </a:r>
          </a:p>
          <a:p>
            <a:r>
              <a:rPr lang="en-US" dirty="0">
                <a:ea typeface="Calibri"/>
                <a:cs typeface="Calibri"/>
              </a:rPr>
              <a:t>Review and feedback : “You work with utmost sincerity and fairness with the work assigned to you”.</a:t>
            </a:r>
          </a:p>
          <a:p>
            <a:r>
              <a:rPr lang="en-US" dirty="0">
                <a:ea typeface="Calibri"/>
                <a:cs typeface="Calibri"/>
              </a:rPr>
              <a:t>Reward and recognize : “Kudos to your inclusive and truthful approaches”.  </a:t>
            </a:r>
          </a:p>
          <a:p>
            <a:r>
              <a:rPr lang="en-US" dirty="0">
                <a:ea typeface="Calibri"/>
                <a:cs typeface="Calibri"/>
              </a:rPr>
              <a:t>With customers: “Thank you for being transparent and honest with your feedback on our tool”.</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10</a:t>
            </a:fld>
            <a:endParaRPr lang="en-US" dirty="0"/>
          </a:p>
        </p:txBody>
      </p:sp>
    </p:spTree>
    <p:extLst>
      <p:ext uri="{BB962C8B-B14F-4D97-AF65-F5344CB8AC3E}">
        <p14:creationId xmlns:p14="http://schemas.microsoft.com/office/powerpoint/2010/main" val="1289270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Lato" panose="020F0502020204030203" pitchFamily="34" charset="0"/>
                <a:ea typeface="Calibri"/>
                <a:cs typeface="Calibri"/>
              </a:rPr>
              <a:t>Optional discussion</a:t>
            </a:r>
            <a:r>
              <a:rPr lang="en-US" dirty="0">
                <a:latin typeface="Lato" panose="020F0502020204030203" pitchFamily="34" charset="0"/>
                <a:ea typeface="Calibri"/>
                <a:cs typeface="Calibri"/>
              </a:rPr>
              <a:t>: What is the difference between the character and </a:t>
            </a:r>
            <a:r>
              <a:rPr lang="en-US">
                <a:latin typeface="Lato" panose="020F0502020204030203" pitchFamily="34" charset="0"/>
                <a:ea typeface="Calibri"/>
                <a:cs typeface="Calibri"/>
              </a:rPr>
              <a:t>reputation?</a:t>
            </a:r>
          </a:p>
          <a:p>
            <a:endParaRPr lang="en-US" dirty="0">
              <a:latin typeface="Lato" panose="020F0502020204030203" pitchFamily="34" charset="0"/>
              <a:ea typeface="Calibri"/>
              <a:cs typeface="Calibri"/>
            </a:endParaRPr>
          </a:p>
          <a:p>
            <a:r>
              <a:rPr lang="en-US" sz="1200" b="1" u="none" dirty="0">
                <a:solidFill>
                  <a:schemeClr val="tx1"/>
                </a:solidFill>
                <a:latin typeface="Lato" panose="020F0502020204030203" pitchFamily="34" charset="0"/>
                <a:ea typeface="Calibri"/>
                <a:cs typeface="Calibri"/>
              </a:rPr>
              <a:t>Sample answer for discussion or quote explanation</a:t>
            </a:r>
            <a:r>
              <a:rPr lang="en-US" sz="1200" u="none" dirty="0">
                <a:solidFill>
                  <a:schemeClr val="tx1"/>
                </a:solidFill>
                <a:latin typeface="Lato" panose="020F0502020204030203" pitchFamily="34" charset="0"/>
                <a:ea typeface="Calibri"/>
                <a:cs typeface="Calibri"/>
              </a:rPr>
              <a:t>: </a:t>
            </a:r>
            <a:r>
              <a:rPr lang="en-US" sz="1200" b="0" i="0" u="none" dirty="0">
                <a:solidFill>
                  <a:schemeClr val="tx1"/>
                </a:solidFill>
                <a:effectLst/>
                <a:latin typeface="Lato" panose="020F0502020204030203" pitchFamily="34" charset="0"/>
              </a:rPr>
              <a:t>Character can be defined as the distinctive qualities of an individual. Usually, when we refer to a person as one with a good character, it implies that the person has good qualities and lives by a sound moral and ethical code.</a:t>
            </a:r>
          </a:p>
          <a:p>
            <a:r>
              <a:rPr lang="en-US" b="0" i="0" dirty="0">
                <a:solidFill>
                  <a:srgbClr val="333333"/>
                </a:solidFill>
                <a:effectLst/>
                <a:latin typeface="Lato" panose="020F0502020204030203" pitchFamily="34" charset="0"/>
              </a:rPr>
              <a:t>On the other hand, reputation refers to the general opinion held by others of an individual. The main difference between the two concepts is that while the character is more internal, reputation is rather external.</a:t>
            </a:r>
            <a:endParaRPr lang="en-US" sz="1200" u="none" dirty="0">
              <a:solidFill>
                <a:schemeClr val="tx1"/>
              </a:solidFill>
              <a:latin typeface="Lato" panose="020F0502020204030203" pitchFamily="34" charset="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11</a:t>
            </a:fld>
            <a:endParaRPr lang="en-US" dirty="0"/>
          </a:p>
        </p:txBody>
      </p:sp>
    </p:spTree>
    <p:extLst>
      <p:ext uri="{BB962C8B-B14F-4D97-AF65-F5344CB8AC3E}">
        <p14:creationId xmlns:p14="http://schemas.microsoft.com/office/powerpoint/2010/main" val="900554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12</a:t>
            </a:fld>
            <a:endParaRPr lang="en-US" dirty="0"/>
          </a:p>
        </p:txBody>
      </p:sp>
    </p:spTree>
    <p:extLst>
      <p:ext uri="{BB962C8B-B14F-4D97-AF65-F5344CB8AC3E}">
        <p14:creationId xmlns:p14="http://schemas.microsoft.com/office/powerpoint/2010/main" val="2833764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13</a:t>
            </a:fld>
            <a:endParaRPr lang="en-US" dirty="0"/>
          </a:p>
        </p:txBody>
      </p:sp>
    </p:spTree>
    <p:extLst>
      <p:ext uri="{BB962C8B-B14F-4D97-AF65-F5344CB8AC3E}">
        <p14:creationId xmlns:p14="http://schemas.microsoft.com/office/powerpoint/2010/main" val="1024240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0" y="4813602"/>
            <a:ext cx="280781" cy="273844"/>
          </a:xfrm>
          <a:prstGeom prst="rect">
            <a:avLst/>
          </a:prstGeom>
        </p:spPr>
        <p:txBody>
          <a:bodyPr/>
          <a:lstStyle>
            <a:lvl1pPr>
              <a:defRPr sz="6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3DE1F0DE-FBD3-414B-9485-E78F73017EBF}" type="slidenum">
              <a:rPr lang="en-US" smtClean="0"/>
              <a:pPr/>
              <a:t>‹#›</a:t>
            </a:fld>
            <a:endParaRPr lang="en-US" dirty="0"/>
          </a:p>
        </p:txBody>
      </p:sp>
      <p:sp>
        <p:nvSpPr>
          <p:cNvPr id="4" name="Title Placeholder 1">
            <a:extLst>
              <a:ext uri="{FF2B5EF4-FFF2-40B4-BE49-F238E27FC236}">
                <a16:creationId xmlns:a16="http://schemas.microsoft.com/office/drawing/2014/main" id="{3824BCA6-6E63-3D48-A63F-8A94F3EFC9D3}"/>
              </a:ext>
            </a:extLst>
          </p:cNvPr>
          <p:cNvSpPr>
            <a:spLocks noGrp="1"/>
          </p:cNvSpPr>
          <p:nvPr>
            <p:ph type="title" hasCustomPrompt="1"/>
          </p:nvPr>
        </p:nvSpPr>
        <p:spPr>
          <a:xfrm>
            <a:off x="481392" y="260592"/>
            <a:ext cx="8181216"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278201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0D3E59F-C36D-E242-B8ED-247E6D3F32A0}"/>
              </a:ext>
            </a:extLst>
          </p:cNvPr>
          <p:cNvSpPr>
            <a:spLocks noGrp="1"/>
          </p:cNvSpPr>
          <p:nvPr>
            <p:ph type="sldNum" sz="quarter" idx="12"/>
          </p:nvPr>
        </p:nvSpPr>
        <p:spPr>
          <a:xfrm>
            <a:off x="0" y="4813602"/>
            <a:ext cx="280781" cy="273844"/>
          </a:xfrm>
          <a:prstGeom prst="rect">
            <a:avLst/>
          </a:prstGeom>
        </p:spPr>
        <p:txBody>
          <a:bodyPr/>
          <a:lstStyle>
            <a:lvl1pPr>
              <a:defRPr sz="6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3DE1F0DE-FBD3-414B-9485-E78F73017EBF}" type="slidenum">
              <a:rPr lang="en-US" smtClean="0"/>
              <a:pPr/>
              <a:t>‹#›</a:t>
            </a:fld>
            <a:endParaRPr lang="en-US" dirty="0"/>
          </a:p>
        </p:txBody>
      </p:sp>
      <p:sp>
        <p:nvSpPr>
          <p:cNvPr id="4" name="Title Placeholder 1">
            <a:extLst>
              <a:ext uri="{FF2B5EF4-FFF2-40B4-BE49-F238E27FC236}">
                <a16:creationId xmlns:a16="http://schemas.microsoft.com/office/drawing/2014/main" id="{CF9C64AC-9ECC-1547-91E0-BCFAD28424B3}"/>
              </a:ext>
            </a:extLst>
          </p:cNvPr>
          <p:cNvSpPr>
            <a:spLocks noGrp="1"/>
          </p:cNvSpPr>
          <p:nvPr>
            <p:ph type="title" hasCustomPrompt="1"/>
          </p:nvPr>
        </p:nvSpPr>
        <p:spPr>
          <a:xfrm>
            <a:off x="481392" y="260592"/>
            <a:ext cx="8181216"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333706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8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695897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9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6906721"/>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11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8406498"/>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10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85160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12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261738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F05B05E7-0F6D-FB40-BB9F-CB79996B1239}"/>
              </a:ext>
            </a:extLst>
          </p:cNvPr>
          <p:cNvSpPr>
            <a:spLocks noGrp="1"/>
          </p:cNvSpPr>
          <p:nvPr>
            <p:ph type="title"/>
          </p:nvPr>
        </p:nvSpPr>
        <p:spPr>
          <a:xfrm>
            <a:off x="628650" y="260592"/>
            <a:ext cx="7886700" cy="653808"/>
          </a:xfrm>
          <a:prstGeom prst="rect">
            <a:avLst/>
          </a:prstGeom>
        </p:spPr>
        <p:txBody>
          <a:bodyPr vert="horz" lIns="0" tIns="0" rIns="0" bIns="0" rtlCol="0" anchor="b" anchorCtr="0">
            <a:normAutofit/>
          </a:bodyPr>
          <a:lstStyle/>
          <a:p>
            <a:r>
              <a:rPr lang="en-US" dirty="0"/>
              <a:t>Click to edit Master title style</a:t>
            </a:r>
          </a:p>
        </p:txBody>
      </p:sp>
      <p:sp>
        <p:nvSpPr>
          <p:cNvPr id="8" name="Text Placeholder 2">
            <a:extLst>
              <a:ext uri="{FF2B5EF4-FFF2-40B4-BE49-F238E27FC236}">
                <a16:creationId xmlns:a16="http://schemas.microsoft.com/office/drawing/2014/main" id="{C0008436-80D9-7E43-B513-C504214E05A0}"/>
              </a:ext>
            </a:extLst>
          </p:cNvPr>
          <p:cNvSpPr>
            <a:spLocks noGrp="1"/>
          </p:cNvSpPr>
          <p:nvPr>
            <p:ph idx="1"/>
          </p:nvPr>
        </p:nvSpPr>
        <p:spPr>
          <a:xfrm>
            <a:off x="628650" y="1254543"/>
            <a:ext cx="7886700" cy="326350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383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E184FC86-3DB7-F04B-BCD8-29B80CC1AEAE}"/>
              </a:ext>
            </a:extLst>
          </p:cNvPr>
          <p:cNvSpPr>
            <a:spLocks noGrp="1"/>
          </p:cNvSpPr>
          <p:nvPr>
            <p:ph type="title" hasCustomPrompt="1"/>
          </p:nvPr>
        </p:nvSpPr>
        <p:spPr>
          <a:xfrm>
            <a:off x="1182032" y="260591"/>
            <a:ext cx="6779936" cy="2566653"/>
          </a:xfrm>
          <a:prstGeom prst="rect">
            <a:avLst/>
          </a:prstGeom>
        </p:spPr>
        <p:txBody>
          <a:bodyPr vert="horz" lIns="0" tIns="0" rIns="0" bIns="0" rtlCol="0" anchor="b" anchorCtr="0">
            <a:normAutofit/>
          </a:bodyPr>
          <a:lstStyle>
            <a:lvl1pPr algn="ctr">
              <a:defRPr sz="5400" b="0" i="0">
                <a:latin typeface="Lato Light" panose="020F0302020204030203" pitchFamily="34" charset="77"/>
              </a:defRPr>
            </a:lvl1pPr>
          </a:lstStyle>
          <a:p>
            <a:r>
              <a:rPr lang="en-US" dirty="0"/>
              <a:t>Click to edit master title style</a:t>
            </a:r>
          </a:p>
        </p:txBody>
      </p:sp>
      <p:pic>
        <p:nvPicPr>
          <p:cNvPr id="8" name="Picture 7">
            <a:extLst>
              <a:ext uri="{FF2B5EF4-FFF2-40B4-BE49-F238E27FC236}">
                <a16:creationId xmlns:a16="http://schemas.microsoft.com/office/drawing/2014/main" id="{8E07CD1B-0A8C-AC4C-AC52-4BF21D7248FC}"/>
              </a:ext>
            </a:extLst>
          </p:cNvPr>
          <p:cNvPicPr>
            <a:picLocks noChangeAspect="1"/>
          </p:cNvPicPr>
          <p:nvPr userDrawn="1"/>
        </p:nvPicPr>
        <p:blipFill>
          <a:blip r:embed="rId2"/>
          <a:stretch>
            <a:fillRect/>
          </a:stretch>
        </p:blipFill>
        <p:spPr>
          <a:xfrm>
            <a:off x="4141539" y="3008403"/>
            <a:ext cx="860921" cy="218152"/>
          </a:xfrm>
          <a:prstGeom prst="rect">
            <a:avLst/>
          </a:prstGeom>
        </p:spPr>
      </p:pic>
      <p:sp>
        <p:nvSpPr>
          <p:cNvPr id="9" name="Rectangle 8">
            <a:extLst>
              <a:ext uri="{FF2B5EF4-FFF2-40B4-BE49-F238E27FC236}">
                <a16:creationId xmlns:a16="http://schemas.microsoft.com/office/drawing/2014/main" id="{83BE81A0-262A-E24E-824C-C6B27104AA1F}"/>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8296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6" y="1"/>
            <a:ext cx="1267184" cy="5143499"/>
          </a:xfrm>
          <a:solidFill>
            <a:schemeClr val="bg2">
              <a:alpha val="40000"/>
            </a:schemeClr>
          </a:solidFill>
        </p:spPr>
        <p:txBody>
          <a:bodyPr/>
          <a:lstStyle/>
          <a:p>
            <a:endParaRPr lang="en-US"/>
          </a:p>
        </p:txBody>
      </p:sp>
      <p:pic>
        <p:nvPicPr>
          <p:cNvPr id="9" name="Picture 8">
            <a:extLst>
              <a:ext uri="{FF2B5EF4-FFF2-40B4-BE49-F238E27FC236}">
                <a16:creationId xmlns:a16="http://schemas.microsoft.com/office/drawing/2014/main" id="{BC6DCAFA-70C1-574B-879E-1E7A02306CE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6605997" y="4871465"/>
            <a:ext cx="1060622" cy="129631"/>
          </a:xfrm>
          <a:prstGeom prst="rect">
            <a:avLst/>
          </a:prstGeom>
        </p:spPr>
      </p:pic>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49" y="260592"/>
            <a:ext cx="7333317"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2743812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2EDEA5C-AB16-F848-A72C-84CE46BC004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6" y="1"/>
            <a:ext cx="1267184"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996176" y="260592"/>
            <a:ext cx="5884464"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5" name="Text Placeholder 2">
            <a:extLst>
              <a:ext uri="{FF2B5EF4-FFF2-40B4-BE49-F238E27FC236}">
                <a16:creationId xmlns:a16="http://schemas.microsoft.com/office/drawing/2014/main" id="{B1D6D7D7-74C9-A14D-AE90-9DBF82C49B18}"/>
              </a:ext>
            </a:extLst>
          </p:cNvPr>
          <p:cNvSpPr>
            <a:spLocks noGrp="1"/>
          </p:cNvSpPr>
          <p:nvPr>
            <p:ph type="body" sz="quarter" idx="11"/>
          </p:nvPr>
        </p:nvSpPr>
        <p:spPr>
          <a:xfrm>
            <a:off x="996176" y="1210479"/>
            <a:ext cx="2573442"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6" name="Text Placeholder 2">
            <a:extLst>
              <a:ext uri="{FF2B5EF4-FFF2-40B4-BE49-F238E27FC236}">
                <a16:creationId xmlns:a16="http://schemas.microsoft.com/office/drawing/2014/main" id="{70BA7FDA-2C89-684B-9DE0-043C8B0020BB}"/>
              </a:ext>
            </a:extLst>
          </p:cNvPr>
          <p:cNvSpPr>
            <a:spLocks noGrp="1"/>
          </p:cNvSpPr>
          <p:nvPr>
            <p:ph type="body" sz="quarter" idx="12"/>
          </p:nvPr>
        </p:nvSpPr>
        <p:spPr>
          <a:xfrm>
            <a:off x="4307198" y="1210479"/>
            <a:ext cx="2573442"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Tree>
    <p:extLst>
      <p:ext uri="{BB962C8B-B14F-4D97-AF65-F5344CB8AC3E}">
        <p14:creationId xmlns:p14="http://schemas.microsoft.com/office/powerpoint/2010/main" val="3675517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4" y="0"/>
            <a:ext cx="1267186"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424207" y="260592"/>
            <a:ext cx="702840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0" name="Text Placeholder 2">
            <a:extLst>
              <a:ext uri="{FF2B5EF4-FFF2-40B4-BE49-F238E27FC236}">
                <a16:creationId xmlns:a16="http://schemas.microsoft.com/office/drawing/2014/main" id="{6163D182-5886-004D-A24D-8E72ED1E9F57}"/>
              </a:ext>
            </a:extLst>
          </p:cNvPr>
          <p:cNvSpPr>
            <a:spLocks noGrp="1"/>
          </p:cNvSpPr>
          <p:nvPr>
            <p:ph type="body" sz="quarter" idx="11"/>
          </p:nvPr>
        </p:nvSpPr>
        <p:spPr>
          <a:xfrm>
            <a:off x="420930"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11" name="Text Placeholder 2">
            <a:extLst>
              <a:ext uri="{FF2B5EF4-FFF2-40B4-BE49-F238E27FC236}">
                <a16:creationId xmlns:a16="http://schemas.microsoft.com/office/drawing/2014/main" id="{23F82091-5211-1D49-991E-155FC6BDCD20}"/>
              </a:ext>
            </a:extLst>
          </p:cNvPr>
          <p:cNvSpPr>
            <a:spLocks noGrp="1"/>
          </p:cNvSpPr>
          <p:nvPr>
            <p:ph type="body" sz="quarter" idx="12"/>
          </p:nvPr>
        </p:nvSpPr>
        <p:spPr>
          <a:xfrm>
            <a:off x="2853485"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12" name="Text Placeholder 2">
            <a:extLst>
              <a:ext uri="{FF2B5EF4-FFF2-40B4-BE49-F238E27FC236}">
                <a16:creationId xmlns:a16="http://schemas.microsoft.com/office/drawing/2014/main" id="{83A5EDCF-AA8C-144B-8416-815DB8250D1F}"/>
              </a:ext>
            </a:extLst>
          </p:cNvPr>
          <p:cNvSpPr>
            <a:spLocks noGrp="1"/>
          </p:cNvSpPr>
          <p:nvPr>
            <p:ph type="body" sz="quarter" idx="13"/>
          </p:nvPr>
        </p:nvSpPr>
        <p:spPr>
          <a:xfrm>
            <a:off x="5286039"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pic>
        <p:nvPicPr>
          <p:cNvPr id="8" name="Picture 7">
            <a:extLst>
              <a:ext uri="{FF2B5EF4-FFF2-40B4-BE49-F238E27FC236}">
                <a16:creationId xmlns:a16="http://schemas.microsoft.com/office/drawing/2014/main" id="{D02AA945-A7FB-D744-9483-98C5B721719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Tree>
    <p:extLst>
      <p:ext uri="{BB962C8B-B14F-4D97-AF65-F5344CB8AC3E}">
        <p14:creationId xmlns:p14="http://schemas.microsoft.com/office/powerpoint/2010/main" val="3612665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4" y="0"/>
            <a:ext cx="1267186"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49" y="260592"/>
            <a:ext cx="7333317"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0" name="Text Placeholder 2">
            <a:extLst>
              <a:ext uri="{FF2B5EF4-FFF2-40B4-BE49-F238E27FC236}">
                <a16:creationId xmlns:a16="http://schemas.microsoft.com/office/drawing/2014/main" id="{6163D182-5886-004D-A24D-8E72ED1E9F57}"/>
              </a:ext>
            </a:extLst>
          </p:cNvPr>
          <p:cNvSpPr>
            <a:spLocks noGrp="1"/>
          </p:cNvSpPr>
          <p:nvPr>
            <p:ph type="body" sz="quarter" idx="11"/>
          </p:nvPr>
        </p:nvSpPr>
        <p:spPr>
          <a:xfrm>
            <a:off x="271463"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23F82091-5211-1D49-991E-155FC6BDCD20}"/>
              </a:ext>
            </a:extLst>
          </p:cNvPr>
          <p:cNvSpPr>
            <a:spLocks noGrp="1"/>
          </p:cNvSpPr>
          <p:nvPr>
            <p:ph type="body" sz="quarter" idx="12"/>
          </p:nvPr>
        </p:nvSpPr>
        <p:spPr>
          <a:xfrm>
            <a:off x="2799601"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a:extLst>
              <a:ext uri="{FF2B5EF4-FFF2-40B4-BE49-F238E27FC236}">
                <a16:creationId xmlns:a16="http://schemas.microsoft.com/office/drawing/2014/main" id="{83A5EDCF-AA8C-144B-8416-815DB8250D1F}"/>
              </a:ext>
            </a:extLst>
          </p:cNvPr>
          <p:cNvSpPr>
            <a:spLocks noGrp="1"/>
          </p:cNvSpPr>
          <p:nvPr>
            <p:ph type="body" sz="quarter" idx="13"/>
          </p:nvPr>
        </p:nvSpPr>
        <p:spPr>
          <a:xfrm>
            <a:off x="5327739"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a:extLst>
              <a:ext uri="{FF2B5EF4-FFF2-40B4-BE49-F238E27FC236}">
                <a16:creationId xmlns:a16="http://schemas.microsoft.com/office/drawing/2014/main" id="{6E99B2E3-78F0-5441-9901-F3B36091FAED}"/>
              </a:ext>
            </a:extLst>
          </p:cNvPr>
          <p:cNvSpPr>
            <a:spLocks noGrp="1"/>
          </p:cNvSpPr>
          <p:nvPr>
            <p:ph type="body" sz="quarter" idx="14"/>
          </p:nvPr>
        </p:nvSpPr>
        <p:spPr>
          <a:xfrm>
            <a:off x="271463"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E81DA71F-9B6E-8941-B179-A1EBF95008FB}"/>
              </a:ext>
            </a:extLst>
          </p:cNvPr>
          <p:cNvSpPr>
            <a:spLocks noGrp="1"/>
          </p:cNvSpPr>
          <p:nvPr>
            <p:ph type="body" sz="quarter" idx="15"/>
          </p:nvPr>
        </p:nvSpPr>
        <p:spPr>
          <a:xfrm>
            <a:off x="2799601"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DE9775C0-DA53-4843-A194-1FB768811EFF}"/>
              </a:ext>
            </a:extLst>
          </p:cNvPr>
          <p:cNvSpPr>
            <a:spLocks noGrp="1"/>
          </p:cNvSpPr>
          <p:nvPr>
            <p:ph type="body" sz="quarter" idx="16"/>
          </p:nvPr>
        </p:nvSpPr>
        <p:spPr>
          <a:xfrm>
            <a:off x="5327739"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a:extLst>
              <a:ext uri="{FF2B5EF4-FFF2-40B4-BE49-F238E27FC236}">
                <a16:creationId xmlns:a16="http://schemas.microsoft.com/office/drawing/2014/main" id="{BA0D1FB2-4723-114D-A8EC-4B0545569F3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Tree>
    <p:extLst>
      <p:ext uri="{BB962C8B-B14F-4D97-AF65-F5344CB8AC3E}">
        <p14:creationId xmlns:p14="http://schemas.microsoft.com/office/powerpoint/2010/main" val="25483952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3013241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4007870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 name="Text Placeholder 2">
            <a:extLst>
              <a:ext uri="{FF2B5EF4-FFF2-40B4-BE49-F238E27FC236}">
                <a16:creationId xmlns:a16="http://schemas.microsoft.com/office/drawing/2014/main" id="{18836FFE-76D6-1E43-9F4A-BE9DDF963D03}"/>
              </a:ext>
            </a:extLst>
          </p:cNvPr>
          <p:cNvSpPr>
            <a:spLocks noGrp="1"/>
          </p:cNvSpPr>
          <p:nvPr>
            <p:ph type="body" sz="quarter" idx="11"/>
          </p:nvPr>
        </p:nvSpPr>
        <p:spPr>
          <a:xfrm>
            <a:off x="367644" y="1229333"/>
            <a:ext cx="2866595"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367644" y="260592"/>
            <a:ext cx="6142460"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2" name="Text Placeholder 2">
            <a:extLst>
              <a:ext uri="{FF2B5EF4-FFF2-40B4-BE49-F238E27FC236}">
                <a16:creationId xmlns:a16="http://schemas.microsoft.com/office/drawing/2014/main" id="{7FFC6D62-8CD2-4448-AC7E-CC5463251332}"/>
              </a:ext>
            </a:extLst>
          </p:cNvPr>
          <p:cNvSpPr>
            <a:spLocks noGrp="1"/>
          </p:cNvSpPr>
          <p:nvPr>
            <p:ph type="body" sz="quarter" idx="12"/>
          </p:nvPr>
        </p:nvSpPr>
        <p:spPr>
          <a:xfrm>
            <a:off x="3643509" y="1229333"/>
            <a:ext cx="2866595"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075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 name="Text Placeholder 2">
            <a:extLst>
              <a:ext uri="{FF2B5EF4-FFF2-40B4-BE49-F238E27FC236}">
                <a16:creationId xmlns:a16="http://schemas.microsoft.com/office/drawing/2014/main" id="{18836FFE-76D6-1E43-9F4A-BE9DDF963D03}"/>
              </a:ext>
            </a:extLst>
          </p:cNvPr>
          <p:cNvSpPr>
            <a:spLocks noGrp="1"/>
          </p:cNvSpPr>
          <p:nvPr>
            <p:ph type="body" sz="quarter" idx="11"/>
          </p:nvPr>
        </p:nvSpPr>
        <p:spPr>
          <a:xfrm>
            <a:off x="271463" y="1135065"/>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2" name="Text Placeholder 2">
            <a:extLst>
              <a:ext uri="{FF2B5EF4-FFF2-40B4-BE49-F238E27FC236}">
                <a16:creationId xmlns:a16="http://schemas.microsoft.com/office/drawing/2014/main" id="{7FFC6D62-8CD2-4448-AC7E-CC5463251332}"/>
              </a:ext>
            </a:extLst>
          </p:cNvPr>
          <p:cNvSpPr>
            <a:spLocks noGrp="1"/>
          </p:cNvSpPr>
          <p:nvPr>
            <p:ph type="body" sz="quarter" idx="12"/>
          </p:nvPr>
        </p:nvSpPr>
        <p:spPr>
          <a:xfrm>
            <a:off x="3539526" y="1135065"/>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476529A1-C181-4040-8D2B-F29F43595966}"/>
              </a:ext>
            </a:extLst>
          </p:cNvPr>
          <p:cNvSpPr>
            <a:spLocks noGrp="1"/>
          </p:cNvSpPr>
          <p:nvPr>
            <p:ph type="body" sz="quarter" idx="13"/>
          </p:nvPr>
        </p:nvSpPr>
        <p:spPr>
          <a:xfrm>
            <a:off x="271463" y="2992146"/>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3A0D3EF7-05BD-F643-BC38-C02A4D141E83}"/>
              </a:ext>
            </a:extLst>
          </p:cNvPr>
          <p:cNvSpPr>
            <a:spLocks noGrp="1"/>
          </p:cNvSpPr>
          <p:nvPr>
            <p:ph type="body" sz="quarter" idx="14"/>
          </p:nvPr>
        </p:nvSpPr>
        <p:spPr>
          <a:xfrm>
            <a:off x="3539526" y="2992146"/>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05210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252696B7-0D9C-6D44-9D98-F7707C3E5E4A}"/>
              </a:ext>
            </a:extLst>
          </p:cNvPr>
          <p:cNvSpPr>
            <a:spLocks noGrp="1"/>
          </p:cNvSpPr>
          <p:nvPr>
            <p:ph type="pic" sz="quarter" idx="10"/>
          </p:nvPr>
        </p:nvSpPr>
        <p:spPr>
          <a:xfrm>
            <a:off x="4572000" y="1"/>
            <a:ext cx="4572000" cy="5143499"/>
          </a:xfrm>
          <a:solidFill>
            <a:schemeClr val="bg2">
              <a:alpha val="40000"/>
            </a:schemeClr>
          </a:solidFill>
        </p:spPr>
        <p:txBody>
          <a:bodyPr/>
          <a:lstStyle/>
          <a:p>
            <a:endParaRPr lang="en-US"/>
          </a:p>
        </p:txBody>
      </p:sp>
      <p:grpSp>
        <p:nvGrpSpPr>
          <p:cNvPr id="4" name="Group 3">
            <a:extLst>
              <a:ext uri="{FF2B5EF4-FFF2-40B4-BE49-F238E27FC236}">
                <a16:creationId xmlns:a16="http://schemas.microsoft.com/office/drawing/2014/main" id="{AB6402E2-51C6-B643-8346-E6A750C125A7}"/>
              </a:ext>
            </a:extLst>
          </p:cNvPr>
          <p:cNvGrpSpPr>
            <a:grpSpLocks noChangeAspect="1"/>
          </p:cNvGrpSpPr>
          <p:nvPr userDrawn="1"/>
        </p:nvGrpSpPr>
        <p:grpSpPr>
          <a:xfrm>
            <a:off x="2899143" y="1837677"/>
            <a:ext cx="182880" cy="2814224"/>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471340" y="260592"/>
            <a:ext cx="364245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4" name="Text Placeholder 2">
            <a:extLst>
              <a:ext uri="{FF2B5EF4-FFF2-40B4-BE49-F238E27FC236}">
                <a16:creationId xmlns:a16="http://schemas.microsoft.com/office/drawing/2014/main" id="{BB2E91BB-1601-C24C-9085-5EACD3F64A22}"/>
              </a:ext>
            </a:extLst>
          </p:cNvPr>
          <p:cNvSpPr>
            <a:spLocks noGrp="1"/>
          </p:cNvSpPr>
          <p:nvPr>
            <p:ph type="body" sz="quarter" idx="12"/>
          </p:nvPr>
        </p:nvSpPr>
        <p:spPr>
          <a:xfrm>
            <a:off x="471339" y="1135064"/>
            <a:ext cx="3642449"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4593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252696B7-0D9C-6D44-9D98-F7707C3E5E4A}"/>
              </a:ext>
            </a:extLst>
          </p:cNvPr>
          <p:cNvSpPr>
            <a:spLocks noGrp="1"/>
          </p:cNvSpPr>
          <p:nvPr>
            <p:ph type="pic" sz="quarter" idx="10"/>
          </p:nvPr>
        </p:nvSpPr>
        <p:spPr>
          <a:xfrm>
            <a:off x="4572000" y="1"/>
            <a:ext cx="4572000" cy="5143499"/>
          </a:xfrm>
          <a:solidFill>
            <a:schemeClr val="bg2">
              <a:alpha val="40000"/>
            </a:schemeClr>
          </a:solidFill>
        </p:spPr>
        <p:txBody>
          <a:bodyPr/>
          <a:lstStyle/>
          <a:p>
            <a:endParaRPr lang="en-US"/>
          </a:p>
        </p:txBody>
      </p:sp>
      <p:grpSp>
        <p:nvGrpSpPr>
          <p:cNvPr id="4" name="Group 3">
            <a:extLst>
              <a:ext uri="{FF2B5EF4-FFF2-40B4-BE49-F238E27FC236}">
                <a16:creationId xmlns:a16="http://schemas.microsoft.com/office/drawing/2014/main" id="{AB6402E2-51C6-B643-8346-E6A750C125A7}"/>
              </a:ext>
            </a:extLst>
          </p:cNvPr>
          <p:cNvGrpSpPr>
            <a:grpSpLocks noChangeAspect="1"/>
          </p:cNvGrpSpPr>
          <p:nvPr userDrawn="1"/>
        </p:nvGrpSpPr>
        <p:grpSpPr>
          <a:xfrm>
            <a:off x="2899143" y="1837677"/>
            <a:ext cx="182880" cy="2814224"/>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404163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1797036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Sub, 1 Content">
    <p:spTree>
      <p:nvGrpSpPr>
        <p:cNvPr id="1" name=""/>
        <p:cNvGrpSpPr/>
        <p:nvPr/>
      </p:nvGrpSpPr>
      <p:grpSpPr>
        <a:xfrm>
          <a:off x="0" y="0"/>
          <a:ext cx="0" cy="0"/>
          <a:chOff x="0" y="0"/>
          <a:chExt cx="0" cy="0"/>
        </a:xfrm>
      </p:grpSpPr>
      <p:sp>
        <p:nvSpPr>
          <p:cNvPr id="35" name="Text Placeholder 34">
            <a:extLst>
              <a:ext uri="{FF2B5EF4-FFF2-40B4-BE49-F238E27FC236}">
                <a16:creationId xmlns:a16="http://schemas.microsoft.com/office/drawing/2014/main" id="{F9DA520C-D204-0248-A17A-2D6767FB42DF}"/>
              </a:ext>
            </a:extLst>
          </p:cNvPr>
          <p:cNvSpPr>
            <a:spLocks noGrp="1"/>
          </p:cNvSpPr>
          <p:nvPr>
            <p:ph type="body" sz="quarter" idx="15" hasCustomPrompt="1"/>
          </p:nvPr>
        </p:nvSpPr>
        <p:spPr>
          <a:xfrm>
            <a:off x="1069975" y="971550"/>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10" name="Picture Placeholder 9">
            <a:extLst>
              <a:ext uri="{FF2B5EF4-FFF2-40B4-BE49-F238E27FC236}">
                <a16:creationId xmlns:a16="http://schemas.microsoft.com/office/drawing/2014/main" id="{560BE08C-8E9C-984B-833F-BC81E0B746FF}"/>
              </a:ext>
            </a:extLst>
          </p:cNvPr>
          <p:cNvSpPr>
            <a:spLocks noGrp="1"/>
          </p:cNvSpPr>
          <p:nvPr>
            <p:ph type="pic" sz="quarter" idx="14"/>
          </p:nvPr>
        </p:nvSpPr>
        <p:spPr>
          <a:xfrm>
            <a:off x="5554103" y="0"/>
            <a:ext cx="3589897" cy="5141913"/>
          </a:xfrm>
          <a:solidFill>
            <a:schemeClr val="bg2">
              <a:alpha val="40000"/>
            </a:schemeClr>
          </a:solidFill>
        </p:spPr>
        <p:txBody>
          <a:bodyPr/>
          <a:lstStyle/>
          <a:p>
            <a:endParaRPr lang="en-US"/>
          </a:p>
        </p:txBody>
      </p:sp>
      <p:sp>
        <p:nvSpPr>
          <p:cNvPr id="4" name="Text Placeholder 8">
            <a:extLst>
              <a:ext uri="{FF2B5EF4-FFF2-40B4-BE49-F238E27FC236}">
                <a16:creationId xmlns:a16="http://schemas.microsoft.com/office/drawing/2014/main" id="{61FFA38F-50EE-9148-9541-A200CB5D0474}"/>
              </a:ext>
            </a:extLst>
          </p:cNvPr>
          <p:cNvSpPr>
            <a:spLocks noGrp="1"/>
          </p:cNvSpPr>
          <p:nvPr>
            <p:ph type="body" sz="quarter" idx="13"/>
          </p:nvPr>
        </p:nvSpPr>
        <p:spPr>
          <a:xfrm>
            <a:off x="604544" y="650520"/>
            <a:ext cx="2735497" cy="139892"/>
          </a:xfrm>
        </p:spPr>
        <p:txBody>
          <a:bodyPr>
            <a:noAutofit/>
          </a:bodyPr>
          <a:lstStyle>
            <a:lvl1pPr>
              <a:defRPr sz="1200">
                <a:solidFill>
                  <a:schemeClr val="tx2"/>
                </a:solidFill>
              </a:defRPr>
            </a:lvl1pPr>
          </a:lstStyle>
          <a:p>
            <a:endParaRPr lang="en-US" dirty="0">
              <a:solidFill>
                <a:schemeClr val="tx2"/>
              </a:solidFill>
            </a:endParaRPr>
          </a:p>
        </p:txBody>
      </p:sp>
      <p:sp>
        <p:nvSpPr>
          <p:cNvPr id="5" name="Title 5">
            <a:extLst>
              <a:ext uri="{FF2B5EF4-FFF2-40B4-BE49-F238E27FC236}">
                <a16:creationId xmlns:a16="http://schemas.microsoft.com/office/drawing/2014/main" id="{3C3012E6-B195-C04F-A1BB-93D852E44D4E}"/>
              </a:ext>
            </a:extLst>
          </p:cNvPr>
          <p:cNvSpPr>
            <a:spLocks noGrp="1"/>
          </p:cNvSpPr>
          <p:nvPr>
            <p:ph type="title"/>
          </p:nvPr>
        </p:nvSpPr>
        <p:spPr>
          <a:xfrm>
            <a:off x="599014" y="204608"/>
            <a:ext cx="4436588" cy="378857"/>
          </a:xfrm>
        </p:spPr>
        <p:txBody>
          <a:bodyPr/>
          <a:lstStyle>
            <a:lvl1pPr algn="l">
              <a:defRPr>
                <a:solidFill>
                  <a:schemeClr val="tx1"/>
                </a:solidFill>
              </a:defRPr>
            </a:lvl1pPr>
          </a:lstStyle>
          <a:p>
            <a:endParaRPr lang="en-US" dirty="0">
              <a:solidFill>
                <a:srgbClr val="000102"/>
              </a:solidFill>
            </a:endParaRPr>
          </a:p>
        </p:txBody>
      </p:sp>
      <p:sp>
        <p:nvSpPr>
          <p:cNvPr id="8" name="Rectangle 7">
            <a:extLst>
              <a:ext uri="{FF2B5EF4-FFF2-40B4-BE49-F238E27FC236}">
                <a16:creationId xmlns:a16="http://schemas.microsoft.com/office/drawing/2014/main" id="{544D4649-B8ED-7D4A-A07D-4DD359D8422F}"/>
              </a:ext>
            </a:extLst>
          </p:cNvPr>
          <p:cNvSpPr/>
          <p:nvPr userDrawn="1"/>
        </p:nvSpPr>
        <p:spPr>
          <a:xfrm rot="5400000">
            <a:off x="-2530510" y="2530508"/>
            <a:ext cx="5141532" cy="80515"/>
          </a:xfrm>
          <a:prstGeom prst="rect">
            <a:avLst/>
          </a:prstGeom>
          <a:gradFill>
            <a:gsLst>
              <a:gs pos="0">
                <a:schemeClr val="bg2"/>
              </a:gs>
              <a:gs pos="51000">
                <a:schemeClr val="accent3"/>
              </a:gs>
              <a:gs pos="99000">
                <a:schemeClr val="accent6"/>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4">
            <a:extLst>
              <a:ext uri="{FF2B5EF4-FFF2-40B4-BE49-F238E27FC236}">
                <a16:creationId xmlns:a16="http://schemas.microsoft.com/office/drawing/2014/main" id="{DD3E69E3-3B05-6041-8ED1-93F76E87FC18}"/>
              </a:ext>
            </a:extLst>
          </p:cNvPr>
          <p:cNvSpPr>
            <a:spLocks noGrp="1"/>
          </p:cNvSpPr>
          <p:nvPr>
            <p:ph type="body" sz="quarter" idx="16" hasCustomPrompt="1"/>
          </p:nvPr>
        </p:nvSpPr>
        <p:spPr>
          <a:xfrm>
            <a:off x="1069975" y="1455916"/>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7" name="Text Placeholder 34">
            <a:extLst>
              <a:ext uri="{FF2B5EF4-FFF2-40B4-BE49-F238E27FC236}">
                <a16:creationId xmlns:a16="http://schemas.microsoft.com/office/drawing/2014/main" id="{BA894395-971F-A746-94EE-9819865F22B2}"/>
              </a:ext>
            </a:extLst>
          </p:cNvPr>
          <p:cNvSpPr>
            <a:spLocks noGrp="1"/>
          </p:cNvSpPr>
          <p:nvPr>
            <p:ph type="body" sz="quarter" idx="17" hasCustomPrompt="1"/>
          </p:nvPr>
        </p:nvSpPr>
        <p:spPr>
          <a:xfrm>
            <a:off x="1069975" y="1940282"/>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8" name="Text Placeholder 34">
            <a:extLst>
              <a:ext uri="{FF2B5EF4-FFF2-40B4-BE49-F238E27FC236}">
                <a16:creationId xmlns:a16="http://schemas.microsoft.com/office/drawing/2014/main" id="{DE61E558-540D-7E42-ABBE-0020ED954E7D}"/>
              </a:ext>
            </a:extLst>
          </p:cNvPr>
          <p:cNvSpPr>
            <a:spLocks noGrp="1"/>
          </p:cNvSpPr>
          <p:nvPr>
            <p:ph type="body" sz="quarter" idx="18" hasCustomPrompt="1"/>
          </p:nvPr>
        </p:nvSpPr>
        <p:spPr>
          <a:xfrm>
            <a:off x="1069975" y="2424648"/>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9" name="Text Placeholder 34">
            <a:extLst>
              <a:ext uri="{FF2B5EF4-FFF2-40B4-BE49-F238E27FC236}">
                <a16:creationId xmlns:a16="http://schemas.microsoft.com/office/drawing/2014/main" id="{D8630EAC-2CE0-0F46-B9F6-92ED91592A6D}"/>
              </a:ext>
            </a:extLst>
          </p:cNvPr>
          <p:cNvSpPr>
            <a:spLocks noGrp="1"/>
          </p:cNvSpPr>
          <p:nvPr>
            <p:ph type="body" sz="quarter" idx="19" hasCustomPrompt="1"/>
          </p:nvPr>
        </p:nvSpPr>
        <p:spPr>
          <a:xfrm>
            <a:off x="1069975" y="2909014"/>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0" name="Text Placeholder 34">
            <a:extLst>
              <a:ext uri="{FF2B5EF4-FFF2-40B4-BE49-F238E27FC236}">
                <a16:creationId xmlns:a16="http://schemas.microsoft.com/office/drawing/2014/main" id="{E736CBB9-EBD2-B643-A795-113A6DEC562A}"/>
              </a:ext>
            </a:extLst>
          </p:cNvPr>
          <p:cNvSpPr>
            <a:spLocks noGrp="1"/>
          </p:cNvSpPr>
          <p:nvPr>
            <p:ph type="body" sz="quarter" idx="20" hasCustomPrompt="1"/>
          </p:nvPr>
        </p:nvSpPr>
        <p:spPr>
          <a:xfrm>
            <a:off x="1069975" y="3393380"/>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1" name="Text Placeholder 34">
            <a:extLst>
              <a:ext uri="{FF2B5EF4-FFF2-40B4-BE49-F238E27FC236}">
                <a16:creationId xmlns:a16="http://schemas.microsoft.com/office/drawing/2014/main" id="{FA195DA4-ED50-6746-AE32-1DD691DA03CB}"/>
              </a:ext>
            </a:extLst>
          </p:cNvPr>
          <p:cNvSpPr>
            <a:spLocks noGrp="1"/>
          </p:cNvSpPr>
          <p:nvPr>
            <p:ph type="body" sz="quarter" idx="21" hasCustomPrompt="1"/>
          </p:nvPr>
        </p:nvSpPr>
        <p:spPr>
          <a:xfrm>
            <a:off x="1069975" y="3877746"/>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2" name="Text Placeholder 34">
            <a:extLst>
              <a:ext uri="{FF2B5EF4-FFF2-40B4-BE49-F238E27FC236}">
                <a16:creationId xmlns:a16="http://schemas.microsoft.com/office/drawing/2014/main" id="{2524B38A-F2EF-9A48-8804-2037A195F2FE}"/>
              </a:ext>
            </a:extLst>
          </p:cNvPr>
          <p:cNvSpPr>
            <a:spLocks noGrp="1"/>
          </p:cNvSpPr>
          <p:nvPr>
            <p:ph type="body" sz="quarter" idx="22" hasCustomPrompt="1"/>
          </p:nvPr>
        </p:nvSpPr>
        <p:spPr>
          <a:xfrm>
            <a:off x="1069975" y="4362113"/>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Tree>
    <p:extLst>
      <p:ext uri="{BB962C8B-B14F-4D97-AF65-F5344CB8AC3E}">
        <p14:creationId xmlns:p14="http://schemas.microsoft.com/office/powerpoint/2010/main" val="658503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60592"/>
            <a:ext cx="7886700" cy="653808"/>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628650" y="1254543"/>
            <a:ext cx="7886700" cy="326350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C7F6D12C-BFBC-5C4C-87F1-81F07E204465}"/>
              </a:ext>
            </a:extLst>
          </p:cNvPr>
          <p:cNvSpPr txBox="1"/>
          <p:nvPr userDrawn="1"/>
        </p:nvSpPr>
        <p:spPr>
          <a:xfrm>
            <a:off x="392597" y="4858191"/>
            <a:ext cx="2588895" cy="184666"/>
          </a:xfrm>
          <a:prstGeom prst="rect">
            <a:avLst/>
          </a:prstGeom>
          <a:noFill/>
        </p:spPr>
        <p:txBody>
          <a:bodyPr wrap="square" rtlCol="0">
            <a:spAutoFit/>
          </a:bodyPr>
          <a:lstStyle/>
          <a:p>
            <a:r>
              <a:rPr lang="en-US" sz="600" b="0" i="0" dirty="0">
                <a:solidFill>
                  <a:schemeClr val="tx2"/>
                </a:solidFill>
                <a:latin typeface="Lato Light" panose="020F0502020204030203" pitchFamily="34" charset="0"/>
                <a:ea typeface="Lato Light" panose="020F0502020204030203" pitchFamily="34" charset="0"/>
                <a:cs typeface="Lato Light" panose="020F0502020204030203" pitchFamily="34" charset="0"/>
              </a:rPr>
              <a:t>©2022 RealPage Inc.</a:t>
            </a:r>
          </a:p>
        </p:txBody>
      </p:sp>
      <p:sp>
        <p:nvSpPr>
          <p:cNvPr id="8" name="Slide Number Placeholder 5">
            <a:extLst>
              <a:ext uri="{FF2B5EF4-FFF2-40B4-BE49-F238E27FC236}">
                <a16:creationId xmlns:a16="http://schemas.microsoft.com/office/drawing/2014/main" id="{36DF9E3C-65D0-5A41-8EF5-6BF5853E1CFE}"/>
              </a:ext>
            </a:extLst>
          </p:cNvPr>
          <p:cNvSpPr txBox="1">
            <a:spLocks/>
          </p:cNvSpPr>
          <p:nvPr userDrawn="1"/>
        </p:nvSpPr>
        <p:spPr>
          <a:xfrm>
            <a:off x="223606" y="4853464"/>
            <a:ext cx="280781" cy="273844"/>
          </a:xfrm>
          <a:prstGeom prst="rect">
            <a:avLst/>
          </a:prstGeom>
        </p:spPr>
        <p:txBody>
          <a:bodyPr/>
          <a:lstStyle>
            <a:defPPr>
              <a:defRPr lang="en-US"/>
            </a:defPPr>
            <a:lvl1pPr marL="0" algn="l" defTabSz="457200" rtl="0" eaLnBrk="1" latinLnBrk="0" hangingPunct="1">
              <a:defRPr sz="600" b="0" i="0" kern="120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DE1F0DE-FBD3-414B-9485-E78F73017EBF}" type="slidenum">
              <a:rPr lang="en-US" smtClean="0">
                <a:solidFill>
                  <a:schemeClr val="tx2"/>
                </a:solidFill>
              </a:rPr>
              <a:pPr/>
              <a:t>‹#›</a:t>
            </a:fld>
            <a:endParaRPr lang="en-US" dirty="0">
              <a:solidFill>
                <a:schemeClr val="tx2"/>
              </a:solidFill>
            </a:endParaRPr>
          </a:p>
        </p:txBody>
      </p:sp>
      <p:pic>
        <p:nvPicPr>
          <p:cNvPr id="6" name="Picture 5">
            <a:extLst>
              <a:ext uri="{FF2B5EF4-FFF2-40B4-BE49-F238E27FC236}">
                <a16:creationId xmlns:a16="http://schemas.microsoft.com/office/drawing/2014/main" id="{1DD81F71-DCBE-E341-8582-597921162F09}"/>
              </a:ext>
            </a:extLst>
          </p:cNvPr>
          <p:cNvPicPr>
            <a:picLocks noChangeAspect="1"/>
          </p:cNvPicPr>
          <p:nvPr userDrawn="1"/>
        </p:nvPicPr>
        <p:blipFill>
          <a:blip r:embed="rId22" cstate="hqprint">
            <a:extLst>
              <a:ext uri="{28A0092B-C50C-407E-A947-70E740481C1C}">
                <a14:useLocalDpi xmlns:a14="http://schemas.microsoft.com/office/drawing/2010/main"/>
              </a:ext>
            </a:extLst>
          </a:blip>
          <a:stretch>
            <a:fillRect/>
          </a:stretch>
        </p:blipFill>
        <p:spPr>
          <a:xfrm>
            <a:off x="7908323" y="4871465"/>
            <a:ext cx="1060622" cy="130743"/>
          </a:xfrm>
          <a:prstGeom prst="rect">
            <a:avLst/>
          </a:prstGeom>
        </p:spPr>
      </p:pic>
    </p:spTree>
    <p:extLst>
      <p:ext uri="{BB962C8B-B14F-4D97-AF65-F5344CB8AC3E}">
        <p14:creationId xmlns:p14="http://schemas.microsoft.com/office/powerpoint/2010/main" val="135412253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843" r:id="rId3"/>
    <p:sldLayoutId id="2147483844" r:id="rId4"/>
    <p:sldLayoutId id="2147483850" r:id="rId5"/>
    <p:sldLayoutId id="2147483849" r:id="rId6"/>
    <p:sldLayoutId id="2147483847" r:id="rId7"/>
    <p:sldLayoutId id="2147483838" r:id="rId8"/>
    <p:sldLayoutId id="2147483857" r:id="rId9"/>
    <p:sldLayoutId id="2147483854" r:id="rId10"/>
    <p:sldLayoutId id="2147483863" r:id="rId11"/>
    <p:sldLayoutId id="2147483859" r:id="rId12"/>
    <p:sldLayoutId id="2147483860" r:id="rId13"/>
    <p:sldLayoutId id="2147483855" r:id="rId14"/>
    <p:sldLayoutId id="2147483864" r:id="rId15"/>
    <p:sldLayoutId id="2147483858" r:id="rId16"/>
    <p:sldLayoutId id="2147483861" r:id="rId17"/>
    <p:sldLayoutId id="2147483856" r:id="rId18"/>
    <p:sldLayoutId id="2147483862" r:id="rId19"/>
    <p:sldLayoutId id="2147483840" r:id="rId20"/>
  </p:sldLayoutIdLst>
  <p:txStyles>
    <p:titleStyle>
      <a:lvl1pPr algn="ctr" defTabSz="685800" rtl="0" eaLnBrk="1" latinLnBrk="0" hangingPunct="1">
        <a:lnSpc>
          <a:spcPct val="90000"/>
        </a:lnSpc>
        <a:spcBef>
          <a:spcPct val="0"/>
        </a:spcBef>
        <a:buNone/>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200" b="0" i="0" kern="1200" cap="none"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236538" indent="-119063" algn="l" defTabSz="685800" rtl="0" eaLnBrk="1" latinLnBrk="0" hangingPunct="1">
        <a:lnSpc>
          <a:spcPct val="90000"/>
        </a:lnSpc>
        <a:spcBef>
          <a:spcPts val="375"/>
        </a:spcBef>
        <a:buFont typeface="Arial" panose="020B0604020202020204" pitchFamily="34" charset="0"/>
        <a:buChar char="•"/>
        <a:tabLst/>
        <a:defRPr sz="11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32">
          <p15:clr>
            <a:srgbClr val="F26B43"/>
          </p15:clr>
        </p15:guide>
        <p15:guide id="2" pos="2880">
          <p15:clr>
            <a:srgbClr val="F26B43"/>
          </p15:clr>
        </p15:guide>
        <p15:guide id="3" orient="horz" pos="1740">
          <p15:clr>
            <a:srgbClr val="F26B43"/>
          </p15:clr>
        </p15:guide>
        <p15:guide id="4" pos="392">
          <p15:clr>
            <a:srgbClr val="F26B43"/>
          </p15:clr>
        </p15:guide>
        <p15:guide id="5" orient="horz" pos="161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3.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0.pn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0.png"/><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jpeg"/><Relationship Id="rId7" Type="http://schemas.openxmlformats.org/officeDocument/2006/relationships/image" Target="../media/image21.svg"/><Relationship Id="rId12"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4.png"/><Relationship Id="rId5" Type="http://schemas.openxmlformats.org/officeDocument/2006/relationships/image" Target="../media/image13.png"/><Relationship Id="rId10" Type="http://schemas.openxmlformats.org/officeDocument/2006/relationships/image" Target="../media/image14.emf"/><Relationship Id="rId4" Type="http://schemas.openxmlformats.org/officeDocument/2006/relationships/image" Target="../media/image10.png"/><Relationship Id="rId9"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3.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forms.office.com/r/p1UepZ5W1F" TargetMode="External"/><Relationship Id="rId5" Type="http://schemas.openxmlformats.org/officeDocument/2006/relationships/image" Target="../media/image2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usiness people discussing a strategy and working together in of -  Instituto ILEN">
            <a:extLst>
              <a:ext uri="{FF2B5EF4-FFF2-40B4-BE49-F238E27FC236}">
                <a16:creationId xmlns:a16="http://schemas.microsoft.com/office/drawing/2014/main" id="{237F2650-850C-D262-8457-1681DA569E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893"/>
          <a:stretch/>
        </p:blipFill>
        <p:spPr bwMode="auto">
          <a:xfrm>
            <a:off x="2577795" y="0"/>
            <a:ext cx="656620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 up of a logo&#10;&#10;Description automatically generated">
            <a:extLst>
              <a:ext uri="{FF2B5EF4-FFF2-40B4-BE49-F238E27FC236}">
                <a16:creationId xmlns:a16="http://schemas.microsoft.com/office/drawing/2014/main" id="{5640F7C5-6F67-2E11-B0B9-19C1E12D6D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4471" y="0"/>
            <a:ext cx="5698973" cy="5143500"/>
          </a:xfrm>
          <a:prstGeom prst="rect">
            <a:avLst/>
          </a:prstGeom>
        </p:spPr>
      </p:pic>
      <p:pic>
        <p:nvPicPr>
          <p:cNvPr id="4098" name="Picture 2" descr="Real Estate and Property Management Software | RealPage">
            <a:extLst>
              <a:ext uri="{FF2B5EF4-FFF2-40B4-BE49-F238E27FC236}">
                <a16:creationId xmlns:a16="http://schemas.microsoft.com/office/drawing/2014/main" id="{8F13AD12-4335-967E-CDB8-A3513D6BED5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606" y="217489"/>
            <a:ext cx="1277109" cy="15538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BCADEDD-3035-C390-E64C-E6A8C5B0604B}"/>
              </a:ext>
            </a:extLst>
          </p:cNvPr>
          <p:cNvSpPr txBox="1"/>
          <p:nvPr/>
        </p:nvSpPr>
        <p:spPr>
          <a:xfrm>
            <a:off x="373142" y="584079"/>
            <a:ext cx="3791664" cy="369332"/>
          </a:xfrm>
          <a:prstGeom prst="rect">
            <a:avLst/>
          </a:prstGeom>
          <a:noFill/>
        </p:spPr>
        <p:txBody>
          <a:bodyPr wrap="square" rtlCol="0">
            <a:spAutoFit/>
          </a:bodyPr>
          <a:lstStyle/>
          <a:p>
            <a:pPr defTabSz="685783"/>
            <a:r>
              <a:rPr lang="en-US" b="1">
                <a:latin typeface="Lato" panose="020F0502020204030203" pitchFamily="34" charset="0"/>
                <a:ea typeface="Lato Medium" panose="020F0502020204030203" pitchFamily="34" charset="0"/>
                <a:cs typeface="Lato Medium" panose="020F0502020204030203" pitchFamily="34" charset="0"/>
              </a:rPr>
              <a:t>Character</a:t>
            </a:r>
          </a:p>
        </p:txBody>
      </p:sp>
      <p:sp>
        <p:nvSpPr>
          <p:cNvPr id="3" name="TextBox 2">
            <a:extLst>
              <a:ext uri="{FF2B5EF4-FFF2-40B4-BE49-F238E27FC236}">
                <a16:creationId xmlns:a16="http://schemas.microsoft.com/office/drawing/2014/main" id="{6880E4D4-4F17-F482-0C2F-244CB4E22E5C}"/>
              </a:ext>
            </a:extLst>
          </p:cNvPr>
          <p:cNvSpPr txBox="1"/>
          <p:nvPr/>
        </p:nvSpPr>
        <p:spPr>
          <a:xfrm>
            <a:off x="393315" y="956950"/>
            <a:ext cx="1703864" cy="276999"/>
          </a:xfrm>
          <a:prstGeom prst="rect">
            <a:avLst/>
          </a:prstGeom>
          <a:noFill/>
        </p:spPr>
        <p:txBody>
          <a:bodyPr wrap="none" rtlCol="0">
            <a:spAutoFit/>
          </a:bodyPr>
          <a:lstStyle/>
          <a:p>
            <a:r>
              <a:rPr lang="en-US" sz="1200" dirty="0"/>
              <a:t>Character Key Actions</a:t>
            </a:r>
          </a:p>
        </p:txBody>
      </p:sp>
      <p:sp>
        <p:nvSpPr>
          <p:cNvPr id="4" name="TextBox 3">
            <a:extLst>
              <a:ext uri="{FF2B5EF4-FFF2-40B4-BE49-F238E27FC236}">
                <a16:creationId xmlns:a16="http://schemas.microsoft.com/office/drawing/2014/main" id="{A2515962-9B86-8EB4-2337-0DDDB2020F54}"/>
              </a:ext>
            </a:extLst>
          </p:cNvPr>
          <p:cNvSpPr txBox="1"/>
          <p:nvPr/>
        </p:nvSpPr>
        <p:spPr>
          <a:xfrm>
            <a:off x="402677" y="1275964"/>
            <a:ext cx="2884123" cy="276999"/>
          </a:xfrm>
          <a:prstGeom prst="rect">
            <a:avLst/>
          </a:prstGeom>
          <a:noFill/>
        </p:spPr>
        <p:txBody>
          <a:bodyPr wrap="none" rtlCol="0">
            <a:spAutoFit/>
          </a:bodyPr>
          <a:lstStyle/>
          <a:p>
            <a:r>
              <a:rPr lang="en-US" sz="1200" dirty="0">
                <a:latin typeface="Lato" panose="020F0502020204030203" pitchFamily="34" charset="0"/>
              </a:rPr>
              <a:t>Module I: </a:t>
            </a:r>
            <a:r>
              <a:rPr lang="en-US" sz="1200" b="1" dirty="0">
                <a:latin typeface="Lato" panose="020F0502020204030203" pitchFamily="34" charset="0"/>
              </a:rPr>
              <a:t>Impact of Character </a:t>
            </a:r>
            <a:r>
              <a:rPr lang="en-US" sz="900" dirty="0">
                <a:latin typeface="Lato" panose="020F0502020204030203" pitchFamily="34" charset="0"/>
              </a:rPr>
              <a:t>(30 minutes)</a:t>
            </a:r>
            <a:endParaRPr lang="en-US" sz="1200" dirty="0">
              <a:latin typeface="Lato" panose="020F0502020204030203" pitchFamily="34" charset="0"/>
            </a:endParaRPr>
          </a:p>
        </p:txBody>
      </p:sp>
      <p:sp>
        <p:nvSpPr>
          <p:cNvPr id="5" name="TextBox 4">
            <a:extLst>
              <a:ext uri="{FF2B5EF4-FFF2-40B4-BE49-F238E27FC236}">
                <a16:creationId xmlns:a16="http://schemas.microsoft.com/office/drawing/2014/main" id="{63651DA3-C4EE-9C87-A633-5F9919DAEF3C}"/>
              </a:ext>
            </a:extLst>
          </p:cNvPr>
          <p:cNvSpPr txBox="1"/>
          <p:nvPr/>
        </p:nvSpPr>
        <p:spPr>
          <a:xfrm>
            <a:off x="1003059" y="1485860"/>
            <a:ext cx="5917975" cy="923330"/>
          </a:xfrm>
          <a:prstGeom prst="rect">
            <a:avLst/>
          </a:prstGeom>
          <a:noFill/>
        </p:spPr>
        <p:txBody>
          <a:bodyPr wrap="square" rtlCol="0">
            <a:spAutoFit/>
          </a:bodyPr>
          <a:lstStyle/>
          <a:p>
            <a:pPr marL="214313" indent="-214313">
              <a:buFontTx/>
              <a:buChar char="-"/>
            </a:pPr>
            <a:r>
              <a:rPr lang="en-US" sz="900" dirty="0">
                <a:latin typeface="Lato" panose="020F0502020204030203" pitchFamily="34" charset="0"/>
              </a:rPr>
              <a:t>Objectives</a:t>
            </a:r>
          </a:p>
          <a:p>
            <a:pPr marL="214313" indent="-214313">
              <a:buFontTx/>
              <a:buChar char="-"/>
            </a:pPr>
            <a:r>
              <a:rPr lang="en-US" sz="900" dirty="0">
                <a:latin typeface="Lato" panose="020F0502020204030203" pitchFamily="34" charset="0"/>
              </a:rPr>
              <a:t>Self-Assessment – Say Yes or No</a:t>
            </a:r>
          </a:p>
          <a:p>
            <a:pPr marL="214313" indent="-214313">
              <a:buFontTx/>
              <a:buChar char="-"/>
            </a:pPr>
            <a:r>
              <a:rPr lang="en-US" sz="900" dirty="0">
                <a:latin typeface="Lato" panose="020F0502020204030203" pitchFamily="34" charset="0"/>
                <a:ea typeface="Calibri" panose="020F0502020204030204" pitchFamily="34" charset="0"/>
                <a:cs typeface="Times New Roman" panose="02020603050405020304" pitchFamily="18" charset="0"/>
              </a:rPr>
              <a:t>Importance of Character: </a:t>
            </a:r>
            <a:r>
              <a:rPr lang="en-US" sz="900" dirty="0">
                <a:latin typeface="Lato" panose="020F0502020204030203" pitchFamily="34" charset="0"/>
              </a:rPr>
              <a:t>Employee, Leader and Organization</a:t>
            </a:r>
          </a:p>
          <a:p>
            <a:pPr marL="214313" indent="-214313">
              <a:buFontTx/>
              <a:buChar char="-"/>
            </a:pPr>
            <a:r>
              <a:rPr lang="en-US" sz="900" dirty="0">
                <a:latin typeface="Lato" panose="020F0502020204030203" pitchFamily="34" charset="0"/>
              </a:rPr>
              <a:t>Demonstrate Character - </a:t>
            </a:r>
            <a:r>
              <a:rPr lang="en-US" sz="900" dirty="0">
                <a:latin typeface="Lato" panose="020F0502020204030203" pitchFamily="34" charset="0"/>
                <a:ea typeface="Lato Medium" panose="020F0502020204030203" pitchFamily="34" charset="0"/>
                <a:cs typeface="Lato Medium" panose="020F0502020204030203" pitchFamily="34" charset="0"/>
              </a:rPr>
              <a:t>at home, at work, and in your community</a:t>
            </a:r>
          </a:p>
          <a:p>
            <a:pPr marL="214313" indent="-214313">
              <a:buFontTx/>
              <a:buChar char="-"/>
            </a:pPr>
            <a:r>
              <a:rPr lang="en-US" sz="900" dirty="0">
                <a:latin typeface="Lato" panose="020F0502020204030203" pitchFamily="34" charset="0"/>
              </a:rPr>
              <a:t>Quote to Ponder </a:t>
            </a:r>
          </a:p>
          <a:p>
            <a:pPr marL="214313" indent="-214313">
              <a:buFontTx/>
              <a:buChar char="-"/>
            </a:pPr>
            <a:endParaRPr lang="en-US" sz="900" dirty="0">
              <a:latin typeface="Lato" panose="020F0502020204030203" pitchFamily="34" charset="0"/>
            </a:endParaRPr>
          </a:p>
        </p:txBody>
      </p:sp>
      <p:sp>
        <p:nvSpPr>
          <p:cNvPr id="7" name="TextBox 6">
            <a:extLst>
              <a:ext uri="{FF2B5EF4-FFF2-40B4-BE49-F238E27FC236}">
                <a16:creationId xmlns:a16="http://schemas.microsoft.com/office/drawing/2014/main" id="{7945ABF8-06C7-2FBF-C3E2-1A7CFD4D233D}"/>
              </a:ext>
            </a:extLst>
          </p:cNvPr>
          <p:cNvSpPr txBox="1"/>
          <p:nvPr/>
        </p:nvSpPr>
        <p:spPr>
          <a:xfrm>
            <a:off x="393315" y="2409191"/>
            <a:ext cx="3518674" cy="461665"/>
          </a:xfrm>
          <a:prstGeom prst="rect">
            <a:avLst/>
          </a:prstGeom>
          <a:noFill/>
        </p:spPr>
        <p:txBody>
          <a:bodyPr wrap="square" rtlCol="0">
            <a:spAutoFit/>
          </a:bodyPr>
          <a:lstStyle/>
          <a:p>
            <a:r>
              <a:rPr lang="en-US" sz="1200" dirty="0">
                <a:latin typeface="Lato" panose="020F0502020204030203" pitchFamily="34" charset="0"/>
              </a:rPr>
              <a:t>Module II: </a:t>
            </a:r>
            <a:r>
              <a:rPr lang="en-US" sz="1200" b="1" dirty="0">
                <a:latin typeface="Lato" panose="020F0502020204030203" pitchFamily="34" charset="0"/>
              </a:rPr>
              <a:t>Pillars of Character </a:t>
            </a:r>
            <a:r>
              <a:rPr lang="en-US" sz="900" dirty="0">
                <a:latin typeface="Lato" panose="020F0502020204030203" pitchFamily="34" charset="0"/>
              </a:rPr>
              <a:t>(30 minutes)</a:t>
            </a:r>
          </a:p>
          <a:p>
            <a:endParaRPr lang="en-US" sz="1200" b="1" dirty="0">
              <a:latin typeface="Lato" panose="020F0502020204030203" pitchFamily="34" charset="0"/>
            </a:endParaRPr>
          </a:p>
        </p:txBody>
      </p:sp>
      <p:sp>
        <p:nvSpPr>
          <p:cNvPr id="2" name="TextBox 1">
            <a:extLst>
              <a:ext uri="{FF2B5EF4-FFF2-40B4-BE49-F238E27FC236}">
                <a16:creationId xmlns:a16="http://schemas.microsoft.com/office/drawing/2014/main" id="{F5C05D1C-7058-A278-585E-C878096241CB}"/>
              </a:ext>
            </a:extLst>
          </p:cNvPr>
          <p:cNvSpPr txBox="1"/>
          <p:nvPr/>
        </p:nvSpPr>
        <p:spPr>
          <a:xfrm>
            <a:off x="373143" y="3607516"/>
            <a:ext cx="4125245" cy="461665"/>
          </a:xfrm>
          <a:prstGeom prst="rect">
            <a:avLst/>
          </a:prstGeom>
          <a:noFill/>
        </p:spPr>
        <p:txBody>
          <a:bodyPr wrap="square" lIns="91440" tIns="45720" rIns="91440" bIns="45720" rtlCol="0" anchor="t">
            <a:spAutoFit/>
          </a:bodyPr>
          <a:lstStyle/>
          <a:p>
            <a:r>
              <a:rPr lang="en-US" sz="1200" dirty="0">
                <a:latin typeface="Lato"/>
                <a:ea typeface="Lato"/>
                <a:cs typeface="Lato"/>
              </a:rPr>
              <a:t>Module III: </a:t>
            </a:r>
            <a:r>
              <a:rPr lang="en-US" sz="1200" b="1" dirty="0">
                <a:latin typeface="Lato"/>
                <a:ea typeface="Lato"/>
                <a:cs typeface="Lato"/>
              </a:rPr>
              <a:t>Build Your Character </a:t>
            </a:r>
            <a:r>
              <a:rPr lang="en-US" sz="900" dirty="0">
                <a:latin typeface="Lato"/>
                <a:ea typeface="Lato"/>
                <a:cs typeface="Lato"/>
              </a:rPr>
              <a:t>(30 minutes)</a:t>
            </a:r>
          </a:p>
          <a:p>
            <a:endParaRPr lang="en-US" sz="1200" b="1" dirty="0">
              <a:latin typeface="Lato" panose="020F0502020204030203" pitchFamily="34" charset="0"/>
            </a:endParaRPr>
          </a:p>
        </p:txBody>
      </p:sp>
      <p:sp>
        <p:nvSpPr>
          <p:cNvPr id="6" name="TextBox 5">
            <a:extLst>
              <a:ext uri="{FF2B5EF4-FFF2-40B4-BE49-F238E27FC236}">
                <a16:creationId xmlns:a16="http://schemas.microsoft.com/office/drawing/2014/main" id="{FEBE4ADA-2E9A-092C-67BC-A7161086591A}"/>
              </a:ext>
            </a:extLst>
          </p:cNvPr>
          <p:cNvSpPr txBox="1"/>
          <p:nvPr/>
        </p:nvSpPr>
        <p:spPr>
          <a:xfrm>
            <a:off x="982887" y="3830709"/>
            <a:ext cx="5082157" cy="784830"/>
          </a:xfrm>
          <a:prstGeom prst="rect">
            <a:avLst/>
          </a:prstGeom>
          <a:noFill/>
        </p:spPr>
        <p:txBody>
          <a:bodyPr wrap="square" rtlCol="0">
            <a:spAutoFit/>
          </a:bodyPr>
          <a:lstStyle/>
          <a:p>
            <a:pPr marL="214313" indent="-214313">
              <a:buFontTx/>
              <a:buChar char="-"/>
            </a:pPr>
            <a:r>
              <a:rPr lang="en-US" sz="900" dirty="0">
                <a:latin typeface="Lato" panose="020F0502020204030203" pitchFamily="34" charset="0"/>
              </a:rPr>
              <a:t>Objectives</a:t>
            </a:r>
          </a:p>
          <a:p>
            <a:pPr marL="214313" indent="-214313">
              <a:buFontTx/>
              <a:buChar char="-"/>
            </a:pPr>
            <a:r>
              <a:rPr lang="en-US" sz="900" dirty="0">
                <a:latin typeface="Lato" panose="020F0502020204030203" pitchFamily="34" charset="0"/>
              </a:rPr>
              <a:t>Discussion – Culture &amp; Diversity, Conflict and Unethical behavior</a:t>
            </a:r>
          </a:p>
          <a:p>
            <a:pPr marL="214313" indent="-214313">
              <a:buFontTx/>
              <a:buChar char="-"/>
            </a:pPr>
            <a:r>
              <a:rPr lang="en-US" sz="900" dirty="0">
                <a:latin typeface="Lato" panose="020F0502020204030203" pitchFamily="34" charset="0"/>
              </a:rPr>
              <a:t>Build Your Character – Having, Doing and Being</a:t>
            </a:r>
          </a:p>
          <a:p>
            <a:pPr marL="214313" indent="-214313">
              <a:buFontTx/>
              <a:buChar char="-"/>
            </a:pPr>
            <a:r>
              <a:rPr lang="en-US" sz="900" dirty="0">
                <a:latin typeface="Lato" panose="020F0502020204030203" pitchFamily="34" charset="0"/>
              </a:rPr>
              <a:t>Character Vocabulary in Communication</a:t>
            </a:r>
          </a:p>
          <a:p>
            <a:pPr marL="214313" indent="-214313">
              <a:buFontTx/>
              <a:buChar char="-"/>
            </a:pPr>
            <a:r>
              <a:rPr lang="en-US" sz="900" dirty="0">
                <a:latin typeface="Lato" panose="020F0502020204030203" pitchFamily="34" charset="0"/>
              </a:rPr>
              <a:t>Quote to Ponder</a:t>
            </a:r>
            <a:endParaRPr lang="en-US" sz="900" i="1" dirty="0">
              <a:latin typeface="Lato" panose="020F0502020204030203" pitchFamily="34" charset="0"/>
              <a:ea typeface="Lato Medium" panose="020F0502020204030203" pitchFamily="34" charset="0"/>
              <a:cs typeface="Lato Medium" panose="020F0502020204030203" pitchFamily="34" charset="0"/>
            </a:endParaRPr>
          </a:p>
        </p:txBody>
      </p:sp>
      <p:sp>
        <p:nvSpPr>
          <p:cNvPr id="9" name="Rectangle 8">
            <a:extLst>
              <a:ext uri="{FF2B5EF4-FFF2-40B4-BE49-F238E27FC236}">
                <a16:creationId xmlns:a16="http://schemas.microsoft.com/office/drawing/2014/main" id="{861862BE-BF84-1DF7-0CB9-088C81FAA440}"/>
              </a:ext>
            </a:extLst>
          </p:cNvPr>
          <p:cNvSpPr/>
          <p:nvPr/>
        </p:nvSpPr>
        <p:spPr>
          <a:xfrm>
            <a:off x="4021091" y="2733949"/>
            <a:ext cx="1243013"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D7C233DE-074E-84E9-B875-115B3492BBF4}"/>
              </a:ext>
            </a:extLst>
          </p:cNvPr>
          <p:cNvSpPr txBox="1"/>
          <p:nvPr/>
        </p:nvSpPr>
        <p:spPr>
          <a:xfrm>
            <a:off x="1003059" y="2628481"/>
            <a:ext cx="5082156" cy="1188787"/>
          </a:xfrm>
          <a:prstGeom prst="rect">
            <a:avLst/>
          </a:prstGeom>
          <a:noFill/>
        </p:spPr>
        <p:txBody>
          <a:bodyPr wrap="square" rtlCol="0">
            <a:spAutoFit/>
          </a:bodyPr>
          <a:lstStyle/>
          <a:p>
            <a:pPr marL="214313" indent="-214313">
              <a:buFontTx/>
              <a:buChar char="-"/>
            </a:pPr>
            <a:r>
              <a:rPr lang="en-US" sz="900" dirty="0">
                <a:latin typeface="Lato" panose="020F0502020204030203" pitchFamily="34" charset="0"/>
              </a:rPr>
              <a:t>Objectives</a:t>
            </a:r>
          </a:p>
          <a:p>
            <a:pPr marL="214313" indent="-214313">
              <a:buFontTx/>
              <a:buChar char="-"/>
            </a:pPr>
            <a:r>
              <a:rPr lang="en-US" sz="900" dirty="0">
                <a:latin typeface="Lato" panose="020F0502020204030203" pitchFamily="34" charset="0"/>
              </a:rPr>
              <a:t>Pillars of Character </a:t>
            </a:r>
          </a:p>
          <a:p>
            <a:pPr marL="214313" indent="-214313">
              <a:buFontTx/>
              <a:buChar char="-"/>
            </a:pPr>
            <a:r>
              <a:rPr lang="en-US" sz="900" dirty="0">
                <a:latin typeface="Lato" panose="020F0502020204030203" pitchFamily="34" charset="0"/>
              </a:rPr>
              <a:t>Case Study: Mindset - Treat every person you encounter with dignity and respect</a:t>
            </a:r>
          </a:p>
          <a:p>
            <a:pPr marL="214313" indent="-214313">
              <a:buFontTx/>
              <a:buChar char="-"/>
            </a:pPr>
            <a:r>
              <a:rPr lang="en-US" sz="900" dirty="0">
                <a:latin typeface="Lato" panose="020F0502020204030203" pitchFamily="34" charset="0"/>
              </a:rPr>
              <a:t>Case Study: Mindset - What we think, we become</a:t>
            </a:r>
          </a:p>
          <a:p>
            <a:pPr marL="214313" indent="-214313">
              <a:buFontTx/>
              <a:buChar char="-"/>
            </a:pPr>
            <a:r>
              <a:rPr lang="en-US" sz="900" dirty="0">
                <a:latin typeface="Lato" panose="020F0502020204030203" pitchFamily="34" charset="0"/>
              </a:rPr>
              <a:t>Quote to Ponder</a:t>
            </a:r>
            <a:endParaRPr lang="en-US" sz="825" i="1" dirty="0">
              <a:latin typeface="Lato" panose="020F0502020204030203" pitchFamily="34" charset="0"/>
              <a:ea typeface="Lato Medium" panose="020F0502020204030203" pitchFamily="34" charset="0"/>
              <a:cs typeface="Lato Medium" panose="020F0502020204030203" pitchFamily="34" charset="0"/>
            </a:endParaRPr>
          </a:p>
          <a:p>
            <a:r>
              <a:rPr lang="en-US" sz="825" i="1" dirty="0">
                <a:latin typeface="Lato" panose="020F0502020204030203" pitchFamily="34" charset="0"/>
                <a:ea typeface="Lato Medium" panose="020F0502020204030203" pitchFamily="34" charset="0"/>
                <a:cs typeface="Lato Medium" panose="020F0502020204030203" pitchFamily="34" charset="0"/>
              </a:rPr>
              <a:t> </a:t>
            </a:r>
          </a:p>
          <a:p>
            <a:r>
              <a:rPr lang="en-US" sz="900" b="1" i="1" dirty="0">
                <a:latin typeface="Lato" panose="020F0502020204030203" pitchFamily="34" charset="0"/>
              </a:rPr>
              <a:t> </a:t>
            </a:r>
          </a:p>
          <a:p>
            <a:pPr marL="214313" indent="-214313">
              <a:buFontTx/>
              <a:buChar char="-"/>
            </a:pPr>
            <a:endParaRPr lang="en-US" sz="900" dirty="0">
              <a:latin typeface="Lato" panose="020F0502020204030203" pitchFamily="34" charset="0"/>
            </a:endParaRPr>
          </a:p>
        </p:txBody>
      </p:sp>
      <p:sp>
        <p:nvSpPr>
          <p:cNvPr id="10" name="Rectangle 9">
            <a:extLst>
              <a:ext uri="{FF2B5EF4-FFF2-40B4-BE49-F238E27FC236}">
                <a16:creationId xmlns:a16="http://schemas.microsoft.com/office/drawing/2014/main" id="{542F1650-CA61-79A0-C103-75D226CB2FA8}"/>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637B57F-68CE-AB52-2B02-12D307FDD24A}"/>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a:t>
            </a:r>
          </a:p>
        </p:txBody>
      </p:sp>
    </p:spTree>
    <p:extLst>
      <p:ext uri="{BB962C8B-B14F-4D97-AF65-F5344CB8AC3E}">
        <p14:creationId xmlns:p14="http://schemas.microsoft.com/office/powerpoint/2010/main" val="3776217059"/>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Free Stock Photo of Coworkers talking and smiling while standing in the  office | Download Free Images and Free Illustrations">
            <a:extLst>
              <a:ext uri="{FF2B5EF4-FFF2-40B4-BE49-F238E27FC236}">
                <a16:creationId xmlns:a16="http://schemas.microsoft.com/office/drawing/2014/main" id="{4E7434FC-B4FF-7F3D-E40A-6E22C4C935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5151"/>
          <a:stretch/>
        </p:blipFill>
        <p:spPr bwMode="auto">
          <a:xfrm>
            <a:off x="2590961" y="0"/>
            <a:ext cx="6553039"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 up of a logo&#10;&#10;Description automatically generated">
            <a:extLst>
              <a:ext uri="{FF2B5EF4-FFF2-40B4-BE49-F238E27FC236}">
                <a16:creationId xmlns:a16="http://schemas.microsoft.com/office/drawing/2014/main" id="{34FD364F-B6D4-4A6B-CBCC-54E958C1FE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200" y="0"/>
            <a:ext cx="5942227" cy="5143500"/>
          </a:xfrm>
          <a:prstGeom prst="rect">
            <a:avLst/>
          </a:prstGeom>
        </p:spPr>
      </p:pic>
      <p:sp>
        <p:nvSpPr>
          <p:cNvPr id="5" name="TextBox 1">
            <a:extLst>
              <a:ext uri="{FF2B5EF4-FFF2-40B4-BE49-F238E27FC236}">
                <a16:creationId xmlns:a16="http://schemas.microsoft.com/office/drawing/2014/main" id="{3E6D4D2D-5515-3E45-96F4-A7726B36F432}"/>
              </a:ext>
            </a:extLst>
          </p:cNvPr>
          <p:cNvSpPr txBox="1"/>
          <p:nvPr/>
        </p:nvSpPr>
        <p:spPr>
          <a:xfrm>
            <a:off x="424665" y="2308800"/>
            <a:ext cx="3188693" cy="461665"/>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685800"/>
            <a:r>
              <a:rPr lang="en-US" sz="2400" dirty="0">
                <a:solidFill>
                  <a:schemeClr val="accent6"/>
                </a:solidFill>
                <a:latin typeface="Lato" panose="020F0502020204030203" pitchFamily="34" charset="0"/>
                <a:ea typeface="Lato Medium" panose="020F0502020204030203" pitchFamily="34" charset="0"/>
                <a:cs typeface="Lato Medium" panose="020F0502020204030203" pitchFamily="34" charset="0"/>
              </a:rPr>
              <a:t>Core Value: Character</a:t>
            </a:r>
          </a:p>
        </p:txBody>
      </p:sp>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332634" y="106861"/>
            <a:ext cx="1170741" cy="167459"/>
          </a:xfrm>
          <a:prstGeom prst="rect">
            <a:avLst/>
          </a:prstGeom>
        </p:spPr>
      </p:pic>
      <p:pic>
        <p:nvPicPr>
          <p:cNvPr id="2" name="Picture 1">
            <a:extLst>
              <a:ext uri="{FF2B5EF4-FFF2-40B4-BE49-F238E27FC236}">
                <a16:creationId xmlns:a16="http://schemas.microsoft.com/office/drawing/2014/main" id="{147EF385-FA7C-820B-E260-B1AE8BF44966}"/>
              </a:ext>
            </a:extLst>
          </p:cNvPr>
          <p:cNvPicPr>
            <a:picLocks noChangeAspect="1"/>
          </p:cNvPicPr>
          <p:nvPr/>
        </p:nvPicPr>
        <p:blipFill>
          <a:blip r:embed="rId6"/>
          <a:stretch>
            <a:fillRect/>
          </a:stretch>
        </p:blipFill>
        <p:spPr>
          <a:xfrm>
            <a:off x="8079757" y="4242016"/>
            <a:ext cx="906861" cy="758609"/>
          </a:xfrm>
          <a:prstGeom prst="rect">
            <a:avLst/>
          </a:prstGeom>
        </p:spPr>
      </p:pic>
      <p:sp>
        <p:nvSpPr>
          <p:cNvPr id="3" name="Rectangle 2">
            <a:extLst>
              <a:ext uri="{FF2B5EF4-FFF2-40B4-BE49-F238E27FC236}">
                <a16:creationId xmlns:a16="http://schemas.microsoft.com/office/drawing/2014/main" id="{341F74D5-DA9B-69CC-F0FC-1899AE7FA1B1}"/>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5C2748-5BAA-4820-B24D-2943025254A2}"/>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2</a:t>
            </a:r>
          </a:p>
        </p:txBody>
      </p:sp>
    </p:spTree>
    <p:extLst>
      <p:ext uri="{BB962C8B-B14F-4D97-AF65-F5344CB8AC3E}">
        <p14:creationId xmlns:p14="http://schemas.microsoft.com/office/powerpoint/2010/main" val="1563294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5640F7C5-6F67-2E11-B0B9-19C1E12D6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4471" y="0"/>
            <a:ext cx="5698973" cy="5143500"/>
          </a:xfrm>
          <a:prstGeom prst="rect">
            <a:avLst/>
          </a:prstGeom>
        </p:spPr>
      </p:pic>
      <p:pic>
        <p:nvPicPr>
          <p:cNvPr id="4098" name="Picture 2" descr="Real Estate and Property Management Software | RealPage">
            <a:extLst>
              <a:ext uri="{FF2B5EF4-FFF2-40B4-BE49-F238E27FC236}">
                <a16:creationId xmlns:a16="http://schemas.microsoft.com/office/drawing/2014/main" id="{8F13AD12-4335-967E-CDB8-A3513D6BED5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606" y="217489"/>
            <a:ext cx="1277109" cy="1553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26D41FA-B604-864B-90AF-5EB11BB36B76}"/>
              </a:ext>
            </a:extLst>
          </p:cNvPr>
          <p:cNvSpPr txBox="1"/>
          <p:nvPr/>
        </p:nvSpPr>
        <p:spPr>
          <a:xfrm>
            <a:off x="464606" y="675742"/>
            <a:ext cx="8344599" cy="738664"/>
          </a:xfrm>
          <a:prstGeom prst="rect">
            <a:avLst/>
          </a:prstGeom>
          <a:noFill/>
        </p:spPr>
        <p:txBody>
          <a:bodyPr wrap="square">
            <a:spAutoFit/>
          </a:bodyPr>
          <a:lstStyle/>
          <a:p>
            <a:r>
              <a:rPr lang="en-US" sz="1050" b="1" dirty="0">
                <a:latin typeface="Lato" panose="020F0502020204030203" pitchFamily="34" charset="0"/>
              </a:rPr>
              <a:t>Overview</a:t>
            </a:r>
          </a:p>
          <a:p>
            <a:r>
              <a:rPr lang="en-US" sz="1050" dirty="0">
                <a:latin typeface="Lato" panose="020F0502020204030203" pitchFamily="34" charset="0"/>
              </a:rPr>
              <a:t>The RealPage Core Values - Manager Learning Resources aim to help ensure alignment of the core values’ definition throughout RealPage. RealPage leaders and teammates will have thoughtful conversations and engage in helpful activities that will help them embody the core values’ key actions. </a:t>
            </a:r>
          </a:p>
        </p:txBody>
      </p:sp>
      <p:sp>
        <p:nvSpPr>
          <p:cNvPr id="14" name="TextBox 13">
            <a:extLst>
              <a:ext uri="{FF2B5EF4-FFF2-40B4-BE49-F238E27FC236}">
                <a16:creationId xmlns:a16="http://schemas.microsoft.com/office/drawing/2014/main" id="{17CF3AD5-66AB-5530-9D5B-A71FF54614BA}"/>
              </a:ext>
            </a:extLst>
          </p:cNvPr>
          <p:cNvSpPr txBox="1"/>
          <p:nvPr/>
        </p:nvSpPr>
        <p:spPr>
          <a:xfrm>
            <a:off x="581673" y="1801525"/>
            <a:ext cx="7980654" cy="2834622"/>
          </a:xfrm>
          <a:prstGeom prst="rect">
            <a:avLst/>
          </a:prstGeom>
          <a:noFill/>
        </p:spPr>
        <p:txBody>
          <a:bodyPr wrap="square" lIns="91440" tIns="45720" rIns="91440" bIns="45720" anchor="t">
            <a:spAutoFit/>
          </a:bodyPr>
          <a:lstStyle/>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Good character builds the trust needed for success. These learning resources aim to help participants develop their character by creating awareness of the areas they can improve on, exploring the importance and pillars of character and providing tools to build character.</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Module I: Impact of Character</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Character is best shown when no one is watching. This first module aims to help participants take a close look at their actions to realize areas of character that they can or need to improve on. They will also explore the importance of good character as an employee or a leader and to the organization helping them move towards development.</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Module II: Pillars of Character Model</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In this second module, participants will have a better understanding of what is considered ethical through the four pillars of character. They will also have an opportunity to discuss behavior that they want to improve and how they can do it. Then, through case studies they will determine actions that could improve character.</a:t>
            </a:r>
          </a:p>
          <a:p>
            <a:pPr>
              <a:lnSpc>
                <a:spcPct val="107000"/>
              </a:lnSpc>
              <a:spcAft>
                <a:spcPts val="800"/>
              </a:spcAft>
            </a:pPr>
            <a:r>
              <a:rPr lang="en-US" sz="1000" b="1" kern="100" dirty="0">
                <a:solidFill>
                  <a:srgbClr val="35A6A2"/>
                </a:solidFill>
                <a:effectLst/>
                <a:latin typeface="Lato"/>
                <a:ea typeface="Calibri" panose="020F0502020204030204" pitchFamily="34" charset="0"/>
                <a:cs typeface="Times New Roman"/>
              </a:rPr>
              <a:t>Module III: </a:t>
            </a:r>
            <a:r>
              <a:rPr lang="en-US" sz="1000" b="1" kern="100" dirty="0">
                <a:solidFill>
                  <a:srgbClr val="35A6A2"/>
                </a:solidFill>
                <a:latin typeface="Lato"/>
                <a:ea typeface="Calibri" panose="020F0502020204030204" pitchFamily="34" charset="0"/>
                <a:cs typeface="Times New Roman"/>
              </a:rPr>
              <a:t>Build Your Character</a:t>
            </a:r>
            <a:endParaRPr lang="en-US" sz="1000" b="1" kern="100" dirty="0">
              <a:solidFill>
                <a:srgbClr val="35A6A2"/>
              </a:solidFill>
              <a:effectLst/>
              <a:latin typeface="Lato" panose="020F0502020204030203"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000" b="1" kern="100" dirty="0">
                <a:solidFill>
                  <a:srgbClr val="35A6A2"/>
                </a:solidFill>
                <a:effectLst/>
                <a:latin typeface="Lato" panose="020F0502020204030203" pitchFamily="34" charset="0"/>
                <a:ea typeface="Calibri" panose="020F0502020204030204" pitchFamily="34" charset="0"/>
                <a:cs typeface="Times New Roman" panose="02020603050405020304" pitchFamily="18" charset="0"/>
              </a:rPr>
              <a:t>The first two modules focus on self-awareness and understanding the behaviors that comprise good character. In this third module, learners will explore tools to help build their character and to promote good character when communicating with others. </a:t>
            </a:r>
          </a:p>
        </p:txBody>
      </p:sp>
      <p:sp>
        <p:nvSpPr>
          <p:cNvPr id="2" name="Rectangle 1">
            <a:extLst>
              <a:ext uri="{FF2B5EF4-FFF2-40B4-BE49-F238E27FC236}">
                <a16:creationId xmlns:a16="http://schemas.microsoft.com/office/drawing/2014/main" id="{027A1EB1-9505-ACD8-0FA5-9E4723A81F65}"/>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282DD78-EF9C-D0B9-07B3-9DBA259F4456}"/>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3</a:t>
            </a:r>
          </a:p>
        </p:txBody>
      </p:sp>
      <p:sp>
        <p:nvSpPr>
          <p:cNvPr id="4" name="Rectangle 3">
            <a:extLst>
              <a:ext uri="{FF2B5EF4-FFF2-40B4-BE49-F238E27FC236}">
                <a16:creationId xmlns:a16="http://schemas.microsoft.com/office/drawing/2014/main" id="{A8BB3819-5B8C-C732-637A-095AB8C9EF85}"/>
              </a:ext>
            </a:extLst>
          </p:cNvPr>
          <p:cNvSpPr/>
          <p:nvPr/>
        </p:nvSpPr>
        <p:spPr>
          <a:xfrm>
            <a:off x="7803444" y="4849257"/>
            <a:ext cx="1266215"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a:extLst>
              <a:ext uri="{FF2B5EF4-FFF2-40B4-BE49-F238E27FC236}">
                <a16:creationId xmlns:a16="http://schemas.microsoft.com/office/drawing/2014/main" id="{8212762E-88E6-AEC0-C5E3-6693026CFE26}"/>
              </a:ext>
            </a:extLst>
          </p:cNvPr>
          <p:cNvSpPr/>
          <p:nvPr/>
        </p:nvSpPr>
        <p:spPr>
          <a:xfrm>
            <a:off x="502034" y="1545158"/>
            <a:ext cx="8344599" cy="3220125"/>
          </a:xfrm>
          <a:prstGeom prst="roundRect">
            <a:avLst>
              <a:gd name="adj" fmla="val 3878"/>
            </a:avLst>
          </a:prstGeom>
          <a:noFill/>
          <a:ln w="6350">
            <a:solidFill>
              <a:srgbClr val="A9AEAF"/>
            </a:solidFill>
            <a:miter lim="400000"/>
          </a:ln>
        </p:spPr>
        <p:txBody>
          <a:bodyPr lIns="0" tIns="0" rIns="0" bIns="0" anchor="ctr"/>
          <a:lstStyle/>
          <a:p>
            <a:endParaRPr sz="900" dirty="0"/>
          </a:p>
        </p:txBody>
      </p:sp>
      <p:sp>
        <p:nvSpPr>
          <p:cNvPr id="6" name="Shape">
            <a:extLst>
              <a:ext uri="{FF2B5EF4-FFF2-40B4-BE49-F238E27FC236}">
                <a16:creationId xmlns:a16="http://schemas.microsoft.com/office/drawing/2014/main" id="{3543BFAF-8E95-F048-CE9E-35C08B4E0762}"/>
              </a:ext>
            </a:extLst>
          </p:cNvPr>
          <p:cNvSpPr/>
          <p:nvPr/>
        </p:nvSpPr>
        <p:spPr>
          <a:xfrm>
            <a:off x="503685" y="1526427"/>
            <a:ext cx="1358604" cy="239524"/>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chemeClr val="accent6"/>
          </a:solidFill>
          <a:ln w="12700">
            <a:miter lim="400000"/>
          </a:ln>
        </p:spPr>
        <p:txBody>
          <a:bodyPr lIns="0" tIns="0" rIns="0" bIns="0" anchor="ctr"/>
          <a:lstStyle/>
          <a:p>
            <a:endParaRPr sz="900"/>
          </a:p>
        </p:txBody>
      </p:sp>
      <p:sp>
        <p:nvSpPr>
          <p:cNvPr id="8" name="TextBox 7">
            <a:extLst>
              <a:ext uri="{FF2B5EF4-FFF2-40B4-BE49-F238E27FC236}">
                <a16:creationId xmlns:a16="http://schemas.microsoft.com/office/drawing/2014/main" id="{EF1A995D-C79A-224C-4943-53DE9D266655}"/>
              </a:ext>
            </a:extLst>
          </p:cNvPr>
          <p:cNvSpPr txBox="1"/>
          <p:nvPr/>
        </p:nvSpPr>
        <p:spPr>
          <a:xfrm>
            <a:off x="764287" y="1510372"/>
            <a:ext cx="4572000" cy="276999"/>
          </a:xfrm>
          <a:prstGeom prst="rect">
            <a:avLst/>
          </a:prstGeom>
          <a:noFill/>
        </p:spPr>
        <p:txBody>
          <a:bodyPr wrap="square">
            <a:spAutoFit/>
          </a:bodyPr>
          <a:lstStyle/>
          <a:p>
            <a:r>
              <a:rPr lang="en-US" sz="1200" dirty="0">
                <a:solidFill>
                  <a:schemeClr val="bg1"/>
                </a:solidFill>
                <a:latin typeface="Lato" panose="020F0502020204030203" pitchFamily="34" charset="0"/>
              </a:rPr>
              <a:t>Character</a:t>
            </a:r>
          </a:p>
        </p:txBody>
      </p:sp>
    </p:spTree>
    <p:extLst>
      <p:ext uri="{BB962C8B-B14F-4D97-AF65-F5344CB8AC3E}">
        <p14:creationId xmlns:p14="http://schemas.microsoft.com/office/powerpoint/2010/main" val="123087849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8CDB9F-4F35-2DE2-E2D3-009F3EC48931}"/>
              </a:ext>
            </a:extLst>
          </p:cNvPr>
          <p:cNvPicPr>
            <a:picLocks noChangeAspect="1"/>
          </p:cNvPicPr>
          <p:nvPr/>
        </p:nvPicPr>
        <p:blipFill rotWithShape="1">
          <a:blip r:embed="rId3"/>
          <a:srcRect l="5689" t="1289" r="16505" b="1191"/>
          <a:stretch/>
        </p:blipFill>
        <p:spPr>
          <a:xfrm>
            <a:off x="-16194" y="-260"/>
            <a:ext cx="204988" cy="5138528"/>
          </a:xfrm>
          <a:prstGeom prst="rect">
            <a:avLst/>
          </a:prstGeom>
        </p:spPr>
      </p:pic>
      <p:sp>
        <p:nvSpPr>
          <p:cNvPr id="4" name="Rectangle 3">
            <a:extLst>
              <a:ext uri="{FF2B5EF4-FFF2-40B4-BE49-F238E27FC236}">
                <a16:creationId xmlns:a16="http://schemas.microsoft.com/office/drawing/2014/main" id="{174F2F1F-3277-4C89-961E-3BEBAF06C7C6}"/>
              </a:ext>
            </a:extLst>
          </p:cNvPr>
          <p:cNvSpPr/>
          <p:nvPr/>
        </p:nvSpPr>
        <p:spPr>
          <a:xfrm>
            <a:off x="6299200" y="4771390"/>
            <a:ext cx="2753360" cy="278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E2ACF75-6929-8354-1AE9-8066B7C41B8B}"/>
              </a:ext>
            </a:extLst>
          </p:cNvPr>
          <p:cNvPicPr>
            <a:picLocks noChangeAspect="1"/>
          </p:cNvPicPr>
          <p:nvPr/>
        </p:nvPicPr>
        <p:blipFill>
          <a:blip r:embed="rId4"/>
          <a:stretch>
            <a:fillRect/>
          </a:stretch>
        </p:blipFill>
        <p:spPr>
          <a:xfrm>
            <a:off x="829102" y="262974"/>
            <a:ext cx="7808686" cy="4356293"/>
          </a:xfrm>
          <a:prstGeom prst="rect">
            <a:avLst/>
          </a:prstGeom>
        </p:spPr>
      </p:pic>
      <p:sp>
        <p:nvSpPr>
          <p:cNvPr id="3" name="Rectangle 2">
            <a:extLst>
              <a:ext uri="{FF2B5EF4-FFF2-40B4-BE49-F238E27FC236}">
                <a16:creationId xmlns:a16="http://schemas.microsoft.com/office/drawing/2014/main" id="{47EE74FE-A7E8-47B0-CA79-3DF01E6F59BB}"/>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8F617A-3C3B-4AED-E5C3-049B90B32774}"/>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4</a:t>
            </a:r>
          </a:p>
        </p:txBody>
      </p:sp>
    </p:spTree>
    <p:extLst>
      <p:ext uri="{BB962C8B-B14F-4D97-AF65-F5344CB8AC3E}">
        <p14:creationId xmlns:p14="http://schemas.microsoft.com/office/powerpoint/2010/main" val="321054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4098" name="Picture 2" descr="Five questions to... Hamburg's We Dart start-up | Hamburg News">
            <a:extLst>
              <a:ext uri="{FF2B5EF4-FFF2-40B4-BE49-F238E27FC236}">
                <a16:creationId xmlns:a16="http://schemas.microsoft.com/office/drawing/2014/main" id="{67C54EE5-0CDB-F073-CAE7-D4D50DF203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825" r="41888"/>
          <a:stretch/>
        </p:blipFill>
        <p:spPr bwMode="auto">
          <a:xfrm>
            <a:off x="6725682" y="0"/>
            <a:ext cx="241437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lose up of a logo&#10;&#10;Description automatically generated">
            <a:extLst>
              <a:ext uri="{FF2B5EF4-FFF2-40B4-BE49-F238E27FC236}">
                <a16:creationId xmlns:a16="http://schemas.microsoft.com/office/drawing/2014/main" id="{3661070B-1B86-F727-9A4F-897BFE94F2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3200" y="0"/>
            <a:ext cx="6197600" cy="5143500"/>
          </a:xfrm>
          <a:prstGeom prst="rect">
            <a:avLst/>
          </a:prstGeom>
        </p:spPr>
      </p:pic>
      <p:sp>
        <p:nvSpPr>
          <p:cNvPr id="9" name="Title 8">
            <a:extLst>
              <a:ext uri="{FF2B5EF4-FFF2-40B4-BE49-F238E27FC236}">
                <a16:creationId xmlns:a16="http://schemas.microsoft.com/office/drawing/2014/main" id="{0C70E330-F3E2-4534-30C4-FFFCE064721F}"/>
              </a:ext>
            </a:extLst>
          </p:cNvPr>
          <p:cNvSpPr txBox="1">
            <a:spLocks/>
          </p:cNvSpPr>
          <p:nvPr/>
        </p:nvSpPr>
        <p:spPr>
          <a:xfrm>
            <a:off x="608646" y="1469380"/>
            <a:ext cx="3642452"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dirty="0">
                <a:solidFill>
                  <a:schemeClr val="tx2">
                    <a:lumMod val="75000"/>
                  </a:schemeClr>
                </a:solidFill>
                <a:latin typeface="Lato"/>
                <a:ea typeface="Lato"/>
                <a:cs typeface="Lato"/>
              </a:rPr>
              <a:t>Build Your Character: Objective</a:t>
            </a:r>
            <a:endParaRPr lang="en-US" sz="2000" dirty="0">
              <a:solidFill>
                <a:schemeClr val="tx2">
                  <a:lumMod val="75000"/>
                </a:schemeClr>
              </a:solidFill>
            </a:endParaRPr>
          </a:p>
        </p:txBody>
      </p:sp>
      <p:sp>
        <p:nvSpPr>
          <p:cNvPr id="10" name="TextBox 9">
            <a:extLst>
              <a:ext uri="{FF2B5EF4-FFF2-40B4-BE49-F238E27FC236}">
                <a16:creationId xmlns:a16="http://schemas.microsoft.com/office/drawing/2014/main" id="{350076C6-A3D8-7D21-D49C-2F00B68578F2}"/>
              </a:ext>
            </a:extLst>
          </p:cNvPr>
          <p:cNvSpPr txBox="1"/>
          <p:nvPr/>
        </p:nvSpPr>
        <p:spPr>
          <a:xfrm>
            <a:off x="509491" y="2288726"/>
            <a:ext cx="393539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defTabSz="685800">
              <a:buFont typeface="Arial"/>
              <a:buChar char="•"/>
            </a:pPr>
            <a:r>
              <a:rPr lang="en-US" sz="1600" dirty="0">
                <a:solidFill>
                  <a:schemeClr val="accent6"/>
                </a:solidFill>
                <a:latin typeface="Lato"/>
                <a:ea typeface="Lato Medium"/>
                <a:cs typeface="Lato Medium"/>
              </a:rPr>
              <a:t>Equip oneself with information to build character</a:t>
            </a:r>
          </a:p>
          <a:p>
            <a:pPr defTabSz="685800"/>
            <a:endParaRPr lang="en-US" sz="1600" dirty="0">
              <a:solidFill>
                <a:schemeClr val="accent6"/>
              </a:solidFill>
              <a:latin typeface="Lato" panose="020F0502020204030203" pitchFamily="34" charset="0"/>
              <a:ea typeface="Lato Medium"/>
              <a:cs typeface="Lato Medium"/>
            </a:endParaRPr>
          </a:p>
          <a:p>
            <a:pPr defTabSz="685800"/>
            <a:endParaRPr lang="en-US" sz="1600" dirty="0">
              <a:solidFill>
                <a:schemeClr val="accent6"/>
              </a:solidFill>
              <a:latin typeface="Lato" panose="020F0502020204030203" pitchFamily="34" charset="0"/>
              <a:ea typeface="Lato Medium"/>
              <a:cs typeface="Lato Medium"/>
            </a:endParaRPr>
          </a:p>
        </p:txBody>
      </p:sp>
      <p:pic>
        <p:nvPicPr>
          <p:cNvPr id="11" name="Picture 10">
            <a:extLst>
              <a:ext uri="{FF2B5EF4-FFF2-40B4-BE49-F238E27FC236}">
                <a16:creationId xmlns:a16="http://schemas.microsoft.com/office/drawing/2014/main" id="{EF75C9A6-9EBB-6C9E-99CC-92057E6C96E1}"/>
              </a:ext>
            </a:extLst>
          </p:cNvPr>
          <p:cNvPicPr>
            <a:picLocks noChangeAspect="1"/>
          </p:cNvPicPr>
          <p:nvPr/>
        </p:nvPicPr>
        <p:blipFill>
          <a:blip r:embed="rId6"/>
          <a:stretch>
            <a:fillRect/>
          </a:stretch>
        </p:blipFill>
        <p:spPr>
          <a:xfrm>
            <a:off x="8079757" y="4242016"/>
            <a:ext cx="906861" cy="758609"/>
          </a:xfrm>
          <a:prstGeom prst="rect">
            <a:avLst/>
          </a:prstGeom>
        </p:spPr>
      </p:pic>
      <p:pic>
        <p:nvPicPr>
          <p:cNvPr id="4" name="Picture 3" descr="A picture containing text, sign, clipart&#10;&#10;Description automatically generated">
            <a:extLst>
              <a:ext uri="{FF2B5EF4-FFF2-40B4-BE49-F238E27FC236}">
                <a16:creationId xmlns:a16="http://schemas.microsoft.com/office/drawing/2014/main" id="{756D4D25-537D-C4AC-4E05-06C8F2E23720}"/>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319432" y="200526"/>
            <a:ext cx="1170741" cy="167459"/>
          </a:xfrm>
          <a:prstGeom prst="rect">
            <a:avLst/>
          </a:prstGeom>
        </p:spPr>
      </p:pic>
      <p:sp>
        <p:nvSpPr>
          <p:cNvPr id="6" name="Rectangle 5">
            <a:extLst>
              <a:ext uri="{FF2B5EF4-FFF2-40B4-BE49-F238E27FC236}">
                <a16:creationId xmlns:a16="http://schemas.microsoft.com/office/drawing/2014/main" id="{9AF46A4F-1914-AEF1-A5F8-923CE7B3ACC3}"/>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CF600C6-CC27-BCDB-EA72-43E7DC56A40E}"/>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5</a:t>
            </a:r>
          </a:p>
        </p:txBody>
      </p:sp>
      <p:sp>
        <p:nvSpPr>
          <p:cNvPr id="13" name="Title 8">
            <a:extLst>
              <a:ext uri="{FF2B5EF4-FFF2-40B4-BE49-F238E27FC236}">
                <a16:creationId xmlns:a16="http://schemas.microsoft.com/office/drawing/2014/main" id="{0F750897-F6B2-5CE9-2742-623BCFF2E0EC}"/>
              </a:ext>
            </a:extLst>
          </p:cNvPr>
          <p:cNvSpPr txBox="1">
            <a:spLocks/>
          </p:cNvSpPr>
          <p:nvPr/>
        </p:nvSpPr>
        <p:spPr>
          <a:xfrm>
            <a:off x="639323" y="1211308"/>
            <a:ext cx="1202845" cy="516143"/>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pPr defTabSz="914377"/>
            <a:r>
              <a:rPr lang="en-US" sz="1600" dirty="0">
                <a:solidFill>
                  <a:srgbClr val="4D5456">
                    <a:lumMod val="75000"/>
                  </a:srgbClr>
                </a:solidFill>
              </a:rPr>
              <a:t>Module III</a:t>
            </a:r>
          </a:p>
        </p:txBody>
      </p:sp>
    </p:spTree>
    <p:extLst>
      <p:ext uri="{BB962C8B-B14F-4D97-AF65-F5344CB8AC3E}">
        <p14:creationId xmlns:p14="http://schemas.microsoft.com/office/powerpoint/2010/main" val="1266339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4" name="Picture 3" descr="A dandelion flower with seeds&#10;&#10;Description automatically generated with low confidence">
            <a:extLst>
              <a:ext uri="{FF2B5EF4-FFF2-40B4-BE49-F238E27FC236}">
                <a16:creationId xmlns:a16="http://schemas.microsoft.com/office/drawing/2014/main" id="{CB4E1A0A-FA4C-FC4B-EC60-B3D7829F35C3}"/>
              </a:ext>
            </a:extLst>
          </p:cNvPr>
          <p:cNvPicPr>
            <a:picLocks noChangeAspect="1"/>
          </p:cNvPicPr>
          <p:nvPr/>
        </p:nvPicPr>
        <p:blipFill rotWithShape="1">
          <a:blip r:embed="rId4"/>
          <a:srcRect l="54225" r="12807"/>
          <a:stretch/>
        </p:blipFill>
        <p:spPr>
          <a:xfrm>
            <a:off x="6600599" y="0"/>
            <a:ext cx="2543401" cy="5143500"/>
          </a:xfrm>
          <a:prstGeom prst="rect">
            <a:avLst/>
          </a:prstGeom>
        </p:spPr>
      </p:pic>
      <p:pic>
        <p:nvPicPr>
          <p:cNvPr id="6" name="Picture 5" descr="A close up of a logo&#10;&#10;Description automatically generated">
            <a:extLst>
              <a:ext uri="{FF2B5EF4-FFF2-40B4-BE49-F238E27FC236}">
                <a16:creationId xmlns:a16="http://schemas.microsoft.com/office/drawing/2014/main" id="{5142409F-9E47-2F81-A325-3C5CBAEAE2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9705" y="0"/>
            <a:ext cx="5312082" cy="5143500"/>
          </a:xfrm>
          <a:prstGeom prst="rect">
            <a:avLst/>
          </a:prstGeom>
        </p:spPr>
      </p:pic>
      <p:sp>
        <p:nvSpPr>
          <p:cNvPr id="8" name="Text Placeholder 2">
            <a:extLst>
              <a:ext uri="{FF2B5EF4-FFF2-40B4-BE49-F238E27FC236}">
                <a16:creationId xmlns:a16="http://schemas.microsoft.com/office/drawing/2014/main" id="{321EA181-B36C-F982-3CC2-7FAABB6F7DBB}"/>
              </a:ext>
            </a:extLst>
          </p:cNvPr>
          <p:cNvSpPr txBox="1">
            <a:spLocks/>
          </p:cNvSpPr>
          <p:nvPr/>
        </p:nvSpPr>
        <p:spPr>
          <a:xfrm>
            <a:off x="185276" y="1469489"/>
            <a:ext cx="6072978" cy="2937059"/>
          </a:xfrm>
          <a:prstGeom prst="rect">
            <a:avLst/>
          </a:prstGeom>
        </p:spPr>
        <p:txBody>
          <a:bodyPr vert="horz" lIns="0" tIns="0" rIns="0" bIns="0" rtlCol="0" anchor="t">
            <a:normAutofit fontScale="85000" lnSpcReduction="20000"/>
          </a:bodyPr>
          <a:lstStyle>
            <a:lvl1pPr marL="0" indent="0" algn="l" defTabSz="685800" rtl="0" eaLnBrk="1" latinLnBrk="0" hangingPunct="1">
              <a:lnSpc>
                <a:spcPct val="90000"/>
              </a:lnSpc>
              <a:spcBef>
                <a:spcPts val="750"/>
              </a:spcBef>
              <a:buFont typeface="Arial" panose="020B0604020202020204" pitchFamily="34" charset="0"/>
              <a:buNone/>
              <a:defRPr sz="1200" b="0" i="0" kern="1200" cap="none"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236538" indent="-119063" algn="l" defTabSz="685800" rtl="0" eaLnBrk="1" latinLnBrk="0" hangingPunct="1">
              <a:lnSpc>
                <a:spcPct val="90000"/>
              </a:lnSpc>
              <a:spcBef>
                <a:spcPts val="375"/>
              </a:spcBef>
              <a:buFont typeface="Arial" panose="020B0604020202020204" pitchFamily="34" charset="0"/>
              <a:buChar char="•"/>
              <a:tabLst/>
              <a:defRPr sz="11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sz="1800" b="1" dirty="0">
                <a:solidFill>
                  <a:srgbClr val="000000"/>
                </a:solidFill>
              </a:rPr>
              <a:t>honest</a:t>
            </a:r>
            <a:r>
              <a:rPr lang="en-US" sz="1800" dirty="0">
                <a:solidFill>
                  <a:srgbClr val="000000"/>
                </a:solidFill>
              </a:rPr>
              <a:t> enough to admit all my shortcomings;</a:t>
            </a:r>
            <a:endParaRPr lang="en-US" dirty="0"/>
          </a:p>
          <a:p>
            <a:pPr algn="ctr"/>
            <a:r>
              <a:rPr lang="en-US" sz="1800" b="1" dirty="0">
                <a:solidFill>
                  <a:srgbClr val="000000"/>
                </a:solidFill>
              </a:rPr>
              <a:t>brilliant</a:t>
            </a:r>
            <a:r>
              <a:rPr lang="en-US" sz="1800" dirty="0">
                <a:solidFill>
                  <a:srgbClr val="000000"/>
                </a:solidFill>
              </a:rPr>
              <a:t> enough to accept flattery without it making me arrogant;</a:t>
            </a:r>
          </a:p>
          <a:p>
            <a:pPr algn="ctr"/>
            <a:r>
              <a:rPr lang="en-US" sz="1800" b="1" dirty="0">
                <a:solidFill>
                  <a:srgbClr val="000000"/>
                </a:solidFill>
              </a:rPr>
              <a:t>tall</a:t>
            </a:r>
            <a:r>
              <a:rPr lang="en-US" sz="1800" dirty="0">
                <a:solidFill>
                  <a:srgbClr val="000000"/>
                </a:solidFill>
              </a:rPr>
              <a:t> enough to tower above deceit;</a:t>
            </a:r>
          </a:p>
          <a:p>
            <a:pPr algn="ctr"/>
            <a:r>
              <a:rPr lang="en-US" sz="1800" b="1" dirty="0">
                <a:solidFill>
                  <a:srgbClr val="000000"/>
                </a:solidFill>
              </a:rPr>
              <a:t>strong</a:t>
            </a:r>
            <a:r>
              <a:rPr lang="en-US" sz="1800" dirty="0">
                <a:solidFill>
                  <a:srgbClr val="000000"/>
                </a:solidFill>
              </a:rPr>
              <a:t> enough to treasure love;</a:t>
            </a:r>
          </a:p>
          <a:p>
            <a:pPr algn="ctr"/>
            <a:r>
              <a:rPr lang="en-US" sz="1800" b="1" dirty="0">
                <a:solidFill>
                  <a:srgbClr val="000000"/>
                </a:solidFill>
              </a:rPr>
              <a:t>brave</a:t>
            </a:r>
            <a:r>
              <a:rPr lang="en-US" sz="1800" dirty="0">
                <a:solidFill>
                  <a:srgbClr val="000000"/>
                </a:solidFill>
              </a:rPr>
              <a:t> enough to welcome criticism;</a:t>
            </a:r>
          </a:p>
          <a:p>
            <a:pPr algn="ctr"/>
            <a:r>
              <a:rPr lang="en-US" sz="1800" b="1" dirty="0">
                <a:solidFill>
                  <a:srgbClr val="000000"/>
                </a:solidFill>
              </a:rPr>
              <a:t>compassionate</a:t>
            </a:r>
            <a:r>
              <a:rPr lang="en-US" sz="1800" dirty="0">
                <a:solidFill>
                  <a:srgbClr val="000000"/>
                </a:solidFill>
              </a:rPr>
              <a:t> enough to understand human frailties;</a:t>
            </a:r>
          </a:p>
          <a:p>
            <a:pPr algn="ctr"/>
            <a:r>
              <a:rPr lang="en-US" sz="1800" b="1" dirty="0">
                <a:solidFill>
                  <a:srgbClr val="000000"/>
                </a:solidFill>
              </a:rPr>
              <a:t>wise</a:t>
            </a:r>
            <a:r>
              <a:rPr lang="en-US" sz="1800" dirty="0">
                <a:solidFill>
                  <a:srgbClr val="000000"/>
                </a:solidFill>
              </a:rPr>
              <a:t> enough to recognize my mistakes;</a:t>
            </a:r>
          </a:p>
          <a:p>
            <a:pPr algn="ctr"/>
            <a:r>
              <a:rPr lang="en-US" sz="1800" b="1" dirty="0">
                <a:solidFill>
                  <a:srgbClr val="000000"/>
                </a:solidFill>
              </a:rPr>
              <a:t>humble</a:t>
            </a:r>
            <a:r>
              <a:rPr lang="en-US" sz="1800" dirty="0">
                <a:solidFill>
                  <a:srgbClr val="000000"/>
                </a:solidFill>
              </a:rPr>
              <a:t> enough to appreciate greatness;</a:t>
            </a:r>
          </a:p>
          <a:p>
            <a:pPr algn="ctr"/>
            <a:r>
              <a:rPr lang="en-US" sz="1800" b="1" dirty="0">
                <a:solidFill>
                  <a:srgbClr val="000000"/>
                </a:solidFill>
              </a:rPr>
              <a:t>staunch</a:t>
            </a:r>
            <a:r>
              <a:rPr lang="en-US" sz="1800" dirty="0">
                <a:solidFill>
                  <a:srgbClr val="000000"/>
                </a:solidFill>
              </a:rPr>
              <a:t> enough to stand by my friends;</a:t>
            </a:r>
          </a:p>
          <a:p>
            <a:pPr algn="ctr"/>
            <a:r>
              <a:rPr lang="en-US" sz="1800" b="1" dirty="0">
                <a:solidFill>
                  <a:srgbClr val="000000"/>
                </a:solidFill>
              </a:rPr>
              <a:t>human</a:t>
            </a:r>
            <a:r>
              <a:rPr lang="en-US" sz="1800" dirty="0">
                <a:solidFill>
                  <a:srgbClr val="000000"/>
                </a:solidFill>
              </a:rPr>
              <a:t> enough to be thoughtful of my neighbor; and</a:t>
            </a:r>
          </a:p>
          <a:p>
            <a:pPr algn="ctr"/>
            <a:r>
              <a:rPr lang="en-US" sz="1800" b="1" dirty="0">
                <a:solidFill>
                  <a:srgbClr val="000000"/>
                </a:solidFill>
              </a:rPr>
              <a:t>righteous</a:t>
            </a:r>
            <a:r>
              <a:rPr lang="en-US" sz="1800" dirty="0">
                <a:solidFill>
                  <a:srgbClr val="000000"/>
                </a:solidFill>
              </a:rPr>
              <a:t> enough to be devoted to the love of God.</a:t>
            </a:r>
            <a:endParaRPr lang="en-US" sz="1800" dirty="0"/>
          </a:p>
        </p:txBody>
      </p:sp>
      <p:sp>
        <p:nvSpPr>
          <p:cNvPr id="9" name="TextBox 8">
            <a:extLst>
              <a:ext uri="{FF2B5EF4-FFF2-40B4-BE49-F238E27FC236}">
                <a16:creationId xmlns:a16="http://schemas.microsoft.com/office/drawing/2014/main" id="{D1D4C732-77E4-5A38-6CC3-74831BB9879D}"/>
              </a:ext>
            </a:extLst>
          </p:cNvPr>
          <p:cNvSpPr txBox="1"/>
          <p:nvPr/>
        </p:nvSpPr>
        <p:spPr>
          <a:xfrm>
            <a:off x="696774" y="577516"/>
            <a:ext cx="5049981" cy="923330"/>
          </a:xfrm>
          <a:prstGeom prst="rect">
            <a:avLst/>
          </a:prstGeom>
          <a:noFill/>
        </p:spPr>
        <p:txBody>
          <a:bodyPr wrap="square" lIns="91440" tIns="45720" rIns="91440" bIns="45720" anchor="t">
            <a:spAutoFit/>
          </a:bodyPr>
          <a:lstStyle/>
          <a:p>
            <a:pPr algn="ctr" fontAlgn="base"/>
            <a:r>
              <a:rPr lang="en-US" b="1" i="0" dirty="0">
                <a:solidFill>
                  <a:srgbClr val="333333"/>
                </a:solidFill>
                <a:effectLst/>
                <a:latin typeface="Lato" panose="020F0502020204030203" pitchFamily="34" charset="0"/>
              </a:rPr>
              <a:t>I Wish I Were…</a:t>
            </a:r>
            <a:endParaRPr lang="en-US" dirty="0"/>
          </a:p>
          <a:p>
            <a:br>
              <a:rPr lang="en-US" b="0" i="0" dirty="0">
                <a:solidFill>
                  <a:srgbClr val="000000"/>
                </a:solidFill>
                <a:effectLst/>
                <a:latin typeface="inherit"/>
              </a:rPr>
            </a:br>
            <a:endParaRPr lang="en-US" dirty="0"/>
          </a:p>
        </p:txBody>
      </p:sp>
      <p:sp>
        <p:nvSpPr>
          <p:cNvPr id="10" name="TextBox 9">
            <a:extLst>
              <a:ext uri="{FF2B5EF4-FFF2-40B4-BE49-F238E27FC236}">
                <a16:creationId xmlns:a16="http://schemas.microsoft.com/office/drawing/2014/main" id="{695324E4-10CE-97B8-8EAA-7AC85105E481}"/>
              </a:ext>
            </a:extLst>
          </p:cNvPr>
          <p:cNvSpPr txBox="1"/>
          <p:nvPr/>
        </p:nvSpPr>
        <p:spPr>
          <a:xfrm>
            <a:off x="2542925" y="877019"/>
            <a:ext cx="1332416" cy="261610"/>
          </a:xfrm>
          <a:prstGeom prst="rect">
            <a:avLst/>
          </a:prstGeom>
          <a:noFill/>
        </p:spPr>
        <p:txBody>
          <a:bodyPr wrap="none" rtlCol="0">
            <a:spAutoFit/>
          </a:bodyPr>
          <a:lstStyle/>
          <a:p>
            <a:pPr algn="ctr" defTabSz="685800"/>
            <a:r>
              <a:rPr lang="en-US" sz="1050" dirty="0">
                <a:solidFill>
                  <a:schemeClr val="accent6"/>
                </a:solidFill>
                <a:latin typeface="Lato" panose="020F0502020204030203" pitchFamily="34" charset="0"/>
                <a:ea typeface="Lato Medium" panose="020F0502020204030203" pitchFamily="34" charset="0"/>
                <a:cs typeface="Lato Medium" panose="020F0502020204030203" pitchFamily="34" charset="0"/>
              </a:rPr>
              <a:t>Gordon H. Taggart</a:t>
            </a:r>
          </a:p>
        </p:txBody>
      </p:sp>
      <p:pic>
        <p:nvPicPr>
          <p:cNvPr id="11" name="Picture 10" descr="A picture containing text, sign, clipart&#10;&#10;Description automatically generated">
            <a:extLst>
              <a:ext uri="{FF2B5EF4-FFF2-40B4-BE49-F238E27FC236}">
                <a16:creationId xmlns:a16="http://schemas.microsoft.com/office/drawing/2014/main" id="{898CD422-0BDB-F86D-F6AC-658B02FD76A4}"/>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319432" y="200526"/>
            <a:ext cx="1170741" cy="167459"/>
          </a:xfrm>
          <a:prstGeom prst="rect">
            <a:avLst/>
          </a:prstGeom>
        </p:spPr>
      </p:pic>
      <p:pic>
        <p:nvPicPr>
          <p:cNvPr id="12" name="Picture 11">
            <a:extLst>
              <a:ext uri="{FF2B5EF4-FFF2-40B4-BE49-F238E27FC236}">
                <a16:creationId xmlns:a16="http://schemas.microsoft.com/office/drawing/2014/main" id="{1B6DBD30-62FA-556A-2C13-228BF59BDC34}"/>
              </a:ext>
            </a:extLst>
          </p:cNvPr>
          <p:cNvPicPr>
            <a:picLocks noChangeAspect="1"/>
          </p:cNvPicPr>
          <p:nvPr/>
        </p:nvPicPr>
        <p:blipFill>
          <a:blip r:embed="rId6"/>
          <a:stretch>
            <a:fillRect/>
          </a:stretch>
        </p:blipFill>
        <p:spPr>
          <a:xfrm>
            <a:off x="8079757" y="4242016"/>
            <a:ext cx="906861" cy="758609"/>
          </a:xfrm>
          <a:prstGeom prst="rect">
            <a:avLst/>
          </a:prstGeom>
        </p:spPr>
      </p:pic>
      <p:sp>
        <p:nvSpPr>
          <p:cNvPr id="13" name="Rectangle 12">
            <a:extLst>
              <a:ext uri="{FF2B5EF4-FFF2-40B4-BE49-F238E27FC236}">
                <a16:creationId xmlns:a16="http://schemas.microsoft.com/office/drawing/2014/main" id="{A4660C1A-1D66-ABB0-7DA3-61572F0E801A}"/>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D870FB4-9448-4168-8ED4-C925560AC4BF}"/>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6</a:t>
            </a:r>
          </a:p>
        </p:txBody>
      </p:sp>
    </p:spTree>
    <p:extLst>
      <p:ext uri="{BB962C8B-B14F-4D97-AF65-F5344CB8AC3E}">
        <p14:creationId xmlns:p14="http://schemas.microsoft.com/office/powerpoint/2010/main" val="139714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Placeholder 3" descr="A person smiling while using a computer&#10;&#10;Description automatically generated with low confidence">
            <a:extLst>
              <a:ext uri="{FF2B5EF4-FFF2-40B4-BE49-F238E27FC236}">
                <a16:creationId xmlns:a16="http://schemas.microsoft.com/office/drawing/2014/main" id="{F6B10F86-03D0-8AD6-38CB-C1B90E52A9AD}"/>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b="12797"/>
          <a:stretch/>
        </p:blipFill>
        <p:spPr>
          <a:xfrm flipH="1">
            <a:off x="6498040" y="1"/>
            <a:ext cx="2645960" cy="5143499"/>
          </a:xfrm>
          <a:prstGeom prst="rect">
            <a:avLst/>
          </a:prstGeom>
        </p:spPr>
      </p:pic>
      <p:sp>
        <p:nvSpPr>
          <p:cNvPr id="3" name="TextBox 2">
            <a:extLst>
              <a:ext uri="{FF2B5EF4-FFF2-40B4-BE49-F238E27FC236}">
                <a16:creationId xmlns:a16="http://schemas.microsoft.com/office/drawing/2014/main" id="{D5ECAA01-3780-A531-82CE-111CE4AC5256}"/>
              </a:ext>
            </a:extLst>
          </p:cNvPr>
          <p:cNvSpPr txBox="1"/>
          <p:nvPr/>
        </p:nvSpPr>
        <p:spPr>
          <a:xfrm>
            <a:off x="1487457" y="2766787"/>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Description automatically generated">
            <a:extLst>
              <a:ext uri="{FF2B5EF4-FFF2-40B4-BE49-F238E27FC236}">
                <a16:creationId xmlns:a16="http://schemas.microsoft.com/office/drawing/2014/main" id="{39A6F652-5586-072B-7330-CE2061E6D3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202" y="0"/>
            <a:ext cx="5934147"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319432" y="200526"/>
            <a:ext cx="1170741" cy="167459"/>
          </a:xfrm>
          <a:prstGeom prst="rect">
            <a:avLst/>
          </a:prstGeom>
        </p:spPr>
      </p:pic>
      <p:sp>
        <p:nvSpPr>
          <p:cNvPr id="9" name="Title 3">
            <a:extLst>
              <a:ext uri="{FF2B5EF4-FFF2-40B4-BE49-F238E27FC236}">
                <a16:creationId xmlns:a16="http://schemas.microsoft.com/office/drawing/2014/main" id="{1990E518-A2A6-7962-47EB-F1906DD7CE0F}"/>
              </a:ext>
            </a:extLst>
          </p:cNvPr>
          <p:cNvSpPr txBox="1">
            <a:spLocks/>
          </p:cNvSpPr>
          <p:nvPr/>
        </p:nvSpPr>
        <p:spPr>
          <a:xfrm>
            <a:off x="1910671" y="936446"/>
            <a:ext cx="6142460"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b="1" dirty="0">
                <a:solidFill>
                  <a:schemeClr val="tx2">
                    <a:lumMod val="75000"/>
                  </a:schemeClr>
                </a:solidFill>
              </a:rPr>
              <a:t>Build Your Character</a:t>
            </a:r>
          </a:p>
        </p:txBody>
      </p:sp>
      <p:cxnSp>
        <p:nvCxnSpPr>
          <p:cNvPr id="7204" name="Straight Connector 7203">
            <a:extLst>
              <a:ext uri="{FF2B5EF4-FFF2-40B4-BE49-F238E27FC236}">
                <a16:creationId xmlns:a16="http://schemas.microsoft.com/office/drawing/2014/main" id="{B8E3DD73-F06A-B314-8EED-206734DC0EAE}"/>
              </a:ext>
            </a:extLst>
          </p:cNvPr>
          <p:cNvCxnSpPr>
            <a:cxnSpLocks/>
          </p:cNvCxnSpPr>
          <p:nvPr/>
        </p:nvCxnSpPr>
        <p:spPr>
          <a:xfrm>
            <a:off x="1442324" y="2455355"/>
            <a:ext cx="3047150" cy="0"/>
          </a:xfrm>
          <a:prstGeom prst="line">
            <a:avLst/>
          </a:prstGeom>
          <a:ln w="12700">
            <a:solidFill>
              <a:srgbClr val="A9AEAF"/>
            </a:solidFill>
          </a:ln>
        </p:spPr>
        <p:style>
          <a:lnRef idx="1">
            <a:schemeClr val="accent1"/>
          </a:lnRef>
          <a:fillRef idx="0">
            <a:schemeClr val="accent1"/>
          </a:fillRef>
          <a:effectRef idx="0">
            <a:schemeClr val="accent1"/>
          </a:effectRef>
          <a:fontRef idx="minor">
            <a:schemeClr val="tx1"/>
          </a:fontRef>
        </p:style>
      </p:cxnSp>
      <p:sp>
        <p:nvSpPr>
          <p:cNvPr id="7205" name="Oval 7204">
            <a:extLst>
              <a:ext uri="{FF2B5EF4-FFF2-40B4-BE49-F238E27FC236}">
                <a16:creationId xmlns:a16="http://schemas.microsoft.com/office/drawing/2014/main" id="{643AEF25-A59A-6AA9-F9DB-95632B710A71}"/>
              </a:ext>
            </a:extLst>
          </p:cNvPr>
          <p:cNvSpPr/>
          <p:nvPr/>
        </p:nvSpPr>
        <p:spPr>
          <a:xfrm>
            <a:off x="4056456" y="1989879"/>
            <a:ext cx="930953" cy="930953"/>
          </a:xfrm>
          <a:prstGeom prst="ellipse">
            <a:avLst/>
          </a:prstGeom>
          <a:solidFill>
            <a:srgbClr val="4BBA9F"/>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206" name="Oval 7205">
            <a:extLst>
              <a:ext uri="{FF2B5EF4-FFF2-40B4-BE49-F238E27FC236}">
                <a16:creationId xmlns:a16="http://schemas.microsoft.com/office/drawing/2014/main" id="{68BC83B5-6611-FB01-EE85-3D2955A285BC}"/>
              </a:ext>
            </a:extLst>
          </p:cNvPr>
          <p:cNvSpPr/>
          <p:nvPr/>
        </p:nvSpPr>
        <p:spPr>
          <a:xfrm>
            <a:off x="2550184" y="1989879"/>
            <a:ext cx="930953" cy="930953"/>
          </a:xfrm>
          <a:prstGeom prst="ellipse">
            <a:avLst/>
          </a:prstGeom>
          <a:solidFill>
            <a:srgbClr val="2C9FA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207" name="Oval 7206">
            <a:extLst>
              <a:ext uri="{FF2B5EF4-FFF2-40B4-BE49-F238E27FC236}">
                <a16:creationId xmlns:a16="http://schemas.microsoft.com/office/drawing/2014/main" id="{48328A59-BAA8-5CC7-8E73-F2EB60B07110}"/>
              </a:ext>
            </a:extLst>
          </p:cNvPr>
          <p:cNvSpPr/>
          <p:nvPr/>
        </p:nvSpPr>
        <p:spPr>
          <a:xfrm>
            <a:off x="1043912" y="1989879"/>
            <a:ext cx="930953" cy="930953"/>
          </a:xfrm>
          <a:prstGeom prst="ellipse">
            <a:avLst/>
          </a:prstGeom>
          <a:solidFill>
            <a:srgbClr val="13314E"/>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212" name="TextBox 7211">
            <a:extLst>
              <a:ext uri="{FF2B5EF4-FFF2-40B4-BE49-F238E27FC236}">
                <a16:creationId xmlns:a16="http://schemas.microsoft.com/office/drawing/2014/main" id="{B2F74573-2294-D597-1CD5-EE82DC5F060F}"/>
              </a:ext>
            </a:extLst>
          </p:cNvPr>
          <p:cNvSpPr txBox="1"/>
          <p:nvPr/>
        </p:nvSpPr>
        <p:spPr>
          <a:xfrm>
            <a:off x="747705" y="2966194"/>
            <a:ext cx="1523363" cy="584775"/>
          </a:xfrm>
          <a:prstGeom prst="rect">
            <a:avLst/>
          </a:prstGeom>
          <a:noFill/>
        </p:spPr>
        <p:txBody>
          <a:bodyPr wrap="square">
            <a:spAutoFit/>
          </a:bodyPr>
          <a:lstStyle/>
          <a:p>
            <a:pPr algn="ctr"/>
            <a:r>
              <a:rPr lang="en-US" b="1" dirty="0"/>
              <a:t>HAVING</a:t>
            </a:r>
            <a:r>
              <a:rPr lang="en-US" dirty="0"/>
              <a:t> </a:t>
            </a:r>
          </a:p>
          <a:p>
            <a:pPr algn="ctr"/>
            <a:r>
              <a:rPr lang="en-US" sz="1400" dirty="0"/>
              <a:t>the right values</a:t>
            </a:r>
          </a:p>
        </p:txBody>
      </p:sp>
      <p:sp>
        <p:nvSpPr>
          <p:cNvPr id="7214" name="TextBox 7213">
            <a:extLst>
              <a:ext uri="{FF2B5EF4-FFF2-40B4-BE49-F238E27FC236}">
                <a16:creationId xmlns:a16="http://schemas.microsoft.com/office/drawing/2014/main" id="{F5D323A9-0071-0214-8D01-C32F2C63BBF8}"/>
              </a:ext>
            </a:extLst>
          </p:cNvPr>
          <p:cNvSpPr txBox="1"/>
          <p:nvPr/>
        </p:nvSpPr>
        <p:spPr>
          <a:xfrm>
            <a:off x="2066769" y="2952273"/>
            <a:ext cx="1943338" cy="584775"/>
          </a:xfrm>
          <a:prstGeom prst="rect">
            <a:avLst/>
          </a:prstGeom>
          <a:noFill/>
        </p:spPr>
        <p:txBody>
          <a:bodyPr wrap="square">
            <a:spAutoFit/>
          </a:bodyPr>
          <a:lstStyle/>
          <a:p>
            <a:pPr algn="ctr"/>
            <a:r>
              <a:rPr lang="en-US" b="1" dirty="0"/>
              <a:t>DOING</a:t>
            </a:r>
            <a:r>
              <a:rPr lang="en-US" dirty="0"/>
              <a:t> </a:t>
            </a:r>
          </a:p>
          <a:p>
            <a:pPr algn="ctr"/>
            <a:r>
              <a:rPr lang="en-US" sz="1400" dirty="0"/>
              <a:t>the right thing</a:t>
            </a:r>
          </a:p>
        </p:txBody>
      </p:sp>
      <p:sp>
        <p:nvSpPr>
          <p:cNvPr id="7216" name="TextBox 7215">
            <a:extLst>
              <a:ext uri="{FF2B5EF4-FFF2-40B4-BE49-F238E27FC236}">
                <a16:creationId xmlns:a16="http://schemas.microsoft.com/office/drawing/2014/main" id="{2D9920BF-57D9-4D7E-9BAE-15CAED3D5A6B}"/>
              </a:ext>
            </a:extLst>
          </p:cNvPr>
          <p:cNvSpPr txBox="1"/>
          <p:nvPr/>
        </p:nvSpPr>
        <p:spPr>
          <a:xfrm>
            <a:off x="3930935" y="2952272"/>
            <a:ext cx="1303565" cy="800219"/>
          </a:xfrm>
          <a:prstGeom prst="rect">
            <a:avLst/>
          </a:prstGeom>
          <a:noFill/>
        </p:spPr>
        <p:txBody>
          <a:bodyPr wrap="square">
            <a:spAutoFit/>
          </a:bodyPr>
          <a:lstStyle/>
          <a:p>
            <a:pPr algn="ctr"/>
            <a:r>
              <a:rPr lang="en-US" b="1" dirty="0"/>
              <a:t>BEING</a:t>
            </a:r>
            <a:r>
              <a:rPr lang="en-US" dirty="0"/>
              <a:t> </a:t>
            </a:r>
          </a:p>
          <a:p>
            <a:pPr algn="ctr"/>
            <a:r>
              <a:rPr lang="en-US" sz="1400" dirty="0"/>
              <a:t>the right kind of person</a:t>
            </a:r>
          </a:p>
        </p:txBody>
      </p:sp>
      <p:pic>
        <p:nvPicPr>
          <p:cNvPr id="7217" name="Graphic 7216">
            <a:extLst>
              <a:ext uri="{FF2B5EF4-FFF2-40B4-BE49-F238E27FC236}">
                <a16:creationId xmlns:a16="http://schemas.microsoft.com/office/drawing/2014/main" id="{5F2096D4-78CD-1340-FDAD-23C4737ACD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87530" y="2263907"/>
            <a:ext cx="358106" cy="358106"/>
          </a:xfrm>
          <a:prstGeom prst="rect">
            <a:avLst/>
          </a:prstGeom>
        </p:spPr>
      </p:pic>
      <p:pic>
        <p:nvPicPr>
          <p:cNvPr id="7218" name="Graphic 7217">
            <a:extLst>
              <a:ext uri="{FF2B5EF4-FFF2-40B4-BE49-F238E27FC236}">
                <a16:creationId xmlns:a16="http://schemas.microsoft.com/office/drawing/2014/main" id="{7B070D00-8702-4E95-674E-F4EEFEC10F9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57434" y="2263907"/>
            <a:ext cx="358106" cy="358106"/>
          </a:xfrm>
          <a:prstGeom prst="rect">
            <a:avLst/>
          </a:prstGeom>
        </p:spPr>
      </p:pic>
      <p:pic>
        <p:nvPicPr>
          <p:cNvPr id="7220" name="Picture 7219">
            <a:extLst>
              <a:ext uri="{FF2B5EF4-FFF2-40B4-BE49-F238E27FC236}">
                <a16:creationId xmlns:a16="http://schemas.microsoft.com/office/drawing/2014/main" id="{8E2ABF4E-1EA6-5D5C-9DE2-CB1DDB64C5E3}"/>
              </a:ext>
            </a:extLst>
          </p:cNvPr>
          <p:cNvPicPr>
            <a:picLocks noChangeAspect="1"/>
          </p:cNvPicPr>
          <p:nvPr/>
        </p:nvPicPr>
        <p:blipFill>
          <a:blip r:embed="rId10"/>
          <a:stretch>
            <a:fillRect/>
          </a:stretch>
        </p:blipFill>
        <p:spPr>
          <a:xfrm>
            <a:off x="8079757" y="4242016"/>
            <a:ext cx="906861" cy="758609"/>
          </a:xfrm>
          <a:prstGeom prst="rect">
            <a:avLst/>
          </a:prstGeom>
        </p:spPr>
      </p:pic>
      <p:pic>
        <p:nvPicPr>
          <p:cNvPr id="8" name="Graphic 7">
            <a:extLst>
              <a:ext uri="{FF2B5EF4-FFF2-40B4-BE49-F238E27FC236}">
                <a16:creationId xmlns:a16="http://schemas.microsoft.com/office/drawing/2014/main" id="{306341FC-0AFB-B69F-B4D9-6AEE8D90E5E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31613" y="2242762"/>
            <a:ext cx="358106" cy="358106"/>
          </a:xfrm>
          <a:prstGeom prst="rect">
            <a:avLst/>
          </a:prstGeom>
        </p:spPr>
      </p:pic>
      <p:sp>
        <p:nvSpPr>
          <p:cNvPr id="10" name="Rectangle 9">
            <a:extLst>
              <a:ext uri="{FF2B5EF4-FFF2-40B4-BE49-F238E27FC236}">
                <a16:creationId xmlns:a16="http://schemas.microsoft.com/office/drawing/2014/main" id="{FD8BB2AA-CCFB-7852-7852-EACDEA91A170}"/>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A964A0F-77BB-50DB-5BD1-011C380EBB90}"/>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7</a:t>
            </a:r>
          </a:p>
        </p:txBody>
      </p:sp>
    </p:spTree>
    <p:extLst>
      <p:ext uri="{BB962C8B-B14F-4D97-AF65-F5344CB8AC3E}">
        <p14:creationId xmlns:p14="http://schemas.microsoft.com/office/powerpoint/2010/main" val="826782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Placeholder 3">
            <a:extLst>
              <a:ext uri="{FF2B5EF4-FFF2-40B4-BE49-F238E27FC236}">
                <a16:creationId xmlns:a16="http://schemas.microsoft.com/office/drawing/2014/main" id="{BDA37538-11A3-421A-F89D-7ACB2B2D389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flipH="1">
            <a:off x="6836638" y="1"/>
            <a:ext cx="2307362" cy="5143499"/>
          </a:xfrm>
          <a:prstGeom prst="rect">
            <a:avLst/>
          </a:prstGeom>
        </p:spPr>
      </p:pic>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close up of a logo&#10;&#10;Description automatically generated">
            <a:extLst>
              <a:ext uri="{FF2B5EF4-FFF2-40B4-BE49-F238E27FC236}">
                <a16:creationId xmlns:a16="http://schemas.microsoft.com/office/drawing/2014/main" id="{F10BC811-E0AA-DAE0-BD98-F88DA2FB07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202" y="0"/>
            <a:ext cx="7686748"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10" name="Title 1">
            <a:extLst>
              <a:ext uri="{FF2B5EF4-FFF2-40B4-BE49-F238E27FC236}">
                <a16:creationId xmlns:a16="http://schemas.microsoft.com/office/drawing/2014/main" id="{7D94D470-684C-A75A-7871-983D1569EDD8}"/>
              </a:ext>
            </a:extLst>
          </p:cNvPr>
          <p:cNvSpPr txBox="1">
            <a:spLocks/>
          </p:cNvSpPr>
          <p:nvPr/>
        </p:nvSpPr>
        <p:spPr>
          <a:xfrm>
            <a:off x="676226" y="862676"/>
            <a:ext cx="6142460"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400" b="1" dirty="0">
                <a:solidFill>
                  <a:schemeClr val="tx2">
                    <a:lumMod val="75000"/>
                  </a:schemeClr>
                </a:solidFill>
                <a:latin typeface="Lato"/>
                <a:ea typeface="Lato"/>
                <a:cs typeface="Lato"/>
              </a:rPr>
              <a:t>Activity</a:t>
            </a:r>
          </a:p>
          <a:p>
            <a:endParaRPr lang="en-US" sz="1600" b="1" dirty="0">
              <a:solidFill>
                <a:schemeClr val="tx2">
                  <a:lumMod val="75000"/>
                </a:schemeClr>
              </a:solidFill>
            </a:endParaRPr>
          </a:p>
        </p:txBody>
      </p:sp>
      <p:sp>
        <p:nvSpPr>
          <p:cNvPr id="11" name="TextBox 10">
            <a:extLst>
              <a:ext uri="{FF2B5EF4-FFF2-40B4-BE49-F238E27FC236}">
                <a16:creationId xmlns:a16="http://schemas.microsoft.com/office/drawing/2014/main" id="{25B6096B-85BE-0D57-BFD6-ACA0A5B29A4D}"/>
              </a:ext>
            </a:extLst>
          </p:cNvPr>
          <p:cNvSpPr txBox="1"/>
          <p:nvPr/>
        </p:nvSpPr>
        <p:spPr>
          <a:xfrm>
            <a:off x="565278" y="1753321"/>
            <a:ext cx="5328893" cy="2875274"/>
          </a:xfrm>
          <a:prstGeom prst="rect">
            <a:avLst/>
          </a:prstGeom>
          <a:noFill/>
        </p:spPr>
        <p:txBody>
          <a:bodyPr wrap="square" lIns="91440" tIns="45720" rIns="91440" bIns="45720" rtlCol="0" anchor="t">
            <a:spAutoFit/>
          </a:bodyPr>
          <a:lstStyle/>
          <a:p>
            <a:pPr defTabSz="685800"/>
            <a:r>
              <a:rPr lang="en-US" sz="1600" dirty="0">
                <a:latin typeface="Lato"/>
                <a:ea typeface="Lato"/>
                <a:cs typeface="Lato"/>
              </a:rPr>
              <a:t>1. How can you promote a culture of inclusion and diversity in the workplace? </a:t>
            </a:r>
          </a:p>
          <a:p>
            <a:pPr defTabSz="685800"/>
            <a:endParaRPr lang="en-US" sz="1600" dirty="0">
              <a:latin typeface="Lato"/>
              <a:ea typeface="Lato"/>
              <a:cs typeface="Lato"/>
            </a:endParaRPr>
          </a:p>
          <a:p>
            <a:pPr defTabSz="685800"/>
            <a:r>
              <a:rPr lang="en-US" sz="1600" dirty="0">
                <a:latin typeface="Lato"/>
                <a:ea typeface="Lato"/>
                <a:cs typeface="Lato"/>
              </a:rPr>
              <a:t>2. When you have conflict in opinions during a project with a team member, how do you present it? </a:t>
            </a:r>
          </a:p>
          <a:p>
            <a:pPr defTabSz="685800"/>
            <a:endParaRPr lang="en-US" sz="1600" dirty="0">
              <a:latin typeface="Lato"/>
              <a:ea typeface="Lato"/>
              <a:cs typeface="Lato"/>
            </a:endParaRPr>
          </a:p>
          <a:p>
            <a:pPr defTabSz="685800"/>
            <a:r>
              <a:rPr lang="en-US" sz="1600" dirty="0">
                <a:latin typeface="Lato"/>
                <a:ea typeface="Lato"/>
                <a:cs typeface="Lato"/>
              </a:rPr>
              <a:t>3.  Have you come across any unethical behavior from anyone at work. If yes, how did you deal with it?</a:t>
            </a:r>
            <a:endParaRPr lang="en-US" sz="1600" dirty="0">
              <a:latin typeface="Lato"/>
              <a:ea typeface="+mn-lt"/>
              <a:cs typeface="+mn-lt"/>
            </a:endParaRPr>
          </a:p>
          <a:p>
            <a:pPr defTabSz="685800"/>
            <a:endParaRPr lang="en-US" sz="1600" dirty="0">
              <a:solidFill>
                <a:srgbClr val="212526"/>
              </a:solidFill>
              <a:latin typeface="Lato" panose="020F0502020204030203" pitchFamily="34" charset="77"/>
              <a:ea typeface="Lato"/>
              <a:cs typeface="Lato"/>
            </a:endParaRPr>
          </a:p>
          <a:p>
            <a:pPr defTabSz="685800"/>
            <a:endParaRPr lang="en-US" sz="1600" dirty="0">
              <a:solidFill>
                <a:srgbClr val="212526"/>
              </a:solidFill>
              <a:latin typeface="Lato" panose="020F0502020204030203" pitchFamily="34" charset="77"/>
              <a:ea typeface="Lato"/>
              <a:cs typeface="Lato"/>
            </a:endParaRPr>
          </a:p>
          <a:p>
            <a:pPr defTabSz="685800">
              <a:lnSpc>
                <a:spcPct val="150000"/>
              </a:lnSpc>
            </a:pPr>
            <a:endParaRPr lang="en-US" sz="1600" dirty="0">
              <a:solidFill>
                <a:schemeClr val="tx2"/>
              </a:solidFill>
              <a:latin typeface="Lato" panose="020F0502020204030203" pitchFamily="34" charset="77"/>
              <a:ea typeface="Lato"/>
              <a:cs typeface="Lato"/>
            </a:endParaRPr>
          </a:p>
        </p:txBody>
      </p:sp>
      <p:pic>
        <p:nvPicPr>
          <p:cNvPr id="12" name="Picture 11">
            <a:extLst>
              <a:ext uri="{FF2B5EF4-FFF2-40B4-BE49-F238E27FC236}">
                <a16:creationId xmlns:a16="http://schemas.microsoft.com/office/drawing/2014/main" id="{62ECC5A1-0B6C-36A0-5806-24380EF7C423}"/>
              </a:ext>
            </a:extLst>
          </p:cNvPr>
          <p:cNvPicPr>
            <a:picLocks noChangeAspect="1"/>
          </p:cNvPicPr>
          <p:nvPr/>
        </p:nvPicPr>
        <p:blipFill>
          <a:blip r:embed="rId6"/>
          <a:stretch>
            <a:fillRect/>
          </a:stretch>
        </p:blipFill>
        <p:spPr>
          <a:xfrm>
            <a:off x="8079757" y="4242016"/>
            <a:ext cx="906861" cy="758609"/>
          </a:xfrm>
          <a:prstGeom prst="rect">
            <a:avLst/>
          </a:prstGeom>
        </p:spPr>
      </p:pic>
      <p:sp>
        <p:nvSpPr>
          <p:cNvPr id="6" name="Rectangle 5">
            <a:extLst>
              <a:ext uri="{FF2B5EF4-FFF2-40B4-BE49-F238E27FC236}">
                <a16:creationId xmlns:a16="http://schemas.microsoft.com/office/drawing/2014/main" id="{BAC1CA6A-81FF-73A8-642C-85BC0790AE5E}"/>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634E2B-8203-0310-9726-F8583369CB8D}"/>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8</a:t>
            </a:r>
          </a:p>
        </p:txBody>
      </p:sp>
    </p:spTree>
    <p:extLst>
      <p:ext uri="{BB962C8B-B14F-4D97-AF65-F5344CB8AC3E}">
        <p14:creationId xmlns:p14="http://schemas.microsoft.com/office/powerpoint/2010/main" val="313018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2CB4F-AF9F-97F7-E1AC-AA6AA22DB06C}"/>
              </a:ext>
            </a:extLst>
          </p:cNvPr>
          <p:cNvSpPr>
            <a:spLocks noGrp="1"/>
          </p:cNvSpPr>
          <p:nvPr>
            <p:ph type="ctrTitle"/>
          </p:nvPr>
        </p:nvSpPr>
        <p:spPr>
          <a:xfrm>
            <a:off x="651801" y="1058358"/>
            <a:ext cx="4664665" cy="1790700"/>
          </a:xfrm>
        </p:spPr>
        <p:txBody>
          <a:bodyPr/>
          <a:lstStyle/>
          <a:p>
            <a:r>
              <a:rPr lang="en-US" dirty="0">
                <a:latin typeface="Lato"/>
                <a:ea typeface="Lato"/>
                <a:cs typeface="Lato"/>
              </a:rPr>
              <a:t>Activity:  Brainstorm words that describe "Character"</a:t>
            </a:r>
            <a:endParaRPr lang="en-US" dirty="0"/>
          </a:p>
        </p:txBody>
      </p:sp>
      <p:pic>
        <p:nvPicPr>
          <p:cNvPr id="3" name="Picture 2">
            <a:extLst>
              <a:ext uri="{FF2B5EF4-FFF2-40B4-BE49-F238E27FC236}">
                <a16:creationId xmlns:a16="http://schemas.microsoft.com/office/drawing/2014/main" id="{8DB9F083-160B-8328-3782-85BC1C3B3750}"/>
              </a:ext>
            </a:extLst>
          </p:cNvPr>
          <p:cNvPicPr>
            <a:picLocks noChangeAspect="1"/>
          </p:cNvPicPr>
          <p:nvPr/>
        </p:nvPicPr>
        <p:blipFill>
          <a:blip r:embed="rId3"/>
          <a:stretch>
            <a:fillRect/>
          </a:stretch>
        </p:blipFill>
        <p:spPr>
          <a:xfrm>
            <a:off x="8079757" y="4242016"/>
            <a:ext cx="906861" cy="758609"/>
          </a:xfrm>
          <a:prstGeom prst="rect">
            <a:avLst/>
          </a:prstGeom>
        </p:spPr>
      </p:pic>
      <p:sp>
        <p:nvSpPr>
          <p:cNvPr id="4" name="Rectangle 3">
            <a:extLst>
              <a:ext uri="{FF2B5EF4-FFF2-40B4-BE49-F238E27FC236}">
                <a16:creationId xmlns:a16="http://schemas.microsoft.com/office/drawing/2014/main" id="{FD7CD2C0-B85A-6203-6B63-2A1CFC2914C2}"/>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A2D7693-96E6-8874-C295-2BF69276121F}"/>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9</a:t>
            </a:r>
          </a:p>
        </p:txBody>
      </p:sp>
    </p:spTree>
    <p:extLst>
      <p:ext uri="{BB962C8B-B14F-4D97-AF65-F5344CB8AC3E}">
        <p14:creationId xmlns:p14="http://schemas.microsoft.com/office/powerpoint/2010/main" val="4053385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Kusimbula', 'Tokisusa', 'Vayolensi' and other slangs that came with 2021 –  Plugged Uganda">
            <a:extLst>
              <a:ext uri="{FF2B5EF4-FFF2-40B4-BE49-F238E27FC236}">
                <a16:creationId xmlns:a16="http://schemas.microsoft.com/office/drawing/2014/main" id="{54A2B08E-F71E-9C44-CA50-486DEC8AA3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841" r="28062"/>
          <a:stretch/>
        </p:blipFill>
        <p:spPr bwMode="auto">
          <a:xfrm>
            <a:off x="6516820" y="-824"/>
            <a:ext cx="2665791"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 up of a logo&#10;&#10;Description automatically generated">
            <a:extLst>
              <a:ext uri="{FF2B5EF4-FFF2-40B4-BE49-F238E27FC236}">
                <a16:creationId xmlns:a16="http://schemas.microsoft.com/office/drawing/2014/main" id="{05A0263D-6CD8-8C53-F099-4F2C388A99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202" y="0"/>
            <a:ext cx="5934147"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340387" y="178174"/>
            <a:ext cx="1170741" cy="167459"/>
          </a:xfrm>
          <a:prstGeom prst="rect">
            <a:avLst/>
          </a:prstGeom>
        </p:spPr>
      </p:pic>
      <p:sp>
        <p:nvSpPr>
          <p:cNvPr id="9" name="Title 1">
            <a:extLst>
              <a:ext uri="{FF2B5EF4-FFF2-40B4-BE49-F238E27FC236}">
                <a16:creationId xmlns:a16="http://schemas.microsoft.com/office/drawing/2014/main" id="{5FFC3DE9-4A01-1FCB-EA37-21AAA5FFC4B0}"/>
              </a:ext>
            </a:extLst>
          </p:cNvPr>
          <p:cNvSpPr txBox="1">
            <a:spLocks/>
          </p:cNvSpPr>
          <p:nvPr/>
        </p:nvSpPr>
        <p:spPr>
          <a:xfrm>
            <a:off x="737317" y="915502"/>
            <a:ext cx="5613863" cy="653808"/>
          </a:xfrm>
          <a:prstGeom prst="rect">
            <a:avLst/>
          </a:prstGeom>
        </p:spPr>
        <p:txBody>
          <a:bodyPr vert="horz" lIns="0" tIns="0" rIns="0" bIns="0" rtlCol="0" anchor="b" anchorCtr="0">
            <a:normAutofit lnSpcReduction="10000"/>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dirty="0"/>
              <a:t>Character Vocabulary in Communication</a:t>
            </a:r>
            <a:br>
              <a:rPr lang="en-US" sz="2000" dirty="0"/>
            </a:br>
            <a:endParaRPr lang="en-US" sz="3200" dirty="0"/>
          </a:p>
        </p:txBody>
      </p:sp>
      <p:sp>
        <p:nvSpPr>
          <p:cNvPr id="12" name="TextBox 11">
            <a:extLst>
              <a:ext uri="{FF2B5EF4-FFF2-40B4-BE49-F238E27FC236}">
                <a16:creationId xmlns:a16="http://schemas.microsoft.com/office/drawing/2014/main" id="{D02553DA-53AA-D3F2-66AA-908E89D5F541}"/>
              </a:ext>
            </a:extLst>
          </p:cNvPr>
          <p:cNvSpPr txBox="1"/>
          <p:nvPr/>
        </p:nvSpPr>
        <p:spPr>
          <a:xfrm>
            <a:off x="649707" y="1294569"/>
            <a:ext cx="4371783" cy="830997"/>
          </a:xfrm>
          <a:prstGeom prst="rect">
            <a:avLst/>
          </a:prstGeom>
          <a:noFill/>
        </p:spPr>
        <p:txBody>
          <a:bodyPr wrap="square">
            <a:spAutoFit/>
          </a:bodyPr>
          <a:lstStyle/>
          <a:p>
            <a:r>
              <a:rPr lang="en-US" sz="1200" dirty="0">
                <a:latin typeface="Lato" panose="020F0502020204030203" pitchFamily="34" charset="0"/>
              </a:rPr>
              <a:t>Below are some examples of words that can describe someone's character.  </a:t>
            </a:r>
          </a:p>
          <a:p>
            <a:endParaRPr lang="en-US" sz="1200" dirty="0">
              <a:latin typeface="Lato" panose="020F0502020204030203" pitchFamily="34" charset="0"/>
            </a:endParaRPr>
          </a:p>
          <a:p>
            <a:r>
              <a:rPr lang="en-US" sz="1200" dirty="0">
                <a:latin typeface="Lato" panose="020F0502020204030203" pitchFamily="34" charset="0"/>
              </a:rPr>
              <a:t>What other words did you come up with?</a:t>
            </a:r>
          </a:p>
        </p:txBody>
      </p:sp>
      <p:pic>
        <p:nvPicPr>
          <p:cNvPr id="13" name="Picture 12">
            <a:extLst>
              <a:ext uri="{FF2B5EF4-FFF2-40B4-BE49-F238E27FC236}">
                <a16:creationId xmlns:a16="http://schemas.microsoft.com/office/drawing/2014/main" id="{3B7284C9-3D67-DDDE-533D-CE1F3CF12F83}"/>
              </a:ext>
            </a:extLst>
          </p:cNvPr>
          <p:cNvPicPr>
            <a:picLocks noChangeAspect="1"/>
          </p:cNvPicPr>
          <p:nvPr/>
        </p:nvPicPr>
        <p:blipFill>
          <a:blip r:embed="rId6"/>
          <a:stretch>
            <a:fillRect/>
          </a:stretch>
        </p:blipFill>
        <p:spPr>
          <a:xfrm>
            <a:off x="8079757" y="4242016"/>
            <a:ext cx="906861" cy="758609"/>
          </a:xfrm>
          <a:prstGeom prst="rect">
            <a:avLst/>
          </a:prstGeom>
        </p:spPr>
      </p:pic>
      <p:sp>
        <p:nvSpPr>
          <p:cNvPr id="4" name="TextBox 3">
            <a:extLst>
              <a:ext uri="{FF2B5EF4-FFF2-40B4-BE49-F238E27FC236}">
                <a16:creationId xmlns:a16="http://schemas.microsoft.com/office/drawing/2014/main" id="{3425A61C-3A7D-BC35-B2C2-302FDEDDF5DF}"/>
              </a:ext>
            </a:extLst>
          </p:cNvPr>
          <p:cNvSpPr txBox="1"/>
          <p:nvPr/>
        </p:nvSpPr>
        <p:spPr>
          <a:xfrm>
            <a:off x="688317" y="2402755"/>
            <a:ext cx="1947238" cy="1938992"/>
          </a:xfrm>
          <a:prstGeom prst="rect">
            <a:avLst/>
          </a:prstGeom>
          <a:noFill/>
        </p:spPr>
        <p:txBody>
          <a:bodyPr wrap="square" lIns="91440" tIns="45720" rIns="91440" bIns="45720" anchor="t">
            <a:spAutoFit/>
          </a:bodyPr>
          <a:lstStyle/>
          <a:p>
            <a:pPr marL="171450" indent="-171450">
              <a:buFont typeface="Arial"/>
              <a:buChar char="•"/>
            </a:pPr>
            <a:r>
              <a:rPr lang="en-US" sz="1200" dirty="0">
                <a:latin typeface="Lato"/>
                <a:ea typeface="Lato"/>
                <a:cs typeface="Lato"/>
              </a:rPr>
              <a:t>Honest</a:t>
            </a:r>
            <a:endParaRPr lang="en-US" dirty="0">
              <a:cs typeface="Arial" panose="020B0604020202020204"/>
            </a:endParaRPr>
          </a:p>
          <a:p>
            <a:pPr marL="171450" indent="-171450">
              <a:buFont typeface="Arial"/>
              <a:buChar char="•"/>
            </a:pPr>
            <a:r>
              <a:rPr lang="en-US" sz="1200" dirty="0">
                <a:latin typeface="Lato"/>
                <a:ea typeface="Lato"/>
                <a:cs typeface="Lato"/>
              </a:rPr>
              <a:t>Moral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Righteous</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Virtuous</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Honorable</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Appropriate</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Ethical</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Inclusive</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Integrity </a:t>
            </a:r>
            <a:endParaRPr lang="en-US" sz="1200" dirty="0">
              <a:latin typeface="Lato" panose="020F0502020204030203" pitchFamily="34" charset="0"/>
              <a:ea typeface="Lato"/>
              <a:cs typeface="Lato"/>
            </a:endParaRPr>
          </a:p>
          <a:p>
            <a:endParaRPr lang="en-US" sz="1200" dirty="0">
              <a:latin typeface="Lato" panose="020F0502020204030203" pitchFamily="34" charset="0"/>
              <a:ea typeface="Lato"/>
              <a:cs typeface="Lato"/>
            </a:endParaRPr>
          </a:p>
        </p:txBody>
      </p:sp>
      <p:sp>
        <p:nvSpPr>
          <p:cNvPr id="6" name="TextBox 5">
            <a:extLst>
              <a:ext uri="{FF2B5EF4-FFF2-40B4-BE49-F238E27FC236}">
                <a16:creationId xmlns:a16="http://schemas.microsoft.com/office/drawing/2014/main" id="{F3DC4BEA-6E10-8079-A02B-128AD9B0125C}"/>
              </a:ext>
            </a:extLst>
          </p:cNvPr>
          <p:cNvSpPr txBox="1"/>
          <p:nvPr/>
        </p:nvSpPr>
        <p:spPr>
          <a:xfrm>
            <a:off x="2360287" y="2454534"/>
            <a:ext cx="1325103" cy="1754326"/>
          </a:xfrm>
          <a:prstGeom prst="rect">
            <a:avLst/>
          </a:prstGeom>
          <a:noFill/>
        </p:spPr>
        <p:txBody>
          <a:bodyPr wrap="square" lIns="91440" tIns="45720" rIns="91440" bIns="45720" anchor="t">
            <a:spAutoFit/>
          </a:bodyPr>
          <a:lstStyle/>
          <a:p>
            <a:pPr marL="171450" indent="-171450">
              <a:buFont typeface="Arial"/>
              <a:buChar char="•"/>
            </a:pPr>
            <a:r>
              <a:rPr lang="en-US" sz="1200" dirty="0">
                <a:latin typeface="Lato"/>
                <a:ea typeface="Lato"/>
                <a:cs typeface="Lato"/>
              </a:rPr>
              <a:t>Resilient</a:t>
            </a:r>
            <a:endParaRPr lang="en-US" dirty="0">
              <a:latin typeface="Arial" panose="020B0604020202020204"/>
              <a:ea typeface="Lato"/>
              <a:cs typeface="Arial" panose="020B0604020202020204"/>
            </a:endParaRPr>
          </a:p>
          <a:p>
            <a:pPr marL="171450" indent="-171450">
              <a:buFont typeface="Arial"/>
              <a:buChar char="•"/>
            </a:pPr>
            <a:r>
              <a:rPr lang="en-US" sz="1200" dirty="0">
                <a:latin typeface="Lato"/>
                <a:ea typeface="Lato"/>
                <a:cs typeface="Lato"/>
              </a:rPr>
              <a:t>Collaborative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Truthful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Fair</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Sincere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Transparent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Accountable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Credible </a:t>
            </a:r>
            <a:endParaRPr lang="en-US" sz="1200" dirty="0">
              <a:latin typeface="Lato" panose="020F0502020204030203" pitchFamily="34" charset="0"/>
              <a:ea typeface="Lato"/>
              <a:cs typeface="Lato"/>
            </a:endParaRPr>
          </a:p>
          <a:p>
            <a:pPr marL="171450" indent="-171450">
              <a:buFont typeface="Arial"/>
              <a:buChar char="•"/>
            </a:pPr>
            <a:r>
              <a:rPr lang="en-US" sz="1200" dirty="0">
                <a:latin typeface="Lato"/>
                <a:ea typeface="Lato"/>
                <a:cs typeface="Lato"/>
              </a:rPr>
              <a:t>Reliable </a:t>
            </a:r>
            <a:endParaRPr lang="en-US" sz="1200" dirty="0">
              <a:latin typeface="Lato" panose="020F0502020204030203" pitchFamily="34" charset="0"/>
              <a:ea typeface="Lato"/>
              <a:cs typeface="Lato"/>
            </a:endParaRPr>
          </a:p>
        </p:txBody>
      </p:sp>
      <p:sp>
        <p:nvSpPr>
          <p:cNvPr id="10" name="Rectangle 9">
            <a:extLst>
              <a:ext uri="{FF2B5EF4-FFF2-40B4-BE49-F238E27FC236}">
                <a16:creationId xmlns:a16="http://schemas.microsoft.com/office/drawing/2014/main" id="{40AC79B0-DA8D-52CB-AE95-DD13FF867B2E}"/>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48C6775-FCAA-20CA-538D-5253A9CCEED8}"/>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10</a:t>
            </a:r>
          </a:p>
        </p:txBody>
      </p:sp>
    </p:spTree>
    <p:extLst>
      <p:ext uri="{BB962C8B-B14F-4D97-AF65-F5344CB8AC3E}">
        <p14:creationId xmlns:p14="http://schemas.microsoft.com/office/powerpoint/2010/main" val="2009271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5F1497-AA4A-07BB-78F3-15BE0108F5AB}"/>
              </a:ext>
            </a:extLst>
          </p:cNvPr>
          <p:cNvSpPr/>
          <p:nvPr/>
        </p:nvSpPr>
        <p:spPr>
          <a:xfrm>
            <a:off x="424207" y="148970"/>
            <a:ext cx="1587500" cy="393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CC1F8AD-EB1A-41BC-4FA2-C04E4F3E4694}"/>
              </a:ext>
            </a:extLst>
          </p:cNvPr>
          <p:cNvSpPr/>
          <p:nvPr/>
        </p:nvSpPr>
        <p:spPr>
          <a:xfrm>
            <a:off x="2235200" y="0"/>
            <a:ext cx="69088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6" name="TextBox 5">
            <a:extLst>
              <a:ext uri="{FF2B5EF4-FFF2-40B4-BE49-F238E27FC236}">
                <a16:creationId xmlns:a16="http://schemas.microsoft.com/office/drawing/2014/main" id="{D4258454-7A46-73B3-6646-8624AF641B95}"/>
              </a:ext>
            </a:extLst>
          </p:cNvPr>
          <p:cNvSpPr txBox="1"/>
          <p:nvPr/>
        </p:nvSpPr>
        <p:spPr>
          <a:xfrm>
            <a:off x="1594948" y="1602254"/>
            <a:ext cx="6217893" cy="1938992"/>
          </a:xfrm>
          <a:prstGeom prst="rect">
            <a:avLst/>
          </a:prstGeom>
          <a:noFill/>
        </p:spPr>
        <p:txBody>
          <a:bodyPr wrap="square">
            <a:spAutoFit/>
          </a:bodyPr>
          <a:lstStyle/>
          <a:p>
            <a:pPr algn="ctr"/>
            <a:r>
              <a:rPr lang="en-US" sz="1800" i="1" dirty="0">
                <a:solidFill>
                  <a:schemeClr val="tx1"/>
                </a:solidFill>
                <a:latin typeface="Lato"/>
                <a:ea typeface="Lato"/>
                <a:cs typeface="Lato"/>
              </a:rPr>
              <a:t>“Be more concerned with your character than your reputation, because your character is what you really are, while your reputation is merely what others think you are.” </a:t>
            </a:r>
          </a:p>
          <a:p>
            <a:pPr algn="ctr"/>
            <a:br>
              <a:rPr lang="en-US" sz="1800" dirty="0">
                <a:solidFill>
                  <a:schemeClr val="tx1"/>
                </a:solidFill>
                <a:latin typeface="Lato"/>
                <a:ea typeface="Lato"/>
                <a:cs typeface="Lato"/>
              </a:rPr>
            </a:br>
            <a:r>
              <a:rPr lang="en-US" sz="1800" dirty="0">
                <a:solidFill>
                  <a:schemeClr val="tx1"/>
                </a:solidFill>
                <a:latin typeface="Lato"/>
                <a:ea typeface="Lato"/>
                <a:cs typeface="Lato"/>
              </a:rPr>
              <a:t>-</a:t>
            </a:r>
            <a:r>
              <a:rPr lang="en-US" sz="1600" b="1" i="1" dirty="0">
                <a:solidFill>
                  <a:schemeClr val="tx1"/>
                </a:solidFill>
                <a:latin typeface="Lato"/>
                <a:ea typeface="Lato"/>
                <a:cs typeface="Lato"/>
              </a:rPr>
              <a:t>John Wooden</a:t>
            </a:r>
          </a:p>
          <a:p>
            <a:pPr algn="ctr"/>
            <a:r>
              <a:rPr lang="en-US" sz="1600" b="1" i="1" dirty="0">
                <a:latin typeface="Lato"/>
                <a:ea typeface="Lato"/>
                <a:cs typeface="Lato"/>
              </a:rPr>
              <a:t> </a:t>
            </a:r>
            <a:r>
              <a:rPr lang="en-US" sz="1400" i="1" dirty="0">
                <a:solidFill>
                  <a:schemeClr val="tx1"/>
                </a:solidFill>
                <a:latin typeface="Lato"/>
                <a:ea typeface="Lato"/>
                <a:cs typeface="Lato"/>
              </a:rPr>
              <a:t>American basketball coach and seven times winner </a:t>
            </a:r>
          </a:p>
          <a:p>
            <a:pPr algn="ctr"/>
            <a:r>
              <a:rPr lang="en-US" sz="1400" i="1" dirty="0">
                <a:solidFill>
                  <a:schemeClr val="tx1"/>
                </a:solidFill>
                <a:latin typeface="Lato"/>
                <a:ea typeface="Lato"/>
                <a:cs typeface="Lato"/>
              </a:rPr>
              <a:t>of Henry Iba Award as coach of the year</a:t>
            </a:r>
            <a:endParaRPr lang="en-US" i="1" dirty="0"/>
          </a:p>
        </p:txBody>
      </p:sp>
      <p:pic>
        <p:nvPicPr>
          <p:cNvPr id="8" name="Picture 7">
            <a:extLst>
              <a:ext uri="{FF2B5EF4-FFF2-40B4-BE49-F238E27FC236}">
                <a16:creationId xmlns:a16="http://schemas.microsoft.com/office/drawing/2014/main" id="{6D06F5E5-3FFE-AB84-279B-5D39A7C8C14B}"/>
              </a:ext>
            </a:extLst>
          </p:cNvPr>
          <p:cNvPicPr>
            <a:picLocks noChangeAspect="1"/>
          </p:cNvPicPr>
          <p:nvPr/>
        </p:nvPicPr>
        <p:blipFill>
          <a:blip r:embed="rId4"/>
          <a:stretch>
            <a:fillRect/>
          </a:stretch>
        </p:blipFill>
        <p:spPr>
          <a:xfrm>
            <a:off x="4358657" y="3618114"/>
            <a:ext cx="906861" cy="758609"/>
          </a:xfrm>
          <a:prstGeom prst="rect">
            <a:avLst/>
          </a:prstGeom>
          <a:effectLst>
            <a:outerShdw blurRad="50800" dist="38100" dir="2700000" algn="tl" rotWithShape="0">
              <a:prstClr val="black">
                <a:alpha val="40000"/>
              </a:prstClr>
            </a:outerShdw>
          </a:effectLst>
        </p:spPr>
      </p:pic>
      <p:pic>
        <p:nvPicPr>
          <p:cNvPr id="3" name="Picture 2" descr="A picture containing text, sign, clipart&#10;&#10;Description automatically generated">
            <a:extLst>
              <a:ext uri="{FF2B5EF4-FFF2-40B4-BE49-F238E27FC236}">
                <a16:creationId xmlns:a16="http://schemas.microsoft.com/office/drawing/2014/main" id="{D1C349DF-D7E6-FC25-AFCF-DFF9ADB2019B}"/>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7688607" y="4714137"/>
            <a:ext cx="1170741" cy="167459"/>
          </a:xfrm>
          <a:prstGeom prst="rect">
            <a:avLst/>
          </a:prstGeom>
        </p:spPr>
      </p:pic>
      <p:sp>
        <p:nvSpPr>
          <p:cNvPr id="5" name="Rectangle 4">
            <a:extLst>
              <a:ext uri="{FF2B5EF4-FFF2-40B4-BE49-F238E27FC236}">
                <a16:creationId xmlns:a16="http://schemas.microsoft.com/office/drawing/2014/main" id="{1D7F481E-3613-FF95-F538-AB9A388BBD17}"/>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7540FB3-1AB7-13DF-D653-97A686924D36}"/>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11</a:t>
            </a:r>
          </a:p>
        </p:txBody>
      </p:sp>
    </p:spTree>
    <p:extLst>
      <p:ext uri="{BB962C8B-B14F-4D97-AF65-F5344CB8AC3E}">
        <p14:creationId xmlns:p14="http://schemas.microsoft.com/office/powerpoint/2010/main" val="2726615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34FD364F-B6D4-4A6B-CBCC-54E958C1FE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675" y="0"/>
            <a:ext cx="7315200" cy="5143500"/>
          </a:xfrm>
          <a:prstGeom prst="rect">
            <a:avLst/>
          </a:prstGeom>
        </p:spPr>
      </p:pic>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4">
            <a:extLst>
              <a:ext uri="{28A0092B-C50C-407E-A947-70E740481C1C}">
                <a14:useLocalDpi xmlns:a14="http://schemas.microsoft.com/office/drawing/2010/main" val="0"/>
              </a:ext>
            </a:extLst>
          </a:blip>
          <a:srcRect b="15817"/>
          <a:stretch/>
        </p:blipFill>
        <p:spPr>
          <a:xfrm>
            <a:off x="332634" y="106861"/>
            <a:ext cx="1170741" cy="167459"/>
          </a:xfrm>
          <a:prstGeom prst="rect">
            <a:avLst/>
          </a:prstGeom>
        </p:spPr>
      </p:pic>
      <p:sp>
        <p:nvSpPr>
          <p:cNvPr id="6" name="TextBox 5">
            <a:extLst>
              <a:ext uri="{FF2B5EF4-FFF2-40B4-BE49-F238E27FC236}">
                <a16:creationId xmlns:a16="http://schemas.microsoft.com/office/drawing/2014/main" id="{D49B614A-165D-0FAD-5101-EAC28DFA117F}"/>
              </a:ext>
            </a:extLst>
          </p:cNvPr>
          <p:cNvSpPr txBox="1"/>
          <p:nvPr/>
        </p:nvSpPr>
        <p:spPr>
          <a:xfrm>
            <a:off x="504825" y="533129"/>
            <a:ext cx="5619750" cy="954107"/>
          </a:xfrm>
          <a:prstGeom prst="rect">
            <a:avLst/>
          </a:prstGeom>
          <a:noFill/>
        </p:spPr>
        <p:txBody>
          <a:bodyPr wrap="square">
            <a:spAutoFit/>
          </a:bodyPr>
          <a:lstStyle/>
          <a:p>
            <a:r>
              <a:rPr lang="en-US" sz="1400" dirty="0">
                <a:latin typeface="Lato" panose="020F0502020204030203" pitchFamily="34" charset="0"/>
              </a:rPr>
              <a:t>Please sign your attendance by scanning the QR code or clicking the attendance link.</a:t>
            </a:r>
          </a:p>
          <a:p>
            <a:r>
              <a:rPr lang="en-US" sz="1400" dirty="0">
                <a:latin typeface="Lato" panose="020F0502020204030203" pitchFamily="34" charset="0"/>
              </a:rPr>
              <a:t> </a:t>
            </a:r>
          </a:p>
          <a:p>
            <a:r>
              <a:rPr lang="en-US" sz="1400" dirty="0">
                <a:latin typeface="Lato" panose="020F0502020204030203" pitchFamily="34" charset="0"/>
              </a:rPr>
              <a:t>Attendance and Feedback QR Code: </a:t>
            </a:r>
          </a:p>
        </p:txBody>
      </p:sp>
      <p:pic>
        <p:nvPicPr>
          <p:cNvPr id="4" name="Picture 3" descr="Qr code&#10;&#10;Description automatically generated">
            <a:extLst>
              <a:ext uri="{FF2B5EF4-FFF2-40B4-BE49-F238E27FC236}">
                <a16:creationId xmlns:a16="http://schemas.microsoft.com/office/drawing/2014/main" id="{CD8F1BC1-E3D0-E099-7A73-44805384636D}"/>
              </a:ext>
            </a:extLst>
          </p:cNvPr>
          <p:cNvPicPr>
            <a:picLocks noChangeAspect="1"/>
          </p:cNvPicPr>
          <p:nvPr/>
        </p:nvPicPr>
        <p:blipFill>
          <a:blip r:embed="rId5"/>
          <a:stretch>
            <a:fillRect/>
          </a:stretch>
        </p:blipFill>
        <p:spPr>
          <a:xfrm>
            <a:off x="1666875" y="1622470"/>
            <a:ext cx="2540271" cy="2540271"/>
          </a:xfrm>
          <a:prstGeom prst="rect">
            <a:avLst/>
          </a:prstGeom>
        </p:spPr>
      </p:pic>
      <p:sp>
        <p:nvSpPr>
          <p:cNvPr id="2" name="Rectangle 1">
            <a:extLst>
              <a:ext uri="{FF2B5EF4-FFF2-40B4-BE49-F238E27FC236}">
                <a16:creationId xmlns:a16="http://schemas.microsoft.com/office/drawing/2014/main" id="{C6113FB2-045B-AF74-9474-4130A2EA465E}"/>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91C38A2-248B-4D27-871D-020C2C1973CE}"/>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12</a:t>
            </a:r>
          </a:p>
        </p:txBody>
      </p:sp>
      <p:sp>
        <p:nvSpPr>
          <p:cNvPr id="5" name="TextBox 4">
            <a:extLst>
              <a:ext uri="{FF2B5EF4-FFF2-40B4-BE49-F238E27FC236}">
                <a16:creationId xmlns:a16="http://schemas.microsoft.com/office/drawing/2014/main" id="{DB183BA5-D3DF-1776-7B12-D55FB53E071F}"/>
              </a:ext>
            </a:extLst>
          </p:cNvPr>
          <p:cNvSpPr txBox="1"/>
          <p:nvPr/>
        </p:nvSpPr>
        <p:spPr>
          <a:xfrm>
            <a:off x="651010" y="4241801"/>
            <a:ext cx="4572000" cy="1169551"/>
          </a:xfrm>
          <a:prstGeom prst="rect">
            <a:avLst/>
          </a:prstGeom>
          <a:noFill/>
        </p:spPr>
        <p:txBody>
          <a:bodyPr wrap="square">
            <a:spAutoFit/>
          </a:bodyPr>
          <a:lstStyle/>
          <a:p>
            <a:r>
              <a:rPr lang="en-US" sz="1400" dirty="0">
                <a:solidFill>
                  <a:schemeClr val="tx2">
                    <a:lumMod val="75000"/>
                  </a:schemeClr>
                </a:solidFill>
                <a:latin typeface="Lato" panose="020F0502020204030203" pitchFamily="34" charset="0"/>
              </a:rPr>
              <a:t>Attendance and Feedback link: </a:t>
            </a:r>
            <a:r>
              <a:rPr lang="en-US" sz="1400" dirty="0">
                <a:solidFill>
                  <a:srgbClr val="0070C0"/>
                </a:solidFill>
                <a:latin typeface="Lato" panose="020F0502020204030203" pitchFamily="34" charset="0"/>
                <a:hlinkClick r:id="rId6">
                  <a:extLst>
                    <a:ext uri="{A12FA001-AC4F-418D-AE19-62706E023703}">
                      <ahyp:hlinkClr xmlns:ahyp="http://schemas.microsoft.com/office/drawing/2018/hyperlinkcolor" val="tx"/>
                    </a:ext>
                  </a:extLst>
                </a:hlinkClick>
              </a:rPr>
              <a:t>https://forms.office.com/r/p1UepZ5W1F</a:t>
            </a:r>
            <a:endParaRPr lang="en-US" sz="1400" dirty="0">
              <a:solidFill>
                <a:srgbClr val="0070C0"/>
              </a:solidFill>
              <a:latin typeface="Lato" panose="020F0502020204030203" pitchFamily="34" charset="0"/>
            </a:endParaRPr>
          </a:p>
          <a:p>
            <a:endParaRPr lang="en-US" sz="1400" dirty="0">
              <a:solidFill>
                <a:schemeClr val="tx2">
                  <a:lumMod val="75000"/>
                </a:schemeClr>
              </a:solidFill>
              <a:latin typeface="Lato" panose="020F0502020204030203" pitchFamily="34" charset="0"/>
            </a:endParaRPr>
          </a:p>
          <a:p>
            <a:endParaRPr lang="en-US" sz="1400" dirty="0">
              <a:solidFill>
                <a:schemeClr val="tx2">
                  <a:lumMod val="75000"/>
                </a:schemeClr>
              </a:solidFill>
              <a:latin typeface="Lato" panose="020F0502020204030203" pitchFamily="34" charset="0"/>
            </a:endParaRPr>
          </a:p>
          <a:p>
            <a:endParaRPr lang="en-US" sz="1400" dirty="0">
              <a:solidFill>
                <a:schemeClr val="tx2">
                  <a:lumMod val="75000"/>
                </a:schemeClr>
              </a:solidFill>
            </a:endParaRPr>
          </a:p>
        </p:txBody>
      </p:sp>
    </p:spTree>
    <p:extLst>
      <p:ext uri="{BB962C8B-B14F-4D97-AF65-F5344CB8AC3E}">
        <p14:creationId xmlns:p14="http://schemas.microsoft.com/office/powerpoint/2010/main" val="1306500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4" name="Subtitle 3">
            <a:extLst>
              <a:ext uri="{FF2B5EF4-FFF2-40B4-BE49-F238E27FC236}">
                <a16:creationId xmlns:a16="http://schemas.microsoft.com/office/drawing/2014/main" id="{9FD05A3C-C199-4CE0-21DC-94C2AC1111B2}"/>
              </a:ext>
            </a:extLst>
          </p:cNvPr>
          <p:cNvSpPr>
            <a:spLocks noGrp="1"/>
          </p:cNvSpPr>
          <p:nvPr>
            <p:ph type="subTitle" idx="1"/>
          </p:nvPr>
        </p:nvSpPr>
        <p:spPr>
          <a:xfrm>
            <a:off x="2204683" y="2052439"/>
            <a:ext cx="5123215" cy="1241822"/>
          </a:xfrm>
        </p:spPr>
        <p:txBody>
          <a:bodyPr>
            <a:normAutofit/>
          </a:bodyPr>
          <a:lstStyle/>
          <a:p>
            <a:pPr algn="ctr"/>
            <a:r>
              <a:rPr lang="en-US" sz="2000" b="1" i="1" dirty="0"/>
              <a:t>Thank you. </a:t>
            </a:r>
            <a:endParaRPr lang="en-US" sz="1600" i="1" dirty="0"/>
          </a:p>
        </p:txBody>
      </p:sp>
      <p:pic>
        <p:nvPicPr>
          <p:cNvPr id="6" name="Picture 5">
            <a:extLst>
              <a:ext uri="{FF2B5EF4-FFF2-40B4-BE49-F238E27FC236}">
                <a16:creationId xmlns:a16="http://schemas.microsoft.com/office/drawing/2014/main" id="{9FEC63E5-738B-0886-ABFD-E8E682F9C14E}"/>
              </a:ext>
            </a:extLst>
          </p:cNvPr>
          <p:cNvPicPr>
            <a:picLocks noChangeAspect="1"/>
          </p:cNvPicPr>
          <p:nvPr/>
        </p:nvPicPr>
        <p:blipFill>
          <a:blip r:embed="rId4"/>
          <a:stretch>
            <a:fillRect/>
          </a:stretch>
        </p:blipFill>
        <p:spPr>
          <a:xfrm>
            <a:off x="4315293" y="2440700"/>
            <a:ext cx="901996" cy="750258"/>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F6817C51-BFFD-280B-3B2C-0273D5B7E91D}"/>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DE24C6D-C82F-C56B-7C55-25E566B8E48A}"/>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13</a:t>
            </a:r>
          </a:p>
        </p:txBody>
      </p:sp>
    </p:spTree>
    <p:extLst>
      <p:ext uri="{BB962C8B-B14F-4D97-AF65-F5344CB8AC3E}">
        <p14:creationId xmlns:p14="http://schemas.microsoft.com/office/powerpoint/2010/main" val="2856519611"/>
      </p:ext>
    </p:extLst>
  </p:cSld>
  <p:clrMapOvr>
    <a:masterClrMapping/>
  </p:clrMapOvr>
</p:sld>
</file>

<file path=ppt/theme/theme1.xml><?xml version="1.0" encoding="utf-8"?>
<a:theme xmlns:a="http://schemas.openxmlformats.org/drawingml/2006/main" name="Office Theme">
  <a:themeElements>
    <a:clrScheme name="RealPage_2022">
      <a:dk1>
        <a:srgbClr val="212526"/>
      </a:dk1>
      <a:lt1>
        <a:srgbClr val="FFFFFF"/>
      </a:lt1>
      <a:dk2>
        <a:srgbClr val="4D5456"/>
      </a:dk2>
      <a:lt2>
        <a:srgbClr val="4AB79C"/>
      </a:lt2>
      <a:accent1>
        <a:srgbClr val="42ADA0"/>
      </a:accent1>
      <a:accent2>
        <a:srgbClr val="35A6A1"/>
      </a:accent2>
      <a:accent3>
        <a:srgbClr val="2B9DA4"/>
      </a:accent3>
      <a:accent4>
        <a:srgbClr val="247888"/>
      </a:accent4>
      <a:accent5>
        <a:srgbClr val="1D546B"/>
      </a:accent5>
      <a:accent6>
        <a:srgbClr val="13314E"/>
      </a:accent6>
      <a:hlink>
        <a:srgbClr val="F3F4F3"/>
      </a:hlink>
      <a:folHlink>
        <a:srgbClr val="86939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defTabSz="685800">
          <a:defRPr dirty="0" smtClean="0">
            <a:solidFill>
              <a:schemeClr val="accent6"/>
            </a:solidFill>
            <a:latin typeface="Lato Medium" panose="020F0502020204030203" pitchFamily="34" charset="0"/>
            <a:ea typeface="Lato Medium" panose="020F0502020204030203" pitchFamily="34" charset="0"/>
            <a:cs typeface="Lato Medium" panose="020F0502020204030203" pitchFamily="34" charset="0"/>
          </a:defRPr>
        </a:defPPr>
      </a:lstStyle>
    </a:txDef>
  </a:objectDefaults>
  <a:extraClrSchemeLst/>
  <a:extLst>
    <a:ext uri="{05A4C25C-085E-4340-85A3-A5531E510DB2}">
      <thm15:themeFamily xmlns:thm15="http://schemas.microsoft.com/office/thememl/2012/main" name="RealPageStarter" id="{D42A2886-2857-4FC6-9F6F-AFEED83569EF}" vid="{09691F58-D08E-4905-BB8B-1D60528590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7" ma:contentTypeDescription="Create a new document." ma:contentTypeScope="" ma:versionID="d1a1c2fab4bc054141fc059f64628e6a">
  <xsd:schema xmlns:xsd="http://www.w3.org/2001/XMLSchema" xmlns:xs="http://www.w3.org/2001/XMLSchema" xmlns:p="http://schemas.microsoft.com/office/2006/metadata/properties" xmlns:ns2="09f0d035-db3a-41e2-9c9f-cd4fb346005c" targetNamespace="http://schemas.microsoft.com/office/2006/metadata/properties" ma:root="true" ma:fieldsID="79197425f45961dcb975a55f67a80289"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9FAFFA-6B97-4984-9F94-617358853AEC}">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http://purl.org/dc/elements/1.1/"/>
    <ds:schemaRef ds:uri="a8c3cf06-7ea6-4d6c-8e13-9057bcf6491c"/>
    <ds:schemaRef ds:uri="http://purl.org/dc/dcmitype/"/>
    <ds:schemaRef ds:uri="6c262fc0-bc1f-48e4-9a5d-f7dab1d27bbb"/>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702927E3-FB24-4210-AD4B-CECD8496E2DE}">
  <ds:schemaRefs>
    <ds:schemaRef ds:uri="http://schemas.microsoft.com/sharepoint/v3/contenttype/forms"/>
  </ds:schemaRefs>
</ds:datastoreItem>
</file>

<file path=customXml/itemProps3.xml><?xml version="1.0" encoding="utf-8"?>
<ds:datastoreItem xmlns:ds="http://schemas.openxmlformats.org/officeDocument/2006/customXml" ds:itemID="{5093BDA4-95F7-41E4-9692-081401CCBBC4}"/>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emplate>{2D8F2F84-3B37-DF4C-B106-3760A94DDBCF}tf16401378</Template>
  <TotalTime>0</TotalTime>
  <Words>2109</Words>
  <Application>Microsoft Office PowerPoint</Application>
  <PresentationFormat>On-screen Show (16:9)</PresentationFormat>
  <Paragraphs>219</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Brainstorm words that describe "Character"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RealPage Data &amp; Analytics 2021 Strategy Session</dc:title>
  <dc:creator/>
  <cp:lastModifiedBy/>
  <cp:revision>789</cp:revision>
  <dcterms:created xsi:type="dcterms:W3CDTF">2021-10-11T13:29:26Z</dcterms:created>
  <dcterms:modified xsi:type="dcterms:W3CDTF">2023-04-17T16:14:30Z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0x010100B811A7D7C6AF7C4B84849BBC7AECD042</vt:lpwstr>
  </property>
  <property fmtid="{D5CDD505-2E9C-101B-9397-08002B2CF9AE}" pid="3" name="MSIP_Label_36970c53-fc97-4c45-87e9-80615808800c_Enabled">
    <vt:lpwstr>true</vt:lpwstr>
  </property>
  <property fmtid="{D5CDD505-2E9C-101B-9397-08002B2CF9AE}" pid="4" name="MSIP_Label_36970c53-fc97-4c45-87e9-80615808800c_SetDate">
    <vt:lpwstr>2021-12-06T03:15:15Z</vt:lpwstr>
  </property>
  <property fmtid="{D5CDD505-2E9C-101B-9397-08002B2CF9AE}" pid="5" name="MSIP_Label_36970c53-fc97-4c45-87e9-80615808800c_Method">
    <vt:lpwstr>Standard</vt:lpwstr>
  </property>
  <property fmtid="{D5CDD505-2E9C-101B-9397-08002B2CF9AE}" pid="6" name="MSIP_Label_36970c53-fc97-4c45-87e9-80615808800c_Name">
    <vt:lpwstr>Sensitive</vt:lpwstr>
  </property>
  <property fmtid="{D5CDD505-2E9C-101B-9397-08002B2CF9AE}" pid="7" name="MSIP_Label_36970c53-fc97-4c45-87e9-80615808800c_SiteId">
    <vt:lpwstr>2c94bed6-d675-4d3d-a53b-7b461fd6acc2</vt:lpwstr>
  </property>
  <property fmtid="{D5CDD505-2E9C-101B-9397-08002B2CF9AE}" pid="8" name="MSIP_Label_36970c53-fc97-4c45-87e9-80615808800c_ActionId">
    <vt:lpwstr>20a07c41-d574-4be9-b019-d3fdb2ee37b2</vt:lpwstr>
  </property>
  <property fmtid="{D5CDD505-2E9C-101B-9397-08002B2CF9AE}" pid="9" name="MSIP_Label_36970c53-fc97-4c45-87e9-80615808800c_ContentBits">
    <vt:lpwstr>3</vt:lpwstr>
  </property>
  <property fmtid="{D5CDD505-2E9C-101B-9397-08002B2CF9AE}" pid="10" name="MediaServiceImageTags">
    <vt:lpwstr/>
  </property>
</Properties>
</file>