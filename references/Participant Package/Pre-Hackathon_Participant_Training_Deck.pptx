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Metadata/LabelInfo.xml" ContentType="application/vnd.ms-office.classificationlabel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584"/>
  </p:normalViewPr>
  <p:slideViewPr>
    <p:cSldViewPr snapToGrid="0" snapToObjects="1">
      <p:cViewPr varScale="1">
        <p:scale>
          <a:sx n="199" d="100"/>
          <a:sy n="199" d="100"/>
        </p:scale>
        <p:origin x="176"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stin Braham" userId="b90dad21-9dc2-4e37-8c21-c1d3d1d27783" providerId="ADAL" clId="{47025E7A-A13F-5A63-A55A-3A8C55590A25}"/>
    <pc:docChg chg="custSel mod modSld sldOrd modMainMaster">
      <pc:chgData name="Austin Braham" userId="b90dad21-9dc2-4e37-8c21-c1d3d1d27783" providerId="ADAL" clId="{47025E7A-A13F-5A63-A55A-3A8C55590A25}" dt="2026-09-14T03:20:43.701" v="17" actId="20578"/>
      <pc:docMkLst>
        <pc:docMk/>
      </pc:docMkLst>
      <pc:sldChg chg="delSp mod">
        <pc:chgData name="Austin Braham" userId="b90dad21-9dc2-4e37-8c21-c1d3d1d27783" providerId="ADAL" clId="{47025E7A-A13F-5A63-A55A-3A8C55590A25}" dt="2026-09-14T00:55:14.708" v="1" actId="478"/>
        <pc:sldMkLst>
          <pc:docMk/>
          <pc:sldMk cId="0" sldId="256"/>
        </pc:sldMkLst>
        <pc:spChg chg="del">
          <ac:chgData name="Austin Braham" userId="b90dad21-9dc2-4e37-8c21-c1d3d1d27783" providerId="ADAL" clId="{47025E7A-A13F-5A63-A55A-3A8C55590A25}" dt="2026-09-14T00:55:14.708" v="1" actId="478"/>
          <ac:spMkLst>
            <pc:docMk/>
            <pc:sldMk cId="0" sldId="256"/>
            <ac:spMk id="9" creationId="{00000000-0000-0000-0000-000000000000}"/>
          </ac:spMkLst>
        </pc:spChg>
        <pc:spChg chg="del">
          <ac:chgData name="Austin Braham" userId="b90dad21-9dc2-4e37-8c21-c1d3d1d27783" providerId="ADAL" clId="{47025E7A-A13F-5A63-A55A-3A8C55590A25}" dt="2026-09-14T00:55:05.967" v="0" actId="478"/>
          <ac:spMkLst>
            <pc:docMk/>
            <pc:sldMk cId="0" sldId="256"/>
            <ac:spMk id="10" creationId="{00000000-0000-0000-0000-000000000000}"/>
          </ac:spMkLst>
        </pc:spChg>
        <pc:spChg chg="del">
          <ac:chgData name="Austin Braham" userId="b90dad21-9dc2-4e37-8c21-c1d3d1d27783" providerId="ADAL" clId="{47025E7A-A13F-5A63-A55A-3A8C55590A25}" dt="2026-09-14T00:55:05.967" v="0" actId="478"/>
          <ac:spMkLst>
            <pc:docMk/>
            <pc:sldMk cId="0" sldId="256"/>
            <ac:spMk id="11" creationId="{00000000-0000-0000-0000-000000000000}"/>
          </ac:spMkLst>
        </pc:spChg>
        <pc:spChg chg="del">
          <ac:chgData name="Austin Braham" userId="b90dad21-9dc2-4e37-8c21-c1d3d1d27783" providerId="ADAL" clId="{47025E7A-A13F-5A63-A55A-3A8C55590A25}" dt="2026-09-14T00:55:05.967" v="0" actId="478"/>
          <ac:spMkLst>
            <pc:docMk/>
            <pc:sldMk cId="0" sldId="256"/>
            <ac:spMk id="12" creationId="{00000000-0000-0000-0000-000000000000}"/>
          </ac:spMkLst>
        </pc:spChg>
        <pc:spChg chg="del">
          <ac:chgData name="Austin Braham" userId="b90dad21-9dc2-4e37-8c21-c1d3d1d27783" providerId="ADAL" clId="{47025E7A-A13F-5A63-A55A-3A8C55590A25}" dt="2026-09-14T00:55:05.967" v="0" actId="478"/>
          <ac:spMkLst>
            <pc:docMk/>
            <pc:sldMk cId="0" sldId="256"/>
            <ac:spMk id="13" creationId="{00000000-0000-0000-0000-000000000000}"/>
          </ac:spMkLst>
        </pc:spChg>
        <pc:spChg chg="del">
          <ac:chgData name="Austin Braham" userId="b90dad21-9dc2-4e37-8c21-c1d3d1d27783" providerId="ADAL" clId="{47025E7A-A13F-5A63-A55A-3A8C55590A25}" dt="2026-09-14T00:55:05.967" v="0" actId="478"/>
          <ac:spMkLst>
            <pc:docMk/>
            <pc:sldMk cId="0" sldId="256"/>
            <ac:spMk id="14" creationId="{00000000-0000-0000-0000-000000000000}"/>
          </ac:spMkLst>
        </pc:spChg>
        <pc:spChg chg="del">
          <ac:chgData name="Austin Braham" userId="b90dad21-9dc2-4e37-8c21-c1d3d1d27783" providerId="ADAL" clId="{47025E7A-A13F-5A63-A55A-3A8C55590A25}" dt="2026-09-14T00:55:05.967" v="0" actId="478"/>
          <ac:spMkLst>
            <pc:docMk/>
            <pc:sldMk cId="0" sldId="256"/>
            <ac:spMk id="15" creationId="{00000000-0000-0000-0000-000000000000}"/>
          </ac:spMkLst>
        </pc:spChg>
      </pc:sldChg>
      <pc:sldChg chg="delSp modSp mod">
        <pc:chgData name="Austin Braham" userId="b90dad21-9dc2-4e37-8c21-c1d3d1d27783" providerId="ADAL" clId="{47025E7A-A13F-5A63-A55A-3A8C55590A25}" dt="2026-09-14T01:07:13.044" v="15" actId="478"/>
        <pc:sldMkLst>
          <pc:docMk/>
          <pc:sldMk cId="0" sldId="258"/>
        </pc:sldMkLst>
        <pc:spChg chg="del">
          <ac:chgData name="Austin Braham" userId="b90dad21-9dc2-4e37-8c21-c1d3d1d27783" providerId="ADAL" clId="{47025E7A-A13F-5A63-A55A-3A8C55590A25}" dt="2026-09-14T01:07:08.934" v="14" actId="478"/>
          <ac:spMkLst>
            <pc:docMk/>
            <pc:sldMk cId="0" sldId="258"/>
            <ac:spMk id="32" creationId="{00000000-0000-0000-0000-000000000000}"/>
          </ac:spMkLst>
        </pc:spChg>
        <pc:spChg chg="del mod">
          <ac:chgData name="Austin Braham" userId="b90dad21-9dc2-4e37-8c21-c1d3d1d27783" providerId="ADAL" clId="{47025E7A-A13F-5A63-A55A-3A8C55590A25}" dt="2026-09-14T01:07:13.044" v="15" actId="478"/>
          <ac:spMkLst>
            <pc:docMk/>
            <pc:sldMk cId="0" sldId="258"/>
            <ac:spMk id="33" creationId="{00000000-0000-0000-0000-000000000000}"/>
          </ac:spMkLst>
        </pc:spChg>
      </pc:sldChg>
      <pc:sldChg chg="ord">
        <pc:chgData name="Austin Braham" userId="b90dad21-9dc2-4e37-8c21-c1d3d1d27783" providerId="ADAL" clId="{47025E7A-A13F-5A63-A55A-3A8C55590A25}" dt="2026-09-14T03:20:43.701" v="17" actId="20578"/>
        <pc:sldMkLst>
          <pc:docMk/>
          <pc:sldMk cId="0" sldId="269"/>
        </pc:sldMkLst>
      </pc:sldChg>
      <pc:sldMasterChg chg="addSp mod">
        <pc:chgData name="Austin Braham" userId="b90dad21-9dc2-4e37-8c21-c1d3d1d27783" providerId="ADAL" clId="{47025E7A-A13F-5A63-A55A-3A8C55590A25}" dt="2026-09-14T00:55:17.541" v="2" actId="33475"/>
        <pc:sldMasterMkLst>
          <pc:docMk/>
          <pc:sldMasterMk cId="0" sldId="2147483648"/>
        </pc:sldMasterMkLst>
        <pc:spChg chg="add">
          <ac:chgData name="Austin Braham" userId="b90dad21-9dc2-4e37-8c21-c1d3d1d27783" providerId="ADAL" clId="{47025E7A-A13F-5A63-A55A-3A8C55590A25}" dt="2026-09-14T00:55:17.541" v="2" actId="33475"/>
          <ac:spMkLst>
            <pc:docMk/>
            <pc:sldMasterMk cId="0" sldId="2147483648"/>
            <ac:spMk id="4" creationId="{9D75E29C-6D43-C97F-CA53-2FDB559D4725}"/>
          </ac:spMkLst>
        </pc:spChg>
        <pc:spChg chg="add">
          <ac:chgData name="Austin Braham" userId="b90dad21-9dc2-4e37-8c21-c1d3d1d27783" providerId="ADAL" clId="{47025E7A-A13F-5A63-A55A-3A8C55590A25}" dt="2026-09-14T00:55:17.541" v="2" actId="33475"/>
          <ac:spMkLst>
            <pc:docMk/>
            <pc:sldMasterMk cId="0" sldId="2147483648"/>
            <ac:spMk id="5" creationId="{7A29A7FC-D186-368E-8F8F-253C1AA5DA48}"/>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8420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session is designed to remove friction before the hackathon begins. The first hour covers the operating model and Q&amp;A. The final 30 minutes are optional team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 the session. Emphasize that participants will actively open Teams and identify their team before the channel walkthrough.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have everyone open Teams. Ask participants to find the Q3 AI Hackathon team channel they were added to, confirm their name appears in the member list, locate the use-case brief, and save the channel. Resolve missing access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distinction between event-wide communication, team collaboration, and durable file storage. The team channel is the working home. The connected workspace is the source of truth for files.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practical difference between a Teams post and a file. Posts help the team coordinate. The connected workspace holds the durable working files and final package.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few real examples. Reinforce that questions and decisions should stay visible to the team, while working files belong in the shared workspace.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participant package is not a solution library. It is the operating guide for setting up the workspace, collaborating, testing, documenting, and submitting.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important folders. The admin folder is where the team coordinates. The final-submission folder is separated from working drafts and is the package reviewers should open.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the team as a relay, especially for global teams. The point is not to work continuously. The point is to leave enough context that someone else can pick up the work without replaying the entire chat history.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team's handoff pattern. It can be recorded in HANDOFF.md or in a concise team-channel post that links to the current files.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the preparation boundary. Participants can organize the team and workspace before kickoff. The solution work begins at the official start time posted in Teams.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teams that the final package should be understandable to someone who was not in the team conversation. The final README should be the starting point, with links to the artifact, evidence, setup, and next step.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remaining questions. Before ending the first hour, remind participants to join their team channel for the optional 30-minute team meet-up.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final 30 minutes are optional team time. The team should use it to confirm membership, open the brief, set up the workspace, and leave with a clear first action.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75E29C-6D43-C97F-CA53-2FDB559D4725}"/>
              </a:ext>
            </a:extLst>
          </p:cNvPr>
          <p:cNvSpPr txBox="1"/>
          <p:nvPr userDrawn="1">
            <p:extLst>
              <p:ext uri="{1162E1C5-73C7-4A58-AE30-91384D911F3F}">
                <p184:classification xmlns:p184="http://schemas.microsoft.com/office/powerpoint/2018/4/main" val="hdr"/>
              </p:ext>
            </p:extLst>
          </p:nvPr>
        </p:nvSpPr>
        <p:spPr>
          <a:xfrm>
            <a:off x="4305300" y="63500"/>
            <a:ext cx="5540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 Use</a:t>
            </a:r>
          </a:p>
        </p:txBody>
      </p:sp>
      <p:sp>
        <p:nvSpPr>
          <p:cNvPr id="5" name="TextBox 4">
            <a:extLst>
              <a:ext uri="{FF2B5EF4-FFF2-40B4-BE49-F238E27FC236}">
                <a16:creationId xmlns:a16="http://schemas.microsoft.com/office/drawing/2014/main" id="{7A29A7FC-D186-368E-8F8F-253C1AA5DA48}"/>
              </a:ext>
            </a:extLst>
          </p:cNvPr>
          <p:cNvSpPr txBox="1"/>
          <p:nvPr userDrawn="1">
            <p:extLst>
              <p:ext uri="{1162E1C5-73C7-4A58-AE30-91384D911F3F}">
                <p184:classification xmlns:p184="http://schemas.microsoft.com/office/powerpoint/2018/4/main" val="ftr"/>
              </p:ext>
            </p:extLst>
          </p:nvPr>
        </p:nvSpPr>
        <p:spPr>
          <a:xfrm>
            <a:off x="3727450" y="4927600"/>
            <a:ext cx="1714500"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For RealPage Internal Use Only</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7.png"/><Relationship Id="rId4" Type="http://schemas.openxmlformats.org/officeDocument/2006/relationships/image" Target="../media/image13.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100584" cy="5143500"/>
          </a:xfrm>
          <a:prstGeom prst="rect">
            <a:avLst/>
          </a:prstGeom>
          <a:solidFill>
            <a:srgbClr val="00C8D4"/>
          </a:solidFill>
          <a:ln w="12700">
            <a:solidFill>
              <a:srgbClr val="00C8D4"/>
            </a:solidFill>
            <a:prstDash val="solid"/>
          </a:ln>
        </p:spPr>
        <p:txBody>
          <a:bodyPr/>
          <a:lstStyle/>
          <a:p>
            <a:endParaRPr lang="en-US"/>
          </a:p>
        </p:txBody>
      </p:sp>
      <p:sp>
        <p:nvSpPr>
          <p:cNvPr id="3" name="Shape 1"/>
          <p:cNvSpPr/>
          <p:nvPr/>
        </p:nvSpPr>
        <p:spPr>
          <a:xfrm>
            <a:off x="7040880" y="-640080"/>
            <a:ext cx="2743200" cy="2743200"/>
          </a:xfrm>
          <a:prstGeom prst="ellipse">
            <a:avLst/>
          </a:prstGeom>
          <a:solidFill>
            <a:srgbClr val="00C8D4">
              <a:alpha val="12000"/>
            </a:srgbClr>
          </a:solidFill>
          <a:ln w="12700">
            <a:solidFill>
              <a:srgbClr val="00C8D4">
                <a:alpha val="12000"/>
              </a:srgbClr>
            </a:solidFill>
            <a:prstDash val="solid"/>
          </a:ln>
        </p:spPr>
        <p:txBody>
          <a:bodyPr/>
          <a:lstStyle/>
          <a:p>
            <a:endParaRPr lang="en-US"/>
          </a:p>
        </p:txBody>
      </p:sp>
      <p:sp>
        <p:nvSpPr>
          <p:cNvPr id="4" name="Shape 2"/>
          <p:cNvSpPr/>
          <p:nvPr/>
        </p:nvSpPr>
        <p:spPr>
          <a:xfrm>
            <a:off x="7772400" y="3474720"/>
            <a:ext cx="1508760" cy="1508760"/>
          </a:xfrm>
          <a:prstGeom prst="ellipse">
            <a:avLst/>
          </a:prstGeom>
          <a:solidFill>
            <a:srgbClr val="FF9830">
              <a:alpha val="18000"/>
            </a:srgbClr>
          </a:solidFill>
          <a:ln w="12700">
            <a:solidFill>
              <a:srgbClr val="FF9830">
                <a:alpha val="18000"/>
              </a:srgbClr>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562088" y="228600"/>
            <a:ext cx="1417320" cy="342900"/>
          </a:xfrm>
          <a:prstGeom prst="rect">
            <a:avLst/>
          </a:prstGeom>
        </p:spPr>
      </p:pic>
      <p:sp>
        <p:nvSpPr>
          <p:cNvPr id="6" name="Text 3"/>
          <p:cNvSpPr/>
          <p:nvPr/>
        </p:nvSpPr>
        <p:spPr>
          <a:xfrm>
            <a:off x="310896" y="1143000"/>
            <a:ext cx="6400800" cy="219456"/>
          </a:xfrm>
          <a:prstGeom prst="rect">
            <a:avLst/>
          </a:prstGeom>
          <a:noFill/>
          <a:ln/>
        </p:spPr>
        <p:txBody>
          <a:bodyPr wrap="square" lIns="0" tIns="0" rIns="0" bIns="0" rtlCol="0" anchor="t"/>
          <a:lstStyle/>
          <a:p>
            <a:pPr marL="0" indent="0" algn="l">
              <a:buNone/>
            </a:pPr>
            <a:r>
              <a:rPr lang="en-US" sz="950" b="1" kern="0" spc="16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950" dirty="0"/>
          </a:p>
        </p:txBody>
      </p:sp>
      <p:sp>
        <p:nvSpPr>
          <p:cNvPr id="7" name="Text 4"/>
          <p:cNvSpPr/>
          <p:nvPr/>
        </p:nvSpPr>
        <p:spPr>
          <a:xfrm>
            <a:off x="292608" y="1490472"/>
            <a:ext cx="5486400" cy="1133856"/>
          </a:xfrm>
          <a:prstGeom prst="rect">
            <a:avLst/>
          </a:prstGeom>
          <a:noFill/>
          <a:ln/>
        </p:spPr>
        <p:txBody>
          <a:bodyPr wrap="square" lIns="0" tIns="0" rIns="0" bIns="0" rtlCol="0" anchor="t"/>
          <a:lstStyle/>
          <a:p>
            <a:pPr marL="0" indent="0" algn="l">
              <a:buNone/>
            </a:pPr>
            <a:r>
              <a:rPr lang="en-US" sz="4300" b="1" dirty="0">
                <a:solidFill>
                  <a:srgbClr val="FFFFFF"/>
                </a:solidFill>
                <a:latin typeface="Liberation Sans" pitchFamily="34" charset="0"/>
                <a:ea typeface="Liberation Sans" pitchFamily="34" charset="-122"/>
                <a:cs typeface="Liberation Sans" pitchFamily="34" charset="-120"/>
              </a:rPr>
              <a:t>HACKATHON</a:t>
            </a:r>
            <a:endParaRPr lang="en-US" sz="4300" dirty="0"/>
          </a:p>
          <a:p>
            <a:pPr marL="0" indent="0" algn="l">
              <a:buNone/>
            </a:pPr>
            <a:r>
              <a:rPr lang="en-US" sz="4300" b="1" dirty="0">
                <a:solidFill>
                  <a:srgbClr val="FFFFFF"/>
                </a:solidFill>
                <a:latin typeface="Liberation Sans" pitchFamily="34" charset="0"/>
                <a:ea typeface="Liberation Sans" pitchFamily="34" charset="-122"/>
                <a:cs typeface="Liberation Sans" pitchFamily="34" charset="-120"/>
              </a:rPr>
              <a:t>PREP</a:t>
            </a:r>
            <a:endParaRPr lang="en-US" sz="4300" dirty="0"/>
          </a:p>
        </p:txBody>
      </p:sp>
      <p:sp>
        <p:nvSpPr>
          <p:cNvPr id="8" name="Text 5"/>
          <p:cNvSpPr/>
          <p:nvPr/>
        </p:nvSpPr>
        <p:spPr>
          <a:xfrm>
            <a:off x="310896" y="2779776"/>
            <a:ext cx="6035040" cy="384048"/>
          </a:xfrm>
          <a:prstGeom prst="rect">
            <a:avLst/>
          </a:prstGeom>
          <a:noFill/>
          <a:ln/>
        </p:spPr>
        <p:txBody>
          <a:bodyPr wrap="square" lIns="0" tIns="0" rIns="0" bIns="0" rtlCol="0" anchor="t"/>
          <a:lstStyle/>
          <a:p>
            <a:pPr marL="0" indent="0" algn="l">
              <a:buNone/>
            </a:pPr>
            <a:r>
              <a:rPr lang="en-US" sz="2100" dirty="0">
                <a:solidFill>
                  <a:srgbClr val="00C8D4"/>
                </a:solidFill>
                <a:latin typeface="Liberation Sans" pitchFamily="34" charset="0"/>
                <a:ea typeface="Liberation Sans" pitchFamily="34" charset="-122"/>
                <a:cs typeface="Liberation Sans" pitchFamily="34" charset="-120"/>
              </a:rPr>
              <a:t>How to get ready and work well together</a:t>
            </a:r>
            <a:endParaRPr lang="en-US" sz="2100" dirty="0"/>
          </a:p>
        </p:txBody>
      </p:sp>
      <p:sp>
        <p:nvSpPr>
          <p:cNvPr id="16" name="Shape 13"/>
          <p:cNvSpPr/>
          <p:nvPr/>
        </p:nvSpPr>
        <p:spPr>
          <a:xfrm>
            <a:off x="0" y="4754880"/>
            <a:ext cx="9144000" cy="388620"/>
          </a:xfrm>
          <a:prstGeom prst="rect">
            <a:avLst/>
          </a:prstGeom>
          <a:solidFill>
            <a:srgbClr val="0D1E34"/>
          </a:solidFill>
          <a:ln w="12700">
            <a:solidFill>
              <a:srgbClr val="0D1E34"/>
            </a:solidFill>
            <a:prstDash val="solid"/>
          </a:ln>
        </p:spPr>
        <p:txBody>
          <a:bodyPr/>
          <a:lstStyle/>
          <a:p>
            <a:endParaRPr lang="en-US"/>
          </a:p>
        </p:txBody>
      </p:sp>
      <p:sp>
        <p:nvSpPr>
          <p:cNvPr id="17" name="Text 14"/>
          <p:cNvSpPr/>
          <p:nvPr/>
        </p:nvSpPr>
        <p:spPr>
          <a:xfrm>
            <a:off x="292608" y="4777740"/>
            <a:ext cx="8503920" cy="292608"/>
          </a:xfrm>
          <a:prstGeom prst="rect">
            <a:avLst/>
          </a:prstGeom>
          <a:noFill/>
          <a:ln/>
        </p:spPr>
        <p:txBody>
          <a:bodyPr wrap="square" lIns="0" tIns="0" rIns="0" bIns="0" rtlCol="0" anchor="t"/>
          <a:lstStyle/>
          <a:p>
            <a:pPr marL="0" indent="0" algn="r">
              <a:buNone/>
            </a:pPr>
            <a:r>
              <a:rPr lang="en-US" sz="1000" dirty="0">
                <a:solidFill>
                  <a:srgbClr val="7B9BB8"/>
                </a:solidFill>
                <a:latin typeface="Liberation Sans" pitchFamily="34" charset="0"/>
                <a:ea typeface="Liberation Sans" pitchFamily="34" charset="-122"/>
                <a:cs typeface="Liberation Sans" pitchFamily="34" charset="-120"/>
              </a:rPr>
              <a:t>Realpage  |  AI ENABLEMENT  |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TODAY'S PLAN</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A clear starting point for every participant.</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356616" y="1234440"/>
            <a:ext cx="457200" cy="457200"/>
          </a:xfrm>
          <a:prstGeom prst="ellipse">
            <a:avLst/>
          </a:prstGeom>
          <a:solidFill>
            <a:srgbClr val="00C8D4"/>
          </a:solidFill>
          <a:ln w="12700">
            <a:solidFill>
              <a:srgbClr val="00C8D4"/>
            </a:solidFill>
            <a:prstDash val="solid"/>
          </a:ln>
        </p:spPr>
        <p:txBody>
          <a:bodyPr/>
          <a:lstStyle/>
          <a:p>
            <a:endParaRPr lang="en-US"/>
          </a:p>
        </p:txBody>
      </p:sp>
      <p:sp>
        <p:nvSpPr>
          <p:cNvPr id="9" name="Text 6"/>
          <p:cNvSpPr/>
          <p:nvPr/>
        </p:nvSpPr>
        <p:spPr>
          <a:xfrm>
            <a:off x="356616" y="12344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01</a:t>
            </a:r>
            <a:endParaRPr lang="en-US" sz="1300" dirty="0"/>
          </a:p>
        </p:txBody>
      </p:sp>
      <p:sp>
        <p:nvSpPr>
          <p:cNvPr id="10" name="Text 7"/>
          <p:cNvSpPr/>
          <p:nvPr/>
        </p:nvSpPr>
        <p:spPr>
          <a:xfrm>
            <a:off x="950976" y="1243584"/>
            <a:ext cx="3291840" cy="274320"/>
          </a:xfrm>
          <a:prstGeom prst="rect">
            <a:avLst/>
          </a:prstGeom>
          <a:noFill/>
          <a:ln/>
        </p:spPr>
        <p:txBody>
          <a:bodyPr wrap="square" lIns="0" tIns="0" rIns="0" bIns="0" rtlCol="0" anchor="t"/>
          <a:lstStyle/>
          <a:p>
            <a:pPr marL="0" indent="0" algn="l">
              <a:buNone/>
            </a:pPr>
            <a:r>
              <a:rPr lang="en-US" sz="1400" b="1" dirty="0">
                <a:solidFill>
                  <a:srgbClr val="FFFFFF"/>
                </a:solidFill>
                <a:latin typeface="Liberation Sans" pitchFamily="34" charset="0"/>
                <a:ea typeface="Liberation Sans" pitchFamily="34" charset="-122"/>
                <a:cs typeface="Liberation Sans" pitchFamily="34" charset="-120"/>
              </a:rPr>
              <a:t>Find your team</a:t>
            </a:r>
            <a:endParaRPr lang="en-US" sz="1400" dirty="0"/>
          </a:p>
        </p:txBody>
      </p:sp>
      <p:sp>
        <p:nvSpPr>
          <p:cNvPr id="11" name="Text 8"/>
          <p:cNvSpPr/>
          <p:nvPr/>
        </p:nvSpPr>
        <p:spPr>
          <a:xfrm>
            <a:off x="950976" y="1591056"/>
            <a:ext cx="3566160" cy="621792"/>
          </a:xfrm>
          <a:prstGeom prst="rect">
            <a:avLst/>
          </a:prstGeom>
          <a:noFill/>
          <a:ln/>
        </p:spPr>
        <p:txBody>
          <a:bodyPr wrap="square" lIns="0" tIns="0" rIns="0" bIns="0" rtlCol="0" anchor="t"/>
          <a:lstStyle/>
          <a:p>
            <a:pPr marL="0" indent="0" algn="l">
              <a:buNone/>
            </a:pPr>
            <a:r>
              <a:rPr lang="en-US" sz="1100" dirty="0">
                <a:solidFill>
                  <a:srgbClr val="7B9BB8"/>
                </a:solidFill>
                <a:latin typeface="Liberation Sans" pitchFamily="34" charset="0"/>
                <a:ea typeface="Liberation Sans" pitchFamily="34" charset="-122"/>
                <a:cs typeface="Liberation Sans" pitchFamily="34" charset="-120"/>
              </a:rPr>
              <a:t>Open the Hackathon team channel you were added to and confirm your use case.</a:t>
            </a:r>
            <a:endParaRPr lang="en-US" sz="1100" dirty="0"/>
          </a:p>
        </p:txBody>
      </p:sp>
      <p:sp>
        <p:nvSpPr>
          <p:cNvPr id="12" name="Shape 9"/>
          <p:cNvSpPr/>
          <p:nvPr/>
        </p:nvSpPr>
        <p:spPr>
          <a:xfrm>
            <a:off x="950976" y="2286000"/>
            <a:ext cx="3520440" cy="0"/>
          </a:xfrm>
          <a:prstGeom prst="line">
            <a:avLst/>
          </a:prstGeom>
          <a:noFill/>
          <a:ln w="12700">
            <a:solidFill>
              <a:srgbClr val="1A3A52"/>
            </a:solidFill>
            <a:prstDash val="solid"/>
          </a:ln>
        </p:spPr>
        <p:txBody>
          <a:bodyPr/>
          <a:lstStyle/>
          <a:p>
            <a:endParaRPr lang="en-US"/>
          </a:p>
        </p:txBody>
      </p:sp>
      <p:sp>
        <p:nvSpPr>
          <p:cNvPr id="13" name="Shape 10"/>
          <p:cNvSpPr/>
          <p:nvPr/>
        </p:nvSpPr>
        <p:spPr>
          <a:xfrm>
            <a:off x="356616" y="2807208"/>
            <a:ext cx="457200" cy="457200"/>
          </a:xfrm>
          <a:prstGeom prst="ellipse">
            <a:avLst/>
          </a:prstGeom>
          <a:solidFill>
            <a:srgbClr val="00C8D4"/>
          </a:solidFill>
          <a:ln w="12700">
            <a:solidFill>
              <a:srgbClr val="00C8D4"/>
            </a:solidFill>
            <a:prstDash val="solid"/>
          </a:ln>
        </p:spPr>
        <p:txBody>
          <a:bodyPr/>
          <a:lstStyle/>
          <a:p>
            <a:endParaRPr lang="en-US"/>
          </a:p>
        </p:txBody>
      </p:sp>
      <p:sp>
        <p:nvSpPr>
          <p:cNvPr id="14" name="Text 11"/>
          <p:cNvSpPr/>
          <p:nvPr/>
        </p:nvSpPr>
        <p:spPr>
          <a:xfrm>
            <a:off x="356616" y="280720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02</a:t>
            </a:r>
            <a:endParaRPr lang="en-US" sz="1300" dirty="0"/>
          </a:p>
        </p:txBody>
      </p:sp>
      <p:sp>
        <p:nvSpPr>
          <p:cNvPr id="15" name="Text 12"/>
          <p:cNvSpPr/>
          <p:nvPr/>
        </p:nvSpPr>
        <p:spPr>
          <a:xfrm>
            <a:off x="950976" y="2816352"/>
            <a:ext cx="3291840" cy="274320"/>
          </a:xfrm>
          <a:prstGeom prst="rect">
            <a:avLst/>
          </a:prstGeom>
          <a:noFill/>
          <a:ln/>
        </p:spPr>
        <p:txBody>
          <a:bodyPr wrap="square" lIns="0" tIns="0" rIns="0" bIns="0" rtlCol="0" anchor="t"/>
          <a:lstStyle/>
          <a:p>
            <a:pPr marL="0" indent="0" algn="l">
              <a:buNone/>
            </a:pPr>
            <a:r>
              <a:rPr lang="en-US" sz="1400" b="1" dirty="0">
                <a:solidFill>
                  <a:srgbClr val="FFFFFF"/>
                </a:solidFill>
                <a:latin typeface="Liberation Sans" pitchFamily="34" charset="0"/>
                <a:ea typeface="Liberation Sans" pitchFamily="34" charset="-122"/>
                <a:cs typeface="Liberation Sans" pitchFamily="34" charset="-120"/>
              </a:rPr>
              <a:t>Learn the workflow</a:t>
            </a:r>
            <a:endParaRPr lang="en-US" sz="1400" dirty="0"/>
          </a:p>
        </p:txBody>
      </p:sp>
      <p:sp>
        <p:nvSpPr>
          <p:cNvPr id="16" name="Text 13"/>
          <p:cNvSpPr/>
          <p:nvPr/>
        </p:nvSpPr>
        <p:spPr>
          <a:xfrm>
            <a:off x="950976" y="3163824"/>
            <a:ext cx="3566160" cy="621792"/>
          </a:xfrm>
          <a:prstGeom prst="rect">
            <a:avLst/>
          </a:prstGeom>
          <a:noFill/>
          <a:ln/>
        </p:spPr>
        <p:txBody>
          <a:bodyPr wrap="square" lIns="0" tIns="0" rIns="0" bIns="0" rtlCol="0" anchor="t"/>
          <a:lstStyle/>
          <a:p>
            <a:pPr marL="0" indent="0" algn="l">
              <a:buNone/>
            </a:pPr>
            <a:r>
              <a:rPr lang="en-US" sz="1100" dirty="0">
                <a:solidFill>
                  <a:srgbClr val="7B9BB8"/>
                </a:solidFill>
                <a:latin typeface="Liberation Sans" pitchFamily="34" charset="0"/>
                <a:ea typeface="Liberation Sans" pitchFamily="34" charset="-122"/>
                <a:cs typeface="Liberation Sans" pitchFamily="34" charset="-120"/>
              </a:rPr>
              <a:t>See where announcements, files, questions, and final projects belong.</a:t>
            </a:r>
            <a:endParaRPr lang="en-US" sz="1100" dirty="0"/>
          </a:p>
        </p:txBody>
      </p:sp>
      <p:sp>
        <p:nvSpPr>
          <p:cNvPr id="17" name="Shape 14"/>
          <p:cNvSpPr/>
          <p:nvPr/>
        </p:nvSpPr>
        <p:spPr>
          <a:xfrm>
            <a:off x="4745736" y="1234440"/>
            <a:ext cx="457200" cy="457200"/>
          </a:xfrm>
          <a:prstGeom prst="ellipse">
            <a:avLst/>
          </a:prstGeom>
          <a:solidFill>
            <a:srgbClr val="FF9830"/>
          </a:solidFill>
          <a:ln w="12700">
            <a:solidFill>
              <a:srgbClr val="FF9830"/>
            </a:solidFill>
            <a:prstDash val="solid"/>
          </a:ln>
        </p:spPr>
        <p:txBody>
          <a:bodyPr/>
          <a:lstStyle/>
          <a:p>
            <a:endParaRPr lang="en-US"/>
          </a:p>
        </p:txBody>
      </p:sp>
      <p:sp>
        <p:nvSpPr>
          <p:cNvPr id="18" name="Text 15"/>
          <p:cNvSpPr/>
          <p:nvPr/>
        </p:nvSpPr>
        <p:spPr>
          <a:xfrm>
            <a:off x="4745736" y="123444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03</a:t>
            </a:r>
            <a:endParaRPr lang="en-US" sz="1300" dirty="0"/>
          </a:p>
        </p:txBody>
      </p:sp>
      <p:sp>
        <p:nvSpPr>
          <p:cNvPr id="19" name="Text 16"/>
          <p:cNvSpPr/>
          <p:nvPr/>
        </p:nvSpPr>
        <p:spPr>
          <a:xfrm>
            <a:off x="5340096" y="1243584"/>
            <a:ext cx="3291840" cy="274320"/>
          </a:xfrm>
          <a:prstGeom prst="rect">
            <a:avLst/>
          </a:prstGeom>
          <a:noFill/>
          <a:ln/>
        </p:spPr>
        <p:txBody>
          <a:bodyPr wrap="square" lIns="0" tIns="0" rIns="0" bIns="0" rtlCol="0" anchor="t"/>
          <a:lstStyle/>
          <a:p>
            <a:pPr marL="0" indent="0" algn="l">
              <a:buNone/>
            </a:pPr>
            <a:r>
              <a:rPr lang="en-US" sz="1400" b="1" dirty="0">
                <a:solidFill>
                  <a:srgbClr val="FFFFFF"/>
                </a:solidFill>
                <a:latin typeface="Liberation Sans" pitchFamily="34" charset="0"/>
                <a:ea typeface="Liberation Sans" pitchFamily="34" charset="-122"/>
                <a:cs typeface="Liberation Sans" pitchFamily="34" charset="-120"/>
              </a:rPr>
              <a:t>Use the package</a:t>
            </a:r>
            <a:endParaRPr lang="en-US" sz="1400" dirty="0"/>
          </a:p>
        </p:txBody>
      </p:sp>
      <p:sp>
        <p:nvSpPr>
          <p:cNvPr id="20" name="Text 17"/>
          <p:cNvSpPr/>
          <p:nvPr/>
        </p:nvSpPr>
        <p:spPr>
          <a:xfrm>
            <a:off x="5340096" y="1591056"/>
            <a:ext cx="3566160" cy="621792"/>
          </a:xfrm>
          <a:prstGeom prst="rect">
            <a:avLst/>
          </a:prstGeom>
          <a:noFill/>
          <a:ln/>
        </p:spPr>
        <p:txBody>
          <a:bodyPr wrap="square" lIns="0" tIns="0" rIns="0" bIns="0" rtlCol="0" anchor="t"/>
          <a:lstStyle/>
          <a:p>
            <a:pPr marL="0" indent="0" algn="l">
              <a:buNone/>
            </a:pPr>
            <a:r>
              <a:rPr lang="en-US" sz="1100" dirty="0">
                <a:solidFill>
                  <a:srgbClr val="7B9BB8"/>
                </a:solidFill>
                <a:latin typeface="Liberation Sans" pitchFamily="34" charset="0"/>
                <a:ea typeface="Liberation Sans" pitchFamily="34" charset="-122"/>
                <a:cs typeface="Liberation Sans" pitchFamily="34" charset="-120"/>
              </a:rPr>
              <a:t>Follow the participant guides and copy the templates into your shared workspace.</a:t>
            </a:r>
            <a:endParaRPr lang="en-US" sz="1100" dirty="0"/>
          </a:p>
        </p:txBody>
      </p:sp>
      <p:sp>
        <p:nvSpPr>
          <p:cNvPr id="21" name="Shape 18"/>
          <p:cNvSpPr/>
          <p:nvPr/>
        </p:nvSpPr>
        <p:spPr>
          <a:xfrm>
            <a:off x="5340096" y="2286000"/>
            <a:ext cx="3520440" cy="0"/>
          </a:xfrm>
          <a:prstGeom prst="line">
            <a:avLst/>
          </a:prstGeom>
          <a:noFill/>
          <a:ln w="12700">
            <a:solidFill>
              <a:srgbClr val="1A3A52"/>
            </a:solidFill>
            <a:prstDash val="solid"/>
          </a:ln>
        </p:spPr>
        <p:txBody>
          <a:bodyPr/>
          <a:lstStyle/>
          <a:p>
            <a:endParaRPr lang="en-US"/>
          </a:p>
        </p:txBody>
      </p:sp>
      <p:sp>
        <p:nvSpPr>
          <p:cNvPr id="22" name="Shape 19"/>
          <p:cNvSpPr/>
          <p:nvPr/>
        </p:nvSpPr>
        <p:spPr>
          <a:xfrm>
            <a:off x="4745736" y="2807208"/>
            <a:ext cx="457200" cy="457200"/>
          </a:xfrm>
          <a:prstGeom prst="ellipse">
            <a:avLst/>
          </a:prstGeom>
          <a:solidFill>
            <a:srgbClr val="FF9830"/>
          </a:solidFill>
          <a:ln w="12700">
            <a:solidFill>
              <a:srgbClr val="FF9830"/>
            </a:solidFill>
            <a:prstDash val="solid"/>
          </a:ln>
        </p:spPr>
        <p:txBody>
          <a:bodyPr/>
          <a:lstStyle/>
          <a:p>
            <a:endParaRPr lang="en-US"/>
          </a:p>
        </p:txBody>
      </p:sp>
      <p:sp>
        <p:nvSpPr>
          <p:cNvPr id="23" name="Text 20"/>
          <p:cNvSpPr/>
          <p:nvPr/>
        </p:nvSpPr>
        <p:spPr>
          <a:xfrm>
            <a:off x="4745736" y="280720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04</a:t>
            </a:r>
            <a:endParaRPr lang="en-US" sz="1300" dirty="0"/>
          </a:p>
        </p:txBody>
      </p:sp>
      <p:sp>
        <p:nvSpPr>
          <p:cNvPr id="24" name="Text 21"/>
          <p:cNvSpPr/>
          <p:nvPr/>
        </p:nvSpPr>
        <p:spPr>
          <a:xfrm>
            <a:off x="5340096" y="2816352"/>
            <a:ext cx="3291840" cy="274320"/>
          </a:xfrm>
          <a:prstGeom prst="rect">
            <a:avLst/>
          </a:prstGeom>
          <a:noFill/>
          <a:ln/>
        </p:spPr>
        <p:txBody>
          <a:bodyPr wrap="square" lIns="0" tIns="0" rIns="0" bIns="0" rtlCol="0" anchor="t"/>
          <a:lstStyle/>
          <a:p>
            <a:pPr marL="0" indent="0" algn="l">
              <a:buNone/>
            </a:pPr>
            <a:r>
              <a:rPr lang="en-US" sz="1400" b="1" dirty="0">
                <a:solidFill>
                  <a:srgbClr val="FFFFFF"/>
                </a:solidFill>
                <a:latin typeface="Liberation Sans" pitchFamily="34" charset="0"/>
                <a:ea typeface="Liberation Sans" pitchFamily="34" charset="-122"/>
                <a:cs typeface="Liberation Sans" pitchFamily="34" charset="-120"/>
              </a:rPr>
              <a:t>Work as a team</a:t>
            </a:r>
            <a:endParaRPr lang="en-US" sz="1400" dirty="0"/>
          </a:p>
        </p:txBody>
      </p:sp>
      <p:sp>
        <p:nvSpPr>
          <p:cNvPr id="25" name="Text 22"/>
          <p:cNvSpPr/>
          <p:nvPr/>
        </p:nvSpPr>
        <p:spPr>
          <a:xfrm>
            <a:off x="5340096" y="3163824"/>
            <a:ext cx="3566160" cy="621792"/>
          </a:xfrm>
          <a:prstGeom prst="rect">
            <a:avLst/>
          </a:prstGeom>
          <a:noFill/>
          <a:ln/>
        </p:spPr>
        <p:txBody>
          <a:bodyPr wrap="square" lIns="0" tIns="0" rIns="0" bIns="0" rtlCol="0" anchor="t"/>
          <a:lstStyle/>
          <a:p>
            <a:pPr marL="0" indent="0" algn="l">
              <a:buNone/>
            </a:pPr>
            <a:r>
              <a:rPr lang="en-US" sz="1100" dirty="0">
                <a:solidFill>
                  <a:srgbClr val="7B9BB8"/>
                </a:solidFill>
                <a:latin typeface="Liberation Sans" pitchFamily="34" charset="0"/>
                <a:ea typeface="Liberation Sans" pitchFamily="34" charset="-122"/>
                <a:cs typeface="Liberation Sans" pitchFamily="34" charset="-120"/>
              </a:rPr>
              <a:t>Set roles, share progress, hand work off, and prepare for the build window.</a:t>
            </a:r>
            <a:endParaRPr lang="en-US" sz="1100" dirty="0"/>
          </a:p>
        </p:txBody>
      </p:sp>
      <p:sp>
        <p:nvSpPr>
          <p:cNvPr id="26" name="Shape 23"/>
          <p:cNvSpPr/>
          <p:nvPr/>
        </p:nvSpPr>
        <p:spPr>
          <a:xfrm>
            <a:off x="0" y="4754880"/>
            <a:ext cx="9144000" cy="388620"/>
          </a:xfrm>
          <a:prstGeom prst="rect">
            <a:avLst/>
          </a:prstGeom>
          <a:solidFill>
            <a:srgbClr val="0A2440"/>
          </a:solidFill>
          <a:ln w="12700">
            <a:solidFill>
              <a:srgbClr val="0A2440"/>
            </a:solidFill>
            <a:prstDash val="solid"/>
          </a:ln>
        </p:spPr>
        <p:txBody>
          <a:bodyPr/>
          <a:lstStyle/>
          <a:p>
            <a:endParaRPr lang="en-US"/>
          </a:p>
        </p:txBody>
      </p:sp>
      <p:pic>
        <p:nvPicPr>
          <p:cNvPr id="28" name="Image 1" descr="preencoded.png"/>
          <p:cNvPicPr>
            <a:picLocks noChangeAspect="1"/>
          </p:cNvPicPr>
          <p:nvPr/>
        </p:nvPicPr>
        <p:blipFill>
          <a:blip r:embed="rId4"/>
          <a:stretch>
            <a:fillRect/>
          </a:stretch>
        </p:blipFill>
        <p:spPr>
          <a:xfrm>
            <a:off x="256032" y="4786884"/>
            <a:ext cx="237744" cy="237744"/>
          </a:xfrm>
          <a:prstGeom prst="rect">
            <a:avLst/>
          </a:prstGeom>
        </p:spPr>
      </p:pic>
      <p:sp>
        <p:nvSpPr>
          <p:cNvPr id="29" name="Text 24"/>
          <p:cNvSpPr/>
          <p:nvPr/>
        </p:nvSpPr>
        <p:spPr>
          <a:xfrm>
            <a:off x="548640" y="4777740"/>
            <a:ext cx="8321040" cy="320040"/>
          </a:xfrm>
          <a:prstGeom prst="rect">
            <a:avLst/>
          </a:prstGeom>
          <a:noFill/>
          <a:ln/>
        </p:spPr>
        <p:txBody>
          <a:bodyPr wrap="square" lIns="0" tIns="0" rIns="0" bIns="0" rtlCol="0" anchor="ctr"/>
          <a:lstStyle/>
          <a:p>
            <a:pPr marL="0" indent="0">
              <a:buNone/>
            </a:pPr>
            <a:r>
              <a:rPr lang="en-US" sz="1000" b="1" dirty="0">
                <a:solidFill>
                  <a:srgbClr val="FF9830"/>
                </a:solidFill>
                <a:latin typeface="Liberation Sans" pitchFamily="34" charset="0"/>
                <a:ea typeface="Liberation Sans" pitchFamily="34" charset="-122"/>
                <a:cs typeface="Liberation Sans" pitchFamily="34" charset="-120"/>
              </a:rPr>
              <a:t>GOAL: </a:t>
            </a:r>
            <a:r>
              <a:rPr lang="en-US" sz="1000" dirty="0">
                <a:solidFill>
                  <a:srgbClr val="FFFFFF"/>
                </a:solidFill>
                <a:latin typeface="Liberation Sans" pitchFamily="34" charset="0"/>
                <a:ea typeface="Liberation Sans" pitchFamily="34" charset="-122"/>
                <a:cs typeface="Liberation Sans" pitchFamily="34" charset="-120"/>
              </a:rPr>
              <a:t>Leave the session knowing where to go and what to do first.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START HERE: FIND YOUR TEAM</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Your first action is to open the Hackathon team channel you were added to.</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256032" y="1078992"/>
            <a:ext cx="2889504" cy="3401568"/>
          </a:xfrm>
          <a:prstGeom prst="rect">
            <a:avLst/>
          </a:prstGeom>
          <a:solidFill>
            <a:srgbClr val="0D1E34"/>
          </a:solidFill>
          <a:ln w="12700">
            <a:solidFill>
              <a:srgbClr val="1A3A52"/>
            </a:solidFill>
            <a:prstDash val="solid"/>
          </a:ln>
        </p:spPr>
        <p:txBody>
          <a:bodyPr/>
          <a:lstStyle/>
          <a:p>
            <a:endParaRPr lang="en-US"/>
          </a:p>
        </p:txBody>
      </p:sp>
      <p:sp>
        <p:nvSpPr>
          <p:cNvPr id="9" name="Text 6"/>
          <p:cNvSpPr/>
          <p:nvPr/>
        </p:nvSpPr>
        <p:spPr>
          <a:xfrm>
            <a:off x="493776" y="1298448"/>
            <a:ext cx="2377440" cy="237744"/>
          </a:xfrm>
          <a:prstGeom prst="rect">
            <a:avLst/>
          </a:prstGeom>
          <a:noFill/>
          <a:ln/>
        </p:spPr>
        <p:txBody>
          <a:bodyPr wrap="square" lIns="0" tIns="0" rIns="0" bIns="0" rtlCol="0" anchor="t"/>
          <a:lstStyle/>
          <a:p>
            <a:pPr marL="0" indent="0" algn="l">
              <a:buNone/>
            </a:pPr>
            <a:r>
              <a:rPr lang="en-US" sz="1000" b="1" kern="0" spc="120" dirty="0">
                <a:solidFill>
                  <a:srgbClr val="7B9BB8"/>
                </a:solidFill>
                <a:latin typeface="Liberation Sans" pitchFamily="34" charset="0"/>
                <a:ea typeface="Liberation Sans" pitchFamily="34" charset="-122"/>
                <a:cs typeface="Liberation Sans" pitchFamily="34" charset="-120"/>
              </a:rPr>
              <a:t>MICROSOFT TEAMS</a:t>
            </a:r>
            <a:endParaRPr lang="en-US" sz="1000" dirty="0"/>
          </a:p>
        </p:txBody>
      </p:sp>
      <p:sp>
        <p:nvSpPr>
          <p:cNvPr id="10" name="Text 7"/>
          <p:cNvSpPr/>
          <p:nvPr/>
        </p:nvSpPr>
        <p:spPr>
          <a:xfrm>
            <a:off x="493776" y="1664208"/>
            <a:ext cx="2194560" cy="310896"/>
          </a:xfrm>
          <a:prstGeom prst="rect">
            <a:avLst/>
          </a:prstGeom>
          <a:noFill/>
          <a:ln/>
        </p:spPr>
        <p:txBody>
          <a:bodyPr wrap="square" lIns="0" tIns="0" rIns="0" bIns="0" rtlCol="0" anchor="t"/>
          <a:lstStyle/>
          <a:p>
            <a:pPr marL="0" indent="0" algn="l">
              <a:buNone/>
            </a:pPr>
            <a:r>
              <a:rPr lang="en-US" sz="1400" b="1" dirty="0">
                <a:solidFill>
                  <a:srgbClr val="FFFFFF"/>
                </a:solidFill>
                <a:latin typeface="Liberation Sans" pitchFamily="34" charset="0"/>
                <a:ea typeface="Liberation Sans" pitchFamily="34" charset="-122"/>
                <a:cs typeface="Liberation Sans" pitchFamily="34" charset="-120"/>
              </a:rPr>
              <a:t>Q3 AI Hackathon</a:t>
            </a:r>
            <a:endParaRPr lang="en-US" sz="1400" dirty="0"/>
          </a:p>
        </p:txBody>
      </p:sp>
      <p:sp>
        <p:nvSpPr>
          <p:cNvPr id="11" name="Shape 8"/>
          <p:cNvSpPr/>
          <p:nvPr/>
        </p:nvSpPr>
        <p:spPr>
          <a:xfrm>
            <a:off x="475488" y="2176272"/>
            <a:ext cx="2414016" cy="530352"/>
          </a:xfrm>
          <a:prstGeom prst="roundRect">
            <a:avLst/>
          </a:prstGeom>
          <a:solidFill>
            <a:srgbClr val="00C8D4">
              <a:alpha val="22000"/>
            </a:srgbClr>
          </a:solidFill>
          <a:ln w="12700">
            <a:solidFill>
              <a:srgbClr val="00C8D4"/>
            </a:solidFill>
            <a:prstDash val="solid"/>
          </a:ln>
        </p:spPr>
        <p:txBody>
          <a:bodyPr/>
          <a:lstStyle/>
          <a:p>
            <a:endParaRPr lang="en-US"/>
          </a:p>
        </p:txBody>
      </p:sp>
      <p:sp>
        <p:nvSpPr>
          <p:cNvPr id="12" name="Text 9"/>
          <p:cNvSpPr/>
          <p:nvPr/>
        </p:nvSpPr>
        <p:spPr>
          <a:xfrm>
            <a:off x="658368" y="2331720"/>
            <a:ext cx="2011680" cy="201168"/>
          </a:xfrm>
          <a:prstGeom prst="rect">
            <a:avLst/>
          </a:prstGeom>
          <a:noFill/>
          <a:ln/>
        </p:spPr>
        <p:txBody>
          <a:bodyPr wrap="square" lIns="0" tIns="0" rIns="0" bIns="0" rtlCol="0" anchor="t"/>
          <a:lstStyle/>
          <a:p>
            <a:pPr marL="0" indent="0" algn="l">
              <a:buNone/>
            </a:pPr>
            <a:r>
              <a:rPr lang="en-US" sz="1100" b="1" dirty="0">
                <a:solidFill>
                  <a:srgbClr val="00C8D4"/>
                </a:solidFill>
                <a:latin typeface="Liberation Sans" pitchFamily="34" charset="0"/>
                <a:ea typeface="Liberation Sans" pitchFamily="34" charset="-122"/>
                <a:cs typeface="Liberation Sans" pitchFamily="34" charset="-120"/>
              </a:rPr>
              <a:t>Team channel / ID</a:t>
            </a:r>
            <a:endParaRPr lang="en-US" sz="1100" dirty="0"/>
          </a:p>
        </p:txBody>
      </p:sp>
      <p:sp>
        <p:nvSpPr>
          <p:cNvPr id="13" name="Text 10"/>
          <p:cNvSpPr/>
          <p:nvPr/>
        </p:nvSpPr>
        <p:spPr>
          <a:xfrm>
            <a:off x="658368" y="2807208"/>
            <a:ext cx="1965960" cy="201168"/>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You were added here</a:t>
            </a:r>
            <a:endParaRPr lang="en-US" sz="1050" dirty="0"/>
          </a:p>
        </p:txBody>
      </p:sp>
      <p:sp>
        <p:nvSpPr>
          <p:cNvPr id="14" name="Text 11"/>
          <p:cNvSpPr/>
          <p:nvPr/>
        </p:nvSpPr>
        <p:spPr>
          <a:xfrm>
            <a:off x="658368" y="3163824"/>
            <a:ext cx="2057400" cy="201168"/>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Members  •  Posts  •  Files</a:t>
            </a:r>
            <a:endParaRPr lang="en-US" sz="1050" dirty="0"/>
          </a:p>
        </p:txBody>
      </p:sp>
      <p:sp>
        <p:nvSpPr>
          <p:cNvPr id="15" name="Text 12"/>
          <p:cNvSpPr/>
          <p:nvPr/>
        </p:nvSpPr>
        <p:spPr>
          <a:xfrm>
            <a:off x="658368" y="3520440"/>
            <a:ext cx="2057400" cy="201168"/>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Assigned use case</a:t>
            </a:r>
            <a:endParaRPr lang="en-US" sz="1050" dirty="0"/>
          </a:p>
        </p:txBody>
      </p:sp>
      <p:sp>
        <p:nvSpPr>
          <p:cNvPr id="16" name="Text 13"/>
          <p:cNvSpPr/>
          <p:nvPr/>
        </p:nvSpPr>
        <p:spPr>
          <a:xfrm>
            <a:off x="658368" y="3877056"/>
            <a:ext cx="2057400" cy="201168"/>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Pinned links and brief</a:t>
            </a:r>
            <a:endParaRPr lang="en-US" sz="1050" dirty="0"/>
          </a:p>
        </p:txBody>
      </p:sp>
      <p:sp>
        <p:nvSpPr>
          <p:cNvPr id="17" name="Shape 14"/>
          <p:cNvSpPr/>
          <p:nvPr/>
        </p:nvSpPr>
        <p:spPr>
          <a:xfrm>
            <a:off x="3493008" y="1207008"/>
            <a:ext cx="365760" cy="365760"/>
          </a:xfrm>
          <a:prstGeom prst="ellipse">
            <a:avLst/>
          </a:prstGeom>
          <a:solidFill>
            <a:srgbClr val="00C8D4"/>
          </a:solidFill>
          <a:ln w="12700">
            <a:solidFill>
              <a:srgbClr val="00C8D4"/>
            </a:solidFill>
            <a:prstDash val="solid"/>
          </a:ln>
        </p:spPr>
        <p:txBody>
          <a:bodyPr/>
          <a:lstStyle/>
          <a:p>
            <a:endParaRPr lang="en-US"/>
          </a:p>
        </p:txBody>
      </p:sp>
      <p:sp>
        <p:nvSpPr>
          <p:cNvPr id="18" name="Text 15"/>
          <p:cNvSpPr/>
          <p:nvPr/>
        </p:nvSpPr>
        <p:spPr>
          <a:xfrm>
            <a:off x="4005072" y="1207008"/>
            <a:ext cx="4297680" cy="237744"/>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Open Teams</a:t>
            </a:r>
            <a:endParaRPr lang="en-US" sz="1300" dirty="0"/>
          </a:p>
        </p:txBody>
      </p:sp>
      <p:sp>
        <p:nvSpPr>
          <p:cNvPr id="19" name="Text 16"/>
          <p:cNvSpPr/>
          <p:nvPr/>
        </p:nvSpPr>
        <p:spPr>
          <a:xfrm>
            <a:off x="4005072" y="1499616"/>
            <a:ext cx="4297680" cy="283464"/>
          </a:xfrm>
          <a:prstGeom prst="rect">
            <a:avLst/>
          </a:prstGeom>
          <a:noFill/>
          <a:ln/>
        </p:spPr>
        <p:txBody>
          <a:bodyPr wrap="square" lIns="0" tIns="0" rIns="0" bIns="0" rtlCol="0" anchor="t"/>
          <a:lstStyle/>
          <a:p>
            <a:pPr marL="0" indent="0" algn="l">
              <a:buNone/>
            </a:pPr>
            <a:r>
              <a:rPr lang="en-US" sz="1080" dirty="0">
                <a:solidFill>
                  <a:srgbClr val="7B9BB8"/>
                </a:solidFill>
                <a:latin typeface="Liberation Sans" pitchFamily="34" charset="0"/>
                <a:ea typeface="Liberation Sans" pitchFamily="34" charset="-122"/>
                <a:cs typeface="Liberation Sans" pitchFamily="34" charset="-120"/>
              </a:rPr>
              <a:t>Go to the Q3 AI Hackathon area.</a:t>
            </a:r>
            <a:endParaRPr lang="en-US" sz="1080" dirty="0"/>
          </a:p>
        </p:txBody>
      </p:sp>
      <p:sp>
        <p:nvSpPr>
          <p:cNvPr id="20" name="Shape 17"/>
          <p:cNvSpPr/>
          <p:nvPr/>
        </p:nvSpPr>
        <p:spPr>
          <a:xfrm>
            <a:off x="4005072" y="1847088"/>
            <a:ext cx="4315968" cy="0"/>
          </a:xfrm>
          <a:prstGeom prst="line">
            <a:avLst/>
          </a:prstGeom>
          <a:noFill/>
          <a:ln w="12700">
            <a:solidFill>
              <a:srgbClr val="1A3A52"/>
            </a:solidFill>
            <a:prstDash val="solid"/>
          </a:ln>
        </p:spPr>
        <p:txBody>
          <a:bodyPr/>
          <a:lstStyle/>
          <a:p>
            <a:endParaRPr lang="en-US"/>
          </a:p>
        </p:txBody>
      </p:sp>
      <p:sp>
        <p:nvSpPr>
          <p:cNvPr id="21" name="Shape 18"/>
          <p:cNvSpPr/>
          <p:nvPr/>
        </p:nvSpPr>
        <p:spPr>
          <a:xfrm>
            <a:off x="3493008" y="1993392"/>
            <a:ext cx="365760" cy="365760"/>
          </a:xfrm>
          <a:prstGeom prst="ellipse">
            <a:avLst/>
          </a:prstGeom>
          <a:solidFill>
            <a:srgbClr val="00C8D4"/>
          </a:solidFill>
          <a:ln w="12700">
            <a:solidFill>
              <a:srgbClr val="00C8D4"/>
            </a:solidFill>
            <a:prstDash val="solid"/>
          </a:ln>
        </p:spPr>
        <p:txBody>
          <a:bodyPr/>
          <a:lstStyle/>
          <a:p>
            <a:endParaRPr lang="en-US"/>
          </a:p>
        </p:txBody>
      </p:sp>
      <p:sp>
        <p:nvSpPr>
          <p:cNvPr id="22" name="Text 19"/>
          <p:cNvSpPr/>
          <p:nvPr/>
        </p:nvSpPr>
        <p:spPr>
          <a:xfrm>
            <a:off x="4005072" y="1993392"/>
            <a:ext cx="4297680" cy="237744"/>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Find your channel</a:t>
            </a:r>
            <a:endParaRPr lang="en-US" sz="1300" dirty="0"/>
          </a:p>
        </p:txBody>
      </p:sp>
      <p:sp>
        <p:nvSpPr>
          <p:cNvPr id="23" name="Text 20"/>
          <p:cNvSpPr/>
          <p:nvPr/>
        </p:nvSpPr>
        <p:spPr>
          <a:xfrm>
            <a:off x="4005072" y="2286000"/>
            <a:ext cx="4297680" cy="283464"/>
          </a:xfrm>
          <a:prstGeom prst="rect">
            <a:avLst/>
          </a:prstGeom>
          <a:noFill/>
          <a:ln/>
        </p:spPr>
        <p:txBody>
          <a:bodyPr wrap="square" lIns="0" tIns="0" rIns="0" bIns="0" rtlCol="0" anchor="t"/>
          <a:lstStyle/>
          <a:p>
            <a:pPr marL="0" indent="0" algn="l">
              <a:buNone/>
            </a:pPr>
            <a:r>
              <a:rPr lang="en-US" sz="1080" dirty="0">
                <a:solidFill>
                  <a:srgbClr val="7B9BB8"/>
                </a:solidFill>
                <a:latin typeface="Liberation Sans" pitchFamily="34" charset="0"/>
                <a:ea typeface="Liberation Sans" pitchFamily="34" charset="-122"/>
                <a:cs typeface="Liberation Sans" pitchFamily="34" charset="-120"/>
              </a:rPr>
              <a:t>Open the team channel you were added to.</a:t>
            </a:r>
            <a:endParaRPr lang="en-US" sz="1080" dirty="0"/>
          </a:p>
        </p:txBody>
      </p:sp>
      <p:sp>
        <p:nvSpPr>
          <p:cNvPr id="24" name="Shape 21"/>
          <p:cNvSpPr/>
          <p:nvPr/>
        </p:nvSpPr>
        <p:spPr>
          <a:xfrm>
            <a:off x="4005072" y="2633472"/>
            <a:ext cx="4315968" cy="0"/>
          </a:xfrm>
          <a:prstGeom prst="line">
            <a:avLst/>
          </a:prstGeom>
          <a:noFill/>
          <a:ln w="12700">
            <a:solidFill>
              <a:srgbClr val="1A3A52"/>
            </a:solidFill>
            <a:prstDash val="solid"/>
          </a:ln>
        </p:spPr>
        <p:txBody>
          <a:bodyPr/>
          <a:lstStyle/>
          <a:p>
            <a:endParaRPr lang="en-US"/>
          </a:p>
        </p:txBody>
      </p:sp>
      <p:sp>
        <p:nvSpPr>
          <p:cNvPr id="25" name="Shape 22"/>
          <p:cNvSpPr/>
          <p:nvPr/>
        </p:nvSpPr>
        <p:spPr>
          <a:xfrm>
            <a:off x="3493008" y="2779776"/>
            <a:ext cx="365760" cy="365760"/>
          </a:xfrm>
          <a:prstGeom prst="ellipse">
            <a:avLst/>
          </a:prstGeom>
          <a:solidFill>
            <a:srgbClr val="FF9830"/>
          </a:solidFill>
          <a:ln w="12700">
            <a:solidFill>
              <a:srgbClr val="FF9830"/>
            </a:solidFill>
            <a:prstDash val="solid"/>
          </a:ln>
        </p:spPr>
        <p:txBody>
          <a:bodyPr/>
          <a:lstStyle/>
          <a:p>
            <a:endParaRPr lang="en-US"/>
          </a:p>
        </p:txBody>
      </p:sp>
      <p:sp>
        <p:nvSpPr>
          <p:cNvPr id="26" name="Text 23"/>
          <p:cNvSpPr/>
          <p:nvPr/>
        </p:nvSpPr>
        <p:spPr>
          <a:xfrm>
            <a:off x="4005072" y="2779776"/>
            <a:ext cx="4297680" cy="237744"/>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Confirm your team</a:t>
            </a:r>
            <a:endParaRPr lang="en-US" sz="1300" dirty="0"/>
          </a:p>
        </p:txBody>
      </p:sp>
      <p:sp>
        <p:nvSpPr>
          <p:cNvPr id="27" name="Text 24"/>
          <p:cNvSpPr/>
          <p:nvPr/>
        </p:nvSpPr>
        <p:spPr>
          <a:xfrm>
            <a:off x="4005072" y="3072384"/>
            <a:ext cx="4297680" cy="283464"/>
          </a:xfrm>
          <a:prstGeom prst="rect">
            <a:avLst/>
          </a:prstGeom>
          <a:noFill/>
          <a:ln/>
        </p:spPr>
        <p:txBody>
          <a:bodyPr wrap="square" lIns="0" tIns="0" rIns="0" bIns="0" rtlCol="0" anchor="t"/>
          <a:lstStyle/>
          <a:p>
            <a:pPr marL="0" indent="0" algn="l">
              <a:buNone/>
            </a:pPr>
            <a:r>
              <a:rPr lang="en-US" sz="1080" dirty="0">
                <a:solidFill>
                  <a:srgbClr val="7B9BB8"/>
                </a:solidFill>
                <a:latin typeface="Liberation Sans" pitchFamily="34" charset="0"/>
                <a:ea typeface="Liberation Sans" pitchFamily="34" charset="-122"/>
                <a:cs typeface="Liberation Sans" pitchFamily="34" charset="-120"/>
              </a:rPr>
              <a:t>Check the member list and assigned use case.</a:t>
            </a:r>
            <a:endParaRPr lang="en-US" sz="1080" dirty="0"/>
          </a:p>
        </p:txBody>
      </p:sp>
      <p:sp>
        <p:nvSpPr>
          <p:cNvPr id="28" name="Shape 25"/>
          <p:cNvSpPr/>
          <p:nvPr/>
        </p:nvSpPr>
        <p:spPr>
          <a:xfrm>
            <a:off x="4005072" y="3419856"/>
            <a:ext cx="4315968" cy="0"/>
          </a:xfrm>
          <a:prstGeom prst="line">
            <a:avLst/>
          </a:prstGeom>
          <a:noFill/>
          <a:ln w="12700">
            <a:solidFill>
              <a:srgbClr val="1A3A52"/>
            </a:solidFill>
            <a:prstDash val="solid"/>
          </a:ln>
        </p:spPr>
        <p:txBody>
          <a:bodyPr/>
          <a:lstStyle/>
          <a:p>
            <a:endParaRPr lang="en-US"/>
          </a:p>
        </p:txBody>
      </p:sp>
      <p:sp>
        <p:nvSpPr>
          <p:cNvPr id="29" name="Shape 26"/>
          <p:cNvSpPr/>
          <p:nvPr/>
        </p:nvSpPr>
        <p:spPr>
          <a:xfrm>
            <a:off x="3493008" y="3566160"/>
            <a:ext cx="365760" cy="365760"/>
          </a:xfrm>
          <a:prstGeom prst="ellipse">
            <a:avLst/>
          </a:prstGeom>
          <a:solidFill>
            <a:srgbClr val="FF9830"/>
          </a:solidFill>
          <a:ln w="12700">
            <a:solidFill>
              <a:srgbClr val="FF9830"/>
            </a:solidFill>
            <a:prstDash val="solid"/>
          </a:ln>
        </p:spPr>
        <p:txBody>
          <a:bodyPr/>
          <a:lstStyle/>
          <a:p>
            <a:endParaRPr lang="en-US"/>
          </a:p>
        </p:txBody>
      </p:sp>
      <p:sp>
        <p:nvSpPr>
          <p:cNvPr id="30" name="Text 27"/>
          <p:cNvSpPr/>
          <p:nvPr/>
        </p:nvSpPr>
        <p:spPr>
          <a:xfrm>
            <a:off x="4005072" y="3566160"/>
            <a:ext cx="4297680" cy="237744"/>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Save the location</a:t>
            </a:r>
            <a:endParaRPr lang="en-US" sz="1300" dirty="0"/>
          </a:p>
        </p:txBody>
      </p:sp>
      <p:sp>
        <p:nvSpPr>
          <p:cNvPr id="31" name="Text 28"/>
          <p:cNvSpPr/>
          <p:nvPr/>
        </p:nvSpPr>
        <p:spPr>
          <a:xfrm>
            <a:off x="4005072" y="3858768"/>
            <a:ext cx="4297680" cy="283464"/>
          </a:xfrm>
          <a:prstGeom prst="rect">
            <a:avLst/>
          </a:prstGeom>
          <a:noFill/>
          <a:ln/>
        </p:spPr>
        <p:txBody>
          <a:bodyPr wrap="square" lIns="0" tIns="0" rIns="0" bIns="0" rtlCol="0" anchor="t"/>
          <a:lstStyle/>
          <a:p>
            <a:pPr marL="0" indent="0" algn="l">
              <a:buNone/>
            </a:pPr>
            <a:r>
              <a:rPr lang="en-US" sz="1080" dirty="0">
                <a:solidFill>
                  <a:srgbClr val="7B9BB8"/>
                </a:solidFill>
                <a:latin typeface="Liberation Sans" pitchFamily="34" charset="0"/>
                <a:ea typeface="Liberation Sans" pitchFamily="34" charset="-122"/>
                <a:cs typeface="Liberation Sans" pitchFamily="34" charset="-120"/>
              </a:rPr>
              <a:t>Keep the channel easy to find during the event.</a:t>
            </a:r>
            <a:endParaRPr lang="en-US" sz="1080" dirty="0"/>
          </a:p>
        </p:txBody>
      </p:sp>
      <p:pic>
        <p:nvPicPr>
          <p:cNvPr id="35" name="Image 1" descr="preencoded.png"/>
          <p:cNvPicPr>
            <a:picLocks noChangeAspect="1"/>
          </p:cNvPicPr>
          <p:nvPr/>
        </p:nvPicPr>
        <p:blipFill>
          <a:blip r:embed="rId4"/>
          <a:stretch>
            <a:fillRect/>
          </a:stretch>
        </p:blipFill>
        <p:spPr>
          <a:xfrm>
            <a:off x="3569818" y="1283818"/>
            <a:ext cx="212141" cy="212141"/>
          </a:xfrm>
          <a:prstGeom prst="rect">
            <a:avLst/>
          </a:prstGeom>
        </p:spPr>
      </p:pic>
      <p:pic>
        <p:nvPicPr>
          <p:cNvPr id="36" name="Image 2" descr="preencoded.png"/>
          <p:cNvPicPr>
            <a:picLocks noChangeAspect="1"/>
          </p:cNvPicPr>
          <p:nvPr/>
        </p:nvPicPr>
        <p:blipFill>
          <a:blip r:embed="rId5"/>
          <a:stretch>
            <a:fillRect/>
          </a:stretch>
        </p:blipFill>
        <p:spPr>
          <a:xfrm>
            <a:off x="3569818" y="2070202"/>
            <a:ext cx="212141" cy="212141"/>
          </a:xfrm>
          <a:prstGeom prst="rect">
            <a:avLst/>
          </a:prstGeom>
        </p:spPr>
      </p:pic>
      <p:pic>
        <p:nvPicPr>
          <p:cNvPr id="37" name="Image 3" descr="preencoded.png"/>
          <p:cNvPicPr>
            <a:picLocks noChangeAspect="1"/>
          </p:cNvPicPr>
          <p:nvPr/>
        </p:nvPicPr>
        <p:blipFill>
          <a:blip r:embed="rId6"/>
          <a:stretch>
            <a:fillRect/>
          </a:stretch>
        </p:blipFill>
        <p:spPr>
          <a:xfrm>
            <a:off x="3569818" y="2856586"/>
            <a:ext cx="212141" cy="212141"/>
          </a:xfrm>
          <a:prstGeom prst="rect">
            <a:avLst/>
          </a:prstGeom>
        </p:spPr>
      </p:pic>
      <p:pic>
        <p:nvPicPr>
          <p:cNvPr id="38" name="Image 4" descr="preencoded.png"/>
          <p:cNvPicPr>
            <a:picLocks noChangeAspect="1"/>
          </p:cNvPicPr>
          <p:nvPr/>
        </p:nvPicPr>
        <p:blipFill>
          <a:blip r:embed="rId7"/>
          <a:stretch>
            <a:fillRect/>
          </a:stretch>
        </p:blipFill>
        <p:spPr>
          <a:xfrm>
            <a:off x="3569818" y="3642970"/>
            <a:ext cx="212141" cy="2121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KNOW WHERE INFORMATION LIVES</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Three places. Three different jobs.</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256032" y="1234440"/>
            <a:ext cx="2779776" cy="2944368"/>
          </a:xfrm>
          <a:prstGeom prst="rect">
            <a:avLst/>
          </a:prstGeom>
          <a:solidFill>
            <a:srgbClr val="0D1E34"/>
          </a:solidFill>
          <a:ln w="12700">
            <a:solidFill>
              <a:srgbClr val="0D1E34"/>
            </a:solidFill>
            <a:prstDash val="solid"/>
          </a:ln>
        </p:spPr>
        <p:txBody>
          <a:bodyPr/>
          <a:lstStyle/>
          <a:p>
            <a:endParaRPr lang="en-US"/>
          </a:p>
        </p:txBody>
      </p:sp>
      <p:sp>
        <p:nvSpPr>
          <p:cNvPr id="9" name="Shape 6"/>
          <p:cNvSpPr/>
          <p:nvPr/>
        </p:nvSpPr>
        <p:spPr>
          <a:xfrm>
            <a:off x="256032" y="1234440"/>
            <a:ext cx="64008" cy="2944368"/>
          </a:xfrm>
          <a:prstGeom prst="rect">
            <a:avLst/>
          </a:prstGeom>
          <a:solidFill>
            <a:srgbClr val="00C8D4"/>
          </a:solidFill>
          <a:ln w="12700">
            <a:solidFill>
              <a:srgbClr val="00C8D4"/>
            </a:solidFill>
            <a:prstDash val="solid"/>
          </a:ln>
        </p:spPr>
        <p:txBody>
          <a:bodyPr/>
          <a:lstStyle/>
          <a:p>
            <a:endParaRPr lang="en-US"/>
          </a:p>
        </p:txBody>
      </p:sp>
      <p:sp>
        <p:nvSpPr>
          <p:cNvPr id="10" name="Shape 7"/>
          <p:cNvSpPr/>
          <p:nvPr/>
        </p:nvSpPr>
        <p:spPr>
          <a:xfrm>
            <a:off x="384048" y="1362456"/>
            <a:ext cx="329184" cy="329184"/>
          </a:xfrm>
          <a:prstGeom prst="ellipse">
            <a:avLst/>
          </a:prstGeom>
          <a:solidFill>
            <a:srgbClr val="00C8D4"/>
          </a:solidFill>
          <a:ln w="12700">
            <a:solidFill>
              <a:srgbClr val="00C8D4"/>
            </a:solidFill>
            <a:prstDash val="solid"/>
          </a:ln>
        </p:spPr>
        <p:txBody>
          <a:bodyPr/>
          <a:lstStyle/>
          <a:p>
            <a:endParaRPr lang="en-US"/>
          </a:p>
        </p:txBody>
      </p:sp>
      <p:sp>
        <p:nvSpPr>
          <p:cNvPr id="11" name="Text 8"/>
          <p:cNvSpPr/>
          <p:nvPr/>
        </p:nvSpPr>
        <p:spPr>
          <a:xfrm>
            <a:off x="822960" y="1362456"/>
            <a:ext cx="2066544" cy="274320"/>
          </a:xfrm>
          <a:prstGeom prst="rect">
            <a:avLst/>
          </a:prstGeom>
          <a:noFill/>
          <a:ln/>
        </p:spPr>
        <p:txBody>
          <a:bodyPr wrap="square" lIns="0" tIns="0" rIns="0" bIns="0" rtlCol="0" anchor="t"/>
          <a:lstStyle/>
          <a:p>
            <a:pPr marL="0" indent="0" algn="l">
              <a:buNone/>
            </a:pPr>
            <a:r>
              <a:rPr lang="en-US" sz="1250" b="1" dirty="0">
                <a:solidFill>
                  <a:srgbClr val="00C8D4"/>
                </a:solidFill>
                <a:latin typeface="Liberation Sans" pitchFamily="34" charset="0"/>
                <a:ea typeface="Liberation Sans" pitchFamily="34" charset="-122"/>
                <a:cs typeface="Liberation Sans" pitchFamily="34" charset="-120"/>
              </a:rPr>
              <a:t>Hackathon-wide</a:t>
            </a:r>
            <a:endParaRPr lang="en-US" sz="1250" dirty="0"/>
          </a:p>
        </p:txBody>
      </p:sp>
      <p:sp>
        <p:nvSpPr>
          <p:cNvPr id="12" name="Text 9"/>
          <p:cNvSpPr/>
          <p:nvPr/>
        </p:nvSpPr>
        <p:spPr>
          <a:xfrm>
            <a:off x="438912" y="1764792"/>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Announcements</a:t>
            </a:r>
            <a:endParaRPr lang="en-US" sz="1050" dirty="0"/>
          </a:p>
        </p:txBody>
      </p:sp>
      <p:sp>
        <p:nvSpPr>
          <p:cNvPr id="13" name="Text 10"/>
          <p:cNvSpPr/>
          <p:nvPr/>
        </p:nvSpPr>
        <p:spPr>
          <a:xfrm>
            <a:off x="438912" y="2075688"/>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Schedule changes</a:t>
            </a:r>
            <a:endParaRPr lang="en-US" sz="1050" dirty="0"/>
          </a:p>
        </p:txBody>
      </p:sp>
      <p:sp>
        <p:nvSpPr>
          <p:cNvPr id="14" name="Text 11"/>
          <p:cNvSpPr/>
          <p:nvPr/>
        </p:nvSpPr>
        <p:spPr>
          <a:xfrm>
            <a:off x="438912" y="2386584"/>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Shared FAQs</a:t>
            </a:r>
            <a:endParaRPr lang="en-US" sz="1050" dirty="0"/>
          </a:p>
        </p:txBody>
      </p:sp>
      <p:sp>
        <p:nvSpPr>
          <p:cNvPr id="15" name="Text 12"/>
          <p:cNvSpPr/>
          <p:nvPr/>
        </p:nvSpPr>
        <p:spPr>
          <a:xfrm>
            <a:off x="438912" y="2697480"/>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Instructions for everyone</a:t>
            </a:r>
            <a:endParaRPr lang="en-US" sz="1050" dirty="0"/>
          </a:p>
        </p:txBody>
      </p:sp>
      <p:sp>
        <p:nvSpPr>
          <p:cNvPr id="16" name="Shape 13"/>
          <p:cNvSpPr/>
          <p:nvPr/>
        </p:nvSpPr>
        <p:spPr>
          <a:xfrm>
            <a:off x="3182112" y="1234440"/>
            <a:ext cx="2779776" cy="2944368"/>
          </a:xfrm>
          <a:prstGeom prst="rect">
            <a:avLst/>
          </a:prstGeom>
          <a:solidFill>
            <a:srgbClr val="0D1E34"/>
          </a:solidFill>
          <a:ln w="12700">
            <a:solidFill>
              <a:srgbClr val="0D1E34"/>
            </a:solidFill>
            <a:prstDash val="solid"/>
          </a:ln>
        </p:spPr>
        <p:txBody>
          <a:bodyPr/>
          <a:lstStyle/>
          <a:p>
            <a:endParaRPr lang="en-US"/>
          </a:p>
        </p:txBody>
      </p:sp>
      <p:sp>
        <p:nvSpPr>
          <p:cNvPr id="17" name="Shape 14"/>
          <p:cNvSpPr/>
          <p:nvPr/>
        </p:nvSpPr>
        <p:spPr>
          <a:xfrm>
            <a:off x="3182112" y="1234440"/>
            <a:ext cx="64008" cy="2944368"/>
          </a:xfrm>
          <a:prstGeom prst="rect">
            <a:avLst/>
          </a:prstGeom>
          <a:solidFill>
            <a:srgbClr val="FF9830"/>
          </a:solidFill>
          <a:ln w="12700">
            <a:solidFill>
              <a:srgbClr val="FF9830"/>
            </a:solidFill>
            <a:prstDash val="solid"/>
          </a:ln>
        </p:spPr>
        <p:txBody>
          <a:bodyPr/>
          <a:lstStyle/>
          <a:p>
            <a:endParaRPr lang="en-US"/>
          </a:p>
        </p:txBody>
      </p:sp>
      <p:sp>
        <p:nvSpPr>
          <p:cNvPr id="18" name="Shape 15"/>
          <p:cNvSpPr/>
          <p:nvPr/>
        </p:nvSpPr>
        <p:spPr>
          <a:xfrm>
            <a:off x="3310128" y="1362456"/>
            <a:ext cx="329184" cy="329184"/>
          </a:xfrm>
          <a:prstGeom prst="ellipse">
            <a:avLst/>
          </a:prstGeom>
          <a:solidFill>
            <a:srgbClr val="FF9830"/>
          </a:solidFill>
          <a:ln w="12700">
            <a:solidFill>
              <a:srgbClr val="FF9830"/>
            </a:solidFill>
            <a:prstDash val="solid"/>
          </a:ln>
        </p:spPr>
        <p:txBody>
          <a:bodyPr/>
          <a:lstStyle/>
          <a:p>
            <a:endParaRPr lang="en-US"/>
          </a:p>
        </p:txBody>
      </p:sp>
      <p:sp>
        <p:nvSpPr>
          <p:cNvPr id="19" name="Text 16"/>
          <p:cNvSpPr/>
          <p:nvPr/>
        </p:nvSpPr>
        <p:spPr>
          <a:xfrm>
            <a:off x="3749040" y="1362456"/>
            <a:ext cx="2066544" cy="274320"/>
          </a:xfrm>
          <a:prstGeom prst="rect">
            <a:avLst/>
          </a:prstGeom>
          <a:noFill/>
          <a:ln/>
        </p:spPr>
        <p:txBody>
          <a:bodyPr wrap="square" lIns="0" tIns="0" rIns="0" bIns="0" rtlCol="0" anchor="t"/>
          <a:lstStyle/>
          <a:p>
            <a:pPr marL="0" indent="0" algn="l">
              <a:buNone/>
            </a:pPr>
            <a:r>
              <a:rPr lang="en-US" sz="1250" b="1" dirty="0">
                <a:solidFill>
                  <a:srgbClr val="FF9830"/>
                </a:solidFill>
                <a:latin typeface="Liberation Sans" pitchFamily="34" charset="0"/>
                <a:ea typeface="Liberation Sans" pitchFamily="34" charset="-122"/>
                <a:cs typeface="Liberation Sans" pitchFamily="34" charset="-120"/>
              </a:rPr>
              <a:t>Your team channel</a:t>
            </a:r>
            <a:endParaRPr lang="en-US" sz="1250" dirty="0"/>
          </a:p>
        </p:txBody>
      </p:sp>
      <p:sp>
        <p:nvSpPr>
          <p:cNvPr id="20" name="Text 17"/>
          <p:cNvSpPr/>
          <p:nvPr/>
        </p:nvSpPr>
        <p:spPr>
          <a:xfrm>
            <a:off x="3364992" y="1764792"/>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Use-case questions</a:t>
            </a:r>
            <a:endParaRPr lang="en-US" sz="1050" dirty="0"/>
          </a:p>
        </p:txBody>
      </p:sp>
      <p:sp>
        <p:nvSpPr>
          <p:cNvPr id="21" name="Text 18"/>
          <p:cNvSpPr/>
          <p:nvPr/>
        </p:nvSpPr>
        <p:spPr>
          <a:xfrm>
            <a:off x="3364992" y="2075688"/>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Team decisions</a:t>
            </a:r>
            <a:endParaRPr lang="en-US" sz="1050" dirty="0"/>
          </a:p>
        </p:txBody>
      </p:sp>
      <p:sp>
        <p:nvSpPr>
          <p:cNvPr id="22" name="Text 19"/>
          <p:cNvSpPr/>
          <p:nvPr/>
        </p:nvSpPr>
        <p:spPr>
          <a:xfrm>
            <a:off x="3364992" y="2386584"/>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Sponsor and SME route</a:t>
            </a:r>
            <a:endParaRPr lang="en-US" sz="1050" dirty="0"/>
          </a:p>
        </p:txBody>
      </p:sp>
      <p:sp>
        <p:nvSpPr>
          <p:cNvPr id="23" name="Text 20"/>
          <p:cNvSpPr/>
          <p:nvPr/>
        </p:nvSpPr>
        <p:spPr>
          <a:xfrm>
            <a:off x="3364992" y="2697480"/>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Handoffs and status</a:t>
            </a:r>
            <a:endParaRPr lang="en-US" sz="1050" dirty="0"/>
          </a:p>
        </p:txBody>
      </p:sp>
      <p:sp>
        <p:nvSpPr>
          <p:cNvPr id="24" name="Shape 21"/>
          <p:cNvSpPr/>
          <p:nvPr/>
        </p:nvSpPr>
        <p:spPr>
          <a:xfrm>
            <a:off x="6108192" y="1234440"/>
            <a:ext cx="2779776" cy="2944368"/>
          </a:xfrm>
          <a:prstGeom prst="rect">
            <a:avLst/>
          </a:prstGeom>
          <a:solidFill>
            <a:srgbClr val="0D1E34"/>
          </a:solidFill>
          <a:ln w="12700">
            <a:solidFill>
              <a:srgbClr val="0D1E34"/>
            </a:solidFill>
            <a:prstDash val="solid"/>
          </a:ln>
        </p:spPr>
        <p:txBody>
          <a:bodyPr/>
          <a:lstStyle/>
          <a:p>
            <a:endParaRPr lang="en-US"/>
          </a:p>
        </p:txBody>
      </p:sp>
      <p:sp>
        <p:nvSpPr>
          <p:cNvPr id="25" name="Shape 22"/>
          <p:cNvSpPr/>
          <p:nvPr/>
        </p:nvSpPr>
        <p:spPr>
          <a:xfrm>
            <a:off x="6108192" y="1234440"/>
            <a:ext cx="64008" cy="2944368"/>
          </a:xfrm>
          <a:prstGeom prst="rect">
            <a:avLst/>
          </a:prstGeom>
          <a:solidFill>
            <a:srgbClr val="2458A8"/>
          </a:solidFill>
          <a:ln w="12700">
            <a:solidFill>
              <a:srgbClr val="2458A8"/>
            </a:solidFill>
            <a:prstDash val="solid"/>
          </a:ln>
        </p:spPr>
        <p:txBody>
          <a:bodyPr/>
          <a:lstStyle/>
          <a:p>
            <a:endParaRPr lang="en-US"/>
          </a:p>
        </p:txBody>
      </p:sp>
      <p:sp>
        <p:nvSpPr>
          <p:cNvPr id="26" name="Shape 23"/>
          <p:cNvSpPr/>
          <p:nvPr/>
        </p:nvSpPr>
        <p:spPr>
          <a:xfrm>
            <a:off x="6236208" y="1362456"/>
            <a:ext cx="329184" cy="329184"/>
          </a:xfrm>
          <a:prstGeom prst="ellipse">
            <a:avLst/>
          </a:prstGeom>
          <a:solidFill>
            <a:srgbClr val="2458A8"/>
          </a:solidFill>
          <a:ln w="12700">
            <a:solidFill>
              <a:srgbClr val="2458A8"/>
            </a:solidFill>
            <a:prstDash val="solid"/>
          </a:ln>
        </p:spPr>
        <p:txBody>
          <a:bodyPr/>
          <a:lstStyle/>
          <a:p>
            <a:endParaRPr lang="en-US"/>
          </a:p>
        </p:txBody>
      </p:sp>
      <p:sp>
        <p:nvSpPr>
          <p:cNvPr id="27" name="Text 24"/>
          <p:cNvSpPr/>
          <p:nvPr/>
        </p:nvSpPr>
        <p:spPr>
          <a:xfrm>
            <a:off x="6675120" y="1362456"/>
            <a:ext cx="2066544" cy="274320"/>
          </a:xfrm>
          <a:prstGeom prst="rect">
            <a:avLst/>
          </a:prstGeom>
          <a:noFill/>
          <a:ln/>
        </p:spPr>
        <p:txBody>
          <a:bodyPr wrap="square" lIns="0" tIns="0" rIns="0" bIns="0" rtlCol="0" anchor="t"/>
          <a:lstStyle/>
          <a:p>
            <a:pPr marL="0" indent="0" algn="l">
              <a:buNone/>
            </a:pPr>
            <a:r>
              <a:rPr lang="en-US" sz="1250" b="1" dirty="0">
                <a:solidFill>
                  <a:srgbClr val="2458A8"/>
                </a:solidFill>
                <a:latin typeface="Liberation Sans" pitchFamily="34" charset="0"/>
                <a:ea typeface="Liberation Sans" pitchFamily="34" charset="-122"/>
                <a:cs typeface="Liberation Sans" pitchFamily="34" charset="-120"/>
              </a:rPr>
              <a:t>Connected workspace</a:t>
            </a:r>
            <a:endParaRPr lang="en-US" sz="1250" dirty="0"/>
          </a:p>
        </p:txBody>
      </p:sp>
      <p:sp>
        <p:nvSpPr>
          <p:cNvPr id="28" name="Text 25"/>
          <p:cNvSpPr/>
          <p:nvPr/>
        </p:nvSpPr>
        <p:spPr>
          <a:xfrm>
            <a:off x="6291072" y="1764792"/>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Working files</a:t>
            </a:r>
            <a:endParaRPr lang="en-US" sz="1050" dirty="0"/>
          </a:p>
        </p:txBody>
      </p:sp>
      <p:sp>
        <p:nvSpPr>
          <p:cNvPr id="29" name="Text 26"/>
          <p:cNvSpPr/>
          <p:nvPr/>
        </p:nvSpPr>
        <p:spPr>
          <a:xfrm>
            <a:off x="6291072" y="2075688"/>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Shared templates</a:t>
            </a:r>
            <a:endParaRPr lang="en-US" sz="1050" dirty="0"/>
          </a:p>
        </p:txBody>
      </p:sp>
      <p:sp>
        <p:nvSpPr>
          <p:cNvPr id="30" name="Text 27"/>
          <p:cNvSpPr/>
          <p:nvPr/>
        </p:nvSpPr>
        <p:spPr>
          <a:xfrm>
            <a:off x="6291072" y="2386584"/>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Evidence and notes</a:t>
            </a:r>
            <a:endParaRPr lang="en-US" sz="1050" dirty="0"/>
          </a:p>
        </p:txBody>
      </p:sp>
      <p:sp>
        <p:nvSpPr>
          <p:cNvPr id="31" name="Text 28"/>
          <p:cNvSpPr/>
          <p:nvPr/>
        </p:nvSpPr>
        <p:spPr>
          <a:xfrm>
            <a:off x="6291072" y="2697480"/>
            <a:ext cx="2459736"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Final submission package</a:t>
            </a:r>
            <a:endParaRPr lang="en-US" sz="1050" dirty="0"/>
          </a:p>
        </p:txBody>
      </p:sp>
      <p:sp>
        <p:nvSpPr>
          <p:cNvPr id="32" name="Text 29"/>
          <p:cNvSpPr/>
          <p:nvPr/>
        </p:nvSpPr>
        <p:spPr>
          <a:xfrm>
            <a:off x="365760" y="4370832"/>
            <a:ext cx="8321040" cy="246888"/>
          </a:xfrm>
          <a:prstGeom prst="rect">
            <a:avLst/>
          </a:prstGeom>
          <a:noFill/>
          <a:ln/>
        </p:spPr>
        <p:txBody>
          <a:bodyPr wrap="square" lIns="0" tIns="0" rIns="0" bIns="0" rtlCol="0" anchor="t"/>
          <a:lstStyle/>
          <a:p>
            <a:pPr marL="0" indent="0" algn="ctr">
              <a:buNone/>
            </a:pPr>
            <a:r>
              <a:rPr lang="en-US" sz="1150" b="1" dirty="0">
                <a:solidFill>
                  <a:srgbClr val="00C8D4"/>
                </a:solidFill>
                <a:latin typeface="Liberation Sans" pitchFamily="34" charset="0"/>
                <a:ea typeface="Liberation Sans" pitchFamily="34" charset="-122"/>
                <a:cs typeface="Liberation Sans" pitchFamily="34" charset="-120"/>
              </a:rPr>
              <a:t>If it changes how your team works, record it in the team channel and DECISIONS.md.</a:t>
            </a:r>
            <a:endParaRPr lang="en-US" sz="1150" dirty="0"/>
          </a:p>
        </p:txBody>
      </p:sp>
      <p:pic>
        <p:nvPicPr>
          <p:cNvPr id="34" name="Image 1" descr="preencoded.png"/>
          <p:cNvPicPr>
            <a:picLocks noChangeAspect="1"/>
          </p:cNvPicPr>
          <p:nvPr/>
        </p:nvPicPr>
        <p:blipFill>
          <a:blip r:embed="rId4"/>
          <a:stretch>
            <a:fillRect/>
          </a:stretch>
        </p:blipFill>
        <p:spPr>
          <a:xfrm>
            <a:off x="453177" y="1431585"/>
            <a:ext cx="190927" cy="190927"/>
          </a:xfrm>
          <a:prstGeom prst="rect">
            <a:avLst/>
          </a:prstGeom>
        </p:spPr>
      </p:pic>
      <p:pic>
        <p:nvPicPr>
          <p:cNvPr id="35" name="Image 2" descr="preencoded.png"/>
          <p:cNvPicPr>
            <a:picLocks noChangeAspect="1"/>
          </p:cNvPicPr>
          <p:nvPr/>
        </p:nvPicPr>
        <p:blipFill>
          <a:blip r:embed="rId5"/>
          <a:stretch>
            <a:fillRect/>
          </a:stretch>
        </p:blipFill>
        <p:spPr>
          <a:xfrm>
            <a:off x="3379257" y="1431585"/>
            <a:ext cx="190927" cy="190927"/>
          </a:xfrm>
          <a:prstGeom prst="rect">
            <a:avLst/>
          </a:prstGeom>
        </p:spPr>
      </p:pic>
      <p:pic>
        <p:nvPicPr>
          <p:cNvPr id="36" name="Image 3" descr="preencoded.png"/>
          <p:cNvPicPr>
            <a:picLocks noChangeAspect="1"/>
          </p:cNvPicPr>
          <p:nvPr/>
        </p:nvPicPr>
        <p:blipFill>
          <a:blip r:embed="rId6"/>
          <a:stretch>
            <a:fillRect/>
          </a:stretch>
        </p:blipFill>
        <p:spPr>
          <a:xfrm>
            <a:off x="6305337" y="1431585"/>
            <a:ext cx="190927" cy="1909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YOUR TEAM CHANNEL IS THE WORKING HOME</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Use posts for conversation and files for the work itself.</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256032" y="1170432"/>
            <a:ext cx="2697480" cy="3236976"/>
          </a:xfrm>
          <a:prstGeom prst="rect">
            <a:avLst/>
          </a:prstGeom>
          <a:solidFill>
            <a:srgbClr val="0D1E34"/>
          </a:solidFill>
          <a:ln w="12700">
            <a:solidFill>
              <a:srgbClr val="0D1E34"/>
            </a:solidFill>
            <a:prstDash val="solid"/>
          </a:ln>
        </p:spPr>
        <p:txBody>
          <a:bodyPr/>
          <a:lstStyle/>
          <a:p>
            <a:endParaRPr lang="en-US"/>
          </a:p>
        </p:txBody>
      </p:sp>
      <p:sp>
        <p:nvSpPr>
          <p:cNvPr id="9" name="Shape 6"/>
          <p:cNvSpPr/>
          <p:nvPr/>
        </p:nvSpPr>
        <p:spPr>
          <a:xfrm>
            <a:off x="256032" y="1170432"/>
            <a:ext cx="64008" cy="3236976"/>
          </a:xfrm>
          <a:prstGeom prst="rect">
            <a:avLst/>
          </a:prstGeom>
          <a:solidFill>
            <a:srgbClr val="00C8D4"/>
          </a:solidFill>
          <a:ln w="12700">
            <a:solidFill>
              <a:srgbClr val="00C8D4"/>
            </a:solidFill>
            <a:prstDash val="solid"/>
          </a:ln>
        </p:spPr>
        <p:txBody>
          <a:bodyPr/>
          <a:lstStyle/>
          <a:p>
            <a:endParaRPr lang="en-US"/>
          </a:p>
        </p:txBody>
      </p:sp>
      <p:sp>
        <p:nvSpPr>
          <p:cNvPr id="10" name="Shape 7"/>
          <p:cNvSpPr/>
          <p:nvPr/>
        </p:nvSpPr>
        <p:spPr>
          <a:xfrm>
            <a:off x="384048" y="1298448"/>
            <a:ext cx="329184" cy="329184"/>
          </a:xfrm>
          <a:prstGeom prst="ellipse">
            <a:avLst/>
          </a:prstGeom>
          <a:solidFill>
            <a:srgbClr val="00C8D4"/>
          </a:solidFill>
          <a:ln w="12700">
            <a:solidFill>
              <a:srgbClr val="00C8D4"/>
            </a:solidFill>
            <a:prstDash val="solid"/>
          </a:ln>
        </p:spPr>
        <p:txBody>
          <a:bodyPr/>
          <a:lstStyle/>
          <a:p>
            <a:endParaRPr lang="en-US"/>
          </a:p>
        </p:txBody>
      </p:sp>
      <p:sp>
        <p:nvSpPr>
          <p:cNvPr id="11" name="Text 8"/>
          <p:cNvSpPr/>
          <p:nvPr/>
        </p:nvSpPr>
        <p:spPr>
          <a:xfrm>
            <a:off x="822960" y="1298448"/>
            <a:ext cx="1984248" cy="274320"/>
          </a:xfrm>
          <a:prstGeom prst="rect">
            <a:avLst/>
          </a:prstGeom>
          <a:noFill/>
          <a:ln/>
        </p:spPr>
        <p:txBody>
          <a:bodyPr wrap="square" lIns="0" tIns="0" rIns="0" bIns="0" rtlCol="0" anchor="t"/>
          <a:lstStyle/>
          <a:p>
            <a:pPr marL="0" indent="0" algn="l">
              <a:buNone/>
            </a:pPr>
            <a:r>
              <a:rPr lang="en-US" sz="1250" b="1" dirty="0">
                <a:solidFill>
                  <a:srgbClr val="00C8D4"/>
                </a:solidFill>
                <a:latin typeface="Liberation Sans" pitchFamily="34" charset="0"/>
                <a:ea typeface="Liberation Sans" pitchFamily="34" charset="-122"/>
                <a:cs typeface="Liberation Sans" pitchFamily="34" charset="-120"/>
              </a:rPr>
              <a:t>Posts</a:t>
            </a:r>
            <a:endParaRPr lang="en-US" sz="1250" dirty="0"/>
          </a:p>
        </p:txBody>
      </p:sp>
      <p:sp>
        <p:nvSpPr>
          <p:cNvPr id="12" name="Text 9"/>
          <p:cNvSpPr/>
          <p:nvPr/>
        </p:nvSpPr>
        <p:spPr>
          <a:xfrm>
            <a:off x="438912" y="1700784"/>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Questions</a:t>
            </a:r>
            <a:endParaRPr lang="en-US" sz="1080" dirty="0"/>
          </a:p>
        </p:txBody>
      </p:sp>
      <p:sp>
        <p:nvSpPr>
          <p:cNvPr id="13" name="Text 10"/>
          <p:cNvSpPr/>
          <p:nvPr/>
        </p:nvSpPr>
        <p:spPr>
          <a:xfrm>
            <a:off x="438912" y="2011680"/>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Decisions</a:t>
            </a:r>
            <a:endParaRPr lang="en-US" sz="1080" dirty="0"/>
          </a:p>
        </p:txBody>
      </p:sp>
      <p:sp>
        <p:nvSpPr>
          <p:cNvPr id="14" name="Text 11"/>
          <p:cNvSpPr/>
          <p:nvPr/>
        </p:nvSpPr>
        <p:spPr>
          <a:xfrm>
            <a:off x="438912" y="2322576"/>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Status updates</a:t>
            </a:r>
            <a:endParaRPr lang="en-US" sz="1080" dirty="0"/>
          </a:p>
        </p:txBody>
      </p:sp>
      <p:sp>
        <p:nvSpPr>
          <p:cNvPr id="15" name="Text 12"/>
          <p:cNvSpPr/>
          <p:nvPr/>
        </p:nvSpPr>
        <p:spPr>
          <a:xfrm>
            <a:off x="438912" y="2633472"/>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Handoffs</a:t>
            </a:r>
            <a:endParaRPr lang="en-US" sz="1080" dirty="0"/>
          </a:p>
        </p:txBody>
      </p:sp>
      <p:sp>
        <p:nvSpPr>
          <p:cNvPr id="16" name="Text 13"/>
          <p:cNvSpPr/>
          <p:nvPr/>
        </p:nvSpPr>
        <p:spPr>
          <a:xfrm>
            <a:off x="2953512" y="2340864"/>
            <a:ext cx="411480" cy="320040"/>
          </a:xfrm>
          <a:prstGeom prst="rect">
            <a:avLst/>
          </a:prstGeom>
          <a:noFill/>
          <a:ln/>
        </p:spPr>
        <p:txBody>
          <a:bodyPr wrap="square" lIns="0" tIns="0" rIns="0" bIns="0" rtlCol="0" anchor="ctr"/>
          <a:lstStyle/>
          <a:p>
            <a:pPr marL="0" indent="0" algn="ctr">
              <a:buNone/>
            </a:pPr>
            <a:r>
              <a:rPr lang="en-US" sz="2200" b="1" dirty="0">
                <a:solidFill>
                  <a:srgbClr val="00C8D4"/>
                </a:solidFill>
                <a:latin typeface="Liberation Sans" pitchFamily="34" charset="0"/>
                <a:ea typeface="Liberation Sans" pitchFamily="34" charset="-122"/>
                <a:cs typeface="Liberation Sans" pitchFamily="34" charset="-120"/>
              </a:rPr>
              <a:t>→</a:t>
            </a:r>
            <a:endParaRPr lang="en-US" sz="2200" dirty="0"/>
          </a:p>
        </p:txBody>
      </p:sp>
      <p:sp>
        <p:nvSpPr>
          <p:cNvPr id="17" name="Shape 14"/>
          <p:cNvSpPr/>
          <p:nvPr/>
        </p:nvSpPr>
        <p:spPr>
          <a:xfrm>
            <a:off x="3310128" y="1170432"/>
            <a:ext cx="2697480" cy="3236976"/>
          </a:xfrm>
          <a:prstGeom prst="rect">
            <a:avLst/>
          </a:prstGeom>
          <a:solidFill>
            <a:srgbClr val="0D1E34"/>
          </a:solidFill>
          <a:ln w="12700">
            <a:solidFill>
              <a:srgbClr val="0D1E34"/>
            </a:solidFill>
            <a:prstDash val="solid"/>
          </a:ln>
        </p:spPr>
        <p:txBody>
          <a:bodyPr/>
          <a:lstStyle/>
          <a:p>
            <a:endParaRPr lang="en-US"/>
          </a:p>
        </p:txBody>
      </p:sp>
      <p:sp>
        <p:nvSpPr>
          <p:cNvPr id="18" name="Shape 15"/>
          <p:cNvSpPr/>
          <p:nvPr/>
        </p:nvSpPr>
        <p:spPr>
          <a:xfrm>
            <a:off x="3310128" y="1170432"/>
            <a:ext cx="64008" cy="3236976"/>
          </a:xfrm>
          <a:prstGeom prst="rect">
            <a:avLst/>
          </a:prstGeom>
          <a:solidFill>
            <a:srgbClr val="FF9830"/>
          </a:solidFill>
          <a:ln w="12700">
            <a:solidFill>
              <a:srgbClr val="FF9830"/>
            </a:solidFill>
            <a:prstDash val="solid"/>
          </a:ln>
        </p:spPr>
        <p:txBody>
          <a:bodyPr/>
          <a:lstStyle/>
          <a:p>
            <a:endParaRPr lang="en-US"/>
          </a:p>
        </p:txBody>
      </p:sp>
      <p:sp>
        <p:nvSpPr>
          <p:cNvPr id="19" name="Shape 16"/>
          <p:cNvSpPr/>
          <p:nvPr/>
        </p:nvSpPr>
        <p:spPr>
          <a:xfrm>
            <a:off x="3438144" y="1298448"/>
            <a:ext cx="329184" cy="329184"/>
          </a:xfrm>
          <a:prstGeom prst="ellipse">
            <a:avLst/>
          </a:prstGeom>
          <a:solidFill>
            <a:srgbClr val="FF9830"/>
          </a:solidFill>
          <a:ln w="12700">
            <a:solidFill>
              <a:srgbClr val="FF9830"/>
            </a:solidFill>
            <a:prstDash val="solid"/>
          </a:ln>
        </p:spPr>
        <p:txBody>
          <a:bodyPr/>
          <a:lstStyle/>
          <a:p>
            <a:endParaRPr lang="en-US"/>
          </a:p>
        </p:txBody>
      </p:sp>
      <p:sp>
        <p:nvSpPr>
          <p:cNvPr id="20" name="Text 17"/>
          <p:cNvSpPr/>
          <p:nvPr/>
        </p:nvSpPr>
        <p:spPr>
          <a:xfrm>
            <a:off x="3877056" y="1298448"/>
            <a:ext cx="1984248" cy="274320"/>
          </a:xfrm>
          <a:prstGeom prst="rect">
            <a:avLst/>
          </a:prstGeom>
          <a:noFill/>
          <a:ln/>
        </p:spPr>
        <p:txBody>
          <a:bodyPr wrap="square" lIns="0" tIns="0" rIns="0" bIns="0" rtlCol="0" anchor="t"/>
          <a:lstStyle/>
          <a:p>
            <a:pPr marL="0" indent="0" algn="l">
              <a:buNone/>
            </a:pPr>
            <a:r>
              <a:rPr lang="en-US" sz="1250" b="1" dirty="0">
                <a:solidFill>
                  <a:srgbClr val="FF9830"/>
                </a:solidFill>
                <a:latin typeface="Liberation Sans" pitchFamily="34" charset="0"/>
                <a:ea typeface="Liberation Sans" pitchFamily="34" charset="-122"/>
                <a:cs typeface="Liberation Sans" pitchFamily="34" charset="-120"/>
              </a:rPr>
              <a:t>Files</a:t>
            </a:r>
            <a:endParaRPr lang="en-US" sz="1250" dirty="0"/>
          </a:p>
        </p:txBody>
      </p:sp>
      <p:sp>
        <p:nvSpPr>
          <p:cNvPr id="21" name="Text 18"/>
          <p:cNvSpPr/>
          <p:nvPr/>
        </p:nvSpPr>
        <p:spPr>
          <a:xfrm>
            <a:off x="3493008" y="1700784"/>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Working drafts</a:t>
            </a:r>
            <a:endParaRPr lang="en-US" sz="1080" dirty="0"/>
          </a:p>
        </p:txBody>
      </p:sp>
      <p:sp>
        <p:nvSpPr>
          <p:cNvPr id="22" name="Text 19"/>
          <p:cNvSpPr/>
          <p:nvPr/>
        </p:nvSpPr>
        <p:spPr>
          <a:xfrm>
            <a:off x="3493008" y="2011680"/>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Shared templates</a:t>
            </a:r>
            <a:endParaRPr lang="en-US" sz="1080" dirty="0"/>
          </a:p>
        </p:txBody>
      </p:sp>
      <p:sp>
        <p:nvSpPr>
          <p:cNvPr id="23" name="Text 20"/>
          <p:cNvSpPr/>
          <p:nvPr/>
        </p:nvSpPr>
        <p:spPr>
          <a:xfrm>
            <a:off x="3493008" y="2322576"/>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Evidence</a:t>
            </a:r>
            <a:endParaRPr lang="en-US" sz="1080" dirty="0"/>
          </a:p>
        </p:txBody>
      </p:sp>
      <p:sp>
        <p:nvSpPr>
          <p:cNvPr id="24" name="Text 21"/>
          <p:cNvSpPr/>
          <p:nvPr/>
        </p:nvSpPr>
        <p:spPr>
          <a:xfrm>
            <a:off x="3493008" y="2633472"/>
            <a:ext cx="237744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Current versions</a:t>
            </a:r>
            <a:endParaRPr lang="en-US" sz="1080" dirty="0"/>
          </a:p>
        </p:txBody>
      </p:sp>
      <p:sp>
        <p:nvSpPr>
          <p:cNvPr id="25" name="Text 22"/>
          <p:cNvSpPr/>
          <p:nvPr/>
        </p:nvSpPr>
        <p:spPr>
          <a:xfrm>
            <a:off x="6007608" y="2340864"/>
            <a:ext cx="411480" cy="320040"/>
          </a:xfrm>
          <a:prstGeom prst="rect">
            <a:avLst/>
          </a:prstGeom>
          <a:noFill/>
          <a:ln/>
        </p:spPr>
        <p:txBody>
          <a:bodyPr wrap="square" lIns="0" tIns="0" rIns="0" bIns="0" rtlCol="0" anchor="ctr"/>
          <a:lstStyle/>
          <a:p>
            <a:pPr marL="0" indent="0" algn="ctr">
              <a:buNone/>
            </a:pPr>
            <a:r>
              <a:rPr lang="en-US" sz="2200" b="1" dirty="0">
                <a:solidFill>
                  <a:srgbClr val="FF9830"/>
                </a:solidFill>
                <a:latin typeface="Liberation Sans" pitchFamily="34" charset="0"/>
                <a:ea typeface="Liberation Sans" pitchFamily="34" charset="-122"/>
                <a:cs typeface="Liberation Sans" pitchFamily="34" charset="-120"/>
              </a:rPr>
              <a:t>→</a:t>
            </a:r>
            <a:endParaRPr lang="en-US" sz="2200" dirty="0"/>
          </a:p>
        </p:txBody>
      </p:sp>
      <p:sp>
        <p:nvSpPr>
          <p:cNvPr id="26" name="Shape 23"/>
          <p:cNvSpPr/>
          <p:nvPr/>
        </p:nvSpPr>
        <p:spPr>
          <a:xfrm>
            <a:off x="6364224" y="1170432"/>
            <a:ext cx="2514600" cy="3236976"/>
          </a:xfrm>
          <a:prstGeom prst="rect">
            <a:avLst/>
          </a:prstGeom>
          <a:solidFill>
            <a:srgbClr val="0D1E34"/>
          </a:solidFill>
          <a:ln w="12700">
            <a:solidFill>
              <a:srgbClr val="0D1E34"/>
            </a:solidFill>
            <a:prstDash val="solid"/>
          </a:ln>
        </p:spPr>
        <p:txBody>
          <a:bodyPr/>
          <a:lstStyle/>
          <a:p>
            <a:endParaRPr lang="en-US"/>
          </a:p>
        </p:txBody>
      </p:sp>
      <p:sp>
        <p:nvSpPr>
          <p:cNvPr id="27" name="Shape 24"/>
          <p:cNvSpPr/>
          <p:nvPr/>
        </p:nvSpPr>
        <p:spPr>
          <a:xfrm>
            <a:off x="6364224" y="1170432"/>
            <a:ext cx="64008" cy="3236976"/>
          </a:xfrm>
          <a:prstGeom prst="rect">
            <a:avLst/>
          </a:prstGeom>
          <a:solidFill>
            <a:srgbClr val="2458A8"/>
          </a:solidFill>
          <a:ln w="12700">
            <a:solidFill>
              <a:srgbClr val="2458A8"/>
            </a:solidFill>
            <a:prstDash val="solid"/>
          </a:ln>
        </p:spPr>
        <p:txBody>
          <a:bodyPr/>
          <a:lstStyle/>
          <a:p>
            <a:endParaRPr lang="en-US"/>
          </a:p>
        </p:txBody>
      </p:sp>
      <p:sp>
        <p:nvSpPr>
          <p:cNvPr id="28" name="Shape 25"/>
          <p:cNvSpPr/>
          <p:nvPr/>
        </p:nvSpPr>
        <p:spPr>
          <a:xfrm>
            <a:off x="6492240" y="1298448"/>
            <a:ext cx="329184" cy="329184"/>
          </a:xfrm>
          <a:prstGeom prst="ellipse">
            <a:avLst/>
          </a:prstGeom>
          <a:solidFill>
            <a:srgbClr val="2458A8"/>
          </a:solidFill>
          <a:ln w="12700">
            <a:solidFill>
              <a:srgbClr val="2458A8"/>
            </a:solidFill>
            <a:prstDash val="solid"/>
          </a:ln>
        </p:spPr>
        <p:txBody>
          <a:bodyPr/>
          <a:lstStyle/>
          <a:p>
            <a:endParaRPr lang="en-US"/>
          </a:p>
        </p:txBody>
      </p:sp>
      <p:sp>
        <p:nvSpPr>
          <p:cNvPr id="29" name="Text 26"/>
          <p:cNvSpPr/>
          <p:nvPr/>
        </p:nvSpPr>
        <p:spPr>
          <a:xfrm>
            <a:off x="6931152" y="1298448"/>
            <a:ext cx="1801368" cy="274320"/>
          </a:xfrm>
          <a:prstGeom prst="rect">
            <a:avLst/>
          </a:prstGeom>
          <a:noFill/>
          <a:ln/>
        </p:spPr>
        <p:txBody>
          <a:bodyPr wrap="square" lIns="0" tIns="0" rIns="0" bIns="0" rtlCol="0" anchor="t"/>
          <a:lstStyle/>
          <a:p>
            <a:pPr marL="0" indent="0" algn="l">
              <a:buNone/>
            </a:pPr>
            <a:r>
              <a:rPr lang="en-US" sz="1250" b="1" dirty="0">
                <a:solidFill>
                  <a:srgbClr val="2458A8"/>
                </a:solidFill>
                <a:latin typeface="Liberation Sans" pitchFamily="34" charset="0"/>
                <a:ea typeface="Liberation Sans" pitchFamily="34" charset="-122"/>
                <a:cs typeface="Liberation Sans" pitchFamily="34" charset="-120"/>
              </a:rPr>
              <a:t>Final package</a:t>
            </a:r>
            <a:endParaRPr lang="en-US" sz="1250" dirty="0"/>
          </a:p>
        </p:txBody>
      </p:sp>
      <p:sp>
        <p:nvSpPr>
          <p:cNvPr id="30" name="Text 27"/>
          <p:cNvSpPr/>
          <p:nvPr/>
        </p:nvSpPr>
        <p:spPr>
          <a:xfrm>
            <a:off x="6547104" y="1700784"/>
            <a:ext cx="219456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README</a:t>
            </a:r>
            <a:endParaRPr lang="en-US" sz="1080" dirty="0"/>
          </a:p>
        </p:txBody>
      </p:sp>
      <p:sp>
        <p:nvSpPr>
          <p:cNvPr id="31" name="Text 28"/>
          <p:cNvSpPr/>
          <p:nvPr/>
        </p:nvSpPr>
        <p:spPr>
          <a:xfrm>
            <a:off x="6547104" y="2011680"/>
            <a:ext cx="219456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Final artifact</a:t>
            </a:r>
            <a:endParaRPr lang="en-US" sz="1080" dirty="0"/>
          </a:p>
        </p:txBody>
      </p:sp>
      <p:sp>
        <p:nvSpPr>
          <p:cNvPr id="32" name="Text 29"/>
          <p:cNvSpPr/>
          <p:nvPr/>
        </p:nvSpPr>
        <p:spPr>
          <a:xfrm>
            <a:off x="6547104" y="2322576"/>
            <a:ext cx="219456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Review path</a:t>
            </a:r>
            <a:endParaRPr lang="en-US" sz="1080" dirty="0"/>
          </a:p>
        </p:txBody>
      </p:sp>
      <p:sp>
        <p:nvSpPr>
          <p:cNvPr id="33" name="Text 30"/>
          <p:cNvSpPr/>
          <p:nvPr/>
        </p:nvSpPr>
        <p:spPr>
          <a:xfrm>
            <a:off x="6547104" y="2633472"/>
            <a:ext cx="2194560" cy="356616"/>
          </a:xfrm>
          <a:prstGeom prst="rect">
            <a:avLst/>
          </a:prstGeom>
          <a:noFill/>
          <a:ln/>
        </p:spPr>
        <p:txBody>
          <a:bodyPr wrap="square" lIns="0" tIns="0" rIns="0" bIns="0" rtlCol="0" anchor="t"/>
          <a:lstStyle/>
          <a:p>
            <a:pPr marL="0" indent="0" algn="l">
              <a:buNone/>
            </a:pPr>
            <a:r>
              <a:rPr lang="en-US" sz="1080" dirty="0">
                <a:solidFill>
                  <a:srgbClr val="AECCE0"/>
                </a:solidFill>
                <a:latin typeface="Liberation Sans" pitchFamily="34" charset="0"/>
                <a:ea typeface="Liberation Sans" pitchFamily="34" charset="-122"/>
                <a:cs typeface="Liberation Sans" pitchFamily="34" charset="-120"/>
              </a:rPr>
              <a:t>• Submission checklist</a:t>
            </a:r>
            <a:endParaRPr lang="en-US" sz="1080" dirty="0"/>
          </a:p>
        </p:txBody>
      </p:sp>
      <p:sp>
        <p:nvSpPr>
          <p:cNvPr id="34" name="Shape 31"/>
          <p:cNvSpPr/>
          <p:nvPr/>
        </p:nvSpPr>
        <p:spPr>
          <a:xfrm>
            <a:off x="2212848" y="4562856"/>
            <a:ext cx="4736592" cy="310896"/>
          </a:xfrm>
          <a:prstGeom prst="roundRect">
            <a:avLst>
              <a:gd name="adj" fmla="val 17647"/>
            </a:avLst>
          </a:prstGeom>
          <a:solidFill>
            <a:srgbClr val="FF9830">
              <a:alpha val="16000"/>
            </a:srgbClr>
          </a:solidFill>
          <a:ln w="12700">
            <a:solidFill>
              <a:srgbClr val="FF9830">
                <a:alpha val="65000"/>
              </a:srgbClr>
            </a:solidFill>
            <a:prstDash val="solid"/>
          </a:ln>
        </p:spPr>
        <p:txBody>
          <a:bodyPr/>
          <a:lstStyle/>
          <a:p>
            <a:endParaRPr lang="en-US"/>
          </a:p>
        </p:txBody>
      </p:sp>
      <p:sp>
        <p:nvSpPr>
          <p:cNvPr id="35" name="Text 32"/>
          <p:cNvSpPr/>
          <p:nvPr/>
        </p:nvSpPr>
        <p:spPr>
          <a:xfrm>
            <a:off x="2212848" y="4608576"/>
            <a:ext cx="4736592" cy="210312"/>
          </a:xfrm>
          <a:prstGeom prst="rect">
            <a:avLst/>
          </a:prstGeom>
          <a:noFill/>
          <a:ln/>
        </p:spPr>
        <p:txBody>
          <a:bodyPr wrap="square" lIns="0" tIns="0" rIns="0" bIns="0" rtlCol="0" anchor="t"/>
          <a:lstStyle/>
          <a:p>
            <a:pPr marL="0" indent="0" algn="ctr">
              <a:buNone/>
            </a:pPr>
            <a:r>
              <a:rPr lang="en-US" sz="950" b="1" dirty="0">
                <a:solidFill>
                  <a:srgbClr val="FF9830"/>
                </a:solidFill>
                <a:latin typeface="Liberation Sans" pitchFamily="34" charset="0"/>
                <a:ea typeface="Liberation Sans" pitchFamily="34" charset="-122"/>
                <a:cs typeface="Liberation Sans" pitchFamily="34" charset="-120"/>
              </a:rPr>
              <a:t>Do not keep the only copy on your laptop or in a private chat</a:t>
            </a:r>
            <a:endParaRPr lang="en-US" sz="950" dirty="0"/>
          </a:p>
        </p:txBody>
      </p:sp>
      <p:pic>
        <p:nvPicPr>
          <p:cNvPr id="37" name="Image 1" descr="preencoded.png"/>
          <p:cNvPicPr>
            <a:picLocks noChangeAspect="1"/>
          </p:cNvPicPr>
          <p:nvPr/>
        </p:nvPicPr>
        <p:blipFill>
          <a:blip r:embed="rId4"/>
          <a:stretch>
            <a:fillRect/>
          </a:stretch>
        </p:blipFill>
        <p:spPr>
          <a:xfrm>
            <a:off x="453177" y="1367577"/>
            <a:ext cx="190927" cy="190927"/>
          </a:xfrm>
          <a:prstGeom prst="rect">
            <a:avLst/>
          </a:prstGeom>
        </p:spPr>
      </p:pic>
      <p:pic>
        <p:nvPicPr>
          <p:cNvPr id="38" name="Image 2" descr="preencoded.png"/>
          <p:cNvPicPr>
            <a:picLocks noChangeAspect="1"/>
          </p:cNvPicPr>
          <p:nvPr/>
        </p:nvPicPr>
        <p:blipFill>
          <a:blip r:embed="rId5"/>
          <a:stretch>
            <a:fillRect/>
          </a:stretch>
        </p:blipFill>
        <p:spPr>
          <a:xfrm>
            <a:off x="3507273" y="1367577"/>
            <a:ext cx="190927" cy="190927"/>
          </a:xfrm>
          <a:prstGeom prst="rect">
            <a:avLst/>
          </a:prstGeom>
        </p:spPr>
      </p:pic>
      <p:pic>
        <p:nvPicPr>
          <p:cNvPr id="39" name="Image 3" descr="preencoded.png"/>
          <p:cNvPicPr>
            <a:picLocks noChangeAspect="1"/>
          </p:cNvPicPr>
          <p:nvPr/>
        </p:nvPicPr>
        <p:blipFill>
          <a:blip r:embed="rId6"/>
          <a:stretch>
            <a:fillRect/>
          </a:stretch>
        </p:blipFill>
        <p:spPr>
          <a:xfrm>
            <a:off x="6561369" y="1367577"/>
            <a:ext cx="190927" cy="1909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WHERE SHOULD THIS GO?</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A quick routing guide for common team activity.</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256032" y="1188720"/>
            <a:ext cx="4160520" cy="1243584"/>
          </a:xfrm>
          <a:prstGeom prst="rect">
            <a:avLst/>
          </a:prstGeom>
          <a:solidFill>
            <a:srgbClr val="0D1E34"/>
          </a:solidFill>
          <a:ln w="12700">
            <a:solidFill>
              <a:srgbClr val="0D1E34"/>
            </a:solidFill>
            <a:prstDash val="solid"/>
          </a:ln>
        </p:spPr>
        <p:txBody>
          <a:bodyPr/>
          <a:lstStyle/>
          <a:p>
            <a:endParaRPr lang="en-US"/>
          </a:p>
        </p:txBody>
      </p:sp>
      <p:sp>
        <p:nvSpPr>
          <p:cNvPr id="9" name="Shape 6"/>
          <p:cNvSpPr/>
          <p:nvPr/>
        </p:nvSpPr>
        <p:spPr>
          <a:xfrm>
            <a:off x="256032" y="1188720"/>
            <a:ext cx="64008" cy="1243584"/>
          </a:xfrm>
          <a:prstGeom prst="rect">
            <a:avLst/>
          </a:prstGeom>
          <a:solidFill>
            <a:srgbClr val="00C8D4"/>
          </a:solidFill>
          <a:ln w="12700">
            <a:solidFill>
              <a:srgbClr val="00C8D4"/>
            </a:solidFill>
            <a:prstDash val="solid"/>
          </a:ln>
        </p:spPr>
        <p:txBody>
          <a:bodyPr/>
          <a:lstStyle/>
          <a:p>
            <a:endParaRPr lang="en-US"/>
          </a:p>
        </p:txBody>
      </p:sp>
      <p:sp>
        <p:nvSpPr>
          <p:cNvPr id="10" name="Shape 7"/>
          <p:cNvSpPr/>
          <p:nvPr/>
        </p:nvSpPr>
        <p:spPr>
          <a:xfrm>
            <a:off x="384048" y="1316736"/>
            <a:ext cx="365760" cy="365760"/>
          </a:xfrm>
          <a:prstGeom prst="ellipse">
            <a:avLst/>
          </a:prstGeom>
          <a:solidFill>
            <a:srgbClr val="00C8D4"/>
          </a:solidFill>
          <a:ln w="12700">
            <a:solidFill>
              <a:srgbClr val="00C8D4"/>
            </a:solidFill>
            <a:prstDash val="solid"/>
          </a:ln>
        </p:spPr>
        <p:txBody>
          <a:bodyPr/>
          <a:lstStyle/>
          <a:p>
            <a:endParaRPr lang="en-US"/>
          </a:p>
        </p:txBody>
      </p:sp>
      <p:sp>
        <p:nvSpPr>
          <p:cNvPr id="11" name="Text 8"/>
          <p:cNvSpPr/>
          <p:nvPr/>
        </p:nvSpPr>
        <p:spPr>
          <a:xfrm>
            <a:off x="896112" y="1335024"/>
            <a:ext cx="3154680" cy="246888"/>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Announcement</a:t>
            </a:r>
            <a:endParaRPr lang="en-US" sz="1300" dirty="0"/>
          </a:p>
        </p:txBody>
      </p:sp>
      <p:sp>
        <p:nvSpPr>
          <p:cNvPr id="12" name="Text 9"/>
          <p:cNvSpPr/>
          <p:nvPr/>
        </p:nvSpPr>
        <p:spPr>
          <a:xfrm>
            <a:off x="896112" y="1682496"/>
            <a:ext cx="3246120" cy="45720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Post in the designated Hackathon-wide announcement space.</a:t>
            </a:r>
            <a:endParaRPr lang="en-US" sz="1050" dirty="0"/>
          </a:p>
        </p:txBody>
      </p:sp>
      <p:sp>
        <p:nvSpPr>
          <p:cNvPr id="13" name="Shape 10"/>
          <p:cNvSpPr/>
          <p:nvPr/>
        </p:nvSpPr>
        <p:spPr>
          <a:xfrm>
            <a:off x="4736592" y="1188720"/>
            <a:ext cx="4160520" cy="1243584"/>
          </a:xfrm>
          <a:prstGeom prst="rect">
            <a:avLst/>
          </a:prstGeom>
          <a:solidFill>
            <a:srgbClr val="0D1E34"/>
          </a:solidFill>
          <a:ln w="12700">
            <a:solidFill>
              <a:srgbClr val="0D1E34"/>
            </a:solidFill>
            <a:prstDash val="solid"/>
          </a:ln>
        </p:spPr>
        <p:txBody>
          <a:bodyPr/>
          <a:lstStyle/>
          <a:p>
            <a:endParaRPr lang="en-US"/>
          </a:p>
        </p:txBody>
      </p:sp>
      <p:sp>
        <p:nvSpPr>
          <p:cNvPr id="14" name="Shape 11"/>
          <p:cNvSpPr/>
          <p:nvPr/>
        </p:nvSpPr>
        <p:spPr>
          <a:xfrm>
            <a:off x="4736592" y="1188720"/>
            <a:ext cx="64008" cy="1243584"/>
          </a:xfrm>
          <a:prstGeom prst="rect">
            <a:avLst/>
          </a:prstGeom>
          <a:solidFill>
            <a:srgbClr val="00C8D4"/>
          </a:solidFill>
          <a:ln w="12700">
            <a:solidFill>
              <a:srgbClr val="00C8D4"/>
            </a:solidFill>
            <a:prstDash val="solid"/>
          </a:ln>
        </p:spPr>
        <p:txBody>
          <a:bodyPr/>
          <a:lstStyle/>
          <a:p>
            <a:endParaRPr lang="en-US"/>
          </a:p>
        </p:txBody>
      </p:sp>
      <p:sp>
        <p:nvSpPr>
          <p:cNvPr id="15" name="Shape 12"/>
          <p:cNvSpPr/>
          <p:nvPr/>
        </p:nvSpPr>
        <p:spPr>
          <a:xfrm>
            <a:off x="4864608" y="1316736"/>
            <a:ext cx="365760" cy="365760"/>
          </a:xfrm>
          <a:prstGeom prst="ellipse">
            <a:avLst/>
          </a:prstGeom>
          <a:solidFill>
            <a:srgbClr val="00C8D4"/>
          </a:solidFill>
          <a:ln w="12700">
            <a:solidFill>
              <a:srgbClr val="00C8D4"/>
            </a:solidFill>
            <a:prstDash val="solid"/>
          </a:ln>
        </p:spPr>
        <p:txBody>
          <a:bodyPr/>
          <a:lstStyle/>
          <a:p>
            <a:endParaRPr lang="en-US"/>
          </a:p>
        </p:txBody>
      </p:sp>
      <p:sp>
        <p:nvSpPr>
          <p:cNvPr id="16" name="Text 13"/>
          <p:cNvSpPr/>
          <p:nvPr/>
        </p:nvSpPr>
        <p:spPr>
          <a:xfrm>
            <a:off x="5376672" y="1335024"/>
            <a:ext cx="3154680" cy="246888"/>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Use-case question</a:t>
            </a:r>
            <a:endParaRPr lang="en-US" sz="1300" dirty="0"/>
          </a:p>
        </p:txBody>
      </p:sp>
      <p:sp>
        <p:nvSpPr>
          <p:cNvPr id="17" name="Text 14"/>
          <p:cNvSpPr/>
          <p:nvPr/>
        </p:nvSpPr>
        <p:spPr>
          <a:xfrm>
            <a:off x="5376672" y="1682496"/>
            <a:ext cx="3246120" cy="45720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Post in your team channel and tag the relevant SME or sponsor.</a:t>
            </a:r>
            <a:endParaRPr lang="en-US" sz="1050" dirty="0"/>
          </a:p>
        </p:txBody>
      </p:sp>
      <p:sp>
        <p:nvSpPr>
          <p:cNvPr id="18" name="Shape 15"/>
          <p:cNvSpPr/>
          <p:nvPr/>
        </p:nvSpPr>
        <p:spPr>
          <a:xfrm>
            <a:off x="256032" y="2852928"/>
            <a:ext cx="4160520" cy="1243584"/>
          </a:xfrm>
          <a:prstGeom prst="rect">
            <a:avLst/>
          </a:prstGeom>
          <a:solidFill>
            <a:srgbClr val="0D1E34"/>
          </a:solidFill>
          <a:ln w="12700">
            <a:solidFill>
              <a:srgbClr val="0D1E34"/>
            </a:solidFill>
            <a:prstDash val="solid"/>
          </a:ln>
        </p:spPr>
        <p:txBody>
          <a:bodyPr/>
          <a:lstStyle/>
          <a:p>
            <a:endParaRPr lang="en-US"/>
          </a:p>
        </p:txBody>
      </p:sp>
      <p:sp>
        <p:nvSpPr>
          <p:cNvPr id="19" name="Shape 16"/>
          <p:cNvSpPr/>
          <p:nvPr/>
        </p:nvSpPr>
        <p:spPr>
          <a:xfrm>
            <a:off x="256032" y="2852928"/>
            <a:ext cx="64008" cy="1243584"/>
          </a:xfrm>
          <a:prstGeom prst="rect">
            <a:avLst/>
          </a:prstGeom>
          <a:solidFill>
            <a:srgbClr val="FF9830"/>
          </a:solidFill>
          <a:ln w="12700">
            <a:solidFill>
              <a:srgbClr val="FF9830"/>
            </a:solidFill>
            <a:prstDash val="solid"/>
          </a:ln>
        </p:spPr>
        <p:txBody>
          <a:bodyPr/>
          <a:lstStyle/>
          <a:p>
            <a:endParaRPr lang="en-US"/>
          </a:p>
        </p:txBody>
      </p:sp>
      <p:sp>
        <p:nvSpPr>
          <p:cNvPr id="20" name="Shape 17"/>
          <p:cNvSpPr/>
          <p:nvPr/>
        </p:nvSpPr>
        <p:spPr>
          <a:xfrm>
            <a:off x="384048" y="2980944"/>
            <a:ext cx="365760" cy="365760"/>
          </a:xfrm>
          <a:prstGeom prst="ellipse">
            <a:avLst/>
          </a:prstGeom>
          <a:solidFill>
            <a:srgbClr val="FF9830"/>
          </a:solidFill>
          <a:ln w="12700">
            <a:solidFill>
              <a:srgbClr val="FF9830"/>
            </a:solidFill>
            <a:prstDash val="solid"/>
          </a:ln>
        </p:spPr>
        <p:txBody>
          <a:bodyPr/>
          <a:lstStyle/>
          <a:p>
            <a:endParaRPr lang="en-US"/>
          </a:p>
        </p:txBody>
      </p:sp>
      <p:sp>
        <p:nvSpPr>
          <p:cNvPr id="21" name="Text 18"/>
          <p:cNvSpPr/>
          <p:nvPr/>
        </p:nvSpPr>
        <p:spPr>
          <a:xfrm>
            <a:off x="896112" y="2999232"/>
            <a:ext cx="3154680" cy="246888"/>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Working draft</a:t>
            </a:r>
            <a:endParaRPr lang="en-US" sz="1300" dirty="0"/>
          </a:p>
        </p:txBody>
      </p:sp>
      <p:sp>
        <p:nvSpPr>
          <p:cNvPr id="22" name="Text 19"/>
          <p:cNvSpPr/>
          <p:nvPr/>
        </p:nvSpPr>
        <p:spPr>
          <a:xfrm>
            <a:off x="896112" y="3346704"/>
            <a:ext cx="3246120" cy="45720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Save in the connected SharePoint workspace so the team can find it.</a:t>
            </a:r>
            <a:endParaRPr lang="en-US" sz="1050" dirty="0"/>
          </a:p>
        </p:txBody>
      </p:sp>
      <p:sp>
        <p:nvSpPr>
          <p:cNvPr id="23" name="Shape 20"/>
          <p:cNvSpPr/>
          <p:nvPr/>
        </p:nvSpPr>
        <p:spPr>
          <a:xfrm>
            <a:off x="4736592" y="2852928"/>
            <a:ext cx="4160520" cy="1243584"/>
          </a:xfrm>
          <a:prstGeom prst="rect">
            <a:avLst/>
          </a:prstGeom>
          <a:solidFill>
            <a:srgbClr val="0D1E34"/>
          </a:solidFill>
          <a:ln w="12700">
            <a:solidFill>
              <a:srgbClr val="0D1E34"/>
            </a:solidFill>
            <a:prstDash val="solid"/>
          </a:ln>
        </p:spPr>
        <p:txBody>
          <a:bodyPr/>
          <a:lstStyle/>
          <a:p>
            <a:endParaRPr lang="en-US"/>
          </a:p>
        </p:txBody>
      </p:sp>
      <p:sp>
        <p:nvSpPr>
          <p:cNvPr id="24" name="Shape 21"/>
          <p:cNvSpPr/>
          <p:nvPr/>
        </p:nvSpPr>
        <p:spPr>
          <a:xfrm>
            <a:off x="4736592" y="2852928"/>
            <a:ext cx="64008" cy="1243584"/>
          </a:xfrm>
          <a:prstGeom prst="rect">
            <a:avLst/>
          </a:prstGeom>
          <a:solidFill>
            <a:srgbClr val="FF9830"/>
          </a:solidFill>
          <a:ln w="12700">
            <a:solidFill>
              <a:srgbClr val="FF9830"/>
            </a:solidFill>
            <a:prstDash val="solid"/>
          </a:ln>
        </p:spPr>
        <p:txBody>
          <a:bodyPr/>
          <a:lstStyle/>
          <a:p>
            <a:endParaRPr lang="en-US"/>
          </a:p>
        </p:txBody>
      </p:sp>
      <p:sp>
        <p:nvSpPr>
          <p:cNvPr id="25" name="Shape 22"/>
          <p:cNvSpPr/>
          <p:nvPr/>
        </p:nvSpPr>
        <p:spPr>
          <a:xfrm>
            <a:off x="4864608" y="2980944"/>
            <a:ext cx="365760" cy="365760"/>
          </a:xfrm>
          <a:prstGeom prst="ellipse">
            <a:avLst/>
          </a:prstGeom>
          <a:solidFill>
            <a:srgbClr val="FF9830"/>
          </a:solidFill>
          <a:ln w="12700">
            <a:solidFill>
              <a:srgbClr val="FF9830"/>
            </a:solidFill>
            <a:prstDash val="solid"/>
          </a:ln>
        </p:spPr>
        <p:txBody>
          <a:bodyPr/>
          <a:lstStyle/>
          <a:p>
            <a:endParaRPr lang="en-US"/>
          </a:p>
        </p:txBody>
      </p:sp>
      <p:sp>
        <p:nvSpPr>
          <p:cNvPr id="26" name="Text 23"/>
          <p:cNvSpPr/>
          <p:nvPr/>
        </p:nvSpPr>
        <p:spPr>
          <a:xfrm>
            <a:off x="5376672" y="2999232"/>
            <a:ext cx="3154680" cy="246888"/>
          </a:xfrm>
          <a:prstGeom prst="rect">
            <a:avLst/>
          </a:prstGeom>
          <a:noFill/>
          <a:ln/>
        </p:spPr>
        <p:txBody>
          <a:bodyPr wrap="square" lIns="0" tIns="0" rIns="0" bIns="0" rtlCol="0" anchor="t"/>
          <a:lstStyle/>
          <a:p>
            <a:pPr marL="0" indent="0" algn="l">
              <a:buNone/>
            </a:pPr>
            <a:r>
              <a:rPr lang="en-US" sz="1300" b="1" dirty="0">
                <a:solidFill>
                  <a:srgbClr val="FFFFFF"/>
                </a:solidFill>
                <a:latin typeface="Liberation Sans" pitchFamily="34" charset="0"/>
                <a:ea typeface="Liberation Sans" pitchFamily="34" charset="-122"/>
                <a:cs typeface="Liberation Sans" pitchFamily="34" charset="-120"/>
              </a:rPr>
              <a:t>Final project</a:t>
            </a:r>
            <a:endParaRPr lang="en-US" sz="1300" dirty="0"/>
          </a:p>
        </p:txBody>
      </p:sp>
      <p:sp>
        <p:nvSpPr>
          <p:cNvPr id="27" name="Text 24"/>
          <p:cNvSpPr/>
          <p:nvPr/>
        </p:nvSpPr>
        <p:spPr>
          <a:xfrm>
            <a:off x="5376672" y="3346704"/>
            <a:ext cx="3246120" cy="45720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Place it in 03_Final_Submission and link it from the final Teams post.</a:t>
            </a:r>
            <a:endParaRPr lang="en-US" sz="1050" dirty="0"/>
          </a:p>
        </p:txBody>
      </p:sp>
      <p:sp>
        <p:nvSpPr>
          <p:cNvPr id="28" name="Text 25"/>
          <p:cNvSpPr/>
          <p:nvPr/>
        </p:nvSpPr>
        <p:spPr>
          <a:xfrm>
            <a:off x="320040" y="4425696"/>
            <a:ext cx="8412480" cy="256032"/>
          </a:xfrm>
          <a:prstGeom prst="rect">
            <a:avLst/>
          </a:prstGeom>
          <a:noFill/>
          <a:ln/>
        </p:spPr>
        <p:txBody>
          <a:bodyPr wrap="square" lIns="0" tIns="0" rIns="0" bIns="0" rtlCol="0" anchor="t"/>
          <a:lstStyle/>
          <a:p>
            <a:pPr marL="0" indent="0" algn="ctr">
              <a:buNone/>
            </a:pPr>
            <a:r>
              <a:rPr lang="en-US" sz="1200" b="1" dirty="0">
                <a:solidFill>
                  <a:srgbClr val="00C8D4"/>
                </a:solidFill>
                <a:latin typeface="Liberation Sans" pitchFamily="34" charset="0"/>
                <a:ea typeface="Liberation Sans" pitchFamily="34" charset="-122"/>
                <a:cs typeface="Liberation Sans" pitchFamily="34" charset="-120"/>
              </a:rPr>
              <a:t>When in doubt, ask in the team channel and record the answer.</a:t>
            </a:r>
            <a:endParaRPr lang="en-US" sz="1200" dirty="0"/>
          </a:p>
        </p:txBody>
      </p:sp>
      <p:pic>
        <p:nvPicPr>
          <p:cNvPr id="30" name="Image 1" descr="preencoded.png"/>
          <p:cNvPicPr>
            <a:picLocks noChangeAspect="1"/>
          </p:cNvPicPr>
          <p:nvPr/>
        </p:nvPicPr>
        <p:blipFill>
          <a:blip r:embed="rId4"/>
          <a:stretch>
            <a:fillRect/>
          </a:stretch>
        </p:blipFill>
        <p:spPr>
          <a:xfrm>
            <a:off x="460858" y="1393546"/>
            <a:ext cx="212141" cy="212141"/>
          </a:xfrm>
          <a:prstGeom prst="rect">
            <a:avLst/>
          </a:prstGeom>
        </p:spPr>
      </p:pic>
      <p:pic>
        <p:nvPicPr>
          <p:cNvPr id="31" name="Image 2" descr="preencoded.png"/>
          <p:cNvPicPr>
            <a:picLocks noChangeAspect="1"/>
          </p:cNvPicPr>
          <p:nvPr/>
        </p:nvPicPr>
        <p:blipFill>
          <a:blip r:embed="rId5"/>
          <a:stretch>
            <a:fillRect/>
          </a:stretch>
        </p:blipFill>
        <p:spPr>
          <a:xfrm>
            <a:off x="4941418" y="1393546"/>
            <a:ext cx="212141" cy="212141"/>
          </a:xfrm>
          <a:prstGeom prst="rect">
            <a:avLst/>
          </a:prstGeom>
        </p:spPr>
      </p:pic>
      <p:pic>
        <p:nvPicPr>
          <p:cNvPr id="32" name="Image 3" descr="preencoded.png"/>
          <p:cNvPicPr>
            <a:picLocks noChangeAspect="1"/>
          </p:cNvPicPr>
          <p:nvPr/>
        </p:nvPicPr>
        <p:blipFill>
          <a:blip r:embed="rId6"/>
          <a:stretch>
            <a:fillRect/>
          </a:stretch>
        </p:blipFill>
        <p:spPr>
          <a:xfrm>
            <a:off x="460858" y="3057754"/>
            <a:ext cx="212141" cy="212141"/>
          </a:xfrm>
          <a:prstGeom prst="rect">
            <a:avLst/>
          </a:prstGeom>
        </p:spPr>
      </p:pic>
      <p:pic>
        <p:nvPicPr>
          <p:cNvPr id="33" name="Image 4" descr="preencoded.png"/>
          <p:cNvPicPr>
            <a:picLocks noChangeAspect="1"/>
          </p:cNvPicPr>
          <p:nvPr/>
        </p:nvPicPr>
        <p:blipFill>
          <a:blip r:embed="rId7"/>
          <a:stretch>
            <a:fillRect/>
          </a:stretch>
        </p:blipFill>
        <p:spPr>
          <a:xfrm>
            <a:off x="4941418" y="3057754"/>
            <a:ext cx="212141" cy="2121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THE PARTICIPANT PACKAGE</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Your operating guide for the 48-hour build window.</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329184" y="1133856"/>
            <a:ext cx="329184" cy="329184"/>
          </a:xfrm>
          <a:prstGeom prst="ellipse">
            <a:avLst/>
          </a:prstGeom>
          <a:solidFill>
            <a:srgbClr val="00C8D4"/>
          </a:solidFill>
          <a:ln w="12700">
            <a:solidFill>
              <a:srgbClr val="00C8D4"/>
            </a:solidFill>
            <a:prstDash val="solid"/>
          </a:ln>
        </p:spPr>
        <p:txBody>
          <a:bodyPr/>
          <a:lstStyle/>
          <a:p>
            <a:endParaRPr lang="en-US"/>
          </a:p>
        </p:txBody>
      </p:sp>
      <p:sp>
        <p:nvSpPr>
          <p:cNvPr id="9" name="Text 6"/>
          <p:cNvSpPr/>
          <p:nvPr/>
        </p:nvSpPr>
        <p:spPr>
          <a:xfrm>
            <a:off x="786384" y="1115568"/>
            <a:ext cx="3794760" cy="237744"/>
          </a:xfrm>
          <a:prstGeom prst="rect">
            <a:avLst/>
          </a:prstGeom>
          <a:noFill/>
          <a:ln/>
        </p:spPr>
        <p:txBody>
          <a:bodyPr wrap="square" lIns="0" tIns="0" rIns="0" bIns="0" rtlCol="0" anchor="t"/>
          <a:lstStyle/>
          <a:p>
            <a:pPr marL="0" indent="0" algn="l">
              <a:buNone/>
            </a:pPr>
            <a:r>
              <a:rPr lang="en-US" sz="1200" b="1" dirty="0">
                <a:solidFill>
                  <a:srgbClr val="FFFFFF"/>
                </a:solidFill>
                <a:latin typeface="Liberation Sans" pitchFamily="34" charset="0"/>
                <a:ea typeface="Liberation Sans" pitchFamily="34" charset="-122"/>
                <a:cs typeface="Liberation Sans" pitchFamily="34" charset="-120"/>
              </a:rPr>
              <a:t>00  Quick Start</a:t>
            </a:r>
            <a:endParaRPr lang="en-US" sz="1200" dirty="0"/>
          </a:p>
        </p:txBody>
      </p:sp>
      <p:sp>
        <p:nvSpPr>
          <p:cNvPr id="10" name="Text 7"/>
          <p:cNvSpPr/>
          <p:nvPr/>
        </p:nvSpPr>
        <p:spPr>
          <a:xfrm>
            <a:off x="786384" y="1389888"/>
            <a:ext cx="3794760" cy="283464"/>
          </a:xfrm>
          <a:prstGeom prst="rect">
            <a:avLst/>
          </a:prstGeom>
          <a:noFill/>
          <a:ln/>
        </p:spPr>
        <p:txBody>
          <a:bodyPr wrap="square" lIns="0" tIns="0" rIns="0" bIns="0" rtlCol="0" anchor="t"/>
          <a:lstStyle/>
          <a:p>
            <a:pPr marL="0" indent="0" algn="l">
              <a:buNone/>
            </a:pPr>
            <a:r>
              <a:rPr lang="en-US" sz="1020" dirty="0">
                <a:solidFill>
                  <a:srgbClr val="7B9BB8"/>
                </a:solidFill>
                <a:latin typeface="Liberation Sans" pitchFamily="34" charset="0"/>
                <a:ea typeface="Liberation Sans" pitchFamily="34" charset="-122"/>
                <a:cs typeface="Liberation Sans" pitchFamily="34" charset="-120"/>
              </a:rPr>
              <a:t>Preflight, preparation boundary, and final checks.</a:t>
            </a:r>
            <a:endParaRPr lang="en-US" sz="1020" dirty="0"/>
          </a:p>
        </p:txBody>
      </p:sp>
      <p:sp>
        <p:nvSpPr>
          <p:cNvPr id="11" name="Shape 8"/>
          <p:cNvSpPr/>
          <p:nvPr/>
        </p:nvSpPr>
        <p:spPr>
          <a:xfrm>
            <a:off x="786384" y="1737360"/>
            <a:ext cx="3794760" cy="0"/>
          </a:xfrm>
          <a:prstGeom prst="line">
            <a:avLst/>
          </a:prstGeom>
          <a:noFill/>
          <a:ln w="12700">
            <a:solidFill>
              <a:srgbClr val="1A3A52"/>
            </a:solidFill>
            <a:prstDash val="solid"/>
          </a:ln>
        </p:spPr>
        <p:txBody>
          <a:bodyPr/>
          <a:lstStyle/>
          <a:p>
            <a:endParaRPr lang="en-US"/>
          </a:p>
        </p:txBody>
      </p:sp>
      <p:sp>
        <p:nvSpPr>
          <p:cNvPr id="12" name="Shape 9"/>
          <p:cNvSpPr/>
          <p:nvPr/>
        </p:nvSpPr>
        <p:spPr>
          <a:xfrm>
            <a:off x="329184" y="1920240"/>
            <a:ext cx="329184" cy="329184"/>
          </a:xfrm>
          <a:prstGeom prst="ellipse">
            <a:avLst/>
          </a:prstGeom>
          <a:solidFill>
            <a:srgbClr val="00C8D4"/>
          </a:solidFill>
          <a:ln w="12700">
            <a:solidFill>
              <a:srgbClr val="00C8D4"/>
            </a:solidFill>
            <a:prstDash val="solid"/>
          </a:ln>
        </p:spPr>
        <p:txBody>
          <a:bodyPr/>
          <a:lstStyle/>
          <a:p>
            <a:endParaRPr lang="en-US"/>
          </a:p>
        </p:txBody>
      </p:sp>
      <p:sp>
        <p:nvSpPr>
          <p:cNvPr id="13" name="Text 10"/>
          <p:cNvSpPr/>
          <p:nvPr/>
        </p:nvSpPr>
        <p:spPr>
          <a:xfrm>
            <a:off x="786384" y="1901952"/>
            <a:ext cx="3794760" cy="237744"/>
          </a:xfrm>
          <a:prstGeom prst="rect">
            <a:avLst/>
          </a:prstGeom>
          <a:noFill/>
          <a:ln/>
        </p:spPr>
        <p:txBody>
          <a:bodyPr wrap="square" lIns="0" tIns="0" rIns="0" bIns="0" rtlCol="0" anchor="t"/>
          <a:lstStyle/>
          <a:p>
            <a:pPr marL="0" indent="0" algn="l">
              <a:buNone/>
            </a:pPr>
            <a:r>
              <a:rPr lang="en-US" sz="1200" b="1" dirty="0">
                <a:solidFill>
                  <a:srgbClr val="FFFFFF"/>
                </a:solidFill>
                <a:latin typeface="Liberation Sans" pitchFamily="34" charset="0"/>
                <a:ea typeface="Liberation Sans" pitchFamily="34" charset="-122"/>
                <a:cs typeface="Liberation Sans" pitchFamily="34" charset="-120"/>
              </a:rPr>
              <a:t>01  Rules and guardrails</a:t>
            </a:r>
            <a:endParaRPr lang="en-US" sz="1200" dirty="0"/>
          </a:p>
        </p:txBody>
      </p:sp>
      <p:sp>
        <p:nvSpPr>
          <p:cNvPr id="14" name="Text 11"/>
          <p:cNvSpPr/>
          <p:nvPr/>
        </p:nvSpPr>
        <p:spPr>
          <a:xfrm>
            <a:off x="786384" y="2176272"/>
            <a:ext cx="3794760" cy="283464"/>
          </a:xfrm>
          <a:prstGeom prst="rect">
            <a:avLst/>
          </a:prstGeom>
          <a:noFill/>
          <a:ln/>
        </p:spPr>
        <p:txBody>
          <a:bodyPr wrap="square" lIns="0" tIns="0" rIns="0" bIns="0" rtlCol="0" anchor="t"/>
          <a:lstStyle/>
          <a:p>
            <a:pPr marL="0" indent="0" algn="l">
              <a:buNone/>
            </a:pPr>
            <a:r>
              <a:rPr lang="en-US" sz="1020" dirty="0">
                <a:solidFill>
                  <a:srgbClr val="7B9BB8"/>
                </a:solidFill>
                <a:latin typeface="Liberation Sans" pitchFamily="34" charset="0"/>
                <a:ea typeface="Liberation Sans" pitchFamily="34" charset="-122"/>
                <a:cs typeface="Liberation Sans" pitchFamily="34" charset="-120"/>
              </a:rPr>
              <a:t>Tools, data, reuse, and fair-play boundaries.</a:t>
            </a:r>
            <a:endParaRPr lang="en-US" sz="1020" dirty="0"/>
          </a:p>
        </p:txBody>
      </p:sp>
      <p:sp>
        <p:nvSpPr>
          <p:cNvPr id="15" name="Shape 12"/>
          <p:cNvSpPr/>
          <p:nvPr/>
        </p:nvSpPr>
        <p:spPr>
          <a:xfrm>
            <a:off x="786384" y="2523744"/>
            <a:ext cx="3794760" cy="0"/>
          </a:xfrm>
          <a:prstGeom prst="line">
            <a:avLst/>
          </a:prstGeom>
          <a:noFill/>
          <a:ln w="12700">
            <a:solidFill>
              <a:srgbClr val="1A3A52"/>
            </a:solidFill>
            <a:prstDash val="solid"/>
          </a:ln>
        </p:spPr>
        <p:txBody>
          <a:bodyPr/>
          <a:lstStyle/>
          <a:p>
            <a:endParaRPr lang="en-US"/>
          </a:p>
        </p:txBody>
      </p:sp>
      <p:sp>
        <p:nvSpPr>
          <p:cNvPr id="16" name="Shape 13"/>
          <p:cNvSpPr/>
          <p:nvPr/>
        </p:nvSpPr>
        <p:spPr>
          <a:xfrm>
            <a:off x="329184" y="2706624"/>
            <a:ext cx="329184" cy="329184"/>
          </a:xfrm>
          <a:prstGeom prst="ellipse">
            <a:avLst/>
          </a:prstGeom>
          <a:solidFill>
            <a:srgbClr val="00C8D4"/>
          </a:solidFill>
          <a:ln w="12700">
            <a:solidFill>
              <a:srgbClr val="00C8D4"/>
            </a:solidFill>
            <a:prstDash val="solid"/>
          </a:ln>
        </p:spPr>
        <p:txBody>
          <a:bodyPr/>
          <a:lstStyle/>
          <a:p>
            <a:endParaRPr lang="en-US"/>
          </a:p>
        </p:txBody>
      </p:sp>
      <p:sp>
        <p:nvSpPr>
          <p:cNvPr id="17" name="Text 14"/>
          <p:cNvSpPr/>
          <p:nvPr/>
        </p:nvSpPr>
        <p:spPr>
          <a:xfrm>
            <a:off x="786384" y="2688336"/>
            <a:ext cx="3794760" cy="237744"/>
          </a:xfrm>
          <a:prstGeom prst="rect">
            <a:avLst/>
          </a:prstGeom>
          <a:noFill/>
          <a:ln/>
        </p:spPr>
        <p:txBody>
          <a:bodyPr wrap="square" lIns="0" tIns="0" rIns="0" bIns="0" rtlCol="0" anchor="t"/>
          <a:lstStyle/>
          <a:p>
            <a:pPr marL="0" indent="0" algn="l">
              <a:buNone/>
            </a:pPr>
            <a:r>
              <a:rPr lang="en-US" sz="1200" b="1" dirty="0">
                <a:solidFill>
                  <a:srgbClr val="FFFFFF"/>
                </a:solidFill>
                <a:latin typeface="Liberation Sans" pitchFamily="34" charset="0"/>
                <a:ea typeface="Liberation Sans" pitchFamily="34" charset="-122"/>
                <a:cs typeface="Liberation Sans" pitchFamily="34" charset="-120"/>
              </a:rPr>
              <a:t>02  Collaboration and handoffs</a:t>
            </a:r>
            <a:endParaRPr lang="en-US" sz="1200" dirty="0"/>
          </a:p>
        </p:txBody>
      </p:sp>
      <p:sp>
        <p:nvSpPr>
          <p:cNvPr id="18" name="Text 15"/>
          <p:cNvSpPr/>
          <p:nvPr/>
        </p:nvSpPr>
        <p:spPr>
          <a:xfrm>
            <a:off x="786384" y="2962656"/>
            <a:ext cx="3794760" cy="283464"/>
          </a:xfrm>
          <a:prstGeom prst="rect">
            <a:avLst/>
          </a:prstGeom>
          <a:noFill/>
          <a:ln/>
        </p:spPr>
        <p:txBody>
          <a:bodyPr wrap="square" lIns="0" tIns="0" rIns="0" bIns="0" rtlCol="0" anchor="t"/>
          <a:lstStyle/>
          <a:p>
            <a:pPr marL="0" indent="0" algn="l">
              <a:buNone/>
            </a:pPr>
            <a:r>
              <a:rPr lang="en-US" sz="1020" dirty="0">
                <a:solidFill>
                  <a:srgbClr val="7B9BB8"/>
                </a:solidFill>
                <a:latin typeface="Liberation Sans" pitchFamily="34" charset="0"/>
                <a:ea typeface="Liberation Sans" pitchFamily="34" charset="-122"/>
                <a:cs typeface="Liberation Sans" pitchFamily="34" charset="-120"/>
              </a:rPr>
              <a:t>Shared workspace and shift-handoff guidance.</a:t>
            </a:r>
            <a:endParaRPr lang="en-US" sz="1020" dirty="0"/>
          </a:p>
        </p:txBody>
      </p:sp>
      <p:sp>
        <p:nvSpPr>
          <p:cNvPr id="19" name="Shape 16"/>
          <p:cNvSpPr/>
          <p:nvPr/>
        </p:nvSpPr>
        <p:spPr>
          <a:xfrm>
            <a:off x="786384" y="3310128"/>
            <a:ext cx="3794760" cy="0"/>
          </a:xfrm>
          <a:prstGeom prst="line">
            <a:avLst/>
          </a:prstGeom>
          <a:noFill/>
          <a:ln w="12700">
            <a:solidFill>
              <a:srgbClr val="1A3A52"/>
            </a:solidFill>
            <a:prstDash val="solid"/>
          </a:ln>
        </p:spPr>
        <p:txBody>
          <a:bodyPr/>
          <a:lstStyle/>
          <a:p>
            <a:endParaRPr lang="en-US"/>
          </a:p>
        </p:txBody>
      </p:sp>
      <p:sp>
        <p:nvSpPr>
          <p:cNvPr id="20" name="Shape 17"/>
          <p:cNvSpPr/>
          <p:nvPr/>
        </p:nvSpPr>
        <p:spPr>
          <a:xfrm>
            <a:off x="329184" y="3493008"/>
            <a:ext cx="329184" cy="329184"/>
          </a:xfrm>
          <a:prstGeom prst="ellipse">
            <a:avLst/>
          </a:prstGeom>
          <a:solidFill>
            <a:srgbClr val="00C8D4"/>
          </a:solidFill>
          <a:ln w="12700">
            <a:solidFill>
              <a:srgbClr val="00C8D4"/>
            </a:solidFill>
            <a:prstDash val="solid"/>
          </a:ln>
        </p:spPr>
        <p:txBody>
          <a:bodyPr/>
          <a:lstStyle/>
          <a:p>
            <a:endParaRPr lang="en-US"/>
          </a:p>
        </p:txBody>
      </p:sp>
      <p:sp>
        <p:nvSpPr>
          <p:cNvPr id="21" name="Text 18"/>
          <p:cNvSpPr/>
          <p:nvPr/>
        </p:nvSpPr>
        <p:spPr>
          <a:xfrm>
            <a:off x="786384" y="3474720"/>
            <a:ext cx="3794760" cy="237744"/>
          </a:xfrm>
          <a:prstGeom prst="rect">
            <a:avLst/>
          </a:prstGeom>
          <a:noFill/>
          <a:ln/>
        </p:spPr>
        <p:txBody>
          <a:bodyPr wrap="square" lIns="0" tIns="0" rIns="0" bIns="0" rtlCol="0" anchor="t"/>
          <a:lstStyle/>
          <a:p>
            <a:pPr marL="0" indent="0" algn="l">
              <a:buNone/>
            </a:pPr>
            <a:r>
              <a:rPr lang="en-US" sz="1200" b="1" dirty="0">
                <a:solidFill>
                  <a:srgbClr val="FFFFFF"/>
                </a:solidFill>
                <a:latin typeface="Liberation Sans" pitchFamily="34" charset="0"/>
                <a:ea typeface="Liberation Sans" pitchFamily="34" charset="-122"/>
                <a:cs typeface="Liberation Sans" pitchFamily="34" charset="-120"/>
              </a:rPr>
              <a:t>03  Team charter and plan</a:t>
            </a:r>
            <a:endParaRPr lang="en-US" sz="1200" dirty="0"/>
          </a:p>
        </p:txBody>
      </p:sp>
      <p:sp>
        <p:nvSpPr>
          <p:cNvPr id="22" name="Text 19"/>
          <p:cNvSpPr/>
          <p:nvPr/>
        </p:nvSpPr>
        <p:spPr>
          <a:xfrm>
            <a:off x="786384" y="3749040"/>
            <a:ext cx="3794760" cy="283464"/>
          </a:xfrm>
          <a:prstGeom prst="rect">
            <a:avLst/>
          </a:prstGeom>
          <a:noFill/>
          <a:ln/>
        </p:spPr>
        <p:txBody>
          <a:bodyPr wrap="square" lIns="0" tIns="0" rIns="0" bIns="0" rtlCol="0" anchor="t"/>
          <a:lstStyle/>
          <a:p>
            <a:pPr marL="0" indent="0" algn="l">
              <a:buNone/>
            </a:pPr>
            <a:r>
              <a:rPr lang="en-US" sz="1020" dirty="0">
                <a:solidFill>
                  <a:srgbClr val="7B9BB8"/>
                </a:solidFill>
                <a:latin typeface="Liberation Sans" pitchFamily="34" charset="0"/>
                <a:ea typeface="Liberation Sans" pitchFamily="34" charset="-122"/>
                <a:cs typeface="Liberation Sans" pitchFamily="34" charset="-120"/>
              </a:rPr>
              <a:t>Roles, hours, scope, milestones, and definition of done.</a:t>
            </a:r>
            <a:endParaRPr lang="en-US" sz="1020" dirty="0"/>
          </a:p>
        </p:txBody>
      </p:sp>
      <p:sp>
        <p:nvSpPr>
          <p:cNvPr id="23" name="Shape 20"/>
          <p:cNvSpPr/>
          <p:nvPr/>
        </p:nvSpPr>
        <p:spPr>
          <a:xfrm>
            <a:off x="4754880" y="1133856"/>
            <a:ext cx="329184" cy="329184"/>
          </a:xfrm>
          <a:prstGeom prst="ellipse">
            <a:avLst/>
          </a:prstGeom>
          <a:solidFill>
            <a:srgbClr val="FF9830"/>
          </a:solidFill>
          <a:ln w="12700">
            <a:solidFill>
              <a:srgbClr val="FF9830"/>
            </a:solidFill>
            <a:prstDash val="solid"/>
          </a:ln>
        </p:spPr>
        <p:txBody>
          <a:bodyPr/>
          <a:lstStyle/>
          <a:p>
            <a:endParaRPr lang="en-US"/>
          </a:p>
        </p:txBody>
      </p:sp>
      <p:sp>
        <p:nvSpPr>
          <p:cNvPr id="24" name="Text 21"/>
          <p:cNvSpPr/>
          <p:nvPr/>
        </p:nvSpPr>
        <p:spPr>
          <a:xfrm>
            <a:off x="5212080" y="1115568"/>
            <a:ext cx="3794760" cy="237744"/>
          </a:xfrm>
          <a:prstGeom prst="rect">
            <a:avLst/>
          </a:prstGeom>
          <a:noFill/>
          <a:ln/>
        </p:spPr>
        <p:txBody>
          <a:bodyPr wrap="square" lIns="0" tIns="0" rIns="0" bIns="0" rtlCol="0" anchor="t"/>
          <a:lstStyle/>
          <a:p>
            <a:pPr marL="0" indent="0" algn="l">
              <a:buNone/>
            </a:pPr>
            <a:r>
              <a:rPr lang="en-US" sz="1200" b="1" dirty="0">
                <a:solidFill>
                  <a:srgbClr val="FFFFFF"/>
                </a:solidFill>
                <a:latin typeface="Liberation Sans" pitchFamily="34" charset="0"/>
                <a:ea typeface="Liberation Sans" pitchFamily="34" charset="-122"/>
                <a:cs typeface="Liberation Sans" pitchFamily="34" charset="-120"/>
              </a:rPr>
              <a:t>04  Build, test, and evidence</a:t>
            </a:r>
            <a:endParaRPr lang="en-US" sz="1200" dirty="0"/>
          </a:p>
        </p:txBody>
      </p:sp>
      <p:sp>
        <p:nvSpPr>
          <p:cNvPr id="25" name="Text 22"/>
          <p:cNvSpPr/>
          <p:nvPr/>
        </p:nvSpPr>
        <p:spPr>
          <a:xfrm>
            <a:off x="5212080" y="1389888"/>
            <a:ext cx="3794760" cy="283464"/>
          </a:xfrm>
          <a:prstGeom prst="rect">
            <a:avLst/>
          </a:prstGeom>
          <a:noFill/>
          <a:ln/>
        </p:spPr>
        <p:txBody>
          <a:bodyPr wrap="square" lIns="0" tIns="0" rIns="0" bIns="0" rtlCol="0" anchor="t"/>
          <a:lstStyle/>
          <a:p>
            <a:pPr marL="0" indent="0" algn="l">
              <a:buNone/>
            </a:pPr>
            <a:r>
              <a:rPr lang="en-US" sz="1020" dirty="0">
                <a:solidFill>
                  <a:srgbClr val="7B9BB8"/>
                </a:solidFill>
                <a:latin typeface="Liberation Sans" pitchFamily="34" charset="0"/>
                <a:ea typeface="Liberation Sans" pitchFamily="34" charset="-122"/>
                <a:cs typeface="Liberation Sans" pitchFamily="34" charset="-120"/>
              </a:rPr>
              <a:t>Test records, sources, results, and limitations.</a:t>
            </a:r>
            <a:endParaRPr lang="en-US" sz="1020" dirty="0"/>
          </a:p>
        </p:txBody>
      </p:sp>
      <p:sp>
        <p:nvSpPr>
          <p:cNvPr id="26" name="Shape 23"/>
          <p:cNvSpPr/>
          <p:nvPr/>
        </p:nvSpPr>
        <p:spPr>
          <a:xfrm>
            <a:off x="5212080" y="1737360"/>
            <a:ext cx="3794760" cy="0"/>
          </a:xfrm>
          <a:prstGeom prst="line">
            <a:avLst/>
          </a:prstGeom>
          <a:noFill/>
          <a:ln w="12700">
            <a:solidFill>
              <a:srgbClr val="1A3A52"/>
            </a:solidFill>
            <a:prstDash val="solid"/>
          </a:ln>
        </p:spPr>
        <p:txBody>
          <a:bodyPr/>
          <a:lstStyle/>
          <a:p>
            <a:endParaRPr lang="en-US"/>
          </a:p>
        </p:txBody>
      </p:sp>
      <p:sp>
        <p:nvSpPr>
          <p:cNvPr id="27" name="Shape 24"/>
          <p:cNvSpPr/>
          <p:nvPr/>
        </p:nvSpPr>
        <p:spPr>
          <a:xfrm>
            <a:off x="4754880" y="1920240"/>
            <a:ext cx="329184" cy="329184"/>
          </a:xfrm>
          <a:prstGeom prst="ellipse">
            <a:avLst/>
          </a:prstGeom>
          <a:solidFill>
            <a:srgbClr val="FF9830"/>
          </a:solidFill>
          <a:ln w="12700">
            <a:solidFill>
              <a:srgbClr val="FF9830"/>
            </a:solidFill>
            <a:prstDash val="solid"/>
          </a:ln>
        </p:spPr>
        <p:txBody>
          <a:bodyPr/>
          <a:lstStyle/>
          <a:p>
            <a:endParaRPr lang="en-US"/>
          </a:p>
        </p:txBody>
      </p:sp>
      <p:sp>
        <p:nvSpPr>
          <p:cNvPr id="28" name="Text 25"/>
          <p:cNvSpPr/>
          <p:nvPr/>
        </p:nvSpPr>
        <p:spPr>
          <a:xfrm>
            <a:off x="5212080" y="1901952"/>
            <a:ext cx="3794760" cy="237744"/>
          </a:xfrm>
          <a:prstGeom prst="rect">
            <a:avLst/>
          </a:prstGeom>
          <a:noFill/>
          <a:ln/>
        </p:spPr>
        <p:txBody>
          <a:bodyPr wrap="square" lIns="0" tIns="0" rIns="0" bIns="0" rtlCol="0" anchor="t"/>
          <a:lstStyle/>
          <a:p>
            <a:pPr marL="0" indent="0" algn="l">
              <a:buNone/>
            </a:pPr>
            <a:r>
              <a:rPr lang="en-US" sz="1200" b="1" dirty="0">
                <a:solidFill>
                  <a:srgbClr val="FFFFFF"/>
                </a:solidFill>
                <a:latin typeface="Liberation Sans" pitchFamily="34" charset="0"/>
                <a:ea typeface="Liberation Sans" pitchFamily="34" charset="-122"/>
                <a:cs typeface="Liberation Sans" pitchFamily="34" charset="-120"/>
              </a:rPr>
              <a:t>05  Demo and submission</a:t>
            </a:r>
            <a:endParaRPr lang="en-US" sz="1200" dirty="0"/>
          </a:p>
        </p:txBody>
      </p:sp>
      <p:sp>
        <p:nvSpPr>
          <p:cNvPr id="29" name="Text 26"/>
          <p:cNvSpPr/>
          <p:nvPr/>
        </p:nvSpPr>
        <p:spPr>
          <a:xfrm>
            <a:off x="5212080" y="2176272"/>
            <a:ext cx="3794760" cy="283464"/>
          </a:xfrm>
          <a:prstGeom prst="rect">
            <a:avLst/>
          </a:prstGeom>
          <a:noFill/>
          <a:ln/>
        </p:spPr>
        <p:txBody>
          <a:bodyPr wrap="square" lIns="0" tIns="0" rIns="0" bIns="0" rtlCol="0" anchor="t"/>
          <a:lstStyle/>
          <a:p>
            <a:pPr marL="0" indent="0" algn="l">
              <a:buNone/>
            </a:pPr>
            <a:r>
              <a:rPr lang="en-US" sz="1020" dirty="0">
                <a:solidFill>
                  <a:srgbClr val="7B9BB8"/>
                </a:solidFill>
                <a:latin typeface="Liberation Sans" pitchFamily="34" charset="0"/>
                <a:ea typeface="Liberation Sans" pitchFamily="34" charset="-122"/>
                <a:cs typeface="Liberation Sans" pitchFamily="34" charset="-120"/>
              </a:rPr>
              <a:t>Final package, reviewer access, and deadline process.</a:t>
            </a:r>
            <a:endParaRPr lang="en-US" sz="1020" dirty="0"/>
          </a:p>
        </p:txBody>
      </p:sp>
      <p:sp>
        <p:nvSpPr>
          <p:cNvPr id="30" name="Shape 27"/>
          <p:cNvSpPr/>
          <p:nvPr/>
        </p:nvSpPr>
        <p:spPr>
          <a:xfrm>
            <a:off x="5212080" y="2523744"/>
            <a:ext cx="3794760" cy="0"/>
          </a:xfrm>
          <a:prstGeom prst="line">
            <a:avLst/>
          </a:prstGeom>
          <a:noFill/>
          <a:ln w="12700">
            <a:solidFill>
              <a:srgbClr val="1A3A52"/>
            </a:solidFill>
            <a:prstDash val="solid"/>
          </a:ln>
        </p:spPr>
        <p:txBody>
          <a:bodyPr/>
          <a:lstStyle/>
          <a:p>
            <a:endParaRPr lang="en-US"/>
          </a:p>
        </p:txBody>
      </p:sp>
      <p:sp>
        <p:nvSpPr>
          <p:cNvPr id="31" name="Shape 28"/>
          <p:cNvSpPr/>
          <p:nvPr/>
        </p:nvSpPr>
        <p:spPr>
          <a:xfrm>
            <a:off x="4754880" y="2706624"/>
            <a:ext cx="329184" cy="329184"/>
          </a:xfrm>
          <a:prstGeom prst="ellipse">
            <a:avLst/>
          </a:prstGeom>
          <a:solidFill>
            <a:srgbClr val="FF9830"/>
          </a:solidFill>
          <a:ln w="12700">
            <a:solidFill>
              <a:srgbClr val="FF9830"/>
            </a:solidFill>
            <a:prstDash val="solid"/>
          </a:ln>
        </p:spPr>
        <p:txBody>
          <a:bodyPr/>
          <a:lstStyle/>
          <a:p>
            <a:endParaRPr lang="en-US"/>
          </a:p>
        </p:txBody>
      </p:sp>
      <p:sp>
        <p:nvSpPr>
          <p:cNvPr id="32" name="Text 29"/>
          <p:cNvSpPr/>
          <p:nvPr/>
        </p:nvSpPr>
        <p:spPr>
          <a:xfrm>
            <a:off x="5212080" y="2688336"/>
            <a:ext cx="3794760" cy="237744"/>
          </a:xfrm>
          <a:prstGeom prst="rect">
            <a:avLst/>
          </a:prstGeom>
          <a:noFill/>
          <a:ln/>
        </p:spPr>
        <p:txBody>
          <a:bodyPr wrap="square" lIns="0" tIns="0" rIns="0" bIns="0" rtlCol="0" anchor="t"/>
          <a:lstStyle/>
          <a:p>
            <a:pPr marL="0" indent="0" algn="l">
              <a:buNone/>
            </a:pPr>
            <a:r>
              <a:rPr lang="en-US" sz="1200" b="1" dirty="0">
                <a:solidFill>
                  <a:srgbClr val="FFFFFF"/>
                </a:solidFill>
                <a:latin typeface="Liberation Sans" pitchFamily="34" charset="0"/>
                <a:ea typeface="Liberation Sans" pitchFamily="34" charset="-122"/>
                <a:cs typeface="Liberation Sans" pitchFamily="34" charset="-120"/>
              </a:rPr>
              <a:t>06 / 07  Help and agent context</a:t>
            </a:r>
            <a:endParaRPr lang="en-US" sz="1200" dirty="0"/>
          </a:p>
        </p:txBody>
      </p:sp>
      <p:sp>
        <p:nvSpPr>
          <p:cNvPr id="33" name="Text 30"/>
          <p:cNvSpPr/>
          <p:nvPr/>
        </p:nvSpPr>
        <p:spPr>
          <a:xfrm>
            <a:off x="5212080" y="2962656"/>
            <a:ext cx="3794760" cy="283464"/>
          </a:xfrm>
          <a:prstGeom prst="rect">
            <a:avLst/>
          </a:prstGeom>
          <a:noFill/>
          <a:ln/>
        </p:spPr>
        <p:txBody>
          <a:bodyPr wrap="square" lIns="0" tIns="0" rIns="0" bIns="0" rtlCol="0" anchor="t"/>
          <a:lstStyle/>
          <a:p>
            <a:pPr marL="0" indent="0" algn="l">
              <a:buNone/>
            </a:pPr>
            <a:r>
              <a:rPr lang="en-US" sz="1020" dirty="0">
                <a:solidFill>
                  <a:srgbClr val="7B9BB8"/>
                </a:solidFill>
                <a:latin typeface="Liberation Sans" pitchFamily="34" charset="0"/>
                <a:ea typeface="Liberation Sans" pitchFamily="34" charset="-122"/>
                <a:cs typeface="Liberation Sans" pitchFamily="34" charset="-120"/>
              </a:rPr>
              <a:t>Escalation routes and context for approved AI tools.</a:t>
            </a:r>
            <a:endParaRPr lang="en-US" sz="1020" dirty="0"/>
          </a:p>
        </p:txBody>
      </p:sp>
      <p:sp>
        <p:nvSpPr>
          <p:cNvPr id="34" name="Shape 31"/>
          <p:cNvSpPr/>
          <p:nvPr/>
        </p:nvSpPr>
        <p:spPr>
          <a:xfrm>
            <a:off x="5212080" y="3310128"/>
            <a:ext cx="3794760" cy="0"/>
          </a:xfrm>
          <a:prstGeom prst="line">
            <a:avLst/>
          </a:prstGeom>
          <a:noFill/>
          <a:ln w="12700">
            <a:solidFill>
              <a:srgbClr val="1A3A52"/>
            </a:solidFill>
            <a:prstDash val="solid"/>
          </a:ln>
        </p:spPr>
        <p:txBody>
          <a:bodyPr/>
          <a:lstStyle/>
          <a:p>
            <a:endParaRPr lang="en-US"/>
          </a:p>
        </p:txBody>
      </p:sp>
      <p:sp>
        <p:nvSpPr>
          <p:cNvPr id="35" name="Text 32"/>
          <p:cNvSpPr/>
          <p:nvPr/>
        </p:nvSpPr>
        <p:spPr>
          <a:xfrm>
            <a:off x="320040" y="4389120"/>
            <a:ext cx="8412480" cy="265176"/>
          </a:xfrm>
          <a:prstGeom prst="rect">
            <a:avLst/>
          </a:prstGeom>
          <a:noFill/>
          <a:ln/>
        </p:spPr>
        <p:txBody>
          <a:bodyPr wrap="square" lIns="0" tIns="0" rIns="0" bIns="0" rtlCol="0" anchor="t"/>
          <a:lstStyle/>
          <a:p>
            <a:pPr marL="0" indent="0" algn="ctr">
              <a:buNone/>
            </a:pPr>
            <a:r>
              <a:rPr lang="en-US" sz="1200" b="1" dirty="0">
                <a:solidFill>
                  <a:srgbClr val="00C8D4"/>
                </a:solidFill>
                <a:latin typeface="Liberation Sans" pitchFamily="34" charset="0"/>
                <a:ea typeface="Liberation Sans" pitchFamily="34" charset="-122"/>
                <a:cs typeface="Liberation Sans" pitchFamily="34" charset="-120"/>
              </a:rPr>
              <a:t>The package gives you the process. Your assigned brief defines the problem.</a:t>
            </a:r>
            <a:endParaRPr lang="en-US" sz="1200" dirty="0"/>
          </a:p>
        </p:txBody>
      </p:sp>
      <p:pic>
        <p:nvPicPr>
          <p:cNvPr id="37" name="Image 1" descr="preencoded.png"/>
          <p:cNvPicPr>
            <a:picLocks noChangeAspect="1"/>
          </p:cNvPicPr>
          <p:nvPr/>
        </p:nvPicPr>
        <p:blipFill>
          <a:blip r:embed="rId4"/>
          <a:stretch>
            <a:fillRect/>
          </a:stretch>
        </p:blipFill>
        <p:spPr>
          <a:xfrm>
            <a:off x="398313" y="1202985"/>
            <a:ext cx="190927" cy="190927"/>
          </a:xfrm>
          <a:prstGeom prst="rect">
            <a:avLst/>
          </a:prstGeom>
        </p:spPr>
      </p:pic>
      <p:pic>
        <p:nvPicPr>
          <p:cNvPr id="38" name="Image 2" descr="preencoded.png"/>
          <p:cNvPicPr>
            <a:picLocks noChangeAspect="1"/>
          </p:cNvPicPr>
          <p:nvPr/>
        </p:nvPicPr>
        <p:blipFill>
          <a:blip r:embed="rId5"/>
          <a:stretch>
            <a:fillRect/>
          </a:stretch>
        </p:blipFill>
        <p:spPr>
          <a:xfrm>
            <a:off x="398313" y="1989369"/>
            <a:ext cx="190927" cy="190927"/>
          </a:xfrm>
          <a:prstGeom prst="rect">
            <a:avLst/>
          </a:prstGeom>
        </p:spPr>
      </p:pic>
      <p:pic>
        <p:nvPicPr>
          <p:cNvPr id="39" name="Image 3" descr="preencoded.png"/>
          <p:cNvPicPr>
            <a:picLocks noChangeAspect="1"/>
          </p:cNvPicPr>
          <p:nvPr/>
        </p:nvPicPr>
        <p:blipFill>
          <a:blip r:embed="rId6"/>
          <a:stretch>
            <a:fillRect/>
          </a:stretch>
        </p:blipFill>
        <p:spPr>
          <a:xfrm>
            <a:off x="398313" y="2775753"/>
            <a:ext cx="190927" cy="190927"/>
          </a:xfrm>
          <a:prstGeom prst="rect">
            <a:avLst/>
          </a:prstGeom>
        </p:spPr>
      </p:pic>
      <p:pic>
        <p:nvPicPr>
          <p:cNvPr id="40" name="Image 4" descr="preencoded.png"/>
          <p:cNvPicPr>
            <a:picLocks noChangeAspect="1"/>
          </p:cNvPicPr>
          <p:nvPr/>
        </p:nvPicPr>
        <p:blipFill>
          <a:blip r:embed="rId7"/>
          <a:stretch>
            <a:fillRect/>
          </a:stretch>
        </p:blipFill>
        <p:spPr>
          <a:xfrm>
            <a:off x="398313" y="3562137"/>
            <a:ext cx="190927" cy="190927"/>
          </a:xfrm>
          <a:prstGeom prst="rect">
            <a:avLst/>
          </a:prstGeom>
        </p:spPr>
      </p:pic>
      <p:pic>
        <p:nvPicPr>
          <p:cNvPr id="41" name="Image 5" descr="preencoded.png"/>
          <p:cNvPicPr>
            <a:picLocks noChangeAspect="1"/>
          </p:cNvPicPr>
          <p:nvPr/>
        </p:nvPicPr>
        <p:blipFill>
          <a:blip r:embed="rId8"/>
          <a:stretch>
            <a:fillRect/>
          </a:stretch>
        </p:blipFill>
        <p:spPr>
          <a:xfrm>
            <a:off x="4824009" y="1202985"/>
            <a:ext cx="190927" cy="190927"/>
          </a:xfrm>
          <a:prstGeom prst="rect">
            <a:avLst/>
          </a:prstGeom>
        </p:spPr>
      </p:pic>
      <p:pic>
        <p:nvPicPr>
          <p:cNvPr id="42" name="Image 6" descr="preencoded.png"/>
          <p:cNvPicPr>
            <a:picLocks noChangeAspect="1"/>
          </p:cNvPicPr>
          <p:nvPr/>
        </p:nvPicPr>
        <p:blipFill>
          <a:blip r:embed="rId9"/>
          <a:stretch>
            <a:fillRect/>
          </a:stretch>
        </p:blipFill>
        <p:spPr>
          <a:xfrm>
            <a:off x="4824009" y="1989369"/>
            <a:ext cx="190927" cy="190927"/>
          </a:xfrm>
          <a:prstGeom prst="rect">
            <a:avLst/>
          </a:prstGeom>
        </p:spPr>
      </p:pic>
      <p:pic>
        <p:nvPicPr>
          <p:cNvPr id="43" name="Image 7" descr="preencoded.png"/>
          <p:cNvPicPr>
            <a:picLocks noChangeAspect="1"/>
          </p:cNvPicPr>
          <p:nvPr/>
        </p:nvPicPr>
        <p:blipFill>
          <a:blip r:embed="rId10"/>
          <a:stretch>
            <a:fillRect/>
          </a:stretch>
        </p:blipFill>
        <p:spPr>
          <a:xfrm>
            <a:off x="4824009" y="2775753"/>
            <a:ext cx="190927" cy="1909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SET UP THE SHARED WORKSPACE</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Put the templates where the team expects to find them.</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384048" y="1207008"/>
            <a:ext cx="2834640" cy="3154680"/>
          </a:xfrm>
          <a:prstGeom prst="rect">
            <a:avLst/>
          </a:prstGeom>
          <a:solidFill>
            <a:srgbClr val="0D1E34"/>
          </a:solidFill>
          <a:ln w="12700">
            <a:solidFill>
              <a:srgbClr val="1A3A52"/>
            </a:solidFill>
            <a:prstDash val="solid"/>
          </a:ln>
        </p:spPr>
        <p:txBody>
          <a:bodyPr/>
          <a:lstStyle/>
          <a:p>
            <a:endParaRPr lang="en-US"/>
          </a:p>
        </p:txBody>
      </p:sp>
      <p:sp>
        <p:nvSpPr>
          <p:cNvPr id="9" name="Text 6"/>
          <p:cNvSpPr/>
          <p:nvPr/>
        </p:nvSpPr>
        <p:spPr>
          <a:xfrm>
            <a:off x="658368" y="1463040"/>
            <a:ext cx="2286000" cy="237744"/>
          </a:xfrm>
          <a:prstGeom prst="rect">
            <a:avLst/>
          </a:prstGeom>
          <a:noFill/>
          <a:ln/>
        </p:spPr>
        <p:txBody>
          <a:bodyPr wrap="square" lIns="0" tIns="0" rIns="0" bIns="0" rtlCol="0" anchor="t"/>
          <a:lstStyle/>
          <a:p>
            <a:pPr marL="0" indent="0" algn="l">
              <a:buNone/>
            </a:pPr>
            <a:r>
              <a:rPr lang="en-US" sz="1000" b="1" kern="0" spc="120" dirty="0">
                <a:solidFill>
                  <a:srgbClr val="7B9BB8"/>
                </a:solidFill>
                <a:latin typeface="Liberation Sans" pitchFamily="34" charset="0"/>
                <a:ea typeface="Liberation Sans" pitchFamily="34" charset="-122"/>
                <a:cs typeface="Liberation Sans" pitchFamily="34" charset="-120"/>
              </a:rPr>
              <a:t>TEAM CHANNEL</a:t>
            </a:r>
            <a:endParaRPr lang="en-US" sz="1000" dirty="0"/>
          </a:p>
        </p:txBody>
      </p:sp>
      <p:sp>
        <p:nvSpPr>
          <p:cNvPr id="10" name="Text 7"/>
          <p:cNvSpPr/>
          <p:nvPr/>
        </p:nvSpPr>
        <p:spPr>
          <a:xfrm>
            <a:off x="658368" y="1810512"/>
            <a:ext cx="2286000" cy="283464"/>
          </a:xfrm>
          <a:prstGeom prst="rect">
            <a:avLst/>
          </a:prstGeom>
          <a:noFill/>
          <a:ln/>
        </p:spPr>
        <p:txBody>
          <a:bodyPr wrap="square" lIns="0" tIns="0" rIns="0" bIns="0" rtlCol="0" anchor="t"/>
          <a:lstStyle/>
          <a:p>
            <a:pPr marL="0" indent="0" algn="l">
              <a:buNone/>
            </a:pPr>
            <a:r>
              <a:rPr lang="en-US" sz="1500" b="1" dirty="0">
                <a:solidFill>
                  <a:srgbClr val="FFFFFF"/>
                </a:solidFill>
                <a:latin typeface="Liberation Sans" pitchFamily="34" charset="0"/>
                <a:ea typeface="Liberation Sans" pitchFamily="34" charset="-122"/>
                <a:cs typeface="Liberation Sans" pitchFamily="34" charset="-120"/>
              </a:rPr>
              <a:t>Connected workspace</a:t>
            </a:r>
            <a:endParaRPr lang="en-US" sz="1500" dirty="0"/>
          </a:p>
        </p:txBody>
      </p:sp>
      <p:sp>
        <p:nvSpPr>
          <p:cNvPr id="11" name="Text 8"/>
          <p:cNvSpPr/>
          <p:nvPr/>
        </p:nvSpPr>
        <p:spPr>
          <a:xfrm>
            <a:off x="658368" y="2395728"/>
            <a:ext cx="2286000" cy="210312"/>
          </a:xfrm>
          <a:prstGeom prst="rect">
            <a:avLst/>
          </a:prstGeom>
          <a:noFill/>
          <a:ln/>
        </p:spPr>
        <p:txBody>
          <a:bodyPr wrap="square" lIns="0" tIns="0" rIns="0" bIns="0" rtlCol="0" anchor="t"/>
          <a:lstStyle/>
          <a:p>
            <a:pPr marL="0" indent="0" algn="l">
              <a:buNone/>
            </a:pPr>
            <a:r>
              <a:rPr lang="en-US" sz="1050" b="1" dirty="0">
                <a:solidFill>
                  <a:srgbClr val="00C8D4"/>
                </a:solidFill>
                <a:latin typeface="Liberation Sans" pitchFamily="34" charset="0"/>
                <a:ea typeface="Liberation Sans" pitchFamily="34" charset="-122"/>
                <a:cs typeface="Liberation Sans" pitchFamily="34" charset="-120"/>
              </a:rPr>
              <a:t>▾  00_Admin/</a:t>
            </a:r>
            <a:endParaRPr lang="en-US" sz="1050" dirty="0"/>
          </a:p>
        </p:txBody>
      </p:sp>
      <p:sp>
        <p:nvSpPr>
          <p:cNvPr id="12" name="Text 9"/>
          <p:cNvSpPr/>
          <p:nvPr/>
        </p:nvSpPr>
        <p:spPr>
          <a:xfrm>
            <a:off x="658368" y="2743200"/>
            <a:ext cx="2286000" cy="210312"/>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TEAM_CHARTER.md</a:t>
            </a:r>
            <a:endParaRPr lang="en-US" sz="1050" dirty="0"/>
          </a:p>
        </p:txBody>
      </p:sp>
      <p:sp>
        <p:nvSpPr>
          <p:cNvPr id="13" name="Text 10"/>
          <p:cNvSpPr/>
          <p:nvPr/>
        </p:nvSpPr>
        <p:spPr>
          <a:xfrm>
            <a:off x="658368" y="3054096"/>
            <a:ext cx="2286000" cy="210312"/>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STATUS.md</a:t>
            </a:r>
            <a:endParaRPr lang="en-US" sz="1050" dirty="0"/>
          </a:p>
        </p:txBody>
      </p:sp>
      <p:sp>
        <p:nvSpPr>
          <p:cNvPr id="14" name="Text 11"/>
          <p:cNvSpPr/>
          <p:nvPr/>
        </p:nvSpPr>
        <p:spPr>
          <a:xfrm>
            <a:off x="658368" y="3364992"/>
            <a:ext cx="2286000" cy="210312"/>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HANDOFF.md</a:t>
            </a:r>
            <a:endParaRPr lang="en-US" sz="1050" dirty="0"/>
          </a:p>
        </p:txBody>
      </p:sp>
      <p:sp>
        <p:nvSpPr>
          <p:cNvPr id="15" name="Text 12"/>
          <p:cNvSpPr/>
          <p:nvPr/>
        </p:nvSpPr>
        <p:spPr>
          <a:xfrm>
            <a:off x="658368" y="3675888"/>
            <a:ext cx="2286000" cy="210312"/>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DECISIONS.md</a:t>
            </a:r>
            <a:endParaRPr lang="en-US" sz="1050" dirty="0"/>
          </a:p>
        </p:txBody>
      </p:sp>
      <p:sp>
        <p:nvSpPr>
          <p:cNvPr id="16" name="Shape 13"/>
          <p:cNvSpPr/>
          <p:nvPr/>
        </p:nvSpPr>
        <p:spPr>
          <a:xfrm>
            <a:off x="3694176" y="1207008"/>
            <a:ext cx="4974336" cy="3154680"/>
          </a:xfrm>
          <a:prstGeom prst="rect">
            <a:avLst/>
          </a:prstGeom>
          <a:solidFill>
            <a:srgbClr val="0D1E34"/>
          </a:solidFill>
          <a:ln w="12700">
            <a:solidFill>
              <a:srgbClr val="1A3A52"/>
            </a:solidFill>
            <a:prstDash val="solid"/>
          </a:ln>
        </p:spPr>
        <p:txBody>
          <a:bodyPr/>
          <a:lstStyle/>
          <a:p>
            <a:endParaRPr lang="en-US"/>
          </a:p>
        </p:txBody>
      </p:sp>
      <p:sp>
        <p:nvSpPr>
          <p:cNvPr id="17" name="Text 14"/>
          <p:cNvSpPr/>
          <p:nvPr/>
        </p:nvSpPr>
        <p:spPr>
          <a:xfrm>
            <a:off x="4005072" y="1627632"/>
            <a:ext cx="3931920" cy="292608"/>
          </a:xfrm>
          <a:prstGeom prst="rect">
            <a:avLst/>
          </a:prstGeom>
          <a:noFill/>
          <a:ln/>
        </p:spPr>
        <p:txBody>
          <a:bodyPr wrap="square" lIns="0" tIns="0" rIns="0" bIns="0" rtlCol="0" anchor="t"/>
          <a:lstStyle/>
          <a:p>
            <a:pPr marL="0" indent="0" algn="l">
              <a:buNone/>
            </a:pPr>
            <a:r>
              <a:rPr lang="en-US" sz="1500" b="1" dirty="0">
                <a:solidFill>
                  <a:srgbClr val="FF9830"/>
                </a:solidFill>
                <a:latin typeface="Liberation Sans" pitchFamily="34" charset="0"/>
                <a:ea typeface="Liberation Sans" pitchFamily="34" charset="-122"/>
                <a:cs typeface="Liberation Sans" pitchFamily="34" charset="-120"/>
              </a:rPr>
              <a:t>03_Final_Submission/</a:t>
            </a:r>
            <a:endParaRPr lang="en-US" sz="1500" dirty="0"/>
          </a:p>
        </p:txBody>
      </p:sp>
      <p:sp>
        <p:nvSpPr>
          <p:cNvPr id="18" name="Text 15"/>
          <p:cNvSpPr/>
          <p:nvPr/>
        </p:nvSpPr>
        <p:spPr>
          <a:xfrm>
            <a:off x="4005072" y="2139696"/>
            <a:ext cx="4160520" cy="457200"/>
          </a:xfrm>
          <a:prstGeom prst="rect">
            <a:avLst/>
          </a:prstGeom>
          <a:noFill/>
          <a:ln/>
        </p:spPr>
        <p:txBody>
          <a:bodyPr wrap="square" lIns="0" tIns="0" rIns="0" bIns="0" rtlCol="0" anchor="t"/>
          <a:lstStyle/>
          <a:p>
            <a:pPr marL="0" indent="0" algn="l">
              <a:buNone/>
            </a:pPr>
            <a:r>
              <a:rPr lang="en-US" sz="1120" dirty="0">
                <a:solidFill>
                  <a:srgbClr val="AECCE0"/>
                </a:solidFill>
                <a:latin typeface="Liberation Sans" pitchFamily="34" charset="0"/>
                <a:ea typeface="Liberation Sans" pitchFamily="34" charset="-122"/>
                <a:cs typeface="Liberation Sans" pitchFamily="34" charset="-120"/>
              </a:rPr>
              <a:t>• README.md: start here for reviewers</a:t>
            </a:r>
            <a:endParaRPr lang="en-US" sz="1120" dirty="0"/>
          </a:p>
        </p:txBody>
      </p:sp>
      <p:sp>
        <p:nvSpPr>
          <p:cNvPr id="19" name="Text 16"/>
          <p:cNvSpPr/>
          <p:nvPr/>
        </p:nvSpPr>
        <p:spPr>
          <a:xfrm>
            <a:off x="4005072" y="2551176"/>
            <a:ext cx="4160520" cy="457200"/>
          </a:xfrm>
          <a:prstGeom prst="rect">
            <a:avLst/>
          </a:prstGeom>
          <a:noFill/>
          <a:ln/>
        </p:spPr>
        <p:txBody>
          <a:bodyPr wrap="square" lIns="0" tIns="0" rIns="0" bIns="0" rtlCol="0" anchor="t"/>
          <a:lstStyle/>
          <a:p>
            <a:pPr marL="0" indent="0" algn="l">
              <a:buNone/>
            </a:pPr>
            <a:r>
              <a:rPr lang="en-US" sz="1120" dirty="0">
                <a:solidFill>
                  <a:srgbClr val="AECCE0"/>
                </a:solidFill>
                <a:latin typeface="Liberation Sans" pitchFamily="34" charset="0"/>
                <a:ea typeface="Liberation Sans" pitchFamily="34" charset="-122"/>
                <a:cs typeface="Liberation Sans" pitchFamily="34" charset="-120"/>
              </a:rPr>
              <a:t>• FINAL_SUBMISSION_CHECKLIST.md</a:t>
            </a:r>
            <a:endParaRPr lang="en-US" sz="1120" dirty="0"/>
          </a:p>
        </p:txBody>
      </p:sp>
      <p:sp>
        <p:nvSpPr>
          <p:cNvPr id="20" name="Text 17"/>
          <p:cNvSpPr/>
          <p:nvPr/>
        </p:nvSpPr>
        <p:spPr>
          <a:xfrm>
            <a:off x="4005072" y="2962656"/>
            <a:ext cx="4160520" cy="457200"/>
          </a:xfrm>
          <a:prstGeom prst="rect">
            <a:avLst/>
          </a:prstGeom>
          <a:noFill/>
          <a:ln/>
        </p:spPr>
        <p:txBody>
          <a:bodyPr wrap="square" lIns="0" tIns="0" rIns="0" bIns="0" rtlCol="0" anchor="t"/>
          <a:lstStyle/>
          <a:p>
            <a:pPr marL="0" indent="0" algn="l">
              <a:buNone/>
            </a:pPr>
            <a:r>
              <a:rPr lang="en-US" sz="1120" dirty="0">
                <a:solidFill>
                  <a:srgbClr val="AECCE0"/>
                </a:solidFill>
                <a:latin typeface="Liberation Sans" pitchFamily="34" charset="0"/>
                <a:ea typeface="Liberation Sans" pitchFamily="34" charset="-122"/>
                <a:cs typeface="Liberation Sans" pitchFamily="34" charset="-120"/>
              </a:rPr>
              <a:t>• Working artifact or prototype</a:t>
            </a:r>
            <a:endParaRPr lang="en-US" sz="1120" dirty="0"/>
          </a:p>
        </p:txBody>
      </p:sp>
      <p:sp>
        <p:nvSpPr>
          <p:cNvPr id="21" name="Text 18"/>
          <p:cNvSpPr/>
          <p:nvPr/>
        </p:nvSpPr>
        <p:spPr>
          <a:xfrm>
            <a:off x="4005072" y="3374136"/>
            <a:ext cx="4160520" cy="457200"/>
          </a:xfrm>
          <a:prstGeom prst="rect">
            <a:avLst/>
          </a:prstGeom>
          <a:noFill/>
          <a:ln/>
        </p:spPr>
        <p:txBody>
          <a:bodyPr wrap="square" lIns="0" tIns="0" rIns="0" bIns="0" rtlCol="0" anchor="t"/>
          <a:lstStyle/>
          <a:p>
            <a:pPr marL="0" indent="0" algn="l">
              <a:buNone/>
            </a:pPr>
            <a:r>
              <a:rPr lang="en-US" sz="1120" dirty="0">
                <a:solidFill>
                  <a:srgbClr val="AECCE0"/>
                </a:solidFill>
                <a:latin typeface="Liberation Sans" pitchFamily="34" charset="0"/>
                <a:ea typeface="Liberation Sans" pitchFamily="34" charset="-122"/>
                <a:cs typeface="Liberation Sans" pitchFamily="34" charset="-120"/>
              </a:rPr>
              <a:t>• Evidence, sources, and setup notes</a:t>
            </a:r>
            <a:endParaRPr lang="en-US" sz="1120" dirty="0"/>
          </a:p>
        </p:txBody>
      </p:sp>
      <p:sp>
        <p:nvSpPr>
          <p:cNvPr id="22" name="Text 19"/>
          <p:cNvSpPr/>
          <p:nvPr/>
        </p:nvSpPr>
        <p:spPr>
          <a:xfrm>
            <a:off x="4005072" y="3785616"/>
            <a:ext cx="4160520" cy="457200"/>
          </a:xfrm>
          <a:prstGeom prst="rect">
            <a:avLst/>
          </a:prstGeom>
          <a:noFill/>
          <a:ln/>
        </p:spPr>
        <p:txBody>
          <a:bodyPr wrap="square" lIns="0" tIns="0" rIns="0" bIns="0" rtlCol="0" anchor="t"/>
          <a:lstStyle/>
          <a:p>
            <a:pPr marL="0" indent="0" algn="l">
              <a:buNone/>
            </a:pPr>
            <a:r>
              <a:rPr lang="en-US" sz="1120" dirty="0">
                <a:solidFill>
                  <a:srgbClr val="AECCE0"/>
                </a:solidFill>
                <a:latin typeface="Liberation Sans" pitchFamily="34" charset="0"/>
                <a:ea typeface="Liberation Sans" pitchFamily="34" charset="-122"/>
                <a:cs typeface="Liberation Sans" pitchFamily="34" charset="-120"/>
              </a:rPr>
              <a:t>• Reviewer access and fallback path</a:t>
            </a:r>
            <a:endParaRPr lang="en-US" sz="1120" dirty="0"/>
          </a:p>
        </p:txBody>
      </p:sp>
      <p:sp>
        <p:nvSpPr>
          <p:cNvPr id="23" name="Shape 20"/>
          <p:cNvSpPr/>
          <p:nvPr/>
        </p:nvSpPr>
        <p:spPr>
          <a:xfrm>
            <a:off x="2788920" y="4526280"/>
            <a:ext cx="3566160" cy="310896"/>
          </a:xfrm>
          <a:prstGeom prst="roundRect">
            <a:avLst>
              <a:gd name="adj" fmla="val 17647"/>
            </a:avLst>
          </a:prstGeom>
          <a:solidFill>
            <a:srgbClr val="FF9830">
              <a:alpha val="16000"/>
            </a:srgbClr>
          </a:solidFill>
          <a:ln w="12700">
            <a:solidFill>
              <a:srgbClr val="FF9830">
                <a:alpha val="65000"/>
              </a:srgbClr>
            </a:solidFill>
            <a:prstDash val="solid"/>
          </a:ln>
        </p:spPr>
        <p:txBody>
          <a:bodyPr/>
          <a:lstStyle/>
          <a:p>
            <a:endParaRPr lang="en-US"/>
          </a:p>
        </p:txBody>
      </p:sp>
      <p:sp>
        <p:nvSpPr>
          <p:cNvPr id="24" name="Text 21"/>
          <p:cNvSpPr/>
          <p:nvPr/>
        </p:nvSpPr>
        <p:spPr>
          <a:xfrm>
            <a:off x="2788920" y="4572000"/>
            <a:ext cx="3566160" cy="210312"/>
          </a:xfrm>
          <a:prstGeom prst="rect">
            <a:avLst/>
          </a:prstGeom>
          <a:noFill/>
          <a:ln/>
        </p:spPr>
        <p:txBody>
          <a:bodyPr wrap="square" lIns="0" tIns="0" rIns="0" bIns="0" rtlCol="0" anchor="t"/>
          <a:lstStyle/>
          <a:p>
            <a:pPr marL="0" indent="0" algn="ctr">
              <a:buNone/>
            </a:pPr>
            <a:r>
              <a:rPr lang="en-US" sz="950" b="1" dirty="0">
                <a:solidFill>
                  <a:srgbClr val="FF9830"/>
                </a:solidFill>
                <a:latin typeface="Liberation Sans" pitchFamily="34" charset="0"/>
                <a:ea typeface="Liberation Sans" pitchFamily="34" charset="-122"/>
                <a:cs typeface="Liberation Sans" pitchFamily="34" charset="-120"/>
              </a:rPr>
              <a:t>Shared links, not personal computer paths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GOOD TEAMS MAKE HANDOFFS EASY</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The goal is to keep work moving when people are working at different times.</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320040" y="1106424"/>
            <a:ext cx="347472" cy="347472"/>
          </a:xfrm>
          <a:prstGeom prst="ellipse">
            <a:avLst/>
          </a:prstGeom>
          <a:solidFill>
            <a:srgbClr val="00C8D4"/>
          </a:solidFill>
          <a:ln w="12700">
            <a:solidFill>
              <a:srgbClr val="00C8D4"/>
            </a:solidFill>
            <a:prstDash val="solid"/>
          </a:ln>
        </p:spPr>
        <p:txBody>
          <a:bodyPr/>
          <a:lstStyle/>
          <a:p>
            <a:endParaRPr lang="en-US"/>
          </a:p>
        </p:txBody>
      </p:sp>
      <p:sp>
        <p:nvSpPr>
          <p:cNvPr id="9" name="Text 6"/>
          <p:cNvSpPr/>
          <p:nvPr/>
        </p:nvSpPr>
        <p:spPr>
          <a:xfrm>
            <a:off x="804672" y="1106424"/>
            <a:ext cx="3657600" cy="228600"/>
          </a:xfrm>
          <a:prstGeom prst="rect">
            <a:avLst/>
          </a:prstGeom>
          <a:noFill/>
          <a:ln/>
        </p:spPr>
        <p:txBody>
          <a:bodyPr wrap="square" lIns="0" tIns="0" rIns="0" bIns="0" rtlCol="0" anchor="t"/>
          <a:lstStyle/>
          <a:p>
            <a:pPr marL="0" indent="0" algn="l">
              <a:buNone/>
            </a:pPr>
            <a:r>
              <a:rPr lang="en-US" sz="1250" b="1" dirty="0">
                <a:solidFill>
                  <a:srgbClr val="FFFFFF"/>
                </a:solidFill>
                <a:latin typeface="Liberation Sans" pitchFamily="34" charset="0"/>
                <a:ea typeface="Liberation Sans" pitchFamily="34" charset="-122"/>
                <a:cs typeface="Liberation Sans" pitchFamily="34" charset="-120"/>
              </a:rPr>
              <a:t>Name roles</a:t>
            </a:r>
            <a:endParaRPr lang="en-US" sz="1250" dirty="0"/>
          </a:p>
        </p:txBody>
      </p:sp>
      <p:sp>
        <p:nvSpPr>
          <p:cNvPr id="10" name="Text 7"/>
          <p:cNvSpPr/>
          <p:nvPr/>
        </p:nvSpPr>
        <p:spPr>
          <a:xfrm>
            <a:off x="804672" y="1389888"/>
            <a:ext cx="3694176" cy="41148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Coordinate, build, test, document, demo, and own the final package.</a:t>
            </a:r>
            <a:endParaRPr lang="en-US" sz="1050" dirty="0"/>
          </a:p>
        </p:txBody>
      </p:sp>
      <p:sp>
        <p:nvSpPr>
          <p:cNvPr id="11" name="Shape 8"/>
          <p:cNvSpPr/>
          <p:nvPr/>
        </p:nvSpPr>
        <p:spPr>
          <a:xfrm>
            <a:off x="804672" y="1929384"/>
            <a:ext cx="3712464" cy="0"/>
          </a:xfrm>
          <a:prstGeom prst="line">
            <a:avLst/>
          </a:prstGeom>
          <a:noFill/>
          <a:ln w="12700">
            <a:solidFill>
              <a:srgbClr val="1A3A52"/>
            </a:solidFill>
            <a:prstDash val="solid"/>
          </a:ln>
        </p:spPr>
        <p:txBody>
          <a:bodyPr/>
          <a:lstStyle/>
          <a:p>
            <a:endParaRPr lang="en-US"/>
          </a:p>
        </p:txBody>
      </p:sp>
      <p:sp>
        <p:nvSpPr>
          <p:cNvPr id="12" name="Shape 9"/>
          <p:cNvSpPr/>
          <p:nvPr/>
        </p:nvSpPr>
        <p:spPr>
          <a:xfrm>
            <a:off x="320040" y="2167128"/>
            <a:ext cx="347472" cy="347472"/>
          </a:xfrm>
          <a:prstGeom prst="ellipse">
            <a:avLst/>
          </a:prstGeom>
          <a:solidFill>
            <a:srgbClr val="00C8D4"/>
          </a:solidFill>
          <a:ln w="12700">
            <a:solidFill>
              <a:srgbClr val="00C8D4"/>
            </a:solidFill>
            <a:prstDash val="solid"/>
          </a:ln>
        </p:spPr>
        <p:txBody>
          <a:bodyPr/>
          <a:lstStyle/>
          <a:p>
            <a:endParaRPr lang="en-US"/>
          </a:p>
        </p:txBody>
      </p:sp>
      <p:sp>
        <p:nvSpPr>
          <p:cNvPr id="13" name="Text 10"/>
          <p:cNvSpPr/>
          <p:nvPr/>
        </p:nvSpPr>
        <p:spPr>
          <a:xfrm>
            <a:off x="804672" y="2167128"/>
            <a:ext cx="3657600" cy="228600"/>
          </a:xfrm>
          <a:prstGeom prst="rect">
            <a:avLst/>
          </a:prstGeom>
          <a:noFill/>
          <a:ln/>
        </p:spPr>
        <p:txBody>
          <a:bodyPr wrap="square" lIns="0" tIns="0" rIns="0" bIns="0" rtlCol="0" anchor="t"/>
          <a:lstStyle/>
          <a:p>
            <a:pPr marL="0" indent="0" algn="l">
              <a:buNone/>
            </a:pPr>
            <a:r>
              <a:rPr lang="en-US" sz="1250" b="1" dirty="0">
                <a:solidFill>
                  <a:srgbClr val="FFFFFF"/>
                </a:solidFill>
                <a:latin typeface="Liberation Sans" pitchFamily="34" charset="0"/>
                <a:ea typeface="Liberation Sans" pitchFamily="34" charset="-122"/>
                <a:cs typeface="Liberation Sans" pitchFamily="34" charset="-120"/>
              </a:rPr>
              <a:t>Share working hours</a:t>
            </a:r>
            <a:endParaRPr lang="en-US" sz="1250" dirty="0"/>
          </a:p>
        </p:txBody>
      </p:sp>
      <p:sp>
        <p:nvSpPr>
          <p:cNvPr id="14" name="Text 11"/>
          <p:cNvSpPr/>
          <p:nvPr/>
        </p:nvSpPr>
        <p:spPr>
          <a:xfrm>
            <a:off x="804672" y="2450592"/>
            <a:ext cx="3694176" cy="41148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List time zones, overlap windows, and the best time to ask questions.</a:t>
            </a:r>
            <a:endParaRPr lang="en-US" sz="1050" dirty="0"/>
          </a:p>
        </p:txBody>
      </p:sp>
      <p:sp>
        <p:nvSpPr>
          <p:cNvPr id="15" name="Shape 12"/>
          <p:cNvSpPr/>
          <p:nvPr/>
        </p:nvSpPr>
        <p:spPr>
          <a:xfrm>
            <a:off x="804672" y="2990088"/>
            <a:ext cx="3712464" cy="0"/>
          </a:xfrm>
          <a:prstGeom prst="line">
            <a:avLst/>
          </a:prstGeom>
          <a:noFill/>
          <a:ln w="12700">
            <a:solidFill>
              <a:srgbClr val="1A3A52"/>
            </a:solidFill>
            <a:prstDash val="solid"/>
          </a:ln>
        </p:spPr>
        <p:txBody>
          <a:bodyPr/>
          <a:lstStyle/>
          <a:p>
            <a:endParaRPr lang="en-US"/>
          </a:p>
        </p:txBody>
      </p:sp>
      <p:sp>
        <p:nvSpPr>
          <p:cNvPr id="16" name="Shape 13"/>
          <p:cNvSpPr/>
          <p:nvPr/>
        </p:nvSpPr>
        <p:spPr>
          <a:xfrm>
            <a:off x="320040" y="3227832"/>
            <a:ext cx="347472" cy="347472"/>
          </a:xfrm>
          <a:prstGeom prst="ellipse">
            <a:avLst/>
          </a:prstGeom>
          <a:solidFill>
            <a:srgbClr val="00C8D4"/>
          </a:solidFill>
          <a:ln w="12700">
            <a:solidFill>
              <a:srgbClr val="00C8D4"/>
            </a:solidFill>
            <a:prstDash val="solid"/>
          </a:ln>
        </p:spPr>
        <p:txBody>
          <a:bodyPr/>
          <a:lstStyle/>
          <a:p>
            <a:endParaRPr lang="en-US"/>
          </a:p>
        </p:txBody>
      </p:sp>
      <p:sp>
        <p:nvSpPr>
          <p:cNvPr id="17" name="Text 14"/>
          <p:cNvSpPr/>
          <p:nvPr/>
        </p:nvSpPr>
        <p:spPr>
          <a:xfrm>
            <a:off x="804672" y="3227832"/>
            <a:ext cx="3657600" cy="228600"/>
          </a:xfrm>
          <a:prstGeom prst="rect">
            <a:avLst/>
          </a:prstGeom>
          <a:noFill/>
          <a:ln/>
        </p:spPr>
        <p:txBody>
          <a:bodyPr wrap="square" lIns="0" tIns="0" rIns="0" bIns="0" rtlCol="0" anchor="t"/>
          <a:lstStyle/>
          <a:p>
            <a:pPr marL="0" indent="0" algn="l">
              <a:buNone/>
            </a:pPr>
            <a:r>
              <a:rPr lang="en-US" sz="1250" b="1" dirty="0">
                <a:solidFill>
                  <a:srgbClr val="FFFFFF"/>
                </a:solidFill>
                <a:latin typeface="Liberation Sans" pitchFamily="34" charset="0"/>
                <a:ea typeface="Liberation Sans" pitchFamily="34" charset="-122"/>
                <a:cs typeface="Liberation Sans" pitchFamily="34" charset="-120"/>
              </a:rPr>
              <a:t>Use one source of truth</a:t>
            </a:r>
            <a:endParaRPr lang="en-US" sz="1250" dirty="0"/>
          </a:p>
        </p:txBody>
      </p:sp>
      <p:sp>
        <p:nvSpPr>
          <p:cNvPr id="18" name="Text 15"/>
          <p:cNvSpPr/>
          <p:nvPr/>
        </p:nvSpPr>
        <p:spPr>
          <a:xfrm>
            <a:off x="804672" y="3511296"/>
            <a:ext cx="3694176" cy="41148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Keep current files in the connected workspace, not personal folders.</a:t>
            </a:r>
            <a:endParaRPr lang="en-US" sz="1050" dirty="0"/>
          </a:p>
        </p:txBody>
      </p:sp>
      <p:sp>
        <p:nvSpPr>
          <p:cNvPr id="19" name="Shape 16"/>
          <p:cNvSpPr/>
          <p:nvPr/>
        </p:nvSpPr>
        <p:spPr>
          <a:xfrm>
            <a:off x="4764024" y="1106424"/>
            <a:ext cx="347472" cy="347472"/>
          </a:xfrm>
          <a:prstGeom prst="ellipse">
            <a:avLst/>
          </a:prstGeom>
          <a:solidFill>
            <a:srgbClr val="FF9830"/>
          </a:solidFill>
          <a:ln w="12700">
            <a:solidFill>
              <a:srgbClr val="FF9830"/>
            </a:solidFill>
            <a:prstDash val="solid"/>
          </a:ln>
        </p:spPr>
        <p:txBody>
          <a:bodyPr/>
          <a:lstStyle/>
          <a:p>
            <a:endParaRPr lang="en-US"/>
          </a:p>
        </p:txBody>
      </p:sp>
      <p:sp>
        <p:nvSpPr>
          <p:cNvPr id="20" name="Text 17"/>
          <p:cNvSpPr/>
          <p:nvPr/>
        </p:nvSpPr>
        <p:spPr>
          <a:xfrm>
            <a:off x="5248656" y="1106424"/>
            <a:ext cx="3657600" cy="228600"/>
          </a:xfrm>
          <a:prstGeom prst="rect">
            <a:avLst/>
          </a:prstGeom>
          <a:noFill/>
          <a:ln/>
        </p:spPr>
        <p:txBody>
          <a:bodyPr wrap="square" lIns="0" tIns="0" rIns="0" bIns="0" rtlCol="0" anchor="t"/>
          <a:lstStyle/>
          <a:p>
            <a:pPr marL="0" indent="0" algn="l">
              <a:buNone/>
            </a:pPr>
            <a:r>
              <a:rPr lang="en-US" sz="1250" b="1" dirty="0">
                <a:solidFill>
                  <a:srgbClr val="FFFFFF"/>
                </a:solidFill>
                <a:latin typeface="Liberation Sans" pitchFamily="34" charset="0"/>
                <a:ea typeface="Liberation Sans" pitchFamily="34" charset="-122"/>
                <a:cs typeface="Liberation Sans" pitchFamily="34" charset="-120"/>
              </a:rPr>
              <a:t>Write the handoff</a:t>
            </a:r>
            <a:endParaRPr lang="en-US" sz="1250" dirty="0"/>
          </a:p>
        </p:txBody>
      </p:sp>
      <p:sp>
        <p:nvSpPr>
          <p:cNvPr id="21" name="Text 18"/>
          <p:cNvSpPr/>
          <p:nvPr/>
        </p:nvSpPr>
        <p:spPr>
          <a:xfrm>
            <a:off x="5248656" y="1389888"/>
            <a:ext cx="3694176" cy="41148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Leave the next person a clear status, file, result, and next step.</a:t>
            </a:r>
            <a:endParaRPr lang="en-US" sz="1050" dirty="0"/>
          </a:p>
        </p:txBody>
      </p:sp>
      <p:sp>
        <p:nvSpPr>
          <p:cNvPr id="22" name="Shape 19"/>
          <p:cNvSpPr/>
          <p:nvPr/>
        </p:nvSpPr>
        <p:spPr>
          <a:xfrm>
            <a:off x="5248656" y="1929384"/>
            <a:ext cx="3712464" cy="0"/>
          </a:xfrm>
          <a:prstGeom prst="line">
            <a:avLst/>
          </a:prstGeom>
          <a:noFill/>
          <a:ln w="12700">
            <a:solidFill>
              <a:srgbClr val="1A3A52"/>
            </a:solidFill>
            <a:prstDash val="solid"/>
          </a:ln>
        </p:spPr>
        <p:txBody>
          <a:bodyPr/>
          <a:lstStyle/>
          <a:p>
            <a:endParaRPr lang="en-US"/>
          </a:p>
        </p:txBody>
      </p:sp>
      <p:sp>
        <p:nvSpPr>
          <p:cNvPr id="23" name="Shape 20"/>
          <p:cNvSpPr/>
          <p:nvPr/>
        </p:nvSpPr>
        <p:spPr>
          <a:xfrm>
            <a:off x="4764024" y="2167128"/>
            <a:ext cx="347472" cy="347472"/>
          </a:xfrm>
          <a:prstGeom prst="ellipse">
            <a:avLst/>
          </a:prstGeom>
          <a:solidFill>
            <a:srgbClr val="FF9830"/>
          </a:solidFill>
          <a:ln w="12700">
            <a:solidFill>
              <a:srgbClr val="FF9830"/>
            </a:solidFill>
            <a:prstDash val="solid"/>
          </a:ln>
        </p:spPr>
        <p:txBody>
          <a:bodyPr/>
          <a:lstStyle/>
          <a:p>
            <a:endParaRPr lang="en-US"/>
          </a:p>
        </p:txBody>
      </p:sp>
      <p:sp>
        <p:nvSpPr>
          <p:cNvPr id="24" name="Text 21"/>
          <p:cNvSpPr/>
          <p:nvPr/>
        </p:nvSpPr>
        <p:spPr>
          <a:xfrm>
            <a:off x="5248656" y="2167128"/>
            <a:ext cx="3657600" cy="228600"/>
          </a:xfrm>
          <a:prstGeom prst="rect">
            <a:avLst/>
          </a:prstGeom>
          <a:noFill/>
          <a:ln/>
        </p:spPr>
        <p:txBody>
          <a:bodyPr wrap="square" lIns="0" tIns="0" rIns="0" bIns="0" rtlCol="0" anchor="t"/>
          <a:lstStyle/>
          <a:p>
            <a:pPr marL="0" indent="0" algn="l">
              <a:buNone/>
            </a:pPr>
            <a:r>
              <a:rPr lang="en-US" sz="1250" b="1" dirty="0">
                <a:solidFill>
                  <a:srgbClr val="FFFFFF"/>
                </a:solidFill>
                <a:latin typeface="Liberation Sans" pitchFamily="34" charset="0"/>
                <a:ea typeface="Liberation Sans" pitchFamily="34" charset="-122"/>
                <a:cs typeface="Liberation Sans" pitchFamily="34" charset="-120"/>
              </a:rPr>
              <a:t>Record decisions</a:t>
            </a:r>
            <a:endParaRPr lang="en-US" sz="1250" dirty="0"/>
          </a:p>
        </p:txBody>
      </p:sp>
      <p:sp>
        <p:nvSpPr>
          <p:cNvPr id="25" name="Text 22"/>
          <p:cNvSpPr/>
          <p:nvPr/>
        </p:nvSpPr>
        <p:spPr>
          <a:xfrm>
            <a:off x="5248656" y="2450592"/>
            <a:ext cx="3694176" cy="41148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Use the team channel and DECISIONS.md instead of relying on chat memory.</a:t>
            </a:r>
            <a:endParaRPr lang="en-US" sz="1050" dirty="0"/>
          </a:p>
        </p:txBody>
      </p:sp>
      <p:sp>
        <p:nvSpPr>
          <p:cNvPr id="26" name="Shape 23"/>
          <p:cNvSpPr/>
          <p:nvPr/>
        </p:nvSpPr>
        <p:spPr>
          <a:xfrm>
            <a:off x="5248656" y="2990088"/>
            <a:ext cx="3712464" cy="0"/>
          </a:xfrm>
          <a:prstGeom prst="line">
            <a:avLst/>
          </a:prstGeom>
          <a:noFill/>
          <a:ln w="12700">
            <a:solidFill>
              <a:srgbClr val="1A3A52"/>
            </a:solidFill>
            <a:prstDash val="solid"/>
          </a:ln>
        </p:spPr>
        <p:txBody>
          <a:bodyPr/>
          <a:lstStyle/>
          <a:p>
            <a:endParaRPr lang="en-US"/>
          </a:p>
        </p:txBody>
      </p:sp>
      <p:sp>
        <p:nvSpPr>
          <p:cNvPr id="27" name="Shape 24"/>
          <p:cNvSpPr/>
          <p:nvPr/>
        </p:nvSpPr>
        <p:spPr>
          <a:xfrm>
            <a:off x="4764024" y="3227832"/>
            <a:ext cx="347472" cy="347472"/>
          </a:xfrm>
          <a:prstGeom prst="ellipse">
            <a:avLst/>
          </a:prstGeom>
          <a:solidFill>
            <a:srgbClr val="FF9830"/>
          </a:solidFill>
          <a:ln w="12700">
            <a:solidFill>
              <a:srgbClr val="FF9830"/>
            </a:solidFill>
            <a:prstDash val="solid"/>
          </a:ln>
        </p:spPr>
        <p:txBody>
          <a:bodyPr/>
          <a:lstStyle/>
          <a:p>
            <a:endParaRPr lang="en-US"/>
          </a:p>
        </p:txBody>
      </p:sp>
      <p:sp>
        <p:nvSpPr>
          <p:cNvPr id="28" name="Text 25"/>
          <p:cNvSpPr/>
          <p:nvPr/>
        </p:nvSpPr>
        <p:spPr>
          <a:xfrm>
            <a:off x="5248656" y="3227832"/>
            <a:ext cx="3657600" cy="228600"/>
          </a:xfrm>
          <a:prstGeom prst="rect">
            <a:avLst/>
          </a:prstGeom>
          <a:noFill/>
          <a:ln/>
        </p:spPr>
        <p:txBody>
          <a:bodyPr wrap="square" lIns="0" tIns="0" rIns="0" bIns="0" rtlCol="0" anchor="t"/>
          <a:lstStyle/>
          <a:p>
            <a:pPr marL="0" indent="0" algn="l">
              <a:buNone/>
            </a:pPr>
            <a:r>
              <a:rPr lang="en-US" sz="1250" b="1" dirty="0">
                <a:solidFill>
                  <a:srgbClr val="FFFFFF"/>
                </a:solidFill>
                <a:latin typeface="Liberation Sans" pitchFamily="34" charset="0"/>
                <a:ea typeface="Liberation Sans" pitchFamily="34" charset="-122"/>
                <a:cs typeface="Liberation Sans" pitchFamily="34" charset="-120"/>
              </a:rPr>
              <a:t>Test as you go</a:t>
            </a:r>
            <a:endParaRPr lang="en-US" sz="1250" dirty="0"/>
          </a:p>
        </p:txBody>
      </p:sp>
      <p:sp>
        <p:nvSpPr>
          <p:cNvPr id="29" name="Text 26"/>
          <p:cNvSpPr/>
          <p:nvPr/>
        </p:nvSpPr>
        <p:spPr>
          <a:xfrm>
            <a:off x="5248656" y="3511296"/>
            <a:ext cx="3694176" cy="411480"/>
          </a:xfrm>
          <a:prstGeom prst="rect">
            <a:avLst/>
          </a:prstGeom>
          <a:noFill/>
          <a:ln/>
        </p:spPr>
        <p:txBody>
          <a:bodyPr wrap="square" lIns="0" tIns="0" rIns="0" bIns="0" rtlCol="0" anchor="t"/>
          <a:lstStyle/>
          <a:p>
            <a:pPr marL="0" indent="0" algn="l">
              <a:buNone/>
            </a:pPr>
            <a:r>
              <a:rPr lang="en-US" sz="1050" dirty="0">
                <a:solidFill>
                  <a:srgbClr val="7B9BB8"/>
                </a:solidFill>
                <a:latin typeface="Liberation Sans" pitchFamily="34" charset="0"/>
                <a:ea typeface="Liberation Sans" pitchFamily="34" charset="-122"/>
                <a:cs typeface="Liberation Sans" pitchFamily="34" charset="-120"/>
              </a:rPr>
              <a:t>Capture evidence early so the final package is easier to review.</a:t>
            </a:r>
            <a:endParaRPr lang="en-US" sz="1050" dirty="0"/>
          </a:p>
        </p:txBody>
      </p:sp>
      <p:pic>
        <p:nvPicPr>
          <p:cNvPr id="31" name="Image 1" descr="preencoded.png"/>
          <p:cNvPicPr>
            <a:picLocks noChangeAspect="1"/>
          </p:cNvPicPr>
          <p:nvPr/>
        </p:nvPicPr>
        <p:blipFill>
          <a:blip r:embed="rId4"/>
          <a:stretch>
            <a:fillRect/>
          </a:stretch>
        </p:blipFill>
        <p:spPr>
          <a:xfrm>
            <a:off x="393009" y="1179393"/>
            <a:ext cx="201534" cy="201534"/>
          </a:xfrm>
          <a:prstGeom prst="rect">
            <a:avLst/>
          </a:prstGeom>
        </p:spPr>
      </p:pic>
      <p:pic>
        <p:nvPicPr>
          <p:cNvPr id="32" name="Image 2" descr="preencoded.png"/>
          <p:cNvPicPr>
            <a:picLocks noChangeAspect="1"/>
          </p:cNvPicPr>
          <p:nvPr/>
        </p:nvPicPr>
        <p:blipFill>
          <a:blip r:embed="rId5"/>
          <a:stretch>
            <a:fillRect/>
          </a:stretch>
        </p:blipFill>
        <p:spPr>
          <a:xfrm>
            <a:off x="393009" y="2240097"/>
            <a:ext cx="201534" cy="201534"/>
          </a:xfrm>
          <a:prstGeom prst="rect">
            <a:avLst/>
          </a:prstGeom>
        </p:spPr>
      </p:pic>
      <p:pic>
        <p:nvPicPr>
          <p:cNvPr id="33" name="Image 3" descr="preencoded.png"/>
          <p:cNvPicPr>
            <a:picLocks noChangeAspect="1"/>
          </p:cNvPicPr>
          <p:nvPr/>
        </p:nvPicPr>
        <p:blipFill>
          <a:blip r:embed="rId6"/>
          <a:stretch>
            <a:fillRect/>
          </a:stretch>
        </p:blipFill>
        <p:spPr>
          <a:xfrm>
            <a:off x="4836993" y="1179393"/>
            <a:ext cx="201534" cy="201534"/>
          </a:xfrm>
          <a:prstGeom prst="rect">
            <a:avLst/>
          </a:prstGeom>
        </p:spPr>
      </p:pic>
      <p:pic>
        <p:nvPicPr>
          <p:cNvPr id="34" name="Image 4" descr="preencoded.png"/>
          <p:cNvPicPr>
            <a:picLocks noChangeAspect="1"/>
          </p:cNvPicPr>
          <p:nvPr/>
        </p:nvPicPr>
        <p:blipFill>
          <a:blip r:embed="rId7"/>
          <a:stretch>
            <a:fillRect/>
          </a:stretch>
        </p:blipFill>
        <p:spPr>
          <a:xfrm>
            <a:off x="393009" y="3300801"/>
            <a:ext cx="201534" cy="201534"/>
          </a:xfrm>
          <a:prstGeom prst="rect">
            <a:avLst/>
          </a:prstGeom>
        </p:spPr>
      </p:pic>
      <p:pic>
        <p:nvPicPr>
          <p:cNvPr id="35" name="Image 5" descr="preencoded.png"/>
          <p:cNvPicPr>
            <a:picLocks noChangeAspect="1"/>
          </p:cNvPicPr>
          <p:nvPr/>
        </p:nvPicPr>
        <p:blipFill>
          <a:blip r:embed="rId8"/>
          <a:stretch>
            <a:fillRect/>
          </a:stretch>
        </p:blipFill>
        <p:spPr>
          <a:xfrm>
            <a:off x="4836993" y="2240097"/>
            <a:ext cx="201534" cy="201534"/>
          </a:xfrm>
          <a:prstGeom prst="rect">
            <a:avLst/>
          </a:prstGeom>
        </p:spPr>
      </p:pic>
      <p:pic>
        <p:nvPicPr>
          <p:cNvPr id="36" name="Image 6" descr="preencoded.png"/>
          <p:cNvPicPr>
            <a:picLocks noChangeAspect="1"/>
          </p:cNvPicPr>
          <p:nvPr/>
        </p:nvPicPr>
        <p:blipFill>
          <a:blip r:embed="rId9"/>
          <a:stretch>
            <a:fillRect/>
          </a:stretch>
        </p:blipFill>
        <p:spPr>
          <a:xfrm>
            <a:off x="4836993" y="3300801"/>
            <a:ext cx="201534" cy="20153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A GOOD HANDOFF ANSWERS FIVE QUESTIONS</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Make the next step obvious.</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585216" y="1225296"/>
            <a:ext cx="512064" cy="512064"/>
          </a:xfrm>
          <a:prstGeom prst="ellipse">
            <a:avLst/>
          </a:prstGeom>
          <a:solidFill>
            <a:srgbClr val="00C8D4"/>
          </a:solidFill>
          <a:ln w="12700">
            <a:solidFill>
              <a:srgbClr val="00C8D4"/>
            </a:solidFill>
            <a:prstDash val="solid"/>
          </a:ln>
        </p:spPr>
        <p:txBody>
          <a:bodyPr/>
          <a:lstStyle/>
          <a:p>
            <a:endParaRPr lang="en-US"/>
          </a:p>
        </p:txBody>
      </p:sp>
      <p:sp>
        <p:nvSpPr>
          <p:cNvPr id="9" name="Text 6"/>
          <p:cNvSpPr/>
          <p:nvPr/>
        </p:nvSpPr>
        <p:spPr>
          <a:xfrm>
            <a:off x="585216" y="1225296"/>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1</a:t>
            </a:r>
            <a:endParaRPr lang="en-US" sz="1300" dirty="0"/>
          </a:p>
        </p:txBody>
      </p:sp>
      <p:sp>
        <p:nvSpPr>
          <p:cNvPr id="10" name="Text 7"/>
          <p:cNvSpPr/>
          <p:nvPr/>
        </p:nvSpPr>
        <p:spPr>
          <a:xfrm>
            <a:off x="1371600" y="1307592"/>
            <a:ext cx="713232" cy="320040"/>
          </a:xfrm>
          <a:prstGeom prst="rect">
            <a:avLst/>
          </a:prstGeom>
          <a:noFill/>
          <a:ln/>
        </p:spPr>
        <p:txBody>
          <a:bodyPr wrap="square" lIns="0" tIns="0" rIns="0" bIns="0" rtlCol="0" anchor="ctr"/>
          <a:lstStyle/>
          <a:p>
            <a:pPr marL="0" indent="0" algn="ctr">
              <a:buNone/>
            </a:pPr>
            <a:r>
              <a:rPr lang="en-US" sz="2200" b="1" dirty="0">
                <a:solidFill>
                  <a:srgbClr val="7B9BB8"/>
                </a:solidFill>
                <a:latin typeface="Liberation Sans" pitchFamily="34" charset="0"/>
                <a:ea typeface="Liberation Sans" pitchFamily="34" charset="-122"/>
                <a:cs typeface="Liberation Sans" pitchFamily="34" charset="-120"/>
              </a:rPr>
              <a:t>→</a:t>
            </a:r>
            <a:endParaRPr lang="en-US" sz="2200" dirty="0"/>
          </a:p>
        </p:txBody>
      </p:sp>
      <p:sp>
        <p:nvSpPr>
          <p:cNvPr id="11" name="Text 8"/>
          <p:cNvSpPr/>
          <p:nvPr/>
        </p:nvSpPr>
        <p:spPr>
          <a:xfrm>
            <a:off x="384048" y="1938528"/>
            <a:ext cx="1371600" cy="384048"/>
          </a:xfrm>
          <a:prstGeom prst="rect">
            <a:avLst/>
          </a:prstGeom>
          <a:noFill/>
          <a:ln/>
        </p:spPr>
        <p:txBody>
          <a:bodyPr wrap="square" lIns="0" tIns="0" rIns="0" bIns="0" rtlCol="0" anchor="t"/>
          <a:lstStyle/>
          <a:p>
            <a:pPr marL="0" indent="0" algn="ctr">
              <a:buNone/>
            </a:pPr>
            <a:r>
              <a:rPr lang="en-US" sz="1120" b="1" dirty="0">
                <a:solidFill>
                  <a:srgbClr val="FFFFFF"/>
                </a:solidFill>
                <a:latin typeface="Liberation Sans" pitchFamily="34" charset="0"/>
                <a:ea typeface="Liberation Sans" pitchFamily="34" charset="-122"/>
                <a:cs typeface="Liberation Sans" pitchFamily="34" charset="-120"/>
              </a:rPr>
              <a:t>What is complete?</a:t>
            </a:r>
            <a:endParaRPr lang="en-US" sz="1120" dirty="0"/>
          </a:p>
        </p:txBody>
      </p:sp>
      <p:sp>
        <p:nvSpPr>
          <p:cNvPr id="12" name="Text 9"/>
          <p:cNvSpPr/>
          <p:nvPr/>
        </p:nvSpPr>
        <p:spPr>
          <a:xfrm>
            <a:off x="411480" y="2432304"/>
            <a:ext cx="1316736" cy="530352"/>
          </a:xfrm>
          <a:prstGeom prst="rect">
            <a:avLst/>
          </a:prstGeom>
          <a:noFill/>
          <a:ln/>
        </p:spPr>
        <p:txBody>
          <a:bodyPr wrap="square" lIns="0" tIns="0" rIns="0" bIns="0" rtlCol="0" anchor="t"/>
          <a:lstStyle/>
          <a:p>
            <a:pPr marL="0" indent="0" algn="ctr">
              <a:buNone/>
            </a:pPr>
            <a:r>
              <a:rPr lang="en-US" sz="960" dirty="0">
                <a:solidFill>
                  <a:srgbClr val="7B9BB8"/>
                </a:solidFill>
                <a:latin typeface="Liberation Sans" pitchFamily="34" charset="0"/>
                <a:ea typeface="Liberation Sans" pitchFamily="34" charset="-122"/>
                <a:cs typeface="Liberation Sans" pitchFamily="34" charset="-120"/>
              </a:rPr>
              <a:t>State the work that is finished.</a:t>
            </a:r>
            <a:endParaRPr lang="en-US" sz="960" dirty="0"/>
          </a:p>
        </p:txBody>
      </p:sp>
      <p:sp>
        <p:nvSpPr>
          <p:cNvPr id="13" name="Shape 10"/>
          <p:cNvSpPr/>
          <p:nvPr/>
        </p:nvSpPr>
        <p:spPr>
          <a:xfrm>
            <a:off x="2304288" y="1225296"/>
            <a:ext cx="512064" cy="512064"/>
          </a:xfrm>
          <a:prstGeom prst="ellipse">
            <a:avLst/>
          </a:prstGeom>
          <a:solidFill>
            <a:srgbClr val="00C8D4"/>
          </a:solidFill>
          <a:ln w="12700">
            <a:solidFill>
              <a:srgbClr val="00C8D4"/>
            </a:solidFill>
            <a:prstDash val="solid"/>
          </a:ln>
        </p:spPr>
        <p:txBody>
          <a:bodyPr/>
          <a:lstStyle/>
          <a:p>
            <a:endParaRPr lang="en-US"/>
          </a:p>
        </p:txBody>
      </p:sp>
      <p:sp>
        <p:nvSpPr>
          <p:cNvPr id="14" name="Text 11"/>
          <p:cNvSpPr/>
          <p:nvPr/>
        </p:nvSpPr>
        <p:spPr>
          <a:xfrm>
            <a:off x="2304288" y="1225296"/>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2</a:t>
            </a:r>
            <a:endParaRPr lang="en-US" sz="1300" dirty="0"/>
          </a:p>
        </p:txBody>
      </p:sp>
      <p:sp>
        <p:nvSpPr>
          <p:cNvPr id="15" name="Text 12"/>
          <p:cNvSpPr/>
          <p:nvPr/>
        </p:nvSpPr>
        <p:spPr>
          <a:xfrm>
            <a:off x="3090672" y="1307592"/>
            <a:ext cx="713232" cy="320040"/>
          </a:xfrm>
          <a:prstGeom prst="rect">
            <a:avLst/>
          </a:prstGeom>
          <a:noFill/>
          <a:ln/>
        </p:spPr>
        <p:txBody>
          <a:bodyPr wrap="square" lIns="0" tIns="0" rIns="0" bIns="0" rtlCol="0" anchor="ctr"/>
          <a:lstStyle/>
          <a:p>
            <a:pPr marL="0" indent="0" algn="ctr">
              <a:buNone/>
            </a:pPr>
            <a:r>
              <a:rPr lang="en-US" sz="2200" b="1" dirty="0">
                <a:solidFill>
                  <a:srgbClr val="7B9BB8"/>
                </a:solidFill>
                <a:latin typeface="Liberation Sans" pitchFamily="34" charset="0"/>
                <a:ea typeface="Liberation Sans" pitchFamily="34" charset="-122"/>
                <a:cs typeface="Liberation Sans" pitchFamily="34" charset="-120"/>
              </a:rPr>
              <a:t>→</a:t>
            </a:r>
            <a:endParaRPr lang="en-US" sz="2200" dirty="0"/>
          </a:p>
        </p:txBody>
      </p:sp>
      <p:sp>
        <p:nvSpPr>
          <p:cNvPr id="16" name="Text 13"/>
          <p:cNvSpPr/>
          <p:nvPr/>
        </p:nvSpPr>
        <p:spPr>
          <a:xfrm>
            <a:off x="2103120" y="1938528"/>
            <a:ext cx="1371600" cy="384048"/>
          </a:xfrm>
          <a:prstGeom prst="rect">
            <a:avLst/>
          </a:prstGeom>
          <a:noFill/>
          <a:ln/>
        </p:spPr>
        <p:txBody>
          <a:bodyPr wrap="square" lIns="0" tIns="0" rIns="0" bIns="0" rtlCol="0" anchor="t"/>
          <a:lstStyle/>
          <a:p>
            <a:pPr marL="0" indent="0" algn="ctr">
              <a:buNone/>
            </a:pPr>
            <a:r>
              <a:rPr lang="en-US" sz="1120" b="1" dirty="0">
                <a:solidFill>
                  <a:srgbClr val="FFFFFF"/>
                </a:solidFill>
                <a:latin typeface="Liberation Sans" pitchFamily="34" charset="0"/>
                <a:ea typeface="Liberation Sans" pitchFamily="34" charset="-122"/>
                <a:cs typeface="Liberation Sans" pitchFamily="34" charset="-120"/>
              </a:rPr>
              <a:t>Where is it?</a:t>
            </a:r>
            <a:endParaRPr lang="en-US" sz="1120" dirty="0"/>
          </a:p>
        </p:txBody>
      </p:sp>
      <p:sp>
        <p:nvSpPr>
          <p:cNvPr id="17" name="Text 14"/>
          <p:cNvSpPr/>
          <p:nvPr/>
        </p:nvSpPr>
        <p:spPr>
          <a:xfrm>
            <a:off x="2130552" y="2432304"/>
            <a:ext cx="1316736" cy="530352"/>
          </a:xfrm>
          <a:prstGeom prst="rect">
            <a:avLst/>
          </a:prstGeom>
          <a:noFill/>
          <a:ln/>
        </p:spPr>
        <p:txBody>
          <a:bodyPr wrap="square" lIns="0" tIns="0" rIns="0" bIns="0" rtlCol="0" anchor="t"/>
          <a:lstStyle/>
          <a:p>
            <a:pPr marL="0" indent="0" algn="ctr">
              <a:buNone/>
            </a:pPr>
            <a:r>
              <a:rPr lang="en-US" sz="960" dirty="0">
                <a:solidFill>
                  <a:srgbClr val="7B9BB8"/>
                </a:solidFill>
                <a:latin typeface="Liberation Sans" pitchFamily="34" charset="0"/>
                <a:ea typeface="Liberation Sans" pitchFamily="34" charset="-122"/>
                <a:cs typeface="Liberation Sans" pitchFamily="34" charset="-120"/>
              </a:rPr>
              <a:t>Link the current file and version.</a:t>
            </a:r>
            <a:endParaRPr lang="en-US" sz="960" dirty="0"/>
          </a:p>
        </p:txBody>
      </p:sp>
      <p:sp>
        <p:nvSpPr>
          <p:cNvPr id="18" name="Shape 15"/>
          <p:cNvSpPr/>
          <p:nvPr/>
        </p:nvSpPr>
        <p:spPr>
          <a:xfrm>
            <a:off x="4023360" y="1225296"/>
            <a:ext cx="512064" cy="512064"/>
          </a:xfrm>
          <a:prstGeom prst="ellipse">
            <a:avLst/>
          </a:prstGeom>
          <a:solidFill>
            <a:srgbClr val="FF9830"/>
          </a:solidFill>
          <a:ln w="12700">
            <a:solidFill>
              <a:srgbClr val="FF9830"/>
            </a:solidFill>
            <a:prstDash val="solid"/>
          </a:ln>
        </p:spPr>
        <p:txBody>
          <a:bodyPr/>
          <a:lstStyle/>
          <a:p>
            <a:endParaRPr lang="en-US"/>
          </a:p>
        </p:txBody>
      </p:sp>
      <p:sp>
        <p:nvSpPr>
          <p:cNvPr id="19" name="Text 16"/>
          <p:cNvSpPr/>
          <p:nvPr/>
        </p:nvSpPr>
        <p:spPr>
          <a:xfrm>
            <a:off x="4023360" y="1225296"/>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3</a:t>
            </a:r>
            <a:endParaRPr lang="en-US" sz="1300" dirty="0"/>
          </a:p>
        </p:txBody>
      </p:sp>
      <p:sp>
        <p:nvSpPr>
          <p:cNvPr id="20" name="Text 17"/>
          <p:cNvSpPr/>
          <p:nvPr/>
        </p:nvSpPr>
        <p:spPr>
          <a:xfrm>
            <a:off x="4809744" y="1307592"/>
            <a:ext cx="713232" cy="320040"/>
          </a:xfrm>
          <a:prstGeom prst="rect">
            <a:avLst/>
          </a:prstGeom>
          <a:noFill/>
          <a:ln/>
        </p:spPr>
        <p:txBody>
          <a:bodyPr wrap="square" lIns="0" tIns="0" rIns="0" bIns="0" rtlCol="0" anchor="ctr"/>
          <a:lstStyle/>
          <a:p>
            <a:pPr marL="0" indent="0" algn="ctr">
              <a:buNone/>
            </a:pPr>
            <a:r>
              <a:rPr lang="en-US" sz="2200" b="1" dirty="0">
                <a:solidFill>
                  <a:srgbClr val="7B9BB8"/>
                </a:solidFill>
                <a:latin typeface="Liberation Sans" pitchFamily="34" charset="0"/>
                <a:ea typeface="Liberation Sans" pitchFamily="34" charset="-122"/>
                <a:cs typeface="Liberation Sans" pitchFamily="34" charset="-120"/>
              </a:rPr>
              <a:t>→</a:t>
            </a:r>
            <a:endParaRPr lang="en-US" sz="2200" dirty="0"/>
          </a:p>
        </p:txBody>
      </p:sp>
      <p:sp>
        <p:nvSpPr>
          <p:cNvPr id="21" name="Text 18"/>
          <p:cNvSpPr/>
          <p:nvPr/>
        </p:nvSpPr>
        <p:spPr>
          <a:xfrm>
            <a:off x="3822192" y="1938528"/>
            <a:ext cx="1371600" cy="384048"/>
          </a:xfrm>
          <a:prstGeom prst="rect">
            <a:avLst/>
          </a:prstGeom>
          <a:noFill/>
          <a:ln/>
        </p:spPr>
        <p:txBody>
          <a:bodyPr wrap="square" lIns="0" tIns="0" rIns="0" bIns="0" rtlCol="0" anchor="t"/>
          <a:lstStyle/>
          <a:p>
            <a:pPr marL="0" indent="0" algn="ctr">
              <a:buNone/>
            </a:pPr>
            <a:r>
              <a:rPr lang="en-US" sz="1120" b="1" dirty="0">
                <a:solidFill>
                  <a:srgbClr val="FFFFFF"/>
                </a:solidFill>
                <a:latin typeface="Liberation Sans" pitchFamily="34" charset="0"/>
                <a:ea typeface="Liberation Sans" pitchFamily="34" charset="-122"/>
                <a:cs typeface="Liberation Sans" pitchFamily="34" charset="-120"/>
              </a:rPr>
              <a:t>What did we learn?</a:t>
            </a:r>
            <a:endParaRPr lang="en-US" sz="1120" dirty="0"/>
          </a:p>
        </p:txBody>
      </p:sp>
      <p:sp>
        <p:nvSpPr>
          <p:cNvPr id="22" name="Text 19"/>
          <p:cNvSpPr/>
          <p:nvPr/>
        </p:nvSpPr>
        <p:spPr>
          <a:xfrm>
            <a:off x="3849624" y="2432304"/>
            <a:ext cx="1316736" cy="530352"/>
          </a:xfrm>
          <a:prstGeom prst="rect">
            <a:avLst/>
          </a:prstGeom>
          <a:noFill/>
          <a:ln/>
        </p:spPr>
        <p:txBody>
          <a:bodyPr wrap="square" lIns="0" tIns="0" rIns="0" bIns="0" rtlCol="0" anchor="t"/>
          <a:lstStyle/>
          <a:p>
            <a:pPr marL="0" indent="0" algn="ctr">
              <a:buNone/>
            </a:pPr>
            <a:r>
              <a:rPr lang="en-US" sz="960" dirty="0">
                <a:solidFill>
                  <a:srgbClr val="7B9BB8"/>
                </a:solidFill>
                <a:latin typeface="Liberation Sans" pitchFamily="34" charset="0"/>
                <a:ea typeface="Liberation Sans" pitchFamily="34" charset="-122"/>
                <a:cs typeface="Liberation Sans" pitchFamily="34" charset="-120"/>
              </a:rPr>
              <a:t>Capture the result or evidence.</a:t>
            </a:r>
            <a:endParaRPr lang="en-US" sz="960" dirty="0"/>
          </a:p>
        </p:txBody>
      </p:sp>
      <p:sp>
        <p:nvSpPr>
          <p:cNvPr id="23" name="Shape 20"/>
          <p:cNvSpPr/>
          <p:nvPr/>
        </p:nvSpPr>
        <p:spPr>
          <a:xfrm>
            <a:off x="5742432" y="1225296"/>
            <a:ext cx="512064" cy="512064"/>
          </a:xfrm>
          <a:prstGeom prst="ellipse">
            <a:avLst/>
          </a:prstGeom>
          <a:solidFill>
            <a:srgbClr val="FF9830"/>
          </a:solidFill>
          <a:ln w="12700">
            <a:solidFill>
              <a:srgbClr val="FF9830"/>
            </a:solidFill>
            <a:prstDash val="solid"/>
          </a:ln>
        </p:spPr>
        <p:txBody>
          <a:bodyPr/>
          <a:lstStyle/>
          <a:p>
            <a:endParaRPr lang="en-US"/>
          </a:p>
        </p:txBody>
      </p:sp>
      <p:sp>
        <p:nvSpPr>
          <p:cNvPr id="24" name="Text 21"/>
          <p:cNvSpPr/>
          <p:nvPr/>
        </p:nvSpPr>
        <p:spPr>
          <a:xfrm>
            <a:off x="5742432" y="1225296"/>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4</a:t>
            </a:r>
            <a:endParaRPr lang="en-US" sz="1300" dirty="0"/>
          </a:p>
        </p:txBody>
      </p:sp>
      <p:sp>
        <p:nvSpPr>
          <p:cNvPr id="25" name="Text 22"/>
          <p:cNvSpPr/>
          <p:nvPr/>
        </p:nvSpPr>
        <p:spPr>
          <a:xfrm>
            <a:off x="6528816" y="1307592"/>
            <a:ext cx="713232" cy="320040"/>
          </a:xfrm>
          <a:prstGeom prst="rect">
            <a:avLst/>
          </a:prstGeom>
          <a:noFill/>
          <a:ln/>
        </p:spPr>
        <p:txBody>
          <a:bodyPr wrap="square" lIns="0" tIns="0" rIns="0" bIns="0" rtlCol="0" anchor="ctr"/>
          <a:lstStyle/>
          <a:p>
            <a:pPr marL="0" indent="0" algn="ctr">
              <a:buNone/>
            </a:pPr>
            <a:r>
              <a:rPr lang="en-US" sz="2200" b="1" dirty="0">
                <a:solidFill>
                  <a:srgbClr val="7B9BB8"/>
                </a:solidFill>
                <a:latin typeface="Liberation Sans" pitchFamily="34" charset="0"/>
                <a:ea typeface="Liberation Sans" pitchFamily="34" charset="-122"/>
                <a:cs typeface="Liberation Sans" pitchFamily="34" charset="-120"/>
              </a:rPr>
              <a:t>→</a:t>
            </a:r>
            <a:endParaRPr lang="en-US" sz="2200" dirty="0"/>
          </a:p>
        </p:txBody>
      </p:sp>
      <p:sp>
        <p:nvSpPr>
          <p:cNvPr id="26" name="Text 23"/>
          <p:cNvSpPr/>
          <p:nvPr/>
        </p:nvSpPr>
        <p:spPr>
          <a:xfrm>
            <a:off x="5541264" y="1938528"/>
            <a:ext cx="1371600" cy="384048"/>
          </a:xfrm>
          <a:prstGeom prst="rect">
            <a:avLst/>
          </a:prstGeom>
          <a:noFill/>
          <a:ln/>
        </p:spPr>
        <p:txBody>
          <a:bodyPr wrap="square" lIns="0" tIns="0" rIns="0" bIns="0" rtlCol="0" anchor="t"/>
          <a:lstStyle/>
          <a:p>
            <a:pPr marL="0" indent="0" algn="ctr">
              <a:buNone/>
            </a:pPr>
            <a:r>
              <a:rPr lang="en-US" sz="1120" b="1" dirty="0">
                <a:solidFill>
                  <a:srgbClr val="FFFFFF"/>
                </a:solidFill>
                <a:latin typeface="Liberation Sans" pitchFamily="34" charset="0"/>
                <a:ea typeface="Liberation Sans" pitchFamily="34" charset="-122"/>
                <a:cs typeface="Liberation Sans" pitchFamily="34" charset="-120"/>
              </a:rPr>
              <a:t>What is open?</a:t>
            </a:r>
            <a:endParaRPr lang="en-US" sz="1120" dirty="0"/>
          </a:p>
        </p:txBody>
      </p:sp>
      <p:sp>
        <p:nvSpPr>
          <p:cNvPr id="27" name="Text 24"/>
          <p:cNvSpPr/>
          <p:nvPr/>
        </p:nvSpPr>
        <p:spPr>
          <a:xfrm>
            <a:off x="5568696" y="2432304"/>
            <a:ext cx="1316736" cy="530352"/>
          </a:xfrm>
          <a:prstGeom prst="rect">
            <a:avLst/>
          </a:prstGeom>
          <a:noFill/>
          <a:ln/>
        </p:spPr>
        <p:txBody>
          <a:bodyPr wrap="square" lIns="0" tIns="0" rIns="0" bIns="0" rtlCol="0" anchor="t"/>
          <a:lstStyle/>
          <a:p>
            <a:pPr marL="0" indent="0" algn="ctr">
              <a:buNone/>
            </a:pPr>
            <a:r>
              <a:rPr lang="en-US" sz="960" dirty="0">
                <a:solidFill>
                  <a:srgbClr val="7B9BB8"/>
                </a:solidFill>
                <a:latin typeface="Liberation Sans" pitchFamily="34" charset="0"/>
                <a:ea typeface="Liberation Sans" pitchFamily="34" charset="-122"/>
                <a:cs typeface="Liberation Sans" pitchFamily="34" charset="-120"/>
              </a:rPr>
              <a:t>Name questions, risks, or limits.</a:t>
            </a:r>
            <a:endParaRPr lang="en-US" sz="960" dirty="0"/>
          </a:p>
        </p:txBody>
      </p:sp>
      <p:sp>
        <p:nvSpPr>
          <p:cNvPr id="28" name="Shape 25"/>
          <p:cNvSpPr/>
          <p:nvPr/>
        </p:nvSpPr>
        <p:spPr>
          <a:xfrm>
            <a:off x="7461504" y="1225296"/>
            <a:ext cx="512064" cy="512064"/>
          </a:xfrm>
          <a:prstGeom prst="ellipse">
            <a:avLst/>
          </a:prstGeom>
          <a:solidFill>
            <a:srgbClr val="2458A8"/>
          </a:solidFill>
          <a:ln w="12700">
            <a:solidFill>
              <a:srgbClr val="2458A8"/>
            </a:solidFill>
            <a:prstDash val="solid"/>
          </a:ln>
        </p:spPr>
        <p:txBody>
          <a:bodyPr/>
          <a:lstStyle/>
          <a:p>
            <a:endParaRPr lang="en-US"/>
          </a:p>
        </p:txBody>
      </p:sp>
      <p:sp>
        <p:nvSpPr>
          <p:cNvPr id="29" name="Text 26"/>
          <p:cNvSpPr/>
          <p:nvPr/>
        </p:nvSpPr>
        <p:spPr>
          <a:xfrm>
            <a:off x="7461504" y="1225296"/>
            <a:ext cx="512064" cy="512064"/>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5</a:t>
            </a:r>
            <a:endParaRPr lang="en-US" sz="1300" dirty="0"/>
          </a:p>
        </p:txBody>
      </p:sp>
      <p:sp>
        <p:nvSpPr>
          <p:cNvPr id="30" name="Text 27"/>
          <p:cNvSpPr/>
          <p:nvPr/>
        </p:nvSpPr>
        <p:spPr>
          <a:xfrm>
            <a:off x="7260336" y="1938528"/>
            <a:ext cx="1371600" cy="384048"/>
          </a:xfrm>
          <a:prstGeom prst="rect">
            <a:avLst/>
          </a:prstGeom>
          <a:noFill/>
          <a:ln/>
        </p:spPr>
        <p:txBody>
          <a:bodyPr wrap="square" lIns="0" tIns="0" rIns="0" bIns="0" rtlCol="0" anchor="t"/>
          <a:lstStyle/>
          <a:p>
            <a:pPr marL="0" indent="0" algn="ctr">
              <a:buNone/>
            </a:pPr>
            <a:r>
              <a:rPr lang="en-US" sz="1120" b="1" dirty="0">
                <a:solidFill>
                  <a:srgbClr val="FFFFFF"/>
                </a:solidFill>
                <a:latin typeface="Liberation Sans" pitchFamily="34" charset="0"/>
                <a:ea typeface="Liberation Sans" pitchFamily="34" charset="-122"/>
                <a:cs typeface="Liberation Sans" pitchFamily="34" charset="-120"/>
              </a:rPr>
              <a:t>What happens next?</a:t>
            </a:r>
            <a:endParaRPr lang="en-US" sz="1120" dirty="0"/>
          </a:p>
        </p:txBody>
      </p:sp>
      <p:sp>
        <p:nvSpPr>
          <p:cNvPr id="31" name="Text 28"/>
          <p:cNvSpPr/>
          <p:nvPr/>
        </p:nvSpPr>
        <p:spPr>
          <a:xfrm>
            <a:off x="7287768" y="2432304"/>
            <a:ext cx="1316736" cy="530352"/>
          </a:xfrm>
          <a:prstGeom prst="rect">
            <a:avLst/>
          </a:prstGeom>
          <a:noFill/>
          <a:ln/>
        </p:spPr>
        <p:txBody>
          <a:bodyPr wrap="square" lIns="0" tIns="0" rIns="0" bIns="0" rtlCol="0" anchor="t"/>
          <a:lstStyle/>
          <a:p>
            <a:pPr marL="0" indent="0" algn="ctr">
              <a:buNone/>
            </a:pPr>
            <a:r>
              <a:rPr lang="en-US" sz="960" dirty="0">
                <a:solidFill>
                  <a:srgbClr val="7B9BB8"/>
                </a:solidFill>
                <a:latin typeface="Liberation Sans" pitchFamily="34" charset="0"/>
                <a:ea typeface="Liberation Sans" pitchFamily="34" charset="-122"/>
                <a:cs typeface="Liberation Sans" pitchFamily="34" charset="-120"/>
              </a:rPr>
              <a:t>Assign the next owner and timing.</a:t>
            </a:r>
            <a:endParaRPr lang="en-US" sz="960" dirty="0"/>
          </a:p>
        </p:txBody>
      </p:sp>
      <p:sp>
        <p:nvSpPr>
          <p:cNvPr id="32" name="Shape 29"/>
          <p:cNvSpPr/>
          <p:nvPr/>
        </p:nvSpPr>
        <p:spPr>
          <a:xfrm>
            <a:off x="621792" y="3401568"/>
            <a:ext cx="7900416" cy="804672"/>
          </a:xfrm>
          <a:prstGeom prst="rect">
            <a:avLst/>
          </a:prstGeom>
          <a:solidFill>
            <a:srgbClr val="0D1E34"/>
          </a:solidFill>
          <a:ln w="12700">
            <a:solidFill>
              <a:srgbClr val="1A3A52"/>
            </a:solidFill>
            <a:prstDash val="solid"/>
          </a:ln>
        </p:spPr>
        <p:txBody>
          <a:bodyPr/>
          <a:lstStyle/>
          <a:p>
            <a:endParaRPr lang="en-US"/>
          </a:p>
        </p:txBody>
      </p:sp>
      <p:sp>
        <p:nvSpPr>
          <p:cNvPr id="33" name="Text 30"/>
          <p:cNvSpPr/>
          <p:nvPr/>
        </p:nvSpPr>
        <p:spPr>
          <a:xfrm>
            <a:off x="859536" y="3611880"/>
            <a:ext cx="749808" cy="201168"/>
          </a:xfrm>
          <a:prstGeom prst="rect">
            <a:avLst/>
          </a:prstGeom>
          <a:noFill/>
          <a:ln/>
        </p:spPr>
        <p:txBody>
          <a:bodyPr wrap="square" lIns="0" tIns="0" rIns="0" bIns="0" rtlCol="0" anchor="t"/>
          <a:lstStyle/>
          <a:p>
            <a:pPr marL="0" indent="0" algn="l">
              <a:buNone/>
            </a:pPr>
            <a:r>
              <a:rPr lang="en-US" sz="1000" b="1" kern="0" spc="120" dirty="0">
                <a:solidFill>
                  <a:srgbClr val="FF9830"/>
                </a:solidFill>
                <a:latin typeface="Liberation Sans" pitchFamily="34" charset="0"/>
                <a:ea typeface="Liberation Sans" pitchFamily="34" charset="-122"/>
                <a:cs typeface="Liberation Sans" pitchFamily="34" charset="-120"/>
              </a:rPr>
              <a:t>Example</a:t>
            </a:r>
            <a:endParaRPr lang="en-US" sz="1000" dirty="0"/>
          </a:p>
        </p:txBody>
      </p:sp>
      <p:sp>
        <p:nvSpPr>
          <p:cNvPr id="34" name="Text 31"/>
          <p:cNvSpPr/>
          <p:nvPr/>
        </p:nvSpPr>
        <p:spPr>
          <a:xfrm>
            <a:off x="1719072" y="3547872"/>
            <a:ext cx="6428232" cy="365760"/>
          </a:xfrm>
          <a:prstGeom prst="rect">
            <a:avLst/>
          </a:prstGeom>
          <a:noFill/>
          <a:ln/>
        </p:spPr>
        <p:txBody>
          <a:bodyPr wrap="square" lIns="0" tIns="0" rIns="0" bIns="0" rtlCol="0" anchor="t"/>
          <a:lstStyle/>
          <a:p>
            <a:pPr marL="0" indent="0" algn="l">
              <a:buNone/>
            </a:pPr>
            <a:r>
              <a:rPr lang="en-US" sz="1120" dirty="0">
                <a:solidFill>
                  <a:srgbClr val="AECCE0"/>
                </a:solidFill>
                <a:latin typeface="Liberation Sans" pitchFamily="34" charset="0"/>
                <a:ea typeface="Liberation Sans" pitchFamily="34" charset="-122"/>
                <a:cs typeface="Liberation Sans" pitchFamily="34" charset="-120"/>
              </a:rPr>
              <a:t>First workflow version is complete. Current file is linked in STATUS.md. The main path passed the test. The missing-input case is open. Next owner will update the test log.</a:t>
            </a:r>
            <a:endParaRPr lang="en-US" sz="1120" dirty="0"/>
          </a:p>
        </p:txBody>
      </p:sp>
      <p:sp>
        <p:nvSpPr>
          <p:cNvPr id="35" name="Text 32"/>
          <p:cNvSpPr/>
          <p:nvPr/>
        </p:nvSpPr>
        <p:spPr>
          <a:xfrm>
            <a:off x="310896" y="4443984"/>
            <a:ext cx="8412480" cy="237744"/>
          </a:xfrm>
          <a:prstGeom prst="rect">
            <a:avLst/>
          </a:prstGeom>
          <a:noFill/>
          <a:ln/>
        </p:spPr>
        <p:txBody>
          <a:bodyPr wrap="square" lIns="0" tIns="0" rIns="0" bIns="0" rtlCol="0" anchor="t"/>
          <a:lstStyle/>
          <a:p>
            <a:pPr marL="0" indent="0" algn="ctr">
              <a:buNone/>
            </a:pPr>
            <a:r>
              <a:rPr lang="en-US" sz="1200" b="1" dirty="0">
                <a:solidFill>
                  <a:srgbClr val="00C8D4"/>
                </a:solidFill>
                <a:latin typeface="Liberation Sans" pitchFamily="34" charset="0"/>
                <a:ea typeface="Liberation Sans" pitchFamily="34" charset="-122"/>
                <a:cs typeface="Liberation Sans" pitchFamily="34" charset="-120"/>
              </a:rPr>
              <a:t>One handoff. One clear next move.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BEFORE KICKOFF: PREPARE, DO NOT BUILD</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Use the time before Wednesday to remove friction.</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292608" y="1170432"/>
            <a:ext cx="4050792" cy="3246120"/>
          </a:xfrm>
          <a:prstGeom prst="rect">
            <a:avLst/>
          </a:prstGeom>
          <a:solidFill>
            <a:srgbClr val="0D1E34"/>
          </a:solidFill>
          <a:ln w="12700">
            <a:solidFill>
              <a:srgbClr val="0D1E34"/>
            </a:solidFill>
            <a:prstDash val="solid"/>
          </a:ln>
        </p:spPr>
        <p:txBody>
          <a:bodyPr/>
          <a:lstStyle/>
          <a:p>
            <a:endParaRPr lang="en-US"/>
          </a:p>
        </p:txBody>
      </p:sp>
      <p:sp>
        <p:nvSpPr>
          <p:cNvPr id="9" name="Shape 6"/>
          <p:cNvSpPr/>
          <p:nvPr/>
        </p:nvSpPr>
        <p:spPr>
          <a:xfrm>
            <a:off x="292608" y="1170432"/>
            <a:ext cx="64008" cy="3246120"/>
          </a:xfrm>
          <a:prstGeom prst="rect">
            <a:avLst/>
          </a:prstGeom>
          <a:solidFill>
            <a:srgbClr val="00C8D4"/>
          </a:solidFill>
          <a:ln w="12700">
            <a:solidFill>
              <a:srgbClr val="00C8D4"/>
            </a:solidFill>
            <a:prstDash val="solid"/>
          </a:ln>
        </p:spPr>
        <p:txBody>
          <a:bodyPr/>
          <a:lstStyle/>
          <a:p>
            <a:endParaRPr lang="en-US"/>
          </a:p>
        </p:txBody>
      </p:sp>
      <p:sp>
        <p:nvSpPr>
          <p:cNvPr id="10" name="Shape 7"/>
          <p:cNvSpPr/>
          <p:nvPr/>
        </p:nvSpPr>
        <p:spPr>
          <a:xfrm>
            <a:off x="420624" y="1298448"/>
            <a:ext cx="329184" cy="329184"/>
          </a:xfrm>
          <a:prstGeom prst="ellipse">
            <a:avLst/>
          </a:prstGeom>
          <a:solidFill>
            <a:srgbClr val="00C8D4"/>
          </a:solidFill>
          <a:ln w="12700">
            <a:solidFill>
              <a:srgbClr val="00C8D4"/>
            </a:solidFill>
            <a:prstDash val="solid"/>
          </a:ln>
        </p:spPr>
        <p:txBody>
          <a:bodyPr/>
          <a:lstStyle/>
          <a:p>
            <a:endParaRPr lang="en-US"/>
          </a:p>
        </p:txBody>
      </p:sp>
      <p:sp>
        <p:nvSpPr>
          <p:cNvPr id="11" name="Text 8"/>
          <p:cNvSpPr/>
          <p:nvPr/>
        </p:nvSpPr>
        <p:spPr>
          <a:xfrm>
            <a:off x="859536" y="1298448"/>
            <a:ext cx="3337560" cy="274320"/>
          </a:xfrm>
          <a:prstGeom prst="rect">
            <a:avLst/>
          </a:prstGeom>
          <a:noFill/>
          <a:ln/>
        </p:spPr>
        <p:txBody>
          <a:bodyPr wrap="square" lIns="0" tIns="0" rIns="0" bIns="0" rtlCol="0" anchor="t"/>
          <a:lstStyle/>
          <a:p>
            <a:pPr marL="0" indent="0" algn="l">
              <a:buNone/>
            </a:pPr>
            <a:r>
              <a:rPr lang="en-US" sz="1250" b="1" dirty="0">
                <a:solidFill>
                  <a:srgbClr val="00C8D4"/>
                </a:solidFill>
                <a:latin typeface="Liberation Sans" pitchFamily="34" charset="0"/>
                <a:ea typeface="Liberation Sans" pitchFamily="34" charset="-122"/>
                <a:cs typeface="Liberation Sans" pitchFamily="34" charset="-120"/>
              </a:rPr>
              <a:t>You can prepare</a:t>
            </a:r>
            <a:endParaRPr lang="en-US" sz="1250" dirty="0"/>
          </a:p>
        </p:txBody>
      </p:sp>
      <p:sp>
        <p:nvSpPr>
          <p:cNvPr id="12" name="Text 9"/>
          <p:cNvSpPr/>
          <p:nvPr/>
        </p:nvSpPr>
        <p:spPr>
          <a:xfrm>
            <a:off x="475488" y="1700784"/>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Read the assigned brief</a:t>
            </a:r>
            <a:endParaRPr lang="en-US" sz="1050" dirty="0"/>
          </a:p>
        </p:txBody>
      </p:sp>
      <p:sp>
        <p:nvSpPr>
          <p:cNvPr id="13" name="Text 10"/>
          <p:cNvSpPr/>
          <p:nvPr/>
        </p:nvSpPr>
        <p:spPr>
          <a:xfrm>
            <a:off x="475488" y="2011680"/>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Confirm tool and source access</a:t>
            </a:r>
            <a:endParaRPr lang="en-US" sz="1050" dirty="0"/>
          </a:p>
        </p:txBody>
      </p:sp>
      <p:sp>
        <p:nvSpPr>
          <p:cNvPr id="14" name="Text 11"/>
          <p:cNvSpPr/>
          <p:nvPr/>
        </p:nvSpPr>
        <p:spPr>
          <a:xfrm>
            <a:off x="475488" y="2322576"/>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Create the shared folders</a:t>
            </a:r>
            <a:endParaRPr lang="en-US" sz="1050" dirty="0"/>
          </a:p>
        </p:txBody>
      </p:sp>
      <p:sp>
        <p:nvSpPr>
          <p:cNvPr id="15" name="Text 12"/>
          <p:cNvSpPr/>
          <p:nvPr/>
        </p:nvSpPr>
        <p:spPr>
          <a:xfrm>
            <a:off x="475488" y="2633472"/>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Copy the participant templates</a:t>
            </a:r>
            <a:endParaRPr lang="en-US" sz="1050" dirty="0"/>
          </a:p>
        </p:txBody>
      </p:sp>
      <p:sp>
        <p:nvSpPr>
          <p:cNvPr id="16" name="Text 13"/>
          <p:cNvSpPr/>
          <p:nvPr/>
        </p:nvSpPr>
        <p:spPr>
          <a:xfrm>
            <a:off x="475488" y="2944368"/>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Assign roles and working hours</a:t>
            </a:r>
            <a:endParaRPr lang="en-US" sz="1050" dirty="0"/>
          </a:p>
        </p:txBody>
      </p:sp>
      <p:sp>
        <p:nvSpPr>
          <p:cNvPr id="17" name="Text 14"/>
          <p:cNvSpPr/>
          <p:nvPr/>
        </p:nvSpPr>
        <p:spPr>
          <a:xfrm>
            <a:off x="475488" y="3255264"/>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Record open questions</a:t>
            </a:r>
            <a:endParaRPr lang="en-US" sz="1050" dirty="0"/>
          </a:p>
        </p:txBody>
      </p:sp>
      <p:sp>
        <p:nvSpPr>
          <p:cNvPr id="18" name="Shape 15"/>
          <p:cNvSpPr/>
          <p:nvPr/>
        </p:nvSpPr>
        <p:spPr>
          <a:xfrm>
            <a:off x="4736592" y="1170432"/>
            <a:ext cx="4050792" cy="3246120"/>
          </a:xfrm>
          <a:prstGeom prst="rect">
            <a:avLst/>
          </a:prstGeom>
          <a:solidFill>
            <a:srgbClr val="0D1E34"/>
          </a:solidFill>
          <a:ln w="12700">
            <a:solidFill>
              <a:srgbClr val="0D1E34"/>
            </a:solidFill>
            <a:prstDash val="solid"/>
          </a:ln>
        </p:spPr>
        <p:txBody>
          <a:bodyPr/>
          <a:lstStyle/>
          <a:p>
            <a:endParaRPr lang="en-US"/>
          </a:p>
        </p:txBody>
      </p:sp>
      <p:sp>
        <p:nvSpPr>
          <p:cNvPr id="19" name="Shape 16"/>
          <p:cNvSpPr/>
          <p:nvPr/>
        </p:nvSpPr>
        <p:spPr>
          <a:xfrm>
            <a:off x="4736592" y="1170432"/>
            <a:ext cx="64008" cy="3246120"/>
          </a:xfrm>
          <a:prstGeom prst="rect">
            <a:avLst/>
          </a:prstGeom>
          <a:solidFill>
            <a:srgbClr val="FF9830"/>
          </a:solidFill>
          <a:ln w="12700">
            <a:solidFill>
              <a:srgbClr val="FF9830"/>
            </a:solidFill>
            <a:prstDash val="solid"/>
          </a:ln>
        </p:spPr>
        <p:txBody>
          <a:bodyPr/>
          <a:lstStyle/>
          <a:p>
            <a:endParaRPr lang="en-US"/>
          </a:p>
        </p:txBody>
      </p:sp>
      <p:sp>
        <p:nvSpPr>
          <p:cNvPr id="20" name="Shape 17"/>
          <p:cNvSpPr/>
          <p:nvPr/>
        </p:nvSpPr>
        <p:spPr>
          <a:xfrm>
            <a:off x="4864608" y="1298448"/>
            <a:ext cx="329184" cy="329184"/>
          </a:xfrm>
          <a:prstGeom prst="ellipse">
            <a:avLst/>
          </a:prstGeom>
          <a:solidFill>
            <a:srgbClr val="FF9830"/>
          </a:solidFill>
          <a:ln w="12700">
            <a:solidFill>
              <a:srgbClr val="FF9830"/>
            </a:solidFill>
            <a:prstDash val="solid"/>
          </a:ln>
        </p:spPr>
        <p:txBody>
          <a:bodyPr/>
          <a:lstStyle/>
          <a:p>
            <a:endParaRPr lang="en-US"/>
          </a:p>
        </p:txBody>
      </p:sp>
      <p:sp>
        <p:nvSpPr>
          <p:cNvPr id="21" name="Text 18"/>
          <p:cNvSpPr/>
          <p:nvPr/>
        </p:nvSpPr>
        <p:spPr>
          <a:xfrm>
            <a:off x="5303520" y="1298448"/>
            <a:ext cx="3337560" cy="274320"/>
          </a:xfrm>
          <a:prstGeom prst="rect">
            <a:avLst/>
          </a:prstGeom>
          <a:noFill/>
          <a:ln/>
        </p:spPr>
        <p:txBody>
          <a:bodyPr wrap="square" lIns="0" tIns="0" rIns="0" bIns="0" rtlCol="0" anchor="t"/>
          <a:lstStyle/>
          <a:p>
            <a:pPr marL="0" indent="0" algn="l">
              <a:buNone/>
            </a:pPr>
            <a:r>
              <a:rPr lang="en-US" sz="1250" b="1" dirty="0">
                <a:solidFill>
                  <a:srgbClr val="FF9830"/>
                </a:solidFill>
                <a:latin typeface="Liberation Sans" pitchFamily="34" charset="0"/>
                <a:ea typeface="Liberation Sans" pitchFamily="34" charset="-122"/>
                <a:cs typeface="Liberation Sans" pitchFamily="34" charset="-120"/>
              </a:rPr>
              <a:t>Wait for kickoff</a:t>
            </a:r>
            <a:endParaRPr lang="en-US" sz="1250" dirty="0"/>
          </a:p>
        </p:txBody>
      </p:sp>
      <p:sp>
        <p:nvSpPr>
          <p:cNvPr id="22" name="Text 19"/>
          <p:cNvSpPr/>
          <p:nvPr/>
        </p:nvSpPr>
        <p:spPr>
          <a:xfrm>
            <a:off x="4919472" y="1700784"/>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Create or refine the submission solution</a:t>
            </a:r>
            <a:endParaRPr lang="en-US" sz="1050" dirty="0"/>
          </a:p>
        </p:txBody>
      </p:sp>
      <p:sp>
        <p:nvSpPr>
          <p:cNvPr id="23" name="Text 20"/>
          <p:cNvSpPr/>
          <p:nvPr/>
        </p:nvSpPr>
        <p:spPr>
          <a:xfrm>
            <a:off x="4919472" y="2011680"/>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Work with sponsor-specific data</a:t>
            </a:r>
            <a:endParaRPr lang="en-US" sz="1050" dirty="0"/>
          </a:p>
        </p:txBody>
      </p:sp>
      <p:sp>
        <p:nvSpPr>
          <p:cNvPr id="24" name="Text 21"/>
          <p:cNvSpPr/>
          <p:nvPr/>
        </p:nvSpPr>
        <p:spPr>
          <a:xfrm>
            <a:off x="4919472" y="2322576"/>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Use a prebuilt sponsor-specific answer</a:t>
            </a:r>
            <a:endParaRPr lang="en-US" sz="1050" dirty="0"/>
          </a:p>
        </p:txBody>
      </p:sp>
      <p:sp>
        <p:nvSpPr>
          <p:cNvPr id="25" name="Text 22"/>
          <p:cNvSpPr/>
          <p:nvPr/>
        </p:nvSpPr>
        <p:spPr>
          <a:xfrm>
            <a:off x="4919472" y="2633472"/>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Present existing work as hackathon work</a:t>
            </a:r>
            <a:endParaRPr lang="en-US" sz="1050" dirty="0"/>
          </a:p>
        </p:txBody>
      </p:sp>
      <p:sp>
        <p:nvSpPr>
          <p:cNvPr id="26" name="Text 23"/>
          <p:cNvSpPr/>
          <p:nvPr/>
        </p:nvSpPr>
        <p:spPr>
          <a:xfrm>
            <a:off x="4919472" y="2944368"/>
            <a:ext cx="3730752" cy="356616"/>
          </a:xfrm>
          <a:prstGeom prst="rect">
            <a:avLst/>
          </a:prstGeom>
          <a:noFill/>
          <a:ln/>
        </p:spPr>
        <p:txBody>
          <a:bodyPr wrap="square" lIns="0" tIns="0" rIns="0" bIns="0" rtlCol="0" anchor="t"/>
          <a:lstStyle/>
          <a:p>
            <a:pPr marL="0" indent="0" algn="l">
              <a:buNone/>
            </a:pPr>
            <a:r>
              <a:rPr lang="en-US" sz="1050" dirty="0">
                <a:solidFill>
                  <a:srgbClr val="AECCE0"/>
                </a:solidFill>
                <a:latin typeface="Liberation Sans" pitchFamily="34" charset="0"/>
                <a:ea typeface="Liberation Sans" pitchFamily="34" charset="-122"/>
                <a:cs typeface="Liberation Sans" pitchFamily="34" charset="-120"/>
              </a:rPr>
              <a:t>• Make commitments outside the brief</a:t>
            </a:r>
            <a:endParaRPr lang="en-US" sz="1050" dirty="0"/>
          </a:p>
        </p:txBody>
      </p:sp>
      <p:sp>
        <p:nvSpPr>
          <p:cNvPr id="27" name="Text 24"/>
          <p:cNvSpPr/>
          <p:nvPr/>
        </p:nvSpPr>
        <p:spPr>
          <a:xfrm>
            <a:off x="310896" y="4480560"/>
            <a:ext cx="8412480" cy="237744"/>
          </a:xfrm>
          <a:prstGeom prst="rect">
            <a:avLst/>
          </a:prstGeom>
          <a:noFill/>
          <a:ln/>
        </p:spPr>
        <p:txBody>
          <a:bodyPr wrap="square" lIns="0" tIns="0" rIns="0" bIns="0" rtlCol="0" anchor="t"/>
          <a:lstStyle/>
          <a:p>
            <a:pPr marL="0" indent="0" algn="ctr">
              <a:buNone/>
            </a:pPr>
            <a:r>
              <a:rPr lang="en-US" sz="1150" b="1" dirty="0">
                <a:solidFill>
                  <a:srgbClr val="00C8D4"/>
                </a:solidFill>
                <a:latin typeface="Liberation Sans" pitchFamily="34" charset="0"/>
                <a:ea typeface="Liberation Sans" pitchFamily="34" charset="-122"/>
                <a:cs typeface="Liberation Sans" pitchFamily="34" charset="-120"/>
              </a:rPr>
              <a:t>The goal is to start the build with fewer access questions and a clear first task.</a:t>
            </a:r>
            <a:endParaRPr lang="en-US" sz="1150" dirty="0"/>
          </a:p>
        </p:txBody>
      </p:sp>
      <p:pic>
        <p:nvPicPr>
          <p:cNvPr id="29" name="Image 1" descr="preencoded.png"/>
          <p:cNvPicPr>
            <a:picLocks noChangeAspect="1"/>
          </p:cNvPicPr>
          <p:nvPr/>
        </p:nvPicPr>
        <p:blipFill>
          <a:blip r:embed="rId4"/>
          <a:stretch>
            <a:fillRect/>
          </a:stretch>
        </p:blipFill>
        <p:spPr>
          <a:xfrm>
            <a:off x="489753" y="1367577"/>
            <a:ext cx="190927" cy="190927"/>
          </a:xfrm>
          <a:prstGeom prst="rect">
            <a:avLst/>
          </a:prstGeom>
        </p:spPr>
      </p:pic>
      <p:pic>
        <p:nvPicPr>
          <p:cNvPr id="30" name="Image 2" descr="preencoded.png"/>
          <p:cNvPicPr>
            <a:picLocks noChangeAspect="1"/>
          </p:cNvPicPr>
          <p:nvPr/>
        </p:nvPicPr>
        <p:blipFill>
          <a:blip r:embed="rId5"/>
          <a:stretch>
            <a:fillRect/>
          </a:stretch>
        </p:blipFill>
        <p:spPr>
          <a:xfrm>
            <a:off x="4933737" y="1367577"/>
            <a:ext cx="190927" cy="1909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MAKE THE FINAL PACKAGE EASY TO REVIEW</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A strong submission tells the story and makes the work accessible.</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Text 5"/>
          <p:cNvSpPr/>
          <p:nvPr/>
        </p:nvSpPr>
        <p:spPr>
          <a:xfrm>
            <a:off x="420624" y="1152144"/>
            <a:ext cx="3657600" cy="219456"/>
          </a:xfrm>
          <a:prstGeom prst="rect">
            <a:avLst/>
          </a:prstGeom>
          <a:noFill/>
          <a:ln/>
        </p:spPr>
        <p:txBody>
          <a:bodyPr wrap="square" lIns="0" tIns="0" rIns="0" bIns="0" rtlCol="0" anchor="t"/>
          <a:lstStyle/>
          <a:p>
            <a:pPr marL="0" indent="0" algn="l">
              <a:buNone/>
            </a:pPr>
            <a:r>
              <a:rPr lang="en-US" sz="950" b="1" kern="0" spc="160" dirty="0">
                <a:solidFill>
                  <a:srgbClr val="00C8D4"/>
                </a:solidFill>
                <a:latin typeface="Liberation Sans" pitchFamily="34" charset="0"/>
                <a:ea typeface="Liberation Sans" pitchFamily="34" charset="-122"/>
                <a:cs typeface="Liberation Sans" pitchFamily="34" charset="-120"/>
              </a:rPr>
              <a:t>INCLUDE</a:t>
            </a:r>
            <a:endParaRPr lang="en-US" sz="950" dirty="0"/>
          </a:p>
        </p:txBody>
      </p:sp>
      <p:sp>
        <p:nvSpPr>
          <p:cNvPr id="9" name="Text 6"/>
          <p:cNvSpPr/>
          <p:nvPr/>
        </p:nvSpPr>
        <p:spPr>
          <a:xfrm>
            <a:off x="420624" y="1517904"/>
            <a:ext cx="3767328"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Team and channel identification</a:t>
            </a:r>
            <a:endParaRPr lang="en-US" sz="1130" dirty="0"/>
          </a:p>
        </p:txBody>
      </p:sp>
      <p:sp>
        <p:nvSpPr>
          <p:cNvPr id="10" name="Text 7"/>
          <p:cNvSpPr/>
          <p:nvPr/>
        </p:nvSpPr>
        <p:spPr>
          <a:xfrm>
            <a:off x="420624" y="1993392"/>
            <a:ext cx="3767328"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Assigned use case and intended user</a:t>
            </a:r>
            <a:endParaRPr lang="en-US" sz="1130" dirty="0"/>
          </a:p>
        </p:txBody>
      </p:sp>
      <p:sp>
        <p:nvSpPr>
          <p:cNvPr id="11" name="Text 8"/>
          <p:cNvSpPr/>
          <p:nvPr/>
        </p:nvSpPr>
        <p:spPr>
          <a:xfrm>
            <a:off x="420624" y="2468880"/>
            <a:ext cx="3767328"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What the team built</a:t>
            </a:r>
            <a:endParaRPr lang="en-US" sz="1130" dirty="0"/>
          </a:p>
        </p:txBody>
      </p:sp>
      <p:sp>
        <p:nvSpPr>
          <p:cNvPr id="12" name="Text 9"/>
          <p:cNvSpPr/>
          <p:nvPr/>
        </p:nvSpPr>
        <p:spPr>
          <a:xfrm>
            <a:off x="420624" y="2944368"/>
            <a:ext cx="3767328"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Review or demonstration path</a:t>
            </a:r>
            <a:endParaRPr lang="en-US" sz="1130" dirty="0"/>
          </a:p>
        </p:txBody>
      </p:sp>
      <p:sp>
        <p:nvSpPr>
          <p:cNvPr id="13" name="Text 10"/>
          <p:cNvSpPr/>
          <p:nvPr/>
        </p:nvSpPr>
        <p:spPr>
          <a:xfrm>
            <a:off x="420624" y="3419856"/>
            <a:ext cx="3767328"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Sources, tools, and permissions</a:t>
            </a:r>
            <a:endParaRPr lang="en-US" sz="1130" dirty="0"/>
          </a:p>
        </p:txBody>
      </p:sp>
      <p:sp>
        <p:nvSpPr>
          <p:cNvPr id="14" name="Text 11"/>
          <p:cNvSpPr/>
          <p:nvPr/>
        </p:nvSpPr>
        <p:spPr>
          <a:xfrm>
            <a:off x="4736592" y="1152144"/>
            <a:ext cx="3657600" cy="219456"/>
          </a:xfrm>
          <a:prstGeom prst="rect">
            <a:avLst/>
          </a:prstGeom>
          <a:noFill/>
          <a:ln/>
        </p:spPr>
        <p:txBody>
          <a:bodyPr wrap="square" lIns="0" tIns="0" rIns="0" bIns="0" rtlCol="0" anchor="t"/>
          <a:lstStyle/>
          <a:p>
            <a:pPr marL="0" indent="0" algn="l">
              <a:buNone/>
            </a:pPr>
            <a:r>
              <a:rPr lang="en-US" sz="950" b="1" kern="0" spc="160" dirty="0">
                <a:solidFill>
                  <a:srgbClr val="FF9830"/>
                </a:solidFill>
                <a:latin typeface="Liberation Sans" pitchFamily="34" charset="0"/>
                <a:ea typeface="Liberation Sans" pitchFamily="34" charset="-122"/>
                <a:cs typeface="Liberation Sans" pitchFamily="34" charset="-120"/>
              </a:rPr>
              <a:t>MAKE IT REVIEWABLE</a:t>
            </a:r>
            <a:endParaRPr lang="en-US" sz="950" dirty="0"/>
          </a:p>
        </p:txBody>
      </p:sp>
      <p:sp>
        <p:nvSpPr>
          <p:cNvPr id="15" name="Text 12"/>
          <p:cNvSpPr/>
          <p:nvPr/>
        </p:nvSpPr>
        <p:spPr>
          <a:xfrm>
            <a:off x="4736592" y="1517904"/>
            <a:ext cx="3803904"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Tests and observed results</a:t>
            </a:r>
            <a:endParaRPr lang="en-US" sz="1130" dirty="0"/>
          </a:p>
        </p:txBody>
      </p:sp>
      <p:sp>
        <p:nvSpPr>
          <p:cNvPr id="16" name="Text 13"/>
          <p:cNvSpPr/>
          <p:nvPr/>
        </p:nvSpPr>
        <p:spPr>
          <a:xfrm>
            <a:off x="4736592" y="1993392"/>
            <a:ext cx="3803904"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What was reused versus created</a:t>
            </a:r>
            <a:endParaRPr lang="en-US" sz="1130" dirty="0"/>
          </a:p>
        </p:txBody>
      </p:sp>
      <p:sp>
        <p:nvSpPr>
          <p:cNvPr id="17" name="Text 14"/>
          <p:cNvSpPr/>
          <p:nvPr/>
        </p:nvSpPr>
        <p:spPr>
          <a:xfrm>
            <a:off x="4736592" y="2468880"/>
            <a:ext cx="3803904"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Known limits and guardrails</a:t>
            </a:r>
            <a:endParaRPr lang="en-US" sz="1130" dirty="0"/>
          </a:p>
        </p:txBody>
      </p:sp>
      <p:sp>
        <p:nvSpPr>
          <p:cNvPr id="18" name="Text 15"/>
          <p:cNvSpPr/>
          <p:nvPr/>
        </p:nvSpPr>
        <p:spPr>
          <a:xfrm>
            <a:off x="4736592" y="2944368"/>
            <a:ext cx="3803904"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Reviewer access and fallback</a:t>
            </a:r>
            <a:endParaRPr lang="en-US" sz="1130" dirty="0"/>
          </a:p>
        </p:txBody>
      </p:sp>
      <p:sp>
        <p:nvSpPr>
          <p:cNvPr id="19" name="Text 16"/>
          <p:cNvSpPr/>
          <p:nvPr/>
        </p:nvSpPr>
        <p:spPr>
          <a:xfrm>
            <a:off x="4736592" y="3419856"/>
            <a:ext cx="3803904" cy="521208"/>
          </a:xfrm>
          <a:prstGeom prst="rect">
            <a:avLst/>
          </a:prstGeom>
          <a:noFill/>
          <a:ln/>
        </p:spPr>
        <p:txBody>
          <a:bodyPr wrap="square" lIns="0" tIns="0" rIns="0" bIns="0" rtlCol="0" anchor="t"/>
          <a:lstStyle/>
          <a:p>
            <a:pPr marL="0" indent="0" algn="l">
              <a:buNone/>
            </a:pPr>
            <a:r>
              <a:rPr lang="en-US" sz="1130" dirty="0">
                <a:solidFill>
                  <a:srgbClr val="AECCE0"/>
                </a:solidFill>
                <a:latin typeface="Liberation Sans" pitchFamily="34" charset="0"/>
                <a:ea typeface="Liberation Sans" pitchFamily="34" charset="-122"/>
                <a:cs typeface="Liberation Sans" pitchFamily="34" charset="-120"/>
              </a:rPr>
              <a:t>• Recommended next step and owner</a:t>
            </a:r>
            <a:endParaRPr lang="en-US" sz="1130" dirty="0"/>
          </a:p>
        </p:txBody>
      </p:sp>
      <p:sp>
        <p:nvSpPr>
          <p:cNvPr id="20" name="Shape 17"/>
          <p:cNvSpPr/>
          <p:nvPr/>
        </p:nvSpPr>
        <p:spPr>
          <a:xfrm>
            <a:off x="420624" y="4005072"/>
            <a:ext cx="7955280" cy="521208"/>
          </a:xfrm>
          <a:prstGeom prst="rect">
            <a:avLst/>
          </a:prstGeom>
          <a:solidFill>
            <a:srgbClr val="0D1E34"/>
          </a:solidFill>
          <a:ln w="12700">
            <a:solidFill>
              <a:srgbClr val="1A3A52"/>
            </a:solidFill>
            <a:prstDash val="solid"/>
          </a:ln>
        </p:spPr>
        <p:txBody>
          <a:bodyPr/>
          <a:lstStyle/>
          <a:p>
            <a:endParaRPr lang="en-US"/>
          </a:p>
        </p:txBody>
      </p:sp>
      <p:sp>
        <p:nvSpPr>
          <p:cNvPr id="21" name="Text 18"/>
          <p:cNvSpPr/>
          <p:nvPr/>
        </p:nvSpPr>
        <p:spPr>
          <a:xfrm>
            <a:off x="658368" y="4178808"/>
            <a:ext cx="7452360" cy="201168"/>
          </a:xfrm>
          <a:prstGeom prst="rect">
            <a:avLst/>
          </a:prstGeom>
          <a:noFill/>
          <a:ln/>
        </p:spPr>
        <p:txBody>
          <a:bodyPr wrap="square" lIns="0" tIns="0" rIns="0" bIns="0" rtlCol="0" anchor="t"/>
          <a:lstStyle/>
          <a:p>
            <a:pPr marL="0" indent="0" algn="ctr">
              <a:buNone/>
            </a:pPr>
            <a:r>
              <a:rPr lang="en-US" sz="1130" b="1" dirty="0">
                <a:solidFill>
                  <a:srgbClr val="FFFFFF"/>
                </a:solidFill>
                <a:latin typeface="Liberation Sans" pitchFamily="34" charset="0"/>
                <a:ea typeface="Liberation Sans" pitchFamily="34" charset="-122"/>
                <a:cs typeface="Liberation Sans" pitchFamily="34" charset="-120"/>
              </a:rPr>
              <a:t>Final location: 03_Final_Submission/ in the team channel's connected workspace.</a:t>
            </a:r>
            <a:endParaRPr lang="en-US" sz="11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3090672" y="475488"/>
            <a:ext cx="2962656" cy="2962656"/>
          </a:xfrm>
          <a:prstGeom prst="ellipse">
            <a:avLst/>
          </a:prstGeom>
          <a:solidFill>
            <a:srgbClr val="0D1E34"/>
          </a:solidFill>
          <a:ln w="25400">
            <a:solidFill>
              <a:srgbClr val="00C8D4"/>
            </a:solidFill>
            <a:prstDash val="solid"/>
          </a:ln>
        </p:spPr>
        <p:txBody>
          <a:bodyPr/>
          <a:lstStyle/>
          <a:p>
            <a:endParaRPr lang="en-US"/>
          </a:p>
        </p:txBody>
      </p:sp>
      <p:sp>
        <p:nvSpPr>
          <p:cNvPr id="3" name="Shape 1"/>
          <p:cNvSpPr/>
          <p:nvPr/>
        </p:nvSpPr>
        <p:spPr>
          <a:xfrm>
            <a:off x="3364992" y="749808"/>
            <a:ext cx="2414016" cy="2414016"/>
          </a:xfrm>
          <a:prstGeom prst="ellipse">
            <a:avLst/>
          </a:prstGeom>
          <a:solidFill>
            <a:srgbClr val="071020"/>
          </a:solidFill>
          <a:ln w="12700">
            <a:solidFill>
              <a:srgbClr val="FF9830">
                <a:alpha val="40000"/>
              </a:srgbClr>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3931920" y="1261872"/>
            <a:ext cx="1280160" cy="1280160"/>
          </a:xfrm>
          <a:prstGeom prst="rect">
            <a:avLst/>
          </a:prstGeom>
        </p:spPr>
      </p:pic>
      <p:pic>
        <p:nvPicPr>
          <p:cNvPr id="5" name="Image 1" descr="preencoded.png"/>
          <p:cNvPicPr>
            <a:picLocks noChangeAspect="1"/>
          </p:cNvPicPr>
          <p:nvPr/>
        </p:nvPicPr>
        <p:blipFill>
          <a:blip r:embed="rId4"/>
          <a:stretch>
            <a:fillRect/>
          </a:stretch>
        </p:blipFill>
        <p:spPr>
          <a:xfrm>
            <a:off x="7562088" y="228600"/>
            <a:ext cx="1417320" cy="342900"/>
          </a:xfrm>
          <a:prstGeom prst="rect">
            <a:avLst/>
          </a:prstGeom>
        </p:spPr>
      </p:pic>
      <p:sp>
        <p:nvSpPr>
          <p:cNvPr id="6" name="Text 2"/>
          <p:cNvSpPr/>
          <p:nvPr/>
        </p:nvSpPr>
        <p:spPr>
          <a:xfrm>
            <a:off x="182880" y="3474720"/>
            <a:ext cx="8778240" cy="594360"/>
          </a:xfrm>
          <a:prstGeom prst="rect">
            <a:avLst/>
          </a:prstGeom>
          <a:noFill/>
          <a:ln/>
        </p:spPr>
        <p:txBody>
          <a:bodyPr wrap="square" lIns="0" tIns="0" rIns="0" bIns="0" rtlCol="0" anchor="t"/>
          <a:lstStyle/>
          <a:p>
            <a:pPr marL="0" indent="0" algn="ctr">
              <a:buNone/>
            </a:pPr>
            <a:r>
              <a:rPr lang="en-US" sz="4200" b="1" dirty="0">
                <a:solidFill>
                  <a:srgbClr val="FFFFFF"/>
                </a:solidFill>
                <a:latin typeface="Liberation Sans" pitchFamily="34" charset="0"/>
                <a:ea typeface="Liberation Sans" pitchFamily="34" charset="-122"/>
                <a:cs typeface="Liberation Sans" pitchFamily="34" charset="-120"/>
              </a:rPr>
              <a:t>QUESTIONS &amp;</a:t>
            </a:r>
            <a:endParaRPr lang="en-US" sz="4200" dirty="0"/>
          </a:p>
        </p:txBody>
      </p:sp>
      <p:sp>
        <p:nvSpPr>
          <p:cNvPr id="7" name="Text 3"/>
          <p:cNvSpPr/>
          <p:nvPr/>
        </p:nvSpPr>
        <p:spPr>
          <a:xfrm>
            <a:off x="182880" y="4041648"/>
            <a:ext cx="8778240" cy="566928"/>
          </a:xfrm>
          <a:prstGeom prst="rect">
            <a:avLst/>
          </a:prstGeom>
          <a:noFill/>
          <a:ln/>
        </p:spPr>
        <p:txBody>
          <a:bodyPr wrap="square" lIns="0" tIns="0" rIns="0" bIns="0" rtlCol="0" anchor="t"/>
          <a:lstStyle/>
          <a:p>
            <a:pPr marL="0" indent="0" algn="ctr">
              <a:buNone/>
            </a:pPr>
            <a:r>
              <a:rPr lang="en-US" sz="3400" b="1" dirty="0">
                <a:solidFill>
                  <a:srgbClr val="00C8D4"/>
                </a:solidFill>
                <a:latin typeface="Liberation Sans" pitchFamily="34" charset="0"/>
                <a:ea typeface="Liberation Sans" pitchFamily="34" charset="-122"/>
                <a:cs typeface="Liberation Sans" pitchFamily="34" charset="-120"/>
              </a:rPr>
              <a:t>OPEN DISCUSSION</a:t>
            </a:r>
            <a:endParaRPr lang="en-US" sz="3400" dirty="0"/>
          </a:p>
        </p:txBody>
      </p:sp>
      <p:sp>
        <p:nvSpPr>
          <p:cNvPr id="8" name="Shape 4"/>
          <p:cNvSpPr/>
          <p:nvPr/>
        </p:nvSpPr>
        <p:spPr>
          <a:xfrm>
            <a:off x="0" y="4754880"/>
            <a:ext cx="9144000" cy="388620"/>
          </a:xfrm>
          <a:prstGeom prst="rect">
            <a:avLst/>
          </a:prstGeom>
          <a:solidFill>
            <a:srgbClr val="0D1E34"/>
          </a:solidFill>
          <a:ln w="12700">
            <a:solidFill>
              <a:srgbClr val="0D1E34"/>
            </a:solidFill>
            <a:prstDash val="solid"/>
          </a:ln>
        </p:spPr>
        <p:txBody>
          <a:bodyPr/>
          <a:lstStyle/>
          <a:p>
            <a:endParaRPr lang="en-US"/>
          </a:p>
        </p:txBody>
      </p:sp>
      <p:sp>
        <p:nvSpPr>
          <p:cNvPr id="9" name="Text 5"/>
          <p:cNvSpPr/>
          <p:nvPr/>
        </p:nvSpPr>
        <p:spPr>
          <a:xfrm>
            <a:off x="274320" y="4777740"/>
            <a:ext cx="8595360" cy="320040"/>
          </a:xfrm>
          <a:prstGeom prst="rect">
            <a:avLst/>
          </a:prstGeom>
          <a:noFill/>
          <a:ln/>
        </p:spPr>
        <p:txBody>
          <a:bodyPr wrap="square" lIns="0" tIns="0" rIns="0" bIns="0" rtlCol="0" anchor="t"/>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TEAM TIME FOLLOWS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7102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E34"/>
          </a:solidFill>
          <a:ln w="12700">
            <a:solidFill>
              <a:srgbClr val="0D1E34"/>
            </a:solidFill>
            <a:prstDash val="solid"/>
          </a:ln>
        </p:spPr>
        <p:txBody>
          <a:bodyPr/>
          <a:lstStyle/>
          <a:p>
            <a:endParaRPr lang="en-US"/>
          </a:p>
        </p:txBody>
      </p:sp>
      <p:sp>
        <p:nvSpPr>
          <p:cNvPr id="3" name="Text 1"/>
          <p:cNvSpPr/>
          <p:nvPr/>
        </p:nvSpPr>
        <p:spPr>
          <a:xfrm>
            <a:off x="347472" y="73152"/>
            <a:ext cx="7132320" cy="457200"/>
          </a:xfrm>
          <a:prstGeom prst="rect">
            <a:avLst/>
          </a:prstGeom>
          <a:noFill/>
          <a:ln/>
        </p:spPr>
        <p:txBody>
          <a:bodyPr wrap="square" lIns="0" tIns="0" rIns="0" bIns="0" rtlCol="0" anchor="ctr"/>
          <a:lstStyle/>
          <a:p>
            <a:pPr marL="0" indent="0">
              <a:buNone/>
            </a:pPr>
            <a:r>
              <a:rPr lang="en-US" sz="1900" b="1" kern="0" spc="200" dirty="0">
                <a:solidFill>
                  <a:srgbClr val="FFFFFF"/>
                </a:solidFill>
                <a:latin typeface="Liberation Sans" pitchFamily="34" charset="0"/>
                <a:ea typeface="Liberation Sans" pitchFamily="34" charset="-122"/>
                <a:cs typeface="Liberation Sans" pitchFamily="34" charset="-120"/>
              </a:rPr>
              <a:t>OPTIONAL TEAM TIME: 30 MINUTES</a:t>
            </a:r>
            <a:endParaRPr lang="en-US" sz="1900" dirty="0"/>
          </a:p>
        </p:txBody>
      </p:sp>
      <p:sp>
        <p:nvSpPr>
          <p:cNvPr id="4" name="Text 2"/>
          <p:cNvSpPr/>
          <p:nvPr/>
        </p:nvSpPr>
        <p:spPr>
          <a:xfrm>
            <a:off x="347472" y="548640"/>
            <a:ext cx="7132320" cy="274320"/>
          </a:xfrm>
          <a:prstGeom prst="rect">
            <a:avLst/>
          </a:prstGeom>
          <a:noFill/>
          <a:ln/>
        </p:spPr>
        <p:txBody>
          <a:bodyPr wrap="square" lIns="0" tIns="0" rIns="0" bIns="0" rtlCol="0" anchor="ctr"/>
          <a:lstStyle/>
          <a:p>
            <a:pPr marL="0" indent="0">
              <a:buNone/>
            </a:pPr>
            <a:r>
              <a:rPr lang="en-US" sz="1100" dirty="0">
                <a:solidFill>
                  <a:srgbClr val="00C8D4"/>
                </a:solidFill>
                <a:latin typeface="Liberation Sans" pitchFamily="34" charset="0"/>
                <a:ea typeface="Liberation Sans" pitchFamily="34" charset="-122"/>
                <a:cs typeface="Liberation Sans" pitchFamily="34" charset="-120"/>
              </a:rPr>
              <a:t>Use the final half hour to get organized before the build window.</a:t>
            </a:r>
            <a:endParaRPr lang="en-US" sz="1100" dirty="0"/>
          </a:p>
        </p:txBody>
      </p:sp>
      <p:pic>
        <p:nvPicPr>
          <p:cNvPr id="5" name="Image 0" descr="preencoded.png"/>
          <p:cNvPicPr>
            <a:picLocks noChangeAspect="1"/>
          </p:cNvPicPr>
          <p:nvPr/>
        </p:nvPicPr>
        <p:blipFill>
          <a:blip r:embed="rId3"/>
          <a:stretch>
            <a:fillRect/>
          </a:stretch>
        </p:blipFill>
        <p:spPr>
          <a:xfrm>
            <a:off x="7562088" y="82296"/>
            <a:ext cx="1417320" cy="342900"/>
          </a:xfrm>
          <a:prstGeom prst="rect">
            <a:avLst/>
          </a:prstGeom>
        </p:spPr>
      </p:pic>
      <p:sp>
        <p:nvSpPr>
          <p:cNvPr id="6" name="Shape 3"/>
          <p:cNvSpPr/>
          <p:nvPr/>
        </p:nvSpPr>
        <p:spPr>
          <a:xfrm>
            <a:off x="0" y="4754880"/>
            <a:ext cx="9144000" cy="388620"/>
          </a:xfrm>
          <a:prstGeom prst="rect">
            <a:avLst/>
          </a:prstGeom>
          <a:solidFill>
            <a:srgbClr val="050D1A"/>
          </a:solidFill>
          <a:ln w="12700">
            <a:solidFill>
              <a:srgbClr val="050D1A"/>
            </a:solidFill>
            <a:prstDash val="solid"/>
          </a:ln>
        </p:spPr>
        <p:txBody>
          <a:bodyPr/>
          <a:lstStyle/>
          <a:p>
            <a:endParaRPr lang="en-US"/>
          </a:p>
        </p:txBody>
      </p:sp>
      <p:sp>
        <p:nvSpPr>
          <p:cNvPr id="7" name="Text 4"/>
          <p:cNvSpPr/>
          <p:nvPr/>
        </p:nvSpPr>
        <p:spPr>
          <a:xfrm>
            <a:off x="274320" y="4777740"/>
            <a:ext cx="8595360" cy="320040"/>
          </a:xfrm>
          <a:prstGeom prst="rect">
            <a:avLst/>
          </a:prstGeom>
          <a:noFill/>
          <a:ln/>
        </p:spPr>
        <p:txBody>
          <a:bodyPr wrap="square" lIns="0" tIns="0" rIns="0" bIns="0" rtlCol="0" anchor="ctr"/>
          <a:lstStyle/>
          <a:p>
            <a:pPr marL="0" indent="0" algn="ctr">
              <a:buNone/>
            </a:pPr>
            <a:r>
              <a:rPr lang="en-US" sz="1000" dirty="0">
                <a:solidFill>
                  <a:srgbClr val="00C8D4"/>
                </a:solidFill>
                <a:latin typeface="Liberation Sans" pitchFamily="34" charset="0"/>
                <a:ea typeface="Liberation Sans" pitchFamily="34" charset="-122"/>
                <a:cs typeface="Liberation Sans" pitchFamily="34" charset="-120"/>
              </a:rPr>
              <a:t>Q3 AI HACKATHON  |  PARTICIPANT TRAINING</a:t>
            </a:r>
            <a:endParaRPr lang="en-US" sz="1000" dirty="0"/>
          </a:p>
        </p:txBody>
      </p:sp>
      <p:sp>
        <p:nvSpPr>
          <p:cNvPr id="8" name="Shape 5"/>
          <p:cNvSpPr/>
          <p:nvPr/>
        </p:nvSpPr>
        <p:spPr>
          <a:xfrm>
            <a:off x="310896" y="1307592"/>
            <a:ext cx="1984248" cy="2331720"/>
          </a:xfrm>
          <a:prstGeom prst="rect">
            <a:avLst/>
          </a:prstGeom>
          <a:solidFill>
            <a:srgbClr val="0D1E34"/>
          </a:solidFill>
          <a:ln w="12700">
            <a:solidFill>
              <a:srgbClr val="0D1E34"/>
            </a:solidFill>
            <a:prstDash val="solid"/>
          </a:ln>
        </p:spPr>
        <p:txBody>
          <a:bodyPr/>
          <a:lstStyle/>
          <a:p>
            <a:endParaRPr lang="en-US"/>
          </a:p>
        </p:txBody>
      </p:sp>
      <p:sp>
        <p:nvSpPr>
          <p:cNvPr id="9" name="Shape 6"/>
          <p:cNvSpPr/>
          <p:nvPr/>
        </p:nvSpPr>
        <p:spPr>
          <a:xfrm>
            <a:off x="310896" y="1307592"/>
            <a:ext cx="64008" cy="2331720"/>
          </a:xfrm>
          <a:prstGeom prst="rect">
            <a:avLst/>
          </a:prstGeom>
          <a:solidFill>
            <a:srgbClr val="00C8D4"/>
          </a:solidFill>
          <a:ln w="12700">
            <a:solidFill>
              <a:srgbClr val="00C8D4"/>
            </a:solidFill>
            <a:prstDash val="solid"/>
          </a:ln>
        </p:spPr>
        <p:txBody>
          <a:bodyPr/>
          <a:lstStyle/>
          <a:p>
            <a:endParaRPr lang="en-US"/>
          </a:p>
        </p:txBody>
      </p:sp>
      <p:sp>
        <p:nvSpPr>
          <p:cNvPr id="10" name="Shape 7"/>
          <p:cNvSpPr/>
          <p:nvPr/>
        </p:nvSpPr>
        <p:spPr>
          <a:xfrm>
            <a:off x="429768" y="1435608"/>
            <a:ext cx="457200" cy="457200"/>
          </a:xfrm>
          <a:prstGeom prst="ellipse">
            <a:avLst/>
          </a:prstGeom>
          <a:solidFill>
            <a:srgbClr val="00C8D4"/>
          </a:solidFill>
          <a:ln w="12700">
            <a:solidFill>
              <a:srgbClr val="00C8D4"/>
            </a:solidFill>
            <a:prstDash val="solid"/>
          </a:ln>
        </p:spPr>
        <p:txBody>
          <a:bodyPr/>
          <a:lstStyle/>
          <a:p>
            <a:endParaRPr lang="en-US"/>
          </a:p>
        </p:txBody>
      </p:sp>
      <p:sp>
        <p:nvSpPr>
          <p:cNvPr id="11" name="Text 8"/>
          <p:cNvSpPr/>
          <p:nvPr/>
        </p:nvSpPr>
        <p:spPr>
          <a:xfrm>
            <a:off x="429768" y="143560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05</a:t>
            </a:r>
            <a:endParaRPr lang="en-US" sz="1300" dirty="0"/>
          </a:p>
        </p:txBody>
      </p:sp>
      <p:sp>
        <p:nvSpPr>
          <p:cNvPr id="12" name="Text 9"/>
          <p:cNvSpPr/>
          <p:nvPr/>
        </p:nvSpPr>
        <p:spPr>
          <a:xfrm>
            <a:off x="960120" y="1572768"/>
            <a:ext cx="502920" cy="201168"/>
          </a:xfrm>
          <a:prstGeom prst="rect">
            <a:avLst/>
          </a:prstGeom>
          <a:noFill/>
          <a:ln/>
        </p:spPr>
        <p:txBody>
          <a:bodyPr wrap="square" lIns="0" tIns="0" rIns="0" bIns="0" rtlCol="0" anchor="t"/>
          <a:lstStyle/>
          <a:p>
            <a:pPr marL="0" indent="0" algn="l">
              <a:buNone/>
            </a:pPr>
            <a:r>
              <a:rPr lang="en-US" sz="900" b="1" kern="0" spc="110" dirty="0">
                <a:solidFill>
                  <a:srgbClr val="00C8D4"/>
                </a:solidFill>
                <a:latin typeface="Liberation Sans" pitchFamily="34" charset="0"/>
                <a:ea typeface="Liberation Sans" pitchFamily="34" charset="-122"/>
                <a:cs typeface="Liberation Sans" pitchFamily="34" charset="-120"/>
              </a:rPr>
              <a:t>MIN</a:t>
            </a:r>
            <a:endParaRPr lang="en-US" sz="900" dirty="0"/>
          </a:p>
        </p:txBody>
      </p:sp>
      <p:sp>
        <p:nvSpPr>
          <p:cNvPr id="13" name="Text 10"/>
          <p:cNvSpPr/>
          <p:nvPr/>
        </p:nvSpPr>
        <p:spPr>
          <a:xfrm>
            <a:off x="475488" y="2084832"/>
            <a:ext cx="1664208" cy="438912"/>
          </a:xfrm>
          <a:prstGeom prst="rect">
            <a:avLst/>
          </a:prstGeom>
          <a:noFill/>
          <a:ln/>
        </p:spPr>
        <p:txBody>
          <a:bodyPr wrap="square" lIns="0" tIns="0" rIns="0" bIns="0" rtlCol="0" anchor="t"/>
          <a:lstStyle/>
          <a:p>
            <a:pPr marL="0" indent="0" algn="ctr">
              <a:buNone/>
            </a:pPr>
            <a:r>
              <a:rPr lang="en-US" sz="1220" b="1" dirty="0">
                <a:solidFill>
                  <a:srgbClr val="FFFFFF"/>
                </a:solidFill>
                <a:latin typeface="Liberation Sans" pitchFamily="34" charset="0"/>
                <a:ea typeface="Liberation Sans" pitchFamily="34" charset="-122"/>
                <a:cs typeface="Liberation Sans" pitchFamily="34" charset="-120"/>
              </a:rPr>
              <a:t>Confirm the team</a:t>
            </a:r>
            <a:endParaRPr lang="en-US" sz="1220" dirty="0"/>
          </a:p>
        </p:txBody>
      </p:sp>
      <p:sp>
        <p:nvSpPr>
          <p:cNvPr id="14" name="Text 11"/>
          <p:cNvSpPr/>
          <p:nvPr/>
        </p:nvSpPr>
        <p:spPr>
          <a:xfrm>
            <a:off x="475488" y="2743200"/>
            <a:ext cx="1664208" cy="566928"/>
          </a:xfrm>
          <a:prstGeom prst="rect">
            <a:avLst/>
          </a:prstGeom>
          <a:noFill/>
          <a:ln/>
        </p:spPr>
        <p:txBody>
          <a:bodyPr wrap="square" lIns="0" tIns="0" rIns="0" bIns="0" rtlCol="0" anchor="t"/>
          <a:lstStyle/>
          <a:p>
            <a:pPr marL="0" indent="0" algn="ctr">
              <a:buNone/>
            </a:pPr>
            <a:r>
              <a:rPr lang="en-US" sz="1000" dirty="0">
                <a:solidFill>
                  <a:srgbClr val="7B9BB8"/>
                </a:solidFill>
                <a:latin typeface="Liberation Sans" pitchFamily="34" charset="0"/>
                <a:ea typeface="Liberation Sans" pitchFamily="34" charset="-122"/>
                <a:cs typeface="Liberation Sans" pitchFamily="34" charset="-120"/>
              </a:rPr>
              <a:t>Members, use case, channel, coordinator, final-package owner.</a:t>
            </a:r>
            <a:endParaRPr lang="en-US" sz="1000" dirty="0"/>
          </a:p>
        </p:txBody>
      </p:sp>
      <p:sp>
        <p:nvSpPr>
          <p:cNvPr id="15" name="Shape 12"/>
          <p:cNvSpPr/>
          <p:nvPr/>
        </p:nvSpPr>
        <p:spPr>
          <a:xfrm>
            <a:off x="2505456" y="1307592"/>
            <a:ext cx="1984248" cy="2331720"/>
          </a:xfrm>
          <a:prstGeom prst="rect">
            <a:avLst/>
          </a:prstGeom>
          <a:solidFill>
            <a:srgbClr val="0D1E34"/>
          </a:solidFill>
          <a:ln w="12700">
            <a:solidFill>
              <a:srgbClr val="0D1E34"/>
            </a:solidFill>
            <a:prstDash val="solid"/>
          </a:ln>
        </p:spPr>
        <p:txBody>
          <a:bodyPr/>
          <a:lstStyle/>
          <a:p>
            <a:endParaRPr lang="en-US"/>
          </a:p>
        </p:txBody>
      </p:sp>
      <p:sp>
        <p:nvSpPr>
          <p:cNvPr id="16" name="Shape 13"/>
          <p:cNvSpPr/>
          <p:nvPr/>
        </p:nvSpPr>
        <p:spPr>
          <a:xfrm>
            <a:off x="2505456" y="1307592"/>
            <a:ext cx="64008" cy="2331720"/>
          </a:xfrm>
          <a:prstGeom prst="rect">
            <a:avLst/>
          </a:prstGeom>
          <a:solidFill>
            <a:srgbClr val="00C8D4"/>
          </a:solidFill>
          <a:ln w="12700">
            <a:solidFill>
              <a:srgbClr val="00C8D4"/>
            </a:solidFill>
            <a:prstDash val="solid"/>
          </a:ln>
        </p:spPr>
        <p:txBody>
          <a:bodyPr/>
          <a:lstStyle/>
          <a:p>
            <a:endParaRPr lang="en-US"/>
          </a:p>
        </p:txBody>
      </p:sp>
      <p:sp>
        <p:nvSpPr>
          <p:cNvPr id="17" name="Shape 14"/>
          <p:cNvSpPr/>
          <p:nvPr/>
        </p:nvSpPr>
        <p:spPr>
          <a:xfrm>
            <a:off x="2624328" y="1435608"/>
            <a:ext cx="457200" cy="457200"/>
          </a:xfrm>
          <a:prstGeom prst="ellipse">
            <a:avLst/>
          </a:prstGeom>
          <a:solidFill>
            <a:srgbClr val="00C8D4"/>
          </a:solidFill>
          <a:ln w="12700">
            <a:solidFill>
              <a:srgbClr val="00C8D4"/>
            </a:solidFill>
            <a:prstDash val="solid"/>
          </a:ln>
        </p:spPr>
        <p:txBody>
          <a:bodyPr/>
          <a:lstStyle/>
          <a:p>
            <a:endParaRPr lang="en-US"/>
          </a:p>
        </p:txBody>
      </p:sp>
      <p:sp>
        <p:nvSpPr>
          <p:cNvPr id="18" name="Text 15"/>
          <p:cNvSpPr/>
          <p:nvPr/>
        </p:nvSpPr>
        <p:spPr>
          <a:xfrm>
            <a:off x="2624328" y="143560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10</a:t>
            </a:r>
            <a:endParaRPr lang="en-US" sz="1300" dirty="0"/>
          </a:p>
        </p:txBody>
      </p:sp>
      <p:sp>
        <p:nvSpPr>
          <p:cNvPr id="19" name="Text 16"/>
          <p:cNvSpPr/>
          <p:nvPr/>
        </p:nvSpPr>
        <p:spPr>
          <a:xfrm>
            <a:off x="3154680" y="1572768"/>
            <a:ext cx="502920" cy="201168"/>
          </a:xfrm>
          <a:prstGeom prst="rect">
            <a:avLst/>
          </a:prstGeom>
          <a:noFill/>
          <a:ln/>
        </p:spPr>
        <p:txBody>
          <a:bodyPr wrap="square" lIns="0" tIns="0" rIns="0" bIns="0" rtlCol="0" anchor="t"/>
          <a:lstStyle/>
          <a:p>
            <a:pPr marL="0" indent="0" algn="l">
              <a:buNone/>
            </a:pPr>
            <a:r>
              <a:rPr lang="en-US" sz="900" b="1" kern="0" spc="110" dirty="0">
                <a:solidFill>
                  <a:srgbClr val="00C8D4"/>
                </a:solidFill>
                <a:latin typeface="Liberation Sans" pitchFamily="34" charset="0"/>
                <a:ea typeface="Liberation Sans" pitchFamily="34" charset="-122"/>
                <a:cs typeface="Liberation Sans" pitchFamily="34" charset="-120"/>
              </a:rPr>
              <a:t>MIN</a:t>
            </a:r>
            <a:endParaRPr lang="en-US" sz="900" dirty="0"/>
          </a:p>
        </p:txBody>
      </p:sp>
      <p:sp>
        <p:nvSpPr>
          <p:cNvPr id="20" name="Text 17"/>
          <p:cNvSpPr/>
          <p:nvPr/>
        </p:nvSpPr>
        <p:spPr>
          <a:xfrm>
            <a:off x="2670048" y="2084832"/>
            <a:ext cx="1664208" cy="438912"/>
          </a:xfrm>
          <a:prstGeom prst="rect">
            <a:avLst/>
          </a:prstGeom>
          <a:noFill/>
          <a:ln/>
        </p:spPr>
        <p:txBody>
          <a:bodyPr wrap="square" lIns="0" tIns="0" rIns="0" bIns="0" rtlCol="0" anchor="t"/>
          <a:lstStyle/>
          <a:p>
            <a:pPr marL="0" indent="0" algn="ctr">
              <a:buNone/>
            </a:pPr>
            <a:r>
              <a:rPr lang="en-US" sz="1220" b="1" dirty="0">
                <a:solidFill>
                  <a:srgbClr val="FFFFFF"/>
                </a:solidFill>
                <a:latin typeface="Liberation Sans" pitchFamily="34" charset="0"/>
                <a:ea typeface="Liberation Sans" pitchFamily="34" charset="-122"/>
                <a:cs typeface="Liberation Sans" pitchFamily="34" charset="-120"/>
              </a:rPr>
              <a:t>Review the brief</a:t>
            </a:r>
            <a:endParaRPr lang="en-US" sz="1220" dirty="0"/>
          </a:p>
        </p:txBody>
      </p:sp>
      <p:sp>
        <p:nvSpPr>
          <p:cNvPr id="21" name="Text 18"/>
          <p:cNvSpPr/>
          <p:nvPr/>
        </p:nvSpPr>
        <p:spPr>
          <a:xfrm>
            <a:off x="2670048" y="2743200"/>
            <a:ext cx="1664208" cy="566928"/>
          </a:xfrm>
          <a:prstGeom prst="rect">
            <a:avLst/>
          </a:prstGeom>
          <a:noFill/>
          <a:ln/>
        </p:spPr>
        <p:txBody>
          <a:bodyPr wrap="square" lIns="0" tIns="0" rIns="0" bIns="0" rtlCol="0" anchor="t"/>
          <a:lstStyle/>
          <a:p>
            <a:pPr marL="0" indent="0" algn="ctr">
              <a:buNone/>
            </a:pPr>
            <a:r>
              <a:rPr lang="en-US" sz="1000" dirty="0">
                <a:solidFill>
                  <a:srgbClr val="7B9BB8"/>
                </a:solidFill>
                <a:latin typeface="Liberation Sans" pitchFamily="34" charset="0"/>
                <a:ea typeface="Liberation Sans" pitchFamily="34" charset="-122"/>
                <a:cs typeface="Liberation Sans" pitchFamily="34" charset="-120"/>
              </a:rPr>
              <a:t>Problem, user, scope, sponsor or SME, first questions.</a:t>
            </a:r>
            <a:endParaRPr lang="en-US" sz="1000" dirty="0"/>
          </a:p>
        </p:txBody>
      </p:sp>
      <p:sp>
        <p:nvSpPr>
          <p:cNvPr id="22" name="Shape 19"/>
          <p:cNvSpPr/>
          <p:nvPr/>
        </p:nvSpPr>
        <p:spPr>
          <a:xfrm>
            <a:off x="4700016" y="1307592"/>
            <a:ext cx="1984248" cy="2331720"/>
          </a:xfrm>
          <a:prstGeom prst="rect">
            <a:avLst/>
          </a:prstGeom>
          <a:solidFill>
            <a:srgbClr val="0D1E34"/>
          </a:solidFill>
          <a:ln w="12700">
            <a:solidFill>
              <a:srgbClr val="0D1E34"/>
            </a:solidFill>
            <a:prstDash val="solid"/>
          </a:ln>
        </p:spPr>
        <p:txBody>
          <a:bodyPr/>
          <a:lstStyle/>
          <a:p>
            <a:endParaRPr lang="en-US"/>
          </a:p>
        </p:txBody>
      </p:sp>
      <p:sp>
        <p:nvSpPr>
          <p:cNvPr id="23" name="Shape 20"/>
          <p:cNvSpPr/>
          <p:nvPr/>
        </p:nvSpPr>
        <p:spPr>
          <a:xfrm>
            <a:off x="4700016" y="1307592"/>
            <a:ext cx="64008" cy="2331720"/>
          </a:xfrm>
          <a:prstGeom prst="rect">
            <a:avLst/>
          </a:prstGeom>
          <a:solidFill>
            <a:srgbClr val="FF9830"/>
          </a:solidFill>
          <a:ln w="12700">
            <a:solidFill>
              <a:srgbClr val="FF9830"/>
            </a:solidFill>
            <a:prstDash val="solid"/>
          </a:ln>
        </p:spPr>
        <p:txBody>
          <a:bodyPr/>
          <a:lstStyle/>
          <a:p>
            <a:endParaRPr lang="en-US"/>
          </a:p>
        </p:txBody>
      </p:sp>
      <p:sp>
        <p:nvSpPr>
          <p:cNvPr id="24" name="Shape 21"/>
          <p:cNvSpPr/>
          <p:nvPr/>
        </p:nvSpPr>
        <p:spPr>
          <a:xfrm>
            <a:off x="4818888" y="1435608"/>
            <a:ext cx="457200" cy="457200"/>
          </a:xfrm>
          <a:prstGeom prst="ellipse">
            <a:avLst/>
          </a:prstGeom>
          <a:solidFill>
            <a:srgbClr val="FF9830"/>
          </a:solidFill>
          <a:ln w="12700">
            <a:solidFill>
              <a:srgbClr val="FF9830"/>
            </a:solidFill>
            <a:prstDash val="solid"/>
          </a:ln>
        </p:spPr>
        <p:txBody>
          <a:bodyPr/>
          <a:lstStyle/>
          <a:p>
            <a:endParaRPr lang="en-US"/>
          </a:p>
        </p:txBody>
      </p:sp>
      <p:sp>
        <p:nvSpPr>
          <p:cNvPr id="25" name="Text 22"/>
          <p:cNvSpPr/>
          <p:nvPr/>
        </p:nvSpPr>
        <p:spPr>
          <a:xfrm>
            <a:off x="4818888" y="143560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10</a:t>
            </a:r>
            <a:endParaRPr lang="en-US" sz="1300" dirty="0"/>
          </a:p>
        </p:txBody>
      </p:sp>
      <p:sp>
        <p:nvSpPr>
          <p:cNvPr id="26" name="Text 23"/>
          <p:cNvSpPr/>
          <p:nvPr/>
        </p:nvSpPr>
        <p:spPr>
          <a:xfrm>
            <a:off x="5349240" y="1572768"/>
            <a:ext cx="502920" cy="201168"/>
          </a:xfrm>
          <a:prstGeom prst="rect">
            <a:avLst/>
          </a:prstGeom>
          <a:noFill/>
          <a:ln/>
        </p:spPr>
        <p:txBody>
          <a:bodyPr wrap="square" lIns="0" tIns="0" rIns="0" bIns="0" rtlCol="0" anchor="t"/>
          <a:lstStyle/>
          <a:p>
            <a:pPr marL="0" indent="0" algn="l">
              <a:buNone/>
            </a:pPr>
            <a:r>
              <a:rPr lang="en-US" sz="900" b="1" kern="0" spc="110" dirty="0">
                <a:solidFill>
                  <a:srgbClr val="FF9830"/>
                </a:solidFill>
                <a:latin typeface="Liberation Sans" pitchFamily="34" charset="0"/>
                <a:ea typeface="Liberation Sans" pitchFamily="34" charset="-122"/>
                <a:cs typeface="Liberation Sans" pitchFamily="34" charset="-120"/>
              </a:rPr>
              <a:t>MIN</a:t>
            </a:r>
            <a:endParaRPr lang="en-US" sz="900" dirty="0"/>
          </a:p>
        </p:txBody>
      </p:sp>
      <p:sp>
        <p:nvSpPr>
          <p:cNvPr id="27" name="Text 24"/>
          <p:cNvSpPr/>
          <p:nvPr/>
        </p:nvSpPr>
        <p:spPr>
          <a:xfrm>
            <a:off x="4864608" y="2084832"/>
            <a:ext cx="1664208" cy="438912"/>
          </a:xfrm>
          <a:prstGeom prst="rect">
            <a:avLst/>
          </a:prstGeom>
          <a:noFill/>
          <a:ln/>
        </p:spPr>
        <p:txBody>
          <a:bodyPr wrap="square" lIns="0" tIns="0" rIns="0" bIns="0" rtlCol="0" anchor="t"/>
          <a:lstStyle/>
          <a:p>
            <a:pPr marL="0" indent="0" algn="ctr">
              <a:buNone/>
            </a:pPr>
            <a:r>
              <a:rPr lang="en-US" sz="1220" b="1" dirty="0">
                <a:solidFill>
                  <a:srgbClr val="FFFFFF"/>
                </a:solidFill>
                <a:latin typeface="Liberation Sans" pitchFamily="34" charset="0"/>
                <a:ea typeface="Liberation Sans" pitchFamily="34" charset="-122"/>
                <a:cs typeface="Liberation Sans" pitchFamily="34" charset="-120"/>
              </a:rPr>
              <a:t>Set up the workspace</a:t>
            </a:r>
            <a:endParaRPr lang="en-US" sz="1220" dirty="0"/>
          </a:p>
        </p:txBody>
      </p:sp>
      <p:sp>
        <p:nvSpPr>
          <p:cNvPr id="28" name="Text 25"/>
          <p:cNvSpPr/>
          <p:nvPr/>
        </p:nvSpPr>
        <p:spPr>
          <a:xfrm>
            <a:off x="4864608" y="2743200"/>
            <a:ext cx="1664208" cy="566928"/>
          </a:xfrm>
          <a:prstGeom prst="rect">
            <a:avLst/>
          </a:prstGeom>
          <a:noFill/>
          <a:ln/>
        </p:spPr>
        <p:txBody>
          <a:bodyPr wrap="square" lIns="0" tIns="0" rIns="0" bIns="0" rtlCol="0" anchor="t"/>
          <a:lstStyle/>
          <a:p>
            <a:pPr marL="0" indent="0" algn="ctr">
              <a:buNone/>
            </a:pPr>
            <a:r>
              <a:rPr lang="en-US" sz="1000" dirty="0">
                <a:solidFill>
                  <a:srgbClr val="7B9BB8"/>
                </a:solidFill>
                <a:latin typeface="Liberation Sans" pitchFamily="34" charset="0"/>
                <a:ea typeface="Liberation Sans" pitchFamily="34" charset="-122"/>
                <a:cs typeface="Liberation Sans" pitchFamily="34" charset="-120"/>
              </a:rPr>
              <a:t>Folders, templates, working hours, time zones, access checks.</a:t>
            </a:r>
            <a:endParaRPr lang="en-US" sz="1000" dirty="0"/>
          </a:p>
        </p:txBody>
      </p:sp>
      <p:sp>
        <p:nvSpPr>
          <p:cNvPr id="29" name="Shape 26"/>
          <p:cNvSpPr/>
          <p:nvPr/>
        </p:nvSpPr>
        <p:spPr>
          <a:xfrm>
            <a:off x="6894576" y="1307592"/>
            <a:ext cx="1984248" cy="2331720"/>
          </a:xfrm>
          <a:prstGeom prst="rect">
            <a:avLst/>
          </a:prstGeom>
          <a:solidFill>
            <a:srgbClr val="0D1E34"/>
          </a:solidFill>
          <a:ln w="12700">
            <a:solidFill>
              <a:srgbClr val="0D1E34"/>
            </a:solidFill>
            <a:prstDash val="solid"/>
          </a:ln>
        </p:spPr>
        <p:txBody>
          <a:bodyPr/>
          <a:lstStyle/>
          <a:p>
            <a:endParaRPr lang="en-US"/>
          </a:p>
        </p:txBody>
      </p:sp>
      <p:sp>
        <p:nvSpPr>
          <p:cNvPr id="30" name="Shape 27"/>
          <p:cNvSpPr/>
          <p:nvPr/>
        </p:nvSpPr>
        <p:spPr>
          <a:xfrm>
            <a:off x="6894576" y="1307592"/>
            <a:ext cx="64008" cy="2331720"/>
          </a:xfrm>
          <a:prstGeom prst="rect">
            <a:avLst/>
          </a:prstGeom>
          <a:solidFill>
            <a:srgbClr val="FF9830"/>
          </a:solidFill>
          <a:ln w="12700">
            <a:solidFill>
              <a:srgbClr val="FF9830"/>
            </a:solidFill>
            <a:prstDash val="solid"/>
          </a:ln>
        </p:spPr>
        <p:txBody>
          <a:bodyPr/>
          <a:lstStyle/>
          <a:p>
            <a:endParaRPr lang="en-US"/>
          </a:p>
        </p:txBody>
      </p:sp>
      <p:sp>
        <p:nvSpPr>
          <p:cNvPr id="31" name="Shape 28"/>
          <p:cNvSpPr/>
          <p:nvPr/>
        </p:nvSpPr>
        <p:spPr>
          <a:xfrm>
            <a:off x="7013448" y="1435608"/>
            <a:ext cx="457200" cy="457200"/>
          </a:xfrm>
          <a:prstGeom prst="ellipse">
            <a:avLst/>
          </a:prstGeom>
          <a:solidFill>
            <a:srgbClr val="FF9830"/>
          </a:solidFill>
          <a:ln w="12700">
            <a:solidFill>
              <a:srgbClr val="FF9830"/>
            </a:solidFill>
            <a:prstDash val="solid"/>
          </a:ln>
        </p:spPr>
        <p:txBody>
          <a:bodyPr/>
          <a:lstStyle/>
          <a:p>
            <a:endParaRPr lang="en-US"/>
          </a:p>
        </p:txBody>
      </p:sp>
      <p:sp>
        <p:nvSpPr>
          <p:cNvPr id="32" name="Text 29"/>
          <p:cNvSpPr/>
          <p:nvPr/>
        </p:nvSpPr>
        <p:spPr>
          <a:xfrm>
            <a:off x="7013448" y="1435608"/>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Liberation Sans" pitchFamily="34" charset="0"/>
                <a:ea typeface="Liberation Sans" pitchFamily="34" charset="-122"/>
                <a:cs typeface="Liberation Sans" pitchFamily="34" charset="-120"/>
              </a:rPr>
              <a:t>05</a:t>
            </a:r>
            <a:endParaRPr lang="en-US" sz="1300" dirty="0"/>
          </a:p>
        </p:txBody>
      </p:sp>
      <p:sp>
        <p:nvSpPr>
          <p:cNvPr id="33" name="Text 30"/>
          <p:cNvSpPr/>
          <p:nvPr/>
        </p:nvSpPr>
        <p:spPr>
          <a:xfrm>
            <a:off x="7543800" y="1572768"/>
            <a:ext cx="502920" cy="201168"/>
          </a:xfrm>
          <a:prstGeom prst="rect">
            <a:avLst/>
          </a:prstGeom>
          <a:noFill/>
          <a:ln/>
        </p:spPr>
        <p:txBody>
          <a:bodyPr wrap="square" lIns="0" tIns="0" rIns="0" bIns="0" rtlCol="0" anchor="t"/>
          <a:lstStyle/>
          <a:p>
            <a:pPr marL="0" indent="0" algn="l">
              <a:buNone/>
            </a:pPr>
            <a:r>
              <a:rPr lang="en-US" sz="900" b="1" kern="0" spc="110" dirty="0">
                <a:solidFill>
                  <a:srgbClr val="FF9830"/>
                </a:solidFill>
                <a:latin typeface="Liberation Sans" pitchFamily="34" charset="0"/>
                <a:ea typeface="Liberation Sans" pitchFamily="34" charset="-122"/>
                <a:cs typeface="Liberation Sans" pitchFamily="34" charset="-120"/>
              </a:rPr>
              <a:t>MIN</a:t>
            </a:r>
            <a:endParaRPr lang="en-US" sz="900" dirty="0"/>
          </a:p>
        </p:txBody>
      </p:sp>
      <p:sp>
        <p:nvSpPr>
          <p:cNvPr id="34" name="Text 31"/>
          <p:cNvSpPr/>
          <p:nvPr/>
        </p:nvSpPr>
        <p:spPr>
          <a:xfrm>
            <a:off x="7059168" y="2084832"/>
            <a:ext cx="1664208" cy="438912"/>
          </a:xfrm>
          <a:prstGeom prst="rect">
            <a:avLst/>
          </a:prstGeom>
          <a:noFill/>
          <a:ln/>
        </p:spPr>
        <p:txBody>
          <a:bodyPr wrap="square" lIns="0" tIns="0" rIns="0" bIns="0" rtlCol="0" anchor="t"/>
          <a:lstStyle/>
          <a:p>
            <a:pPr marL="0" indent="0" algn="ctr">
              <a:buNone/>
            </a:pPr>
            <a:r>
              <a:rPr lang="en-US" sz="1220" b="1" dirty="0">
                <a:solidFill>
                  <a:srgbClr val="FFFFFF"/>
                </a:solidFill>
                <a:latin typeface="Liberation Sans" pitchFamily="34" charset="0"/>
                <a:ea typeface="Liberation Sans" pitchFamily="34" charset="-122"/>
                <a:cs typeface="Liberation Sans" pitchFamily="34" charset="-120"/>
              </a:rPr>
              <a:t>Agree on the first move</a:t>
            </a:r>
            <a:endParaRPr lang="en-US" sz="1220" dirty="0"/>
          </a:p>
        </p:txBody>
      </p:sp>
      <p:sp>
        <p:nvSpPr>
          <p:cNvPr id="35" name="Text 32"/>
          <p:cNvSpPr/>
          <p:nvPr/>
        </p:nvSpPr>
        <p:spPr>
          <a:xfrm>
            <a:off x="7059168" y="2743200"/>
            <a:ext cx="1664208" cy="566928"/>
          </a:xfrm>
          <a:prstGeom prst="rect">
            <a:avLst/>
          </a:prstGeom>
          <a:noFill/>
          <a:ln/>
        </p:spPr>
        <p:txBody>
          <a:bodyPr wrap="square" lIns="0" tIns="0" rIns="0" bIns="0" rtlCol="0" anchor="t"/>
          <a:lstStyle/>
          <a:p>
            <a:pPr marL="0" indent="0" algn="ctr">
              <a:buNone/>
            </a:pPr>
            <a:r>
              <a:rPr lang="en-US" sz="1000" dirty="0">
                <a:solidFill>
                  <a:srgbClr val="7B9BB8"/>
                </a:solidFill>
                <a:latin typeface="Liberation Sans" pitchFamily="34" charset="0"/>
                <a:ea typeface="Liberation Sans" pitchFamily="34" charset="-122"/>
                <a:cs typeface="Liberation Sans" pitchFamily="34" charset="-120"/>
              </a:rPr>
              <a:t>Initial roles, first task, first handoff, and next status post.</a:t>
            </a:r>
            <a:endParaRPr lang="en-US" sz="1000" dirty="0"/>
          </a:p>
        </p:txBody>
      </p:sp>
      <p:sp>
        <p:nvSpPr>
          <p:cNvPr id="36" name="Text 33"/>
          <p:cNvSpPr/>
          <p:nvPr/>
        </p:nvSpPr>
        <p:spPr>
          <a:xfrm>
            <a:off x="310896" y="4315968"/>
            <a:ext cx="8412480" cy="274320"/>
          </a:xfrm>
          <a:prstGeom prst="rect">
            <a:avLst/>
          </a:prstGeom>
          <a:noFill/>
          <a:ln/>
        </p:spPr>
        <p:txBody>
          <a:bodyPr wrap="square" lIns="0" tIns="0" rIns="0" bIns="0" rtlCol="0" anchor="t"/>
          <a:lstStyle/>
          <a:p>
            <a:pPr marL="0" indent="0" algn="ctr">
              <a:buNone/>
            </a:pPr>
            <a:r>
              <a:rPr lang="en-US" sz="1250" b="1" dirty="0">
                <a:solidFill>
                  <a:srgbClr val="00C8D4"/>
                </a:solidFill>
                <a:latin typeface="Liberation Sans" pitchFamily="34" charset="0"/>
                <a:ea typeface="Liberation Sans" pitchFamily="34" charset="-122"/>
                <a:cs typeface="Liberation Sans" pitchFamily="34" charset="-120"/>
              </a:rPr>
              <a:t>Do not solve the whole use case today. Make the first step obvious.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11A7D7C6AF7C4B84849BBC7AECD042" ma:contentTypeVersion="3" ma:contentTypeDescription="Create a new document." ma:contentTypeScope="" ma:versionID="0c59c84a53d214ebb275d73b897c695b">
  <xsd:schema xmlns:xsd="http://www.w3.org/2001/XMLSchema" xmlns:xs="http://www.w3.org/2001/XMLSchema" xmlns:p="http://schemas.microsoft.com/office/2006/metadata/properties" xmlns:ns2="09f0d035-db3a-41e2-9c9f-cd4fb346005c" targetNamespace="http://schemas.microsoft.com/office/2006/metadata/properties" ma:root="true" ma:fieldsID="59c76e2ed39e714d862913bf4f6f3287" ns2:_="">
    <xsd:import namespace="09f0d035-db3a-41e2-9c9f-cd4fb346005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f0d035-db3a-41e2-9c9f-cd4fb3460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51468B-C01C-47F5-BA6D-2C6D41ACC8C0}"/>
</file>

<file path=customXml/itemProps2.xml><?xml version="1.0" encoding="utf-8"?>
<ds:datastoreItem xmlns:ds="http://schemas.openxmlformats.org/officeDocument/2006/customXml" ds:itemID="{46F0FB15-C390-4C8D-8A23-B7D74AAC720F}"/>
</file>

<file path=customXml/itemProps3.xml><?xml version="1.0" encoding="utf-8"?>
<ds:datastoreItem xmlns:ds="http://schemas.openxmlformats.org/officeDocument/2006/customXml" ds:itemID="{8441EEDD-4E91-40E3-9EA3-7250CCD4FE22}"/>
</file>

<file path=docMetadata/LabelInfo.xml><?xml version="1.0" encoding="utf-8"?>
<clbl:labelList xmlns:clbl="http://schemas.microsoft.com/office/2020/mipLabelMetadata">
  <clbl:label id="{36970c53-fc97-4c45-87e9-80615808800c}" enabled="1" method="Standard" siteId="{2c94bed6-d675-4d3d-a53b-7b461fd6acc2}" removed="0"/>
</clbl:labelList>
</file>

<file path=docProps/app.xml><?xml version="1.0" encoding="utf-8"?>
<Properties xmlns="http://schemas.openxmlformats.org/officeDocument/2006/extended-properties" xmlns:vt="http://schemas.openxmlformats.org/officeDocument/2006/docPropsVTypes">
  <TotalTime>145</TotalTime>
  <Words>1784</Words>
  <Application>Microsoft Macintosh PowerPoint</Application>
  <PresentationFormat>On-screen Show (16:9)</PresentationFormat>
  <Paragraphs>250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Liberation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Realpage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Q3 AI Hackathon participant preparation</dc:subject>
  <dc:creator>Austin Braham</dc:creator>
  <cp:lastModifiedBy>Austin Braham</cp:lastModifiedBy>
  <cp:revision>1</cp:revision>
  <dcterms:created xsi:type="dcterms:W3CDTF">2026-09-13T20:08:55Z</dcterms:created>
  <dcterms:modified xsi:type="dcterms:W3CDTF">2026-09-14T03:20:58Z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Theme:5</vt:lpwstr>
  </property>
  <property fmtid="{D5CDD505-2E9C-101B-9397-08002B2CF9AE}" pid="3" name="ClassificationContentMarkingFooterText">
    <vt:lpwstr>For RealPage Internal Use Only</vt:lpwstr>
  </property>
  <property fmtid="{D5CDD505-2E9C-101B-9397-08002B2CF9AE}" pid="4" name="ClassificationContentMarkingHeaderLocations">
    <vt:lpwstr>Office Theme:4</vt:lpwstr>
  </property>
  <property fmtid="{D5CDD505-2E9C-101B-9397-08002B2CF9AE}" pid="5" name="ClassificationContentMarkingHeaderText">
    <vt:lpwstr>Internal Use</vt:lpwstr>
  </property>
  <property fmtid="{D5CDD505-2E9C-101B-9397-08002B2CF9AE}" pid="6" name="ContentTypeId">
    <vt:lpwstr>0x010100B811A7D7C6AF7C4B84849BBC7AECD042</vt:lpwstr>
  </property>
  <property fmtid="{D5CDD505-2E9C-101B-9397-08002B2CF9AE}" pid="7" name="Order">
    <vt:r8>14738300</vt:r8>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_ExtendedDescription">
    <vt:lpwstr/>
  </property>
  <property fmtid="{D5CDD505-2E9C-101B-9397-08002B2CF9AE}" pid="12" name="TriggerFlowInfo">
    <vt:lpwstr/>
  </property>
</Properties>
</file>